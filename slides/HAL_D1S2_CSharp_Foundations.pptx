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569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session practical. They do not need the whole language — they need the subset that makes ASP.NET Core readable by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 that nobody learns a language in 90 minutes. The goal is to be able to read ASP.NET code by this afternoon and write it by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Framework versus modern .NET distinction matters here: much in-house software is Framework-based, and the two are not interchangeable. Tell them how to check — look at the TargetFramework line in the .csproj.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everyone to open a .csproj from their own area and read the TargetFramework line out loud. It turns an abstract distinction into something they can check on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decimal-versus-double point always earns a reaction. Show 0.1 + 0.2 in a double if you have a console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the LINQ example live — it is the moment most people see the appeal of C#. Warn them that catch-and-continue with an empty catch block is the single most common bad habit in legacy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static-shared-state warning matters on a web server: a static list is shared across every user of the site, which surprises people badly.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of thumb: model behaviour with interfaces, share implementation with a base class, and be suspicious of any hierarchy more than two levels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anyone asks about performance, the honest answer is that for a few hundred rows it does not matter; for a few hundred thousand it matters enormously.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Deferred execution catches people out later, so plant it now even though it will not fully land until EF Core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at the level of "recognise and copy the pattern". Deep async is a session of its own; they need enough to read tomorrow's EF Core code without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throw versus throw ex is a genuine gotcha that costs real diagnosis time. Demonstrate the difference in stack traces if you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rather than reading the slide. Introduce string interpolation and the alignment specifier only briefly — the point is the build-run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of these they have already hit in the exercise. Usually at least two hands go up for the string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build a picture of the estate the group actually maintains. It makes Day 5 far more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group finishes early, ask them to add a component whose service interval depends on calendar days rather than hours — it forces a conversation about whether the interface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is struggling, cut async from the recap and revisit it tomorrow in context. Everything else is needed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· 90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Foundations for ASP.NET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977640" cy="4233672"/>
          </a:xfrm>
          <a:prstGeom prst="roundRect">
            <a:avLst>
              <a:gd name="adj" fmla="val 1149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847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YOU CAN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31136"/>
            <a:ext cx="3429000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what the SDK, the runtime and the class library each do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.NET Framework and modern .NET apart, and know which one you are looking at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classes and interfaces with confidence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exceptions and choose the right collection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run a console application from the command line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5138928"/>
            <a:ext cx="3429000" cy="0"/>
          </a:xfrm>
          <a:prstGeom prst="line">
            <a:avLst/>
          </a:prstGeom>
          <a:noFill/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68680" y="5266944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45 minutes of concept and demonstration, then 45 minutes at the keyboard.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956816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37760" y="1956816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38928" y="21305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138928" y="2130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1956816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.NET ecosystem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SDK, runtime, class library, workloads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2798064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37760" y="2798064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138928" y="297180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138928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798064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vs modern .NET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meet in legacy systems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639312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37760" y="3639312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38928" y="38130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13892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3639312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essentials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Classes, interfaces, exceptions, collections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4480560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37760" y="4480560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138928" y="46542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38928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480560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 console application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dotnet new to a running program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5321808"/>
            <a:ext cx="6656832" cy="713232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37760" y="5321808"/>
            <a:ext cx="50292" cy="713232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38928" y="54955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138928" y="5495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5321808"/>
            <a:ext cx="5705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interface-based class structure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C# and .NET for this kind of work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8470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Strongly typed, and the compiler is on your side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mistakes are caught before the program runs, not by a user.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14600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514600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69748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14600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language across the whole stack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Web, services, desktop, background jobs and tests all in C#.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364992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364992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54787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364992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very large standard library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Files, HTTP, encryption, dates and collections ship with the platform.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215384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215384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439826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215384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support releases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LTS version is supported for three years, which matters for systems that live for fifteen.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065776"/>
            <a:ext cx="5806440" cy="73152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5065776"/>
            <a:ext cx="50292" cy="73152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52486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065776"/>
            <a:ext cx="48554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already here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Much of the in-house estate is .NET. Skills transfer directly onto existing systems.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1664208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12280" y="1664208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today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066544"/>
            <a:ext cx="4965192" cy="16093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48856" y="2212848"/>
            <a:ext cx="4526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whole language. Classes, interfaces, collections, exceptions and a little LINQ will carry you through every session this week.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9400" y="384048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812280" y="384048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wait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629400" y="4242816"/>
            <a:ext cx="4965192" cy="15544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6848856" y="438912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Generics beyond using List&lt;T&gt;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Delegates and events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code and pointers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.NET ECOSYSTEM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SDK, one runtime, many workloads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2517572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04088" y="1627632"/>
            <a:ext cx="2298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write C#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files in a project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166796" y="2061972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2828" y="1627632"/>
            <a:ext cx="2517572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32556" y="1627632"/>
            <a:ext cx="2298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 compiles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build → IL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95264" y="2061972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51296" y="1627632"/>
            <a:ext cx="2517572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361024" y="1627632"/>
            <a:ext cx="2298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executes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CLR, JIT, garbage collector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23731" y="2061972"/>
            <a:ext cx="201168" cy="182880"/>
          </a:xfrm>
          <a:prstGeom prst="chevron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079763" y="1627632"/>
            <a:ext cx="2517572" cy="1051560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189491" y="1627632"/>
            <a:ext cx="22981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library</a:t>
            </a:r>
            <a:endParaRPr lang="en-US" sz="13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Files, HTTP, collections, LINQ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2971800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2971800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SDK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374136"/>
            <a:ext cx="3529584" cy="11064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13816" y="3520440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needed to build: compiler, project system and the dotnet command line tool.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25112" y="2971800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507992" y="2971800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25112" y="3374136"/>
            <a:ext cx="3529584" cy="11064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44568" y="3520440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Executes compiled code, manages memory and reclaims it automatically. No manual free.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55864" y="2971800"/>
            <a:ext cx="3529584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238744" y="2971800"/>
            <a:ext cx="31638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55864" y="3374136"/>
            <a:ext cx="3529584" cy="11064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8275320" y="3520440"/>
            <a:ext cx="30906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ASP.NET Core for web, EF Core for data, MAUI and Blazor for clients. Added per project.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4681728"/>
            <a:ext cx="11002975" cy="1234440"/>
          </a:xfrm>
          <a:prstGeom prst="roundRect">
            <a:avLst>
              <a:gd name="adj" fmla="val 3704"/>
            </a:avLst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68680" y="4800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which one you are looking at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" y="5138928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Framework 4.8 — </a:t>
            </a:r>
            <a:r>
              <a:rPr lang="en-US" sz="12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only, no new versions, still runs a great deal of existing plant software.   </a:t>
            </a:r>
            <a:r>
              <a:rPr lang="en-US" sz="1250" b="1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.NET 9 / .NET 10 — </a:t>
            </a:r>
            <a:r>
              <a:rPr lang="en-US" sz="125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cross-platform, current, what we use all week.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.NET AM I LOOKING AT?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single most useful thing to be able to tell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801076"/>
              </p:ext>
            </p:extLst>
          </p:nvPr>
        </p:nvGraphicFramePr>
        <p:xfrm>
          <a:off x="594360" y="1664208"/>
          <a:ext cx="11000232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.NET Framework 4.8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.NET 9 / .NET 10</a:t>
                      </a:r>
                      <a:endParaRPr lang="en-US" sz="11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Status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Maintained, no new features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Current, actively developed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Runs 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Windows only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Windows, Linux, containers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Web stack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ASP.NET MVC 5, Web Forms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ASP.NET Core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Project file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Long, lists every file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Short, a few lines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Where you meet it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Existing in-house systems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6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Everything new, including this week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663440"/>
            <a:ext cx="5806440" cy="103327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13816" y="481888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CHECK IN 5 SECONDS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5111496"/>
            <a:ext cx="5367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&lt;TargetFramework&gt;net8.0&lt;/TargetFramework&gt;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&lt;TargetFramework&gt;net48&lt;/TargetFramework&gt;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29400" y="466344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812280" y="466344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are not interchangeable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29400" y="5065776"/>
            <a:ext cx="4965192" cy="8778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848856" y="521208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library built for one will not simply drop into the other. Check the target before you promise a timeline.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AND VARIABLES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types copy; reference types point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TYPE — A COPY IS MADE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a;   // b is its own 5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9;       // a is still 5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int, decimal, bool, DateTime, struct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364992"/>
            <a:ext cx="5806440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3816" y="352044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TYPE — BOTH POINT AT ONE OBJECT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3813048"/>
            <a:ext cx="5367528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p1 = new SparePart { Quantity = 5 };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p2 = p1;        // same object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p2.Quantity = 9;    // p1.Quantity is now 9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class, string, array, List&lt;T&gt;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is not "any type"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compiler works the type out from the right-hand side and fixes it. It is still strongly typed.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means "no object yet"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a method on it throws </a:t>
            </a:r>
            <a:r>
              <a:rPr lang="en-US" sz="1100" dirty="0" err="1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NullReferenceException</a:t>
            </a: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the most common crash in .NET.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Nullable reference types warn you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string? says it may be null; string says it should not be. Turn the warnings on and heed them.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decimal for money and quantities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is fast and slightly wrong. Never price anything with it.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C# ESSENTIALS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ideas that carry the rest of the week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hold data and behaviour together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645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5394960" cy="150876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3816" y="2441448"/>
            <a:ext cx="49560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SparePart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PartNo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Quantity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 IsBelowMinimum() =&gt;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Quantity &lt; 5;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3950208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95020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are a contract, not an implementation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352544"/>
            <a:ext cx="5394960" cy="1645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4608576"/>
            <a:ext cx="5394960" cy="113385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13816" y="4764024"/>
            <a:ext cx="49560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IPartRepository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SparePart GetByPartNo(string partNo);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Save(SparePart 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report what the code cannot handle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9632" y="2029968"/>
            <a:ext cx="5394960" cy="1645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99632" y="2286000"/>
            <a:ext cx="5394960" cy="169621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19088" y="2441448"/>
            <a:ext cx="4956048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part = repo.GetByPartNo(no);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(SqlException ex)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logger.LogError(ex, "Lookup failed");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throw;   // never swallow it silently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4160520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382512" y="416052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hold sets of things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199632" y="4562856"/>
            <a:ext cx="5394960" cy="13807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19088" y="4709160"/>
            <a:ext cx="4956048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List&lt;SparePart&gt; — ordered, grows as you add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Dictionary&lt;string, SparePart&gt; — lookup by key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IEnumerable&lt;T&gt; — anything you can iterate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LINQ queries all of them: parts.Where(p =&gt; p.Quantity &lt; 5)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IN PRACTICE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Properties, constructors and the object initialiser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272034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 YOU WILL ACTUALLY WRITE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214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SparePart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PartNo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Quantity  { get; private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SparePart(string partNo, int qty)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PartNo = partNo;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 = qty;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448056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448056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Records, when the object is just data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882896"/>
            <a:ext cx="5806440" cy="106070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5029200"/>
            <a:ext cx="53675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record PartDto(string PartNo, int Quantity); gives you a whole immutable type in one line — ideal for the API payloads you will write tomorrow.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Properties, not public fields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property can validate, log or become computed later without changing every caller.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set protects the invariant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Quantity changes only through a method that knows the rules.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Constructors state what is required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an object cannot exist without a part number, the constructor should demand one.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means "belongs to the type"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 helpers and constants; a trap when it hides shared mutable state.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AND INTERFACES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 the contract to the family tree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says "is a"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inherits from Component: it takes the base behaviour and can override parts of it. Powerful, and easy to overuse, a deep hierarchy is very hard to change later.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interface says "can do"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99632" y="2029968"/>
            <a:ext cx="5394960" cy="170078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9088" y="2176272"/>
            <a:ext cx="49560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IServiceable says only that something has a service interval. Unrelated types can implement it, and a class can implement several.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13632"/>
            <a:ext cx="11002975" cy="1595628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13816" y="4069080"/>
            <a:ext cx="105640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PRACTICAL DIFFERENCE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" y="4361688"/>
            <a:ext cx="10564063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abstract class Component { public abstract int NextDueHours(); }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IServiceable  { int NextDueHours(); }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class has one base class — but can implement as many interfaces as it needs.</a:t>
            </a:r>
            <a:endParaRPr lang="en-US" sz="1100" dirty="0"/>
          </a:p>
          <a:p>
            <a:pPr marL="0" indent="0">
              <a:lnSpc>
                <a:spcPts val="1485"/>
              </a:lnSpc>
              <a:buNone/>
            </a:pPr>
            <a:r>
              <a:rPr lang="en-US" sz="110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Engine : Component, IServiceable, IExportable { ... 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one that matches how you will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27632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List&lt;T&gt; — ordered, grows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default. Add, remove, index. Searching it means scanning it.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79776"/>
            <a:ext cx="5806440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79776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Dictionary&lt;TKey,TValue&gt; — lookup by key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part by part number is instant regardless of size. Use it when you look things up repeatedly.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931920"/>
            <a:ext cx="5806440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931920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 — fixed size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 in application code. Use when the length is genuinely known and fixed.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5084064"/>
            <a:ext cx="5806440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084064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IEnumerable&lt;T&gt; — anything you can walk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this in method parameters; return the concrete type. It keeps your method usable by any caller.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629400" y="1627632"/>
            <a:ext cx="4965192" cy="290779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48856" y="178308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YOU WILL USE DAILY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848856" y="2075688"/>
            <a:ext cx="4526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parts = new List&lt;SparePart&gt;();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parts.Add(part);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parts.Count;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byPartNo =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Dictionary&lt;string, SparePart&gt;();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byPartNo["HAL-4471"] = part;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(byPartNo.TryGetValue(no, out var p))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found it, no exception thrown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9400" y="4846320"/>
            <a:ext cx="4965192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12280" y="4846320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TryGetValue over indexing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629400" y="5248656"/>
            <a:ext cx="4965192" cy="6949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848856" y="539496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a missing key throws. TryGetValue tells you politely.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LINQ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 what you want, not how to loop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low = new List&lt;SparePart&gt;();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p in parts)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(p.Quantity &lt; 5) low.Add(p);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low = parts.Where(p =&gt; p.Quantity &lt; 5)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.OrderBy(p =&gt; p.PartNo)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.ToList();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handful worth memorising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151376"/>
            <a:ext cx="5806440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4297680"/>
            <a:ext cx="5367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— filter.  Select — transform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OrderBy / ThenBy — sort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/ All — does anything match, does everything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FirstOrDefault — the first match, or null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/ Count / GroupBy — the report questions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=&gt; p.Quantity &lt; 5 is a lambda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as "given p, return whether its quantity is under five". Nothing more mysterious than that.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reads like the requirement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means a reviewer can check it against the requirement without tracing a loop.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syntax queries the database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Tomorrow, EF Core turns exactly this into SQL. Time spent here pays twice.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runs until you ask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is a description. ToList or a foreach is what executes it.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AND AWAIT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without blocking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9705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SHAPE YOU WILL COPY ALL WEEK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Task&lt;List&lt;SparePart&gt;&gt; GetAllAsync()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await _db.Parts.ToListAsync();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calling it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parts = await _repo.GetAllAsync();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749040"/>
            <a:ext cx="58064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749040"/>
            <a:ext cx="5440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web server cares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" y="4151376"/>
            <a:ext cx="5806440" cy="179222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4297680"/>
            <a:ext cx="536752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2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a request waits for the database, its thread would otherwise sit idle. await releases that thread to serve someone else and picks the work back up when the data arrives. On a busy server that is the difference between fifty concurrent users and five hundred.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goes with Task or Task&lt;T&gt;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 returns a promise of a result, not the result itself.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await unwraps it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after the await runs when the work completes. It still reads top to bottom.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all the way up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Mixing .Result or .Wait() into async code can deadlock. If one layer is async, make them all async.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not multithreading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not creating threads. You are releasing one while you wait.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Exceptional means exceptional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806440" cy="1408176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13816" y="1783080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DISPOSES, WHATEVER HAPPENS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075688"/>
            <a:ext cx="53675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conn = new SqlConnection(cs);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conn.Open();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closed and disposed at the end of scope,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 if an exception is thrown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5806440" cy="178308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13816" y="3355848"/>
            <a:ext cx="5367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EXCEPTION TYPE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3648456"/>
            <a:ext cx="536752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InsufficientStockException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Exception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InsufficientStockException(string m)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base(m) {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29400" y="1627632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29400" y="1627632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30568" y="195681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83056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1627632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use exceptions for normal flow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"Part not found" is an ordinary outcome. Return null or a result, do not throw.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2779776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29400" y="2779776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30568" y="31089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83056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779776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the specific type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(SqlException) tells the reader what you expected. catch (Exception) hides surprises.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29400" y="3931920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3931920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30568" y="426110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83056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931920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throw, not throw ex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Rethrowing with throw ex erases the original stack trace and the line you needed.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629400" y="5084064"/>
            <a:ext cx="4965192" cy="1024128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9400" y="5084064"/>
            <a:ext cx="50292" cy="102412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30568" y="541324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30568" y="5413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084064"/>
            <a:ext cx="4014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 exception carries meaning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caller can handle a stock shortfall differently from a database failure.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console application, start to finish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577840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83794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27632"/>
            <a:ext cx="4626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new console -n PartsCheck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the project, a .csproj file and Program.cs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5577840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560320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77063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560320"/>
            <a:ext cx="4626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code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 is the entry point — execution starts at the top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3493008"/>
            <a:ext cx="5577840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493008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7033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493008"/>
            <a:ext cx="4626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build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Compiles to intermediate language and reports every error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4425696"/>
            <a:ext cx="5577840" cy="786384"/>
          </a:xfrm>
          <a:prstGeom prst="rect">
            <a:avLst/>
          </a:prstGeom>
          <a:solidFill>
            <a:srgbClr val="EDEDF7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425696"/>
            <a:ext cx="50292" cy="786384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463600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4636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425696"/>
            <a:ext cx="4626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dotnet run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 if needed, then executes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94360" y="5285232"/>
            <a:ext cx="5577840" cy="402336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7240" y="5285232"/>
            <a:ext cx="5212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.csproj file is the project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5687568"/>
            <a:ext cx="5577840" cy="25603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813816" y="5833872"/>
            <a:ext cx="51389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3"/>
              </a:lnSpc>
              <a:buNone/>
            </a:pPr>
            <a:r>
              <a:rPr lang="en-US" sz="11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names the target framework and every package the project depends 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82512" y="1627632"/>
            <a:ext cx="5212080" cy="3095244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601968" y="17830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PROGRAM.CS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601968" y="2075688"/>
            <a:ext cx="4773168" cy="2519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parts = new List&lt;SparePart&gt;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new() { PartNo = "HAL-4471",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Quantity = 3 },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new() { PartNo = "HAL-9002",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Quantity = 41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(var p in parts)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flag = p.IsBelowMinimum()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? "REORDER" : "OK";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Console.WriteLine(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$"{p.PartNo}  {p.Quantity,4}  {flag}");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82512" y="4828032"/>
            <a:ext cx="5212080" cy="1033272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601968" y="49834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601968" y="5276088"/>
            <a:ext cx="4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HAL-4471     3  REORDER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HAL-9002    41  OK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TRAPS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catches people in their first fortnight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94960" cy="384048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13816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strings with == and wrong casing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double for money or quantities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static field holding per-user state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Concatenating strings in a large loop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Ignoring a compiler warning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Exception and carrying 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27632"/>
            <a:ext cx="5394960" cy="384048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82512" y="1627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4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INSTEAD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9632" y="2139696"/>
            <a:ext cx="53949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9088" y="2286000"/>
            <a:ext cx="4956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string.Equals(a, b, StringComparison.OrdinalIgnoreCase)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decimal, every time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state in the request, the session or the database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StringBuilder, or string.Join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warnings as errors in the build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3E3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what you can handle; log and rethrow the rest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193792"/>
            <a:ext cx="11002975" cy="640080"/>
          </a:xfrm>
          <a:prstGeom prst="rect">
            <a:avLst/>
          </a:prstGeom>
          <a:solidFill>
            <a:srgbClr val="FBECEC"/>
          </a:solidFill>
          <a:ln w="12700">
            <a:solidFill>
              <a:srgbClr val="A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" y="5193792"/>
            <a:ext cx="1052748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7A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on "treat warnings as errors" on day one of a new project. It is unbearable to add to a project two years later.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22226B"/>
          </a:solidFill>
          <a:ln w="12700">
            <a:solidFill>
              <a:srgbClr val="2222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· 10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it onto what you already run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9613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961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estate written in?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Framework, Core, VB.NET, something older? Do you know for certain?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752344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752344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30495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30495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752344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would strong typing have saved you?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a defect that a compiler could have caught.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840480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840480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413766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4137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40480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slowest screen?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waiting on a database, or doing work it should not?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928616"/>
            <a:ext cx="6949440" cy="96012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4928616"/>
            <a:ext cx="50292" cy="96012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522579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5225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928616"/>
            <a:ext cx="5998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the coding conventions?</a:t>
            </a:r>
            <a:endParaRPr lang="en-US" sz="135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when were they last updated?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35240" y="1664208"/>
            <a:ext cx="395935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818120" y="1664208"/>
            <a:ext cx="3593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35240" y="2066544"/>
            <a:ext cx="3959352" cy="3803904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854696" y="2212848"/>
            <a:ext cx="352044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minutes in pairs, then three answers from the room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the .NET versions people report — it shapes what you tackle in the final project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Anyone unsure of their target framework should check it before tomorrow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· 40 MINUTES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0607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interface-based class structure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298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aircraft component, one common contract.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288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TASKS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" y="2176272"/>
            <a:ext cx="6035040" cy="64008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50292" cy="64008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" y="231343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95528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176272"/>
            <a:ext cx="5084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IServiceable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Methods: NextDueHours() and IsGrounded()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935224"/>
            <a:ext cx="6035040" cy="64008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" y="2935224"/>
            <a:ext cx="50292" cy="64008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5528" y="3072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5528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2935224"/>
            <a:ext cx="5084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it three times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Airframe, Engine and AvionicsUnit — each with its own rule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694176"/>
            <a:ext cx="6035040" cy="64008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4360" y="3694176"/>
            <a:ext cx="50292" cy="64008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95528" y="383133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95528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694176"/>
            <a:ext cx="5084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them in one list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List&lt;IServiceable&gt; containing all three types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453128"/>
            <a:ext cx="6035040" cy="64008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" y="4453128"/>
            <a:ext cx="50292" cy="64008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5528" y="45902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95528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453128"/>
            <a:ext cx="5084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and report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what is due and what is grounded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212080"/>
            <a:ext cx="6035040" cy="640080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5212080"/>
            <a:ext cx="50292" cy="640080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95528" y="534924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95528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212080"/>
            <a:ext cx="5084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fourth component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that nothing in the loop had to change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49440" y="1828800"/>
            <a:ext cx="4645152" cy="3657600"/>
          </a:xfrm>
          <a:prstGeom prst="rect">
            <a:avLst/>
          </a:prstGeom>
          <a:solidFill>
            <a:srgbClr val="F4F4FA"/>
          </a:solidFill>
          <a:ln w="9525">
            <a:solidFill>
              <a:srgbClr val="C9C9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168896" y="198424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3333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168896" y="2276856"/>
            <a:ext cx="420624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IServiceable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Identifier { get;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NextDueHours();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IsGrounded();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Engine : IServiceable {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Identifier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HoursRun { get; set; }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NextDueHours()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300 - HoursRun;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 IsGrounded()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=&gt; HoursRun &gt;= 300;</a:t>
            </a:r>
            <a:endParaRPr lang="en-US" sz="1050" dirty="0"/>
          </a:p>
          <a:p>
            <a:pPr marL="0" indent="0">
              <a:lnSpc>
                <a:spcPts val="1418"/>
              </a:lnSpc>
              <a:buNone/>
            </a:pPr>
            <a:r>
              <a:rPr lang="en-US" sz="1050" dirty="0">
                <a:solidFill>
                  <a:srgbClr val="1A1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" y="594360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task is the whole point of the exercise: the open/closed principle stops being theory the moment you add the fourth class.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2B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94360" y="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9C9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2 RECAP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365760"/>
            <a:ext cx="12191695" cy="841248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94360" y="365760"/>
            <a:ext cx="1100297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have enough of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66420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5528" y="179222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9552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66420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hold data with the rules that protect 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4360" y="2377440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" y="2505456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9552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377440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 are contracts; prefer them to deep hierarchies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090672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4360" y="3090672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95528" y="3218688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95528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090672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for order, Dictionary for lookup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3803904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3803904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5528" y="3931920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95528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803904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LINQ says what you want — and becomes SQL tomorrow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94360" y="4517136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" y="4517136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95528" y="4645152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795528" y="4645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517136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releases the thread while you wait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94360" y="5230368"/>
            <a:ext cx="6400800" cy="621792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94360" y="5230368"/>
            <a:ext cx="50292" cy="621792"/>
          </a:xfrm>
          <a:prstGeom prst="rect">
            <a:avLst/>
          </a:prstGeom>
          <a:solidFill>
            <a:srgbClr val="8A8AC4"/>
          </a:solidFill>
          <a:ln w="12700">
            <a:solidFill>
              <a:srgbClr val="8A8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95528" y="5358384"/>
            <a:ext cx="365760" cy="365760"/>
          </a:xfrm>
          <a:prstGeom prst="ellipse">
            <a:avLst/>
          </a:prstGeom>
          <a:solidFill>
            <a:srgbClr val="3333B3"/>
          </a:solidFill>
          <a:ln w="12700">
            <a:solidFill>
              <a:srgbClr val="3333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795528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25880" y="5230368"/>
            <a:ext cx="54498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are for the exceptional; dispose with using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86600" y="1664208"/>
            <a:ext cx="4507992" cy="402336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269480" y="1664208"/>
            <a:ext cx="4142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 these three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86600" y="2066544"/>
            <a:ext cx="4507992" cy="3785616"/>
          </a:xfrm>
          <a:prstGeom prst="rect">
            <a:avLst/>
          </a:prstGeom>
          <a:solidFill>
            <a:srgbClr val="3B3B96"/>
          </a:solidFill>
          <a:ln w="9525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306056" y="2212848"/>
            <a:ext cx="406908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Rewrite one loop from your own code as a LINQ query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class with public fields and turn them into properties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▸"/>
            </a:pPr>
            <a:r>
              <a:rPr lang="en-US" sz="1200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TargetFramework of every project you own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" y="598932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ASP.NET Core MVC — how a URL becomes a page.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3840480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64592" y="640080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  ·  .NET, React &amp; SQL Programme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40480" y="6400800"/>
            <a:ext cx="6675120" cy="457200"/>
          </a:xfrm>
          <a:prstGeom prst="rect">
            <a:avLst/>
          </a:prstGeom>
          <a:solidFill>
            <a:srgbClr val="3B3B96"/>
          </a:solidFill>
          <a:ln w="12700">
            <a:solidFill>
              <a:srgbClr val="3B3B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005072" y="6400800"/>
            <a:ext cx="634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Session 2 — C# Foundations for ASP.NET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515600" y="6400800"/>
            <a:ext cx="1676095" cy="457200"/>
          </a:xfrm>
          <a:prstGeom prst="rect">
            <a:avLst/>
          </a:prstGeom>
          <a:solidFill>
            <a:srgbClr val="5050A8"/>
          </a:solidFill>
          <a:ln w="12700">
            <a:solidFill>
              <a:srgbClr val="5050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10680192" y="6400800"/>
            <a:ext cx="1346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3707</Words>
  <Application>Microsoft Office PowerPoint</Application>
  <PresentationFormat>Widescreen</PresentationFormat>
  <Paragraphs>500</Paragraphs>
  <Slides>17</Slides>
  <Notes>17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1, Session 2 - C# Foundations</dc:title>
  <dc:subject>PptxGenJS Presentation</dc:subject>
  <dc:creator>HAL .NET, React &amp; SQL Transition Program</dc:creator>
  <cp:lastModifiedBy>Roshan David Jathanna [MAHE-MIT]</cp:lastModifiedBy>
  <cp:revision>7</cp:revision>
  <dcterms:created xsi:type="dcterms:W3CDTF">2026-09-16T16:44:51Z</dcterms:created>
  <dcterms:modified xsi:type="dcterms:W3CDTF">2026-09-19T15:22:09Z</dcterms:modified>
</cp:coreProperties>
</file>