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372" r:id="rId3"/>
    <p:sldId id="378" r:id="rId4"/>
    <p:sldId id="380" r:id="rId5"/>
    <p:sldId id="37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0063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who has used a REST API before, even indirectly. Most will have — any mobile app they use is a client of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codes are the part teams get lazy about — returning 200 with an error message inside is the classic mistake. It breaks every client that trusts the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network tab on any site and show a real request. Demystifying this makes tomorrow's debugging far less frightening.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Filtering and paging belong in the query string, not in new endpoints. Otherwise you end up with getPartsBelowMinimumForStore.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200-with-an-error pattern is everywhere in older in-house services. Name it as a defect, not a style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Constructor injection is the moment dependency inversion from Day 1 becomes concrete. Point back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CreatedAtAction is worth the extra typing: it returns 201 and a Location header pointing at the new resource. Also note that [ApiController] turns a failed data annotation into a 400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pushback about duplication. The answer is that the coupling it removes is worth far more than the typing it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they check status codes in Swagger, not just the body. That habit catches the 200-with-error pattern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UTC point saves genuine pain later — mixed local times across servers is a classic and horrible defect.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database logins handed to other departments is common and worth naming as the problem an API solves.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Swagger gives them a UI without writing one, which keeps the focus on the API. Anyone who finishes early can add PUT and DELETE.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people finished the hands-on early, the practice list is what to give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2" y="878909"/>
            <a:ext cx="10515599" cy="5298056"/>
          </a:xfrm>
        </p:spPr>
        <p:txBody>
          <a:bodyPr lIns="91440" tIns="45720" rIns="91440"/>
          <a:lstStyle>
            <a:lvl1pPr marL="362907" indent="-362907" algn="just">
              <a:lnSpc>
                <a:spcPct val="100000"/>
              </a:lnSpc>
              <a:spcBef>
                <a:spcPts val="0"/>
              </a:spcBef>
              <a:spcAft>
                <a:spcPts val="1191"/>
              </a:spcAft>
              <a:buClr>
                <a:schemeClr val="accent1"/>
              </a:buClr>
              <a:buFontTx/>
              <a:buBlip>
                <a:blip r:embed="rId2"/>
              </a:buBlip>
              <a:defRPr sz="2381">
                <a:latin typeface="CMU Sans Serif" panose="02000603000000000000" pitchFamily="50" charset="0"/>
                <a:ea typeface="CMU Sans Serif" panose="02000603000000000000" pitchFamily="50" charset="0"/>
                <a:cs typeface="CMU Sans Serif" panose="02000603000000000000" pitchFamily="50" charset="0"/>
              </a:defRPr>
            </a:lvl1pPr>
            <a:lvl2pPr marL="685759" indent="-362907" algn="just">
              <a:lnSpc>
                <a:spcPct val="100000"/>
              </a:lnSpc>
              <a:spcBef>
                <a:spcPts val="0"/>
              </a:spcBef>
              <a:spcAft>
                <a:spcPts val="1191"/>
              </a:spcAft>
              <a:buClr>
                <a:schemeClr val="accent1"/>
              </a:buClr>
              <a:buFontTx/>
              <a:buBlip>
                <a:blip r:embed="rId2"/>
              </a:buBlip>
              <a:defRPr sz="2183">
                <a:latin typeface="CMU Sans Serif" panose="02000603000000000000" pitchFamily="50" charset="0"/>
                <a:ea typeface="CMU Sans Serif" panose="02000603000000000000" pitchFamily="50" charset="0"/>
                <a:cs typeface="CMU Sans Serif" panose="02000603000000000000" pitchFamily="50" charset="0"/>
              </a:defRPr>
            </a:lvl2pPr>
            <a:lvl3pPr marL="1142931" indent="-362907" algn="just">
              <a:lnSpc>
                <a:spcPct val="100000"/>
              </a:lnSpc>
              <a:spcBef>
                <a:spcPts val="0"/>
              </a:spcBef>
              <a:spcAft>
                <a:spcPts val="1191"/>
              </a:spcAft>
              <a:buClr>
                <a:schemeClr val="accent1"/>
              </a:buClr>
              <a:buFontTx/>
              <a:buBlip>
                <a:blip r:embed="rId2"/>
              </a:buBlip>
              <a:defRPr sz="1984">
                <a:latin typeface="CMU Sans Serif" panose="02000603000000000000" pitchFamily="50" charset="0"/>
                <a:ea typeface="CMU Sans Serif" panose="02000603000000000000" pitchFamily="50" charset="0"/>
                <a:cs typeface="CMU Sans Serif" panose="02000603000000000000" pitchFamily="50" charset="0"/>
              </a:defRPr>
            </a:lvl3pPr>
            <a:lvl4pPr marL="1600103" indent="-362907" algn="just">
              <a:lnSpc>
                <a:spcPct val="100000"/>
              </a:lnSpc>
              <a:spcBef>
                <a:spcPts val="0"/>
              </a:spcBef>
              <a:spcAft>
                <a:spcPts val="1191"/>
              </a:spcAft>
              <a:buClr>
                <a:schemeClr val="accent1"/>
              </a:buClr>
              <a:buFontTx/>
              <a:buBlip>
                <a:blip r:embed="rId2"/>
              </a:buBlip>
              <a:defRPr sz="1786">
                <a:latin typeface="CMU Sans Serif" panose="02000603000000000000" pitchFamily="50" charset="0"/>
                <a:ea typeface="CMU Sans Serif" panose="02000603000000000000" pitchFamily="50" charset="0"/>
                <a:cs typeface="CMU Sans Serif" panose="02000603000000000000" pitchFamily="50" charset="0"/>
              </a:defRPr>
            </a:lvl4pPr>
            <a:lvl5pPr marL="2057275" indent="-362907" algn="just">
              <a:lnSpc>
                <a:spcPct val="100000"/>
              </a:lnSpc>
              <a:spcBef>
                <a:spcPts val="0"/>
              </a:spcBef>
              <a:spcAft>
                <a:spcPts val="1191"/>
              </a:spcAft>
              <a:buClr>
                <a:schemeClr val="accent1"/>
              </a:buClr>
              <a:buFontTx/>
              <a:buBlip>
                <a:blip r:embed="rId2"/>
              </a:buBlip>
              <a:defRPr sz="1588">
                <a:latin typeface="CMU Sans Serif" panose="02000603000000000000" pitchFamily="50" charset="0"/>
                <a:ea typeface="CMU Sans Serif" panose="02000603000000000000" pitchFamily="50" charset="0"/>
                <a:cs typeface="CMU Sans Serif" panose="02000603000000000000" pitchFamily="50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E27034-47F5-4A75-BAAF-768A680A2BD4}"/>
              </a:ext>
            </a:extLst>
          </p:cNvPr>
          <p:cNvSpPr/>
          <p:nvPr userDrawn="1"/>
        </p:nvSpPr>
        <p:spPr>
          <a:xfrm>
            <a:off x="107515" y="82945"/>
            <a:ext cx="11992873" cy="508454"/>
          </a:xfrm>
          <a:prstGeom prst="rect">
            <a:avLst/>
          </a:prstGeom>
          <a:gradFill flip="none" rotWithShape="1">
            <a:gsLst>
              <a:gs pos="0">
                <a:srgbClr val="1004B6"/>
              </a:gs>
              <a:gs pos="86000">
                <a:srgbClr val="3232B0"/>
              </a:gs>
              <a:gs pos="0">
                <a:schemeClr val="tx1">
                  <a:lumMod val="85000"/>
                  <a:lumOff val="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2381" dirty="0">
              <a:latin typeface="CMU Sans Serif" panose="02000603000000000000" pitchFamily="50" charset="0"/>
              <a:ea typeface="CMU Sans Serif" panose="02000603000000000000" pitchFamily="50" charset="0"/>
              <a:cs typeface="CMU Sans Serif" panose="02000603000000000000" pitchFamily="50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0215D37-C592-4F65-8476-43C4037CB2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462" y="123267"/>
            <a:ext cx="11504073" cy="425505"/>
          </a:xfrm>
        </p:spPr>
        <p:txBody>
          <a:bodyPr>
            <a:noAutofit/>
          </a:bodyPr>
          <a:lstStyle>
            <a:lvl1pPr>
              <a:defRPr sz="2778">
                <a:solidFill>
                  <a:schemeClr val="bg1"/>
                </a:solidFill>
                <a:latin typeface="CMU Sans Serif" panose="02000603000000000000" pitchFamily="50" charset="0"/>
                <a:ea typeface="CMU Sans Serif" panose="02000603000000000000" pitchFamily="50" charset="0"/>
                <a:cs typeface="CMU Sans Serif" panose="02000603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D6D2C20F-CDFD-4657-AEAD-6F0E79F67CAE}"/>
              </a:ext>
            </a:extLst>
          </p:cNvPr>
          <p:cNvSpPr txBox="1">
            <a:spLocks/>
          </p:cNvSpPr>
          <p:nvPr userDrawn="1"/>
        </p:nvSpPr>
        <p:spPr>
          <a:xfrm>
            <a:off x="8695473" y="6304325"/>
            <a:ext cx="2606766" cy="36512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/>
                </a:solidFill>
                <a:latin typeface="CMU Sans Serif" panose="02000603000000000000" pitchFamily="50" charset="0"/>
                <a:ea typeface="CMU Sans Serif" panose="02000603000000000000" pitchFamily="50" charset="0"/>
                <a:cs typeface="CMU Sans Serif" panose="02000603000000000000" pitchFamily="50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588" dirty="0">
                <a:solidFill>
                  <a:schemeClr val="bg1">
                    <a:lumMod val="65000"/>
                  </a:schemeClr>
                </a:solidFill>
              </a:rPr>
              <a:t>Slide </a:t>
            </a:r>
            <a:fld id="{25FD8A05-ECBB-40B9-B2A5-27BFEFEF1084}" type="slidenum">
              <a:rPr lang="en-US" sz="1588" smtClean="0">
                <a:solidFill>
                  <a:schemeClr val="bg1">
                    <a:lumMod val="65000"/>
                  </a:schemeClr>
                </a:solidFill>
              </a:rPr>
              <a:pPr algn="r"/>
              <a:t>‹#›</a:t>
            </a:fld>
            <a:r>
              <a:rPr lang="en-US" sz="1588" dirty="0">
                <a:solidFill>
                  <a:schemeClr val="bg1">
                    <a:lumMod val="65000"/>
                  </a:schemeClr>
                </a:solidFill>
              </a:rPr>
              <a:t> of  14</a:t>
            </a:r>
          </a:p>
        </p:txBody>
      </p:sp>
    </p:spTree>
    <p:extLst>
      <p:ext uri="{BB962C8B-B14F-4D97-AF65-F5344CB8AC3E}">
        <p14:creationId xmlns:p14="http://schemas.microsoft.com/office/powerpoint/2010/main" val="1181635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s.msdn.microsoft.com/martinkearn/2015/01/05/introduction-to-rest-and-net-web-api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keshavtechinfo.wordpress.com/api-testing/api-manual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1 · 90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ASP.NET Web API (Backend Services)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3977640" cy="4233672"/>
          </a:xfrm>
          <a:prstGeom prst="roundRect">
            <a:avLst>
              <a:gd name="adj" fmla="val 1149"/>
            </a:avLst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18470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YOU CAN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31136"/>
            <a:ext cx="3429000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REST without hand-waving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right HTTP verb and status code for an operation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an API controller that returns JSON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 a JSON payload and validate it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your own endpoints without a front end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5138928"/>
            <a:ext cx="3429000" cy="0"/>
          </a:xfrm>
          <a:prstGeom prst="line">
            <a:avLst/>
          </a:prstGeom>
          <a:noFill/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68680" y="526694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45 minutes of concept and demonstration, then 45 minutes at the keyboard.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6093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0" y="1956816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37760" y="1956816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38928" y="21305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138928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1956816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REST actually means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Resources, verbs, status codes, statelessness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2798064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37760" y="2798064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138928" y="297180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138928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2798064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controllers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ControllerBase, [ApiController], attribute routes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3639312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37760" y="3639312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138928" y="38130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138928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3639312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in and out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Serialisation, model binding, DTOs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37760" y="4480560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937760" y="4480560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138928" y="46542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138928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4480560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and POST endpoints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you will write most often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937760" y="5321808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937760" y="5321808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138928" y="549554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5138928" y="5495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0" y="5321808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Parts API, exercised through Swagger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1 — ASP.NET Web API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FA5D17-DD27-4BCF-9471-A32DC2B2E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84CC17-72EC-4A31-855A-DE186A6D9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372" y="940249"/>
            <a:ext cx="8488528" cy="51961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47DBE0E-62E2-4389-8944-CEA00501F718}"/>
              </a:ext>
            </a:extLst>
          </p:cNvPr>
          <p:cNvSpPr/>
          <p:nvPr/>
        </p:nvSpPr>
        <p:spPr>
          <a:xfrm>
            <a:off x="9688813" y="4208011"/>
            <a:ext cx="930227" cy="19283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72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6FFC2F-F775-4C99-949C-A01AE4FB8E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784"/>
          <a:stretch/>
        </p:blipFill>
        <p:spPr>
          <a:xfrm>
            <a:off x="9771289" y="4323487"/>
            <a:ext cx="781765" cy="169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0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2F15861-01A6-4BDD-A109-8A6292626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FFCFA3-D983-4469-80FF-81BE26BCBD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183" r="2850" b="9154"/>
          <a:stretch/>
        </p:blipFill>
        <p:spPr>
          <a:xfrm>
            <a:off x="1778851" y="973243"/>
            <a:ext cx="8629048" cy="473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48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5CB8B6-1233-41AA-A754-0C54F1E46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2050" name="Picture 2" descr="Related image">
            <a:extLst>
              <a:ext uri="{FF2B5EF4-FFF2-40B4-BE49-F238E27FC236}">
                <a16:creationId xmlns:a16="http://schemas.microsoft.com/office/drawing/2014/main" id="{DC6866C2-5A73-4578-8667-CC39D8A52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217" y="753584"/>
            <a:ext cx="5016129" cy="2576440"/>
          </a:xfrm>
          <a:prstGeom prst="rect">
            <a:avLst/>
          </a:prstGeom>
          <a:noFill/>
          <a:ln>
            <a:solidFill>
              <a:srgbClr val="01010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msdnshared.blob.core.windows.net/media/MSDNBlogsFS/prod.evol.blogs.msdn.com/CommunityServer.Blogs.Components.WeblogFiles/00/00/00/56/73/2318.WithAPIArchitecture.PNG">
            <a:extLst>
              <a:ext uri="{FF2B5EF4-FFF2-40B4-BE49-F238E27FC236}">
                <a16:creationId xmlns:a16="http://schemas.microsoft.com/office/drawing/2014/main" id="{4419CEE0-0287-4DCD-9C05-9022ED378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836" y="3429001"/>
            <a:ext cx="6322891" cy="2576440"/>
          </a:xfrm>
          <a:prstGeom prst="rect">
            <a:avLst/>
          </a:prstGeom>
          <a:noFill/>
          <a:ln>
            <a:solidFill>
              <a:srgbClr val="01010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591D09A-BDD9-45C4-9232-89C9BF536D93}"/>
              </a:ext>
            </a:extLst>
          </p:cNvPr>
          <p:cNvSpPr/>
          <p:nvPr/>
        </p:nvSpPr>
        <p:spPr>
          <a:xfrm>
            <a:off x="1722782" y="5939457"/>
            <a:ext cx="8831003" cy="336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88" dirty="0">
                <a:solidFill>
                  <a:srgbClr val="1105B6"/>
                </a:solidFill>
                <a:latin typeface="CMU Sans Serif" panose="02000603000000000000" pitchFamily="50" charset="0"/>
                <a:ea typeface="CMU Sans Serif" panose="02000603000000000000" pitchFamily="50" charset="0"/>
                <a:cs typeface="CMU Sans Serif" panose="02000603000000000000" pitchFamily="50" charset="0"/>
                <a:hlinkClick r:id="rId4"/>
              </a:rPr>
              <a:t>https://blogs.msdn.microsoft.com/martinkearn/2015/01/05/introduction-to-rest-and-net-web-api/</a:t>
            </a:r>
            <a:r>
              <a:rPr lang="en-US" sz="1588" dirty="0">
                <a:solidFill>
                  <a:srgbClr val="1105B6"/>
                </a:solidFill>
                <a:latin typeface="CMU Sans Serif" panose="02000603000000000000" pitchFamily="50" charset="0"/>
                <a:ea typeface="CMU Sans Serif" panose="02000603000000000000" pitchFamily="50" charset="0"/>
                <a:cs typeface="CMU Sans Serif" panose="02000603000000000000" pitchFamily="50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39200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B76420-C061-4A14-AE50-9B2397B9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1028" name="Picture 4" descr="https://qph.ec.quoracdn.net/main-qimg-119b737762fb416e7a2d0c04f80c6d5e">
            <a:extLst>
              <a:ext uri="{FF2B5EF4-FFF2-40B4-BE49-F238E27FC236}">
                <a16:creationId xmlns:a16="http://schemas.microsoft.com/office/drawing/2014/main" id="{54B678C1-8CA4-43C2-AE24-8291D9057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255" y="1633067"/>
            <a:ext cx="8440957" cy="3483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6F87BAA-60A8-4153-B24E-EDCA55F3F42D}"/>
              </a:ext>
            </a:extLst>
          </p:cNvPr>
          <p:cNvSpPr/>
          <p:nvPr/>
        </p:nvSpPr>
        <p:spPr>
          <a:xfrm>
            <a:off x="3348650" y="5267722"/>
            <a:ext cx="5845293" cy="336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88" dirty="0">
                <a:solidFill>
                  <a:srgbClr val="1105B6"/>
                </a:solidFill>
                <a:latin typeface="CMU Sans Serif" panose="02000603000000000000" pitchFamily="50" charset="0"/>
                <a:ea typeface="CMU Sans Serif" panose="02000603000000000000" pitchFamily="50" charset="0"/>
                <a:cs typeface="CMU Sans Serif" panose="02000603000000000000" pitchFamily="50" charset="0"/>
                <a:hlinkClick r:id="rId3"/>
              </a:rPr>
              <a:t>https://keshavtechinfo.wordpress.com/api-testing/api-manual/</a:t>
            </a:r>
            <a:r>
              <a:rPr lang="en-US" sz="1588" dirty="0">
                <a:solidFill>
                  <a:srgbClr val="1105B6"/>
                </a:solidFill>
                <a:latin typeface="CMU Sans Serif" panose="02000603000000000000" pitchFamily="50" charset="0"/>
                <a:ea typeface="CMU Sans Serif" panose="02000603000000000000" pitchFamily="50" charset="0"/>
                <a:cs typeface="CMU Sans Serif" panose="02000603000000000000" pitchFamily="50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2162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Nouns in the URL, verbs in the request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577840" cy="1595628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13816" y="1783080"/>
            <a:ext cx="5138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RESOURCE IS THE NOUN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138928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/api/parts          list them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/api/parts/HAL-4471 fetch one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 /api/parts          create one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   /api/parts/HAL-4471 replace one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/api/parts/HAL-4471 remove one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3310128"/>
            <a:ext cx="55778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3310128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rules worth remembering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3712464"/>
            <a:ext cx="5577840" cy="2231136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13816" y="3858768"/>
            <a:ext cx="513892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URL names a thing; the verb says what to do with it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request stands alone — the server remembers nothing between calls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never changes data, and can be repeated safely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response says what happened in a status code, not only in the body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1627632"/>
          <a:ext cx="5212080" cy="302768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Code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Meaning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When you return it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OK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successful GET or PUT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Created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POST that created a resource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Bad Request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 payload failed validation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401 / 403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Unauthorised / Forbidden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Not signed in, or not allowed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Not Found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That part number does not exist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Server Error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Your code threw — and you should log it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1 — ASP.NET Web API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CROSSES THE WIRE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and response, in full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178308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/api/parts HTTP/1.1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 spares.hal.int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eyJhbGci...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"partNo": "HAL-4471", "quantity": 12 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547872"/>
            <a:ext cx="5806440" cy="1595628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13816" y="370332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13816" y="3995928"/>
            <a:ext cx="5367528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HTTP/1.1 201 Created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Location: /api/parts/HAL-4471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"partNo": "HAL-4471", "quantity": 12 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29400" y="1627632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62940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3056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83056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1627632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Verb, path, headers, body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request is these four things. Nothing more mysterious is happening.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629400" y="2779776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2940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3056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83056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2779776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Headers carry the metadata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type, authentication, caching. The body carries the data.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629400" y="3931920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62940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3056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83056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3931920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status line is the verdict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it first when something fails — it usually tells you which layer to look at.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629400" y="5084064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62940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3056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83056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360920" y="5084064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it in the browser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F12, Network tab. Every request your React app makes is visible there, in full.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1 — ASP.NET Web API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THE URLS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Nouns, plural, and no verbs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394960" cy="384048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6276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139696"/>
            <a:ext cx="53949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13816" y="2286000"/>
            <a:ext cx="49560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/api/getAllParts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/api/createPart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/api/part?action=delete&amp;id=4471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/api/PartsAndWorkOrdersAndStock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627632"/>
            <a:ext cx="5394960" cy="3840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382512" y="16276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99632" y="2139696"/>
            <a:ext cx="53949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19088" y="2286000"/>
            <a:ext cx="49560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/api/parts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/api/parts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/api/parts/HAL-4471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/api/parts/HAL-4471/issues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/api/parts?belowMinimum=true&amp;page=2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5193792"/>
            <a:ext cx="11002975" cy="640080"/>
          </a:xfrm>
          <a:prstGeom prst="rect">
            <a:avLst/>
          </a:prstGeom>
          <a:solidFill>
            <a:srgbClr val="FBECEC"/>
          </a:solidFill>
          <a:ln w="12700">
            <a:solidFill>
              <a:srgbClr val="A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32104" y="5193792"/>
            <a:ext cx="105274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7A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verb is already in the request. Putting it in the URL too is how an API becomes a pile of one-off methods.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1 — ASP.NET Web API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THE RESPONSE RIGHT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return is part of the contract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21579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WHAT HAPPENED, PROPERLY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(part is null)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NotFound();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(!ModelState.IsValid)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BadRequest(ModelState);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CreatedAtAction(nameof(Get),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{ partNo = part.PartNo }, part);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749040"/>
            <a:ext cx="58064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374904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consistent error shape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4151376"/>
            <a:ext cx="5806440" cy="17922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13816" y="4297680"/>
            <a:ext cx="536752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ASP.NET Core returns a standard problem-details object for errors: a type, a title, a status and detail. Use it rather than inventing your own, so every client can handle failures the same way.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0" y="1627632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62940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3056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83056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1627632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return 200 with an error inside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client then has to parse the body to find out whether it worked. This is the most common API design failure.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29400" y="2779776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2940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3056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83056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779776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leak the exception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stack trace in the response tells an attacker your framework, your versions and your file paths.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29400" y="3931920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2940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3056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83056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931920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 means the resource, not the route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/api/parts/9999 returns 404, that is correct. If /api/parts does, your routing is wrong.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629400" y="5084064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2940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3056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83056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5084064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consistent above all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predictable API is easier to use than a clever one.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1 — ASP.NET Web API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WEB API CONTROLLERS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framework, different return type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6035040" cy="4407408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13816" y="1783080"/>
            <a:ext cx="5596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CONTROLLERS/PARTSAPICONTROLLER.CS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596128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[ApiController]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[Route("api/parts")]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PartsApiController : ControllerBase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readonly IPartRepository _repo;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PartsApiController(IPartRepository repo)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=&gt; _repo = repo;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[HttpGet]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ActionResult&lt;IEnumerable&lt;SparePart&gt;&gt; GetAll()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=&gt; Ok(_repo.GetAll());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[HttpGet("{partNo}")]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ActionResult&lt;SparePart&gt; Get(string partNo)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part = _repo.GetByPartNo(partNo);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part is null ? NotFound() : Ok(part);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03720" y="1627632"/>
            <a:ext cx="4690872" cy="78638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903720" y="1627632"/>
            <a:ext cx="50292" cy="78638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04888" y="183794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104888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1627632"/>
            <a:ext cx="3739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ControllerBase, not Controller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API has no views, so it does not need view support.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03720" y="2542032"/>
            <a:ext cx="4690872" cy="78638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03720" y="2542032"/>
            <a:ext cx="50292" cy="78638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104888" y="275234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104888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2542032"/>
            <a:ext cx="3739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[ApiController]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model validation, 400 responses and binding from the body.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03720" y="3456432"/>
            <a:ext cx="4690872" cy="78638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03720" y="3456432"/>
            <a:ext cx="50292" cy="78638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04888" y="366674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104888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3456432"/>
            <a:ext cx="3739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 routing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route sits on the class and the action, where you can see it.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03720" y="4370832"/>
            <a:ext cx="4690872" cy="78638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903720" y="4370832"/>
            <a:ext cx="50292" cy="78638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104888" y="458114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104888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635240" y="4370832"/>
            <a:ext cx="3739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Constructor injection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repository arrives from the container — the controller never news it up.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03720" y="5285232"/>
            <a:ext cx="4690872" cy="78638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903720" y="5285232"/>
            <a:ext cx="50292" cy="78638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104888" y="549554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7104888" y="5495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635240" y="5285232"/>
            <a:ext cx="3739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ActionResult&lt;T&gt;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return the object, or NotFound(), or BadRequest().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1 — ASP.NET Web API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INPUTS AND OUTPUTS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crosses the wire, and what you accept back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394960" cy="21579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13816" y="1783080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BODY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495604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"partNo": "HAL-4471",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"nomenclature": "Hydraulic seal",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"quantity": 3,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"location": "Bay 2"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913632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39136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 change case automatically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4315968"/>
            <a:ext cx="5394960" cy="6492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13816" y="4462272"/>
            <a:ext cx="49560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 PartNo becomes JSON partNo. That is the default camelCase policy, and JavaScript expects 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5102352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77240" y="510235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 a DTO, not your entity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4360" y="5504688"/>
            <a:ext cx="5394960" cy="43891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13816" y="5650992"/>
            <a:ext cx="4956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request model exposes only the fields a caller may set — never bind straight onto a database entity.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99632" y="1627632"/>
            <a:ext cx="5394960" cy="384505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19088" y="1783080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ACCEPTING A POST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19088" y="2075688"/>
            <a:ext cx="4956048" cy="326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CreatePartRequest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[Required, StringLength(20)]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string PartNo { get; set;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[Range(0, 100000)]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int Quantity { get; set;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[HttpPost]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ActionResult&lt;SparePart&gt; Create(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CreatePartRequest request)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part = _repo.Add(request);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CreatedAtAction(nameof(Get),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new { partNo = part.PartNo }, part);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1 — ASP.NET Web API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accept is not what you store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272034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TYPES, THREE JOBS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214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what the caller may send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CreatePartRequest(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PartNo, int Quantity);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what you store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SparePart { ...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what you return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PartResponse(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PartNo, int Quantity,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BelowMinimum);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4480560"/>
            <a:ext cx="58064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448056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feels like duplication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4882896"/>
            <a:ext cx="5806440" cy="106070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13816" y="5029200"/>
            <a:ext cx="53675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not. The three change for different reasons, and the seam is what stops a database column becoming a public promise.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29400" y="1627632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62940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3056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83056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1627632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Stops over-posting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caller cannot set ApprovedBy simply because the column exists.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29400" y="2779776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2940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3056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83056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779776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Stops over-sharing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costs, audit fields and identifiers stay inside.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29400" y="3931920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2940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3056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83056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931920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Lets the response be useful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BelowMinimum is computed, not stored — the client should not have to work it out.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629400" y="5084064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2940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3056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83056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5084064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Protects your callers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 a column and the API contract holds. Without DTOs, every client breaks.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1 — ASP.NET Web API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YOUR OWN API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anyone builds a screen for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6276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Swagger / OpenAPI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5394960" cy="17007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13816" y="2176272"/>
            <a:ext cx="4956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page generated from your controllers that lists every endpoint and lets you call it. Free documentation, and it cannot go out of date.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9632" y="1627632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382512" y="16276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Postman or a .http file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99632" y="2029968"/>
            <a:ext cx="5394960" cy="17007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19088" y="2176272"/>
            <a:ext cx="4956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saved requests you run repeatedly. A .http file sits in the project and gets committed with the code, so the whole team has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913632"/>
            <a:ext cx="11002975" cy="178308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13816" y="406908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.HTTP FILE LIVES WITH THE CODE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13816" y="4361688"/>
            <a:ext cx="10564063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list every part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https://localhost:7001/api/parts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create one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https://localhost:7001/api/parts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1 — ASP.NET Web API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an API unpleasant to use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64208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5528" y="18470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95528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 the database entity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column becomes a public contract, including the ones you regret.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2514600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514600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" y="269748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95528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514600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naming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partNo here, PartNumber there, part_no somewhere else. Pick one and enforce it.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364992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3364992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" y="354787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95528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364992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paging on a list endpoint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 with fifty rows, fatal with fifty thousand. Add it before you need it.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4215384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4215384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5528" y="439826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95528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215384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Chatty endpoints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screen must call you eleven times to draw itself, the API is modelled wrongly.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" y="5065776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4360" y="5065776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95528" y="524865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795528" y="5248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5065776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versioning plan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day you must change a field, you will need one. /api/v1/ costs nothing today.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29400" y="1664208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812280" y="1664208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629400" y="2066544"/>
            <a:ext cx="4965192" cy="160934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848856" y="2212848"/>
            <a:ext cx="4526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 your API to someone who did not build it, with only the Swagger page. If they cannot use it in ten minutes, it needs work — not more documentation.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29400" y="3840480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812280" y="3840480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Sensible defaults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629400" y="4242816"/>
            <a:ext cx="4965192" cy="155448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6848856" y="4389120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camelCase in JSON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dates, always UTC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size capped server-side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list endpoint returns a total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1 — ASP.NET Web API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bg>
      <p:bgPr>
        <a:solidFill>
          <a:srgbClr val="2B2B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 · 10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you expose first?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64208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5528" y="19613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95528" y="19613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of your data does another team ask for?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Usually by email, spreadsheet or a direct database login today.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752344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752344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" y="304952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95528" y="30495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752344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they get it now?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what breaks when your schema changes?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840480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3840480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" y="41376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95528" y="4137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840480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the URLs be?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three endpoints out loud, as nouns.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4928616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4928616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5528" y="52257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95528" y="5225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928616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should be allowed to call it?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inside the network is not an answer.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635240" y="1664208"/>
            <a:ext cx="3959352" cy="402336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818120" y="1664208"/>
            <a:ext cx="3593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it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35240" y="2066544"/>
            <a:ext cx="3959352" cy="3803904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7854696" y="2212848"/>
            <a:ext cx="352044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minutes in pairs, then three answers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for endpoints named as verbs and correct them gently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anyone who mentions direct database access — that is a strong case for an API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1 — ASP.NET Web API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solidFill>
          <a:srgbClr val="2B2B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· 40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and test your first API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2984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an API alongside the MVC app you built yesterday — same project, new controller.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28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TASKS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217627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217627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5528" y="22448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95528" y="22448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17627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PartsApiController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api/parts, inheriting ControllerBase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2788920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" y="2788920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5528" y="285750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95528" y="28575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788920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/api/parts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the seeded list as JSON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3401568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4360" y="3401568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95528" y="34701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95528" y="34701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401568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/api/parts/{partNo}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one part, or 404 when it is unknown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4014216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4360" y="4014216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5528" y="40827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95528" y="4082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014216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/api/parts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 a CreatePartRequest and return 201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4626864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4360" y="4626864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95528" y="469544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795528" y="46954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4626864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validation attributes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Required, StringLength, Range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4360" y="523951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94360" y="523951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95528" y="530809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795528" y="5308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325880" y="523951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every endpoint in Swagger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status code, not only the body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949440" y="1828800"/>
            <a:ext cx="4645152" cy="3282696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7168896" y="198424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WIRING UP SWAGGER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7168896" y="2276856"/>
            <a:ext cx="420624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Program.cs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builder.Services.AddControllers();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builder.Services.AddEndpointsApiExplorer();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builder.Services.AddSwaggerGen();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(app.Environment.IsDevelopment())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app.UseSwagger();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app.UseSwaggerUI();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app.MapControllers();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then browse to /swagger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94360" y="59436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an invalid part number deliberately and read what comes back. Knowing what a 400 looks like saves an hour tomorrow.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1 — ASP.NET Web API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4">
    <p:bg>
      <p:bgPr>
        <a:solidFill>
          <a:srgbClr val="2B2B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1 RECAP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service now has a front door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64208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5528" y="179222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95528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URLs name resources; the verb says what to do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377440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377440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" y="250545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95528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377440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the status code that describes what happened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090672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3090672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" y="32186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95528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090672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 a request DTO, return a response DTO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3803904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3803904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5528" y="393192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95528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3803904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on the server, always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94360" y="4517136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4360" y="4517136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95528" y="46451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795528" y="4645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4517136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Swagger documents and tests it for free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94360" y="5230368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94360" y="5230368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95528" y="535838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795528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325880" y="5230368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consistent before you are clever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086600" y="1664208"/>
            <a:ext cx="4507992" cy="402336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269480" y="1664208"/>
            <a:ext cx="4142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Practise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086600" y="2066544"/>
            <a:ext cx="4507992" cy="3785616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7306056" y="2212848"/>
            <a:ext cx="406908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PUT and DELETE to your Parts API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one endpoint return a proper 400 with messages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paging to the list endpoint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94360" y="598932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replacing the in-memory list with SQL Server.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1 — ASP.NET Web API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2674</Words>
  <Application>Microsoft Office PowerPoint</Application>
  <PresentationFormat>Widescreen</PresentationFormat>
  <Paragraphs>407</Paragraphs>
  <Slides>17</Slides>
  <Notes>13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Cambria</vt:lpstr>
      <vt:lpstr>CMU Sans Serif</vt:lpstr>
      <vt:lpstr>Courier New</vt:lpstr>
      <vt:lpstr>Office Theme</vt:lpstr>
      <vt:lpstr>PowerPoint Presentation</vt:lpstr>
      <vt:lpstr>Introduction</vt:lpstr>
      <vt:lpstr>Introduction</vt:lpstr>
      <vt:lpstr>Introduction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2, Session 1 - ASP.NET Web API</dc:title>
  <dc:subject>PptxGenJS Presentation</dc:subject>
  <dc:creator>HAL .NET, React &amp; SQL Transition Program</dc:creator>
  <cp:lastModifiedBy>Roshan David Jathanna [MAHE-MIT]</cp:lastModifiedBy>
  <cp:revision>2</cp:revision>
  <dcterms:created xsi:type="dcterms:W3CDTF">2026-09-16T16:44:51Z</dcterms:created>
  <dcterms:modified xsi:type="dcterms:W3CDTF">2026-09-23T01:43:50Z</dcterms:modified>
</cp:coreProperties>
</file>