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9" d="100"/>
          <a:sy n="79" d="100"/>
        </p:scale>
        <p:origin x="74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284960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session is mostly keyboard time. Get everyone to a running application before the break — anyone stuck on tooling will fall behind tomorrow.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Program.cs and read it line by line — the builder, the services, the middleware order. Middleware order is a genuine source of bugs later.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the dev-certs step as a room together. It is a five-minute fix now and a lost half hour tomorrow.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two-halves framing is the thing to leave them with. Almost every configuration question later is "which half does this belong in?"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"nothing outside wwwroot is public" point is a security one as much as a mechanical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binding is the magic worth naming: the form field names match the property names, so ASP.NET builds the object for you. Explain the post-redirect-get pattern and why the redirect matters.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Returning View(part) rather than View() on failure is the detail people get wrong; the form comes back blank and users complain immediately.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GET-must-not-change-data rule has bitten every team that ever put a delete link on an anchor tag. Say it plainly.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static-field warning is important because today's exercise uses exactly that as mock data. Say clearly that it is a scaffold, and why it goes tomorrow.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them to browse to a URL that does not exist and look at what comes back. Most people never try it until a user does.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is what makes tomorrow morning feel like a reward rather than a rewrite. Insist that everyone builds behind the interface today.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Invite the room to add one item of their own. A definition of done that the team wrote is one the team will follow.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sets up the mini project. If someone proposes something enormous, help them cut it down rather than letting them start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Leave a full 45 minutes. Anyone whose environment is not working must be sorted before Day 2 — pair them with someone who is running.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End the day by having everyone confirm their environment is ready for tomorrow. Anyone who cannot run SQL Server needs help tonight, not at nine in the morning.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22226B"/>
          </a:solidFill>
          <a:ln w="12700">
            <a:solidFill>
              <a:srgbClr val="22226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94360" y="0"/>
            <a:ext cx="11002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80" dirty="0">
                <a:solidFill>
                  <a:srgbClr val="C9C9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 1 · SESSION 4 · 90 MINUTES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0" y="365760"/>
            <a:ext cx="12191695" cy="841248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365760"/>
            <a:ext cx="106070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Building Your First ASP.NET Web App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94360" y="1572768"/>
            <a:ext cx="3977640" cy="4233672"/>
          </a:xfrm>
          <a:prstGeom prst="roundRect">
            <a:avLst>
              <a:gd name="adj" fmla="val 1149"/>
            </a:avLst>
          </a:prstGeom>
          <a:solidFill>
            <a:srgbClr val="22226B"/>
          </a:solidFill>
          <a:ln w="12700">
            <a:solidFill>
              <a:srgbClr val="22226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68680" y="1847088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C9C9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BY THE END YOU CAN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2231136"/>
            <a:ext cx="3429000" cy="2862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Create and run an ASP.NET Core MVC project from scratch</a:t>
            </a:r>
            <a:endParaRPr lang="en-US" sz="1350" dirty="0"/>
          </a:p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Explain what every folder in the template is for</a:t>
            </a:r>
            <a:endParaRPr lang="en-US" sz="1350" dirty="0"/>
          </a:p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Map the four CRUD operations onto controller actions</a:t>
            </a:r>
            <a:endParaRPr lang="en-US" sz="1350" dirty="0"/>
          </a:p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and post an HTML form back to a controller</a:t>
            </a:r>
            <a:endParaRPr lang="en-US" sz="1350" dirty="0"/>
          </a:p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Have a working Spares Tracker to extend tomorrow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68680" y="5138928"/>
            <a:ext cx="3429000" cy="0"/>
          </a:xfrm>
          <a:prstGeom prst="line">
            <a:avLst/>
          </a:prstGeom>
          <a:noFill/>
          <a:ln w="12700">
            <a:solidFill>
              <a:srgbClr val="5050A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68680" y="5266944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i="1" dirty="0">
                <a:solidFill>
                  <a:srgbClr val="D9D9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About 45 minutes of concept and demonstration, then 45 minutes at the keyboard.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4937760" y="160934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40" dirty="0">
                <a:solidFill>
                  <a:srgbClr val="3333B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COVER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937760" y="1956816"/>
            <a:ext cx="6656832" cy="713232"/>
          </a:xfrm>
          <a:prstGeom prst="rect">
            <a:avLst/>
          </a:prstGeom>
          <a:solidFill>
            <a:srgbClr val="EDEDF7"/>
          </a:solidFill>
          <a:ln w="9525">
            <a:solidFill>
              <a:srgbClr val="C9C9E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937760" y="1956816"/>
            <a:ext cx="50292" cy="713232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138928" y="2130552"/>
            <a:ext cx="365760" cy="365760"/>
          </a:xfrm>
          <a:prstGeom prst="ellipse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138928" y="21305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5669280" y="1956816"/>
            <a:ext cx="570585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22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setup</a:t>
            </a:r>
            <a:endParaRPr lang="en-US" sz="1400" dirty="0"/>
          </a:p>
          <a:p>
            <a:pPr marL="0" indent="0">
              <a:buNone/>
            </a:pPr>
            <a:r>
              <a:rPr lang="en-US" sz="115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Templates, the CLI and what the template gives you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937760" y="2798064"/>
            <a:ext cx="6656832" cy="713232"/>
          </a:xfrm>
          <a:prstGeom prst="rect">
            <a:avLst/>
          </a:prstGeom>
          <a:solidFill>
            <a:srgbClr val="EDEDF7"/>
          </a:solidFill>
          <a:ln w="9525">
            <a:solidFill>
              <a:srgbClr val="C9C9E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937760" y="2798064"/>
            <a:ext cx="50292" cy="713232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138928" y="2971800"/>
            <a:ext cx="365760" cy="365760"/>
          </a:xfrm>
          <a:prstGeom prst="ellipse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138928" y="2971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5669280" y="2798064"/>
            <a:ext cx="570585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22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folder structure</a:t>
            </a:r>
            <a:endParaRPr lang="en-US" sz="1400" dirty="0"/>
          </a:p>
          <a:p>
            <a:pPr marL="0" indent="0">
              <a:buNone/>
            </a:pPr>
            <a:r>
              <a:rPr lang="en-US" sz="115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wwwroot, Views, Controllers, Program.cs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937760" y="3639312"/>
            <a:ext cx="6656832" cy="713232"/>
          </a:xfrm>
          <a:prstGeom prst="rect">
            <a:avLst/>
          </a:prstGeom>
          <a:solidFill>
            <a:srgbClr val="EDEDF7"/>
          </a:solidFill>
          <a:ln w="9525">
            <a:solidFill>
              <a:srgbClr val="C9C9E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937760" y="3639312"/>
            <a:ext cx="50292" cy="713232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138928" y="3813048"/>
            <a:ext cx="365760" cy="365760"/>
          </a:xfrm>
          <a:prstGeom prst="ellipse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138928" y="38130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5669280" y="3639312"/>
            <a:ext cx="570585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22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Controllers and views</a:t>
            </a:r>
            <a:endParaRPr lang="en-US" sz="1400" dirty="0"/>
          </a:p>
          <a:p>
            <a:pPr marL="0" indent="0">
              <a:buNone/>
            </a:pPr>
            <a:r>
              <a:rPr lang="en-US" sz="115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Layouts, tag helpers, static files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4937760" y="4480560"/>
            <a:ext cx="6656832" cy="713232"/>
          </a:xfrm>
          <a:prstGeom prst="rect">
            <a:avLst/>
          </a:prstGeom>
          <a:solidFill>
            <a:srgbClr val="EDEDF7"/>
          </a:solidFill>
          <a:ln w="9525">
            <a:solidFill>
              <a:srgbClr val="C9C9E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937760" y="4480560"/>
            <a:ext cx="50292" cy="713232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138928" y="4654296"/>
            <a:ext cx="365760" cy="365760"/>
          </a:xfrm>
          <a:prstGeom prst="ellipse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5138928" y="46542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5669280" y="4480560"/>
            <a:ext cx="570585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22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CRUD on mock data</a:t>
            </a:r>
            <a:endParaRPr lang="en-US" sz="1400" dirty="0"/>
          </a:p>
          <a:p>
            <a:pPr marL="0" indent="0">
              <a:buNone/>
            </a:pPr>
            <a:r>
              <a:rPr lang="en-US" sz="115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four operations and their HTTP verbs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4937760" y="5321808"/>
            <a:ext cx="6656832" cy="713232"/>
          </a:xfrm>
          <a:prstGeom prst="rect">
            <a:avLst/>
          </a:prstGeom>
          <a:solidFill>
            <a:srgbClr val="EDEDF7"/>
          </a:solidFill>
          <a:ln w="9525">
            <a:solidFill>
              <a:srgbClr val="C9C9E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937760" y="5321808"/>
            <a:ext cx="50292" cy="713232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138928" y="5495544"/>
            <a:ext cx="365760" cy="365760"/>
          </a:xfrm>
          <a:prstGeom prst="ellipse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5138928" y="54955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300" dirty="0"/>
          </a:p>
        </p:txBody>
      </p:sp>
      <p:sp>
        <p:nvSpPr>
          <p:cNvPr id="36" name="Text 34"/>
          <p:cNvSpPr txBox="1"/>
          <p:nvPr/>
        </p:nvSpPr>
        <p:spPr>
          <a:xfrm>
            <a:off x="5669280" y="5321808"/>
            <a:ext cx="570585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22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Mini project setup</a:t>
            </a:r>
            <a:endParaRPr lang="en-US" sz="1400" dirty="0"/>
          </a:p>
          <a:p>
            <a:pPr marL="0" indent="0">
              <a:buNone/>
            </a:pPr>
            <a:r>
              <a:rPr lang="en-US" sz="115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Spares Tracker we carry through the week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0" y="6400800"/>
            <a:ext cx="3840480" cy="457200"/>
          </a:xfrm>
          <a:prstGeom prst="rect">
            <a:avLst/>
          </a:prstGeom>
          <a:solidFill>
            <a:srgbClr val="22226B"/>
          </a:solidFill>
          <a:ln w="12700">
            <a:solidFill>
              <a:srgbClr val="22226B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164592" y="6400800"/>
            <a:ext cx="3511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HAL  ·  .NET, React &amp; SQL Programme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3840480" y="6400800"/>
            <a:ext cx="6675120" cy="457200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4005072" y="6400800"/>
            <a:ext cx="6345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 1 · Session 4 — Building Your First ASP.NET Web App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10515600" y="6400800"/>
            <a:ext cx="1676095" cy="457200"/>
          </a:xfrm>
          <a:prstGeom prst="rect">
            <a:avLst/>
          </a:prstGeom>
          <a:solidFill>
            <a:srgbClr val="22226B"/>
          </a:solidFill>
          <a:ln w="12700">
            <a:solidFill>
              <a:srgbClr val="22226B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10680192" y="6400800"/>
            <a:ext cx="134691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22226B"/>
          </a:solidFill>
          <a:ln w="12700">
            <a:solidFill>
              <a:srgbClr val="22226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94360" y="0"/>
            <a:ext cx="11002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80" dirty="0">
                <a:solidFill>
                  <a:srgbClr val="C9C9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SETUP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0" y="365760"/>
            <a:ext cx="12191695" cy="841248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365760"/>
            <a:ext cx="1100297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nothing to a running site in four commands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94360" y="1627632"/>
            <a:ext cx="5577840" cy="1595628"/>
          </a:xfrm>
          <a:prstGeom prst="rect">
            <a:avLst/>
          </a:prstGeom>
          <a:solidFill>
            <a:srgbClr val="F4F4FA"/>
          </a:solidFill>
          <a:ln w="9525">
            <a:solidFill>
              <a:srgbClr val="C9C9E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13816" y="1783080"/>
            <a:ext cx="5138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3333B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COMMAND LINE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813816" y="2075688"/>
            <a:ext cx="5138928" cy="10195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dotnet new mvc -n HalSpares</a:t>
            </a:r>
            <a:endParaRPr lang="en-US" sz="1050" dirty="0"/>
          </a:p>
          <a:p>
            <a:pPr marL="0" indent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HalSpares</a:t>
            </a:r>
            <a:endParaRPr lang="en-US" sz="1050" dirty="0"/>
          </a:p>
          <a:p>
            <a:pPr marL="0" indent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dotnet run</a:t>
            </a:r>
            <a:endParaRPr lang="en-US" sz="1050" dirty="0"/>
          </a:p>
          <a:p>
            <a:pPr marL="0" indent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marL="0" indent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then open the https URL it prints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94360" y="3364992"/>
            <a:ext cx="5577840" cy="402336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77240" y="3364992"/>
            <a:ext cx="5212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 in Visual Studio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94360" y="3767328"/>
            <a:ext cx="5577840" cy="2176272"/>
          </a:xfrm>
          <a:prstGeom prst="rect">
            <a:avLst/>
          </a:prstGeom>
          <a:solidFill>
            <a:srgbClr val="F4F4FA"/>
          </a:solidFill>
          <a:ln w="9525">
            <a:solidFill>
              <a:srgbClr val="C9C9E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13816" y="3913632"/>
            <a:ext cx="5138928" cy="1901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▸"/>
            </a:pPr>
            <a:r>
              <a:rPr lang="en-US" sz="125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File → New → ASP.NET Core Web App (Model-View-Controller)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▸"/>
            </a:pPr>
            <a:r>
              <a:rPr lang="en-US" sz="125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Target .NET 8 (LTS); leave HTTPS enabled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▸"/>
            </a:pPr>
            <a:r>
              <a:rPr lang="en-US" sz="125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F5 runs with the debugger attached; Ctrl+F5 runs without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▸"/>
            </a:pPr>
            <a:r>
              <a:rPr lang="en-US" sz="125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Hot reload applies most edits without a restart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6565392" y="1572768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40" dirty="0">
                <a:solidFill>
                  <a:srgbClr val="3333B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TEMPLATE GIVES YOU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565392" y="1847088"/>
            <a:ext cx="5029200" cy="731520"/>
          </a:xfrm>
          <a:prstGeom prst="rect">
            <a:avLst/>
          </a:prstGeom>
          <a:solidFill>
            <a:srgbClr val="EDEDF7"/>
          </a:solidFill>
          <a:ln w="9525">
            <a:solidFill>
              <a:srgbClr val="C9C9E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565392" y="1847088"/>
            <a:ext cx="50292" cy="731520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803136" y="1847088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222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Program.cs</a:t>
            </a:r>
            <a:endParaRPr lang="en-US" sz="1350" dirty="0"/>
          </a:p>
          <a:p>
            <a:pPr marL="0" indent="0">
              <a:buNone/>
            </a:pPr>
            <a:r>
              <a:rPr lang="en-US" sz="110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Services, middleware and routing — the whole startup in one file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565392" y="2697480"/>
            <a:ext cx="5029200" cy="731520"/>
          </a:xfrm>
          <a:prstGeom prst="rect">
            <a:avLst/>
          </a:prstGeom>
          <a:solidFill>
            <a:srgbClr val="EDEDF7"/>
          </a:solidFill>
          <a:ln w="9525">
            <a:solidFill>
              <a:srgbClr val="C9C9E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565392" y="2697480"/>
            <a:ext cx="50292" cy="731520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803136" y="269748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222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Controllers/</a:t>
            </a:r>
            <a:endParaRPr lang="en-US" sz="1350" dirty="0"/>
          </a:p>
          <a:p>
            <a:pPr marL="0" indent="0">
              <a:buNone/>
            </a:pPr>
            <a:r>
              <a:rPr lang="en-US" sz="110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class per group of related screens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6565392" y="3547872"/>
            <a:ext cx="5029200" cy="731520"/>
          </a:xfrm>
          <a:prstGeom prst="rect">
            <a:avLst/>
          </a:prstGeom>
          <a:solidFill>
            <a:srgbClr val="EDEDF7"/>
          </a:solidFill>
          <a:ln w="9525">
            <a:solidFill>
              <a:srgbClr val="C9C9E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565392" y="3547872"/>
            <a:ext cx="50292" cy="731520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803136" y="3547872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222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Views/</a:t>
            </a:r>
            <a:endParaRPr lang="en-US" sz="1350" dirty="0"/>
          </a:p>
          <a:p>
            <a:pPr marL="0" indent="0">
              <a:buNone/>
            </a:pPr>
            <a:r>
              <a:rPr lang="en-US" sz="110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Razor pages, plus Shared/_Layout.cshtml for the common frame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6565392" y="4398264"/>
            <a:ext cx="5029200" cy="731520"/>
          </a:xfrm>
          <a:prstGeom prst="rect">
            <a:avLst/>
          </a:prstGeom>
          <a:solidFill>
            <a:srgbClr val="EDEDF7"/>
          </a:solidFill>
          <a:ln w="9525">
            <a:solidFill>
              <a:srgbClr val="C9C9E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565392" y="4398264"/>
            <a:ext cx="50292" cy="731520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803136" y="4398264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222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wwwroot/</a:t>
            </a:r>
            <a:endParaRPr lang="en-US" sz="1350" dirty="0"/>
          </a:p>
          <a:p>
            <a:pPr marL="0" indent="0">
              <a:buNone/>
            </a:pPr>
            <a:r>
              <a:rPr lang="en-US" sz="110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Static files served as-is: CSS, JavaScript, images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6565392" y="5248656"/>
            <a:ext cx="5029200" cy="731520"/>
          </a:xfrm>
          <a:prstGeom prst="rect">
            <a:avLst/>
          </a:prstGeom>
          <a:solidFill>
            <a:srgbClr val="EDEDF7"/>
          </a:solidFill>
          <a:ln w="9525">
            <a:solidFill>
              <a:srgbClr val="C9C9E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565392" y="5248656"/>
            <a:ext cx="50292" cy="731520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803136" y="5248656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222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appsettings.json</a:t>
            </a:r>
            <a:endParaRPr lang="en-US" sz="1350" dirty="0"/>
          </a:p>
          <a:p>
            <a:pPr marL="0" indent="0">
              <a:buNone/>
            </a:pPr>
            <a:r>
              <a:rPr lang="en-US" sz="110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Configuration, including connection strings</a:t>
            </a:r>
            <a:endParaRPr lang="en-US" sz="1350" dirty="0"/>
          </a:p>
        </p:txBody>
      </p:sp>
      <p:sp>
        <p:nvSpPr>
          <p:cNvPr id="29" name="Shape 27"/>
          <p:cNvSpPr/>
          <p:nvPr/>
        </p:nvSpPr>
        <p:spPr>
          <a:xfrm>
            <a:off x="0" y="6400800"/>
            <a:ext cx="3840480" cy="457200"/>
          </a:xfrm>
          <a:prstGeom prst="rect">
            <a:avLst/>
          </a:prstGeom>
          <a:solidFill>
            <a:srgbClr val="22226B"/>
          </a:solidFill>
          <a:ln w="12700">
            <a:solidFill>
              <a:srgbClr val="22226B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164592" y="6400800"/>
            <a:ext cx="3511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HAL  ·  .NET, React &amp; SQL Programme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3840480" y="6400800"/>
            <a:ext cx="6675120" cy="457200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4005072" y="6400800"/>
            <a:ext cx="6345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 1 · Session 4 — Building Your First ASP.NET Web App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10515600" y="6400800"/>
            <a:ext cx="1676095" cy="457200"/>
          </a:xfrm>
          <a:prstGeom prst="rect">
            <a:avLst/>
          </a:prstGeom>
          <a:solidFill>
            <a:srgbClr val="22226B"/>
          </a:solidFill>
          <a:ln w="12700">
            <a:solidFill>
              <a:srgbClr val="22226B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10680192" y="6400800"/>
            <a:ext cx="134691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22226B"/>
          </a:solidFill>
          <a:ln w="12700">
            <a:solidFill>
              <a:srgbClr val="22226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94360" y="0"/>
            <a:ext cx="11002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80" dirty="0">
                <a:solidFill>
                  <a:srgbClr val="C9C9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HAPPENS WHEN YOU PRESS F5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0" y="365760"/>
            <a:ext cx="12191695" cy="841248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365760"/>
            <a:ext cx="1100297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keystroke to page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94360" y="1664208"/>
            <a:ext cx="1951878" cy="1097280"/>
          </a:xfrm>
          <a:prstGeom prst="rect">
            <a:avLst/>
          </a:prstGeom>
          <a:solidFill>
            <a:srgbClr val="EDEDF7"/>
          </a:solidFill>
          <a:ln w="9525">
            <a:solidFill>
              <a:srgbClr val="C9C9E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04088" y="1664208"/>
            <a:ext cx="173242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2222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</a:t>
            </a:r>
            <a:endParaRPr lang="en-US" sz="13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Compile to a DLL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2601102" y="2121408"/>
            <a:ext cx="201168" cy="182880"/>
          </a:xfrm>
          <a:prstGeom prst="chevron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857134" y="1664208"/>
            <a:ext cx="1951878" cy="1097280"/>
          </a:xfrm>
          <a:prstGeom prst="rect">
            <a:avLst/>
          </a:prstGeom>
          <a:solidFill>
            <a:srgbClr val="EDEDF7"/>
          </a:solidFill>
          <a:ln w="9525">
            <a:solidFill>
              <a:srgbClr val="C9C9E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966862" y="1664208"/>
            <a:ext cx="173242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2222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Host starts</a:t>
            </a:r>
            <a:endParaRPr lang="en-US" sz="13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Kestrel listens on a port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4863876" y="2121408"/>
            <a:ext cx="201168" cy="182880"/>
          </a:xfrm>
          <a:prstGeom prst="chevron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119908" y="1664208"/>
            <a:ext cx="1951878" cy="1097280"/>
          </a:xfrm>
          <a:prstGeom prst="rect">
            <a:avLst/>
          </a:prstGeom>
          <a:solidFill>
            <a:srgbClr val="3333B3"/>
          </a:solidFill>
          <a:ln w="9525">
            <a:solidFill>
              <a:srgbClr val="3333B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229636" y="1664208"/>
            <a:ext cx="173242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Program.cs</a:t>
            </a:r>
            <a:endParaRPr lang="en-US" sz="13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C9C9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Services then middleware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7126651" y="2121408"/>
            <a:ext cx="201168" cy="182880"/>
          </a:xfrm>
          <a:prstGeom prst="chevron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82683" y="1664208"/>
            <a:ext cx="1951878" cy="1097280"/>
          </a:xfrm>
          <a:prstGeom prst="rect">
            <a:avLst/>
          </a:prstGeom>
          <a:solidFill>
            <a:srgbClr val="EDEDF7"/>
          </a:solidFill>
          <a:ln w="9525">
            <a:solidFill>
              <a:srgbClr val="C9C9E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492411" y="1664208"/>
            <a:ext cx="173242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2222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Browser opens</a:t>
            </a:r>
            <a:endParaRPr lang="en-US" sz="13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Request hits the pipeline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9389425" y="2121408"/>
            <a:ext cx="201168" cy="182880"/>
          </a:xfrm>
          <a:prstGeom prst="chevron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645457" y="1664208"/>
            <a:ext cx="1951878" cy="1097280"/>
          </a:xfrm>
          <a:prstGeom prst="rect">
            <a:avLst/>
          </a:prstGeom>
          <a:solidFill>
            <a:srgbClr val="EDEDF7"/>
          </a:solidFill>
          <a:ln w="9525">
            <a:solidFill>
              <a:srgbClr val="C9C9E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755185" y="1664208"/>
            <a:ext cx="173242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2222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View renders</a:t>
            </a:r>
            <a:endParaRPr lang="en-US" sz="13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HTML returns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594360" y="3017520"/>
            <a:ext cx="3529584" cy="402336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77240" y="3017520"/>
            <a:ext cx="31638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ports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594360" y="3419856"/>
            <a:ext cx="3529584" cy="1335024"/>
          </a:xfrm>
          <a:prstGeom prst="rect">
            <a:avLst/>
          </a:prstGeom>
          <a:solidFill>
            <a:srgbClr val="F4F4FA"/>
          </a:solidFill>
          <a:ln w="9525">
            <a:solidFill>
              <a:srgbClr val="C9C9EA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13816" y="3566160"/>
            <a:ext cx="3090672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20"/>
              </a:lnSpc>
              <a:buNone/>
            </a:pPr>
            <a:r>
              <a:rPr lang="en-US" sz="120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template configures both HTTP and HTTPS. Note the HTTPS one — your React app will need it tomorrow.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325112" y="3017520"/>
            <a:ext cx="3529584" cy="402336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507992" y="3017520"/>
            <a:ext cx="31638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dev certificate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4325112" y="3419856"/>
            <a:ext cx="3529584" cy="1335024"/>
          </a:xfrm>
          <a:prstGeom prst="rect">
            <a:avLst/>
          </a:prstGeom>
          <a:solidFill>
            <a:srgbClr val="F4F4FA"/>
          </a:solidFill>
          <a:ln w="9525">
            <a:solidFill>
              <a:srgbClr val="C9C9EA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544568" y="3566160"/>
            <a:ext cx="3090672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20"/>
              </a:lnSpc>
              <a:buNone/>
            </a:pPr>
            <a:r>
              <a:rPr lang="en-US" sz="120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local HTTPS certificate is trusted once with dotnet dev-certs https --trust. Do this now, not tomorrow.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8055864" y="3017520"/>
            <a:ext cx="3529584" cy="402336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238744" y="3017520"/>
            <a:ext cx="31638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Hot reload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8055864" y="3419856"/>
            <a:ext cx="3529584" cy="1335024"/>
          </a:xfrm>
          <a:prstGeom prst="rect">
            <a:avLst/>
          </a:prstGeom>
          <a:solidFill>
            <a:srgbClr val="F4F4FA"/>
          </a:solidFill>
          <a:ln w="9525">
            <a:solidFill>
              <a:srgbClr val="C9C9EA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275320" y="3566160"/>
            <a:ext cx="3090672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20"/>
              </a:lnSpc>
              <a:buNone/>
            </a:pPr>
            <a:r>
              <a:rPr lang="en-US" sz="120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Most edits appear without a restart. Changes to Program.cs still need one.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594360" y="5029200"/>
            <a:ext cx="11002975" cy="731520"/>
          </a:xfrm>
          <a:prstGeom prst="rect">
            <a:avLst/>
          </a:prstGeom>
          <a:solidFill>
            <a:srgbClr val="FBECEC"/>
          </a:solidFill>
          <a:ln w="12700">
            <a:solidFill>
              <a:srgbClr val="A00000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832104" y="5029200"/>
            <a:ext cx="1052748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90"/>
              </a:lnSpc>
              <a:buNone/>
            </a:pPr>
            <a:r>
              <a:rPr lang="en-US" sz="1300" b="1" dirty="0">
                <a:solidFill>
                  <a:srgbClr val="7A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If the browser opens on a blank page or a certificate warning, fix it now — every session from here depends on this working.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0" y="6400800"/>
            <a:ext cx="3840480" cy="457200"/>
          </a:xfrm>
          <a:prstGeom prst="rect">
            <a:avLst/>
          </a:prstGeom>
          <a:solidFill>
            <a:srgbClr val="22226B"/>
          </a:solidFill>
          <a:ln w="12700">
            <a:solidFill>
              <a:srgbClr val="22226B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164592" y="6400800"/>
            <a:ext cx="3511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HAL  ·  .NET, React &amp; SQL Programme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3840480" y="6400800"/>
            <a:ext cx="6675120" cy="457200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4005072" y="6400800"/>
            <a:ext cx="6345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 1 · Session 4 — Building Your First ASP.NET Web App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10515600" y="6400800"/>
            <a:ext cx="1676095" cy="457200"/>
          </a:xfrm>
          <a:prstGeom prst="rect">
            <a:avLst/>
          </a:prstGeom>
          <a:solidFill>
            <a:srgbClr val="22226B"/>
          </a:solidFill>
          <a:ln w="12700">
            <a:solidFill>
              <a:srgbClr val="22226B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10680192" y="6400800"/>
            <a:ext cx="134691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22226B"/>
          </a:solidFill>
          <a:ln w="12700">
            <a:solidFill>
              <a:srgbClr val="22226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94360" y="0"/>
            <a:ext cx="11002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80" dirty="0">
                <a:solidFill>
                  <a:srgbClr val="C9C9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PROGRAM.CS, LINE BY LINE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0" y="365760"/>
            <a:ext cx="12191695" cy="841248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365760"/>
            <a:ext cx="1100297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halves: what you have, then what happens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94360" y="1627632"/>
            <a:ext cx="5806440" cy="3657600"/>
          </a:xfrm>
          <a:prstGeom prst="rect">
            <a:avLst/>
          </a:prstGeom>
          <a:solidFill>
            <a:srgbClr val="F4F4FA"/>
          </a:solidFill>
          <a:ln w="9525">
            <a:solidFill>
              <a:srgbClr val="C9C9E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13816" y="1783080"/>
            <a:ext cx="53675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3333B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WHOLE STARTUP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813816" y="2075688"/>
            <a:ext cx="5367528" cy="3081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 builder = WebApplication</a:t>
            </a:r>
            <a:endParaRPr lang="en-US" sz="1050" dirty="0"/>
          </a:p>
          <a:p>
            <a:pPr marL="0" indent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.CreateBuilder(args);</a:t>
            </a:r>
            <a:endParaRPr lang="en-US" sz="1050" dirty="0"/>
          </a:p>
          <a:p>
            <a:pPr marL="0" indent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marL="0" indent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1. register services</a:t>
            </a:r>
            <a:endParaRPr lang="en-US" sz="1050" dirty="0"/>
          </a:p>
          <a:p>
            <a:pPr marL="0" indent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builder.Services.AddControllersWithViews();</a:t>
            </a:r>
            <a:endParaRPr lang="en-US" sz="1050" dirty="0"/>
          </a:p>
          <a:p>
            <a:pPr marL="0" indent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marL="0" indent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 app = builder.Build();</a:t>
            </a:r>
            <a:endParaRPr lang="en-US" sz="1050" dirty="0"/>
          </a:p>
          <a:p>
            <a:pPr marL="0" indent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marL="0" indent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2. build the pipeline</a:t>
            </a:r>
            <a:endParaRPr lang="en-US" sz="1050" dirty="0"/>
          </a:p>
          <a:p>
            <a:pPr marL="0" indent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app.UseStaticFiles();</a:t>
            </a:r>
            <a:endParaRPr lang="en-US" sz="1050" dirty="0"/>
          </a:p>
          <a:p>
            <a:pPr marL="0" indent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app.UseRouting();</a:t>
            </a:r>
            <a:endParaRPr lang="en-US" sz="1050" dirty="0"/>
          </a:p>
          <a:p>
            <a:pPr marL="0" indent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app.MapControllerRoute(</a:t>
            </a:r>
            <a:endParaRPr lang="en-US" sz="1050" dirty="0"/>
          </a:p>
          <a:p>
            <a:pPr marL="0" indent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"default",</a:t>
            </a:r>
            <a:endParaRPr lang="en-US" sz="1050" dirty="0"/>
          </a:p>
          <a:p>
            <a:pPr marL="0" indent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"{controller=Home}/{action=Index}/{id?}");</a:t>
            </a:r>
            <a:endParaRPr lang="en-US" sz="1050" dirty="0"/>
          </a:p>
          <a:p>
            <a:pPr marL="0" indent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marL="0" indent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app.Run();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629400" y="1627632"/>
            <a:ext cx="4965192" cy="1024128"/>
          </a:xfrm>
          <a:prstGeom prst="rect">
            <a:avLst/>
          </a:prstGeom>
          <a:solidFill>
            <a:srgbClr val="EDEDF7"/>
          </a:solidFill>
          <a:ln w="9525">
            <a:solidFill>
              <a:srgbClr val="C9C9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629400" y="1627632"/>
            <a:ext cx="50292" cy="1024128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830568" y="1956816"/>
            <a:ext cx="365760" cy="365760"/>
          </a:xfrm>
          <a:prstGeom prst="ellipse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830568" y="19568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7360920" y="1627632"/>
            <a:ext cx="4014216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222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Above Build() — services</a:t>
            </a:r>
            <a:endParaRPr lang="en-US" sz="1350" dirty="0"/>
          </a:p>
          <a:p>
            <a:pPr marL="0" indent="0">
              <a:buNone/>
            </a:pPr>
            <a:r>
              <a:rPr lang="en-US" sz="110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Everything the application can be given: controllers, EF Core, your own services.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629400" y="2779776"/>
            <a:ext cx="4965192" cy="1024128"/>
          </a:xfrm>
          <a:prstGeom prst="rect">
            <a:avLst/>
          </a:prstGeom>
          <a:solidFill>
            <a:srgbClr val="EDEDF7"/>
          </a:solidFill>
          <a:ln w="9525">
            <a:solidFill>
              <a:srgbClr val="C9C9E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629400" y="2779776"/>
            <a:ext cx="50292" cy="1024128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830568" y="3108960"/>
            <a:ext cx="365760" cy="365760"/>
          </a:xfrm>
          <a:prstGeom prst="ellipse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830568" y="3108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7360920" y="2779776"/>
            <a:ext cx="4014216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222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Below Build() — middleware</a:t>
            </a:r>
            <a:endParaRPr lang="en-US" sz="1350" dirty="0"/>
          </a:p>
          <a:p>
            <a:pPr marL="0" indent="0">
              <a:buNone/>
            </a:pPr>
            <a:r>
              <a:rPr lang="en-US" sz="110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every request passes through, in order.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629400" y="3931920"/>
            <a:ext cx="4965192" cy="1024128"/>
          </a:xfrm>
          <a:prstGeom prst="rect">
            <a:avLst/>
          </a:prstGeom>
          <a:solidFill>
            <a:srgbClr val="EDEDF7"/>
          </a:solidFill>
          <a:ln w="9525">
            <a:solidFill>
              <a:srgbClr val="C9C9E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629400" y="3931920"/>
            <a:ext cx="50292" cy="1024128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830568" y="4261104"/>
            <a:ext cx="365760" cy="365760"/>
          </a:xfrm>
          <a:prstGeom prst="ellipse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830568" y="42611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7360920" y="3931920"/>
            <a:ext cx="4014216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222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Registering after Build() fails</a:t>
            </a:r>
            <a:endParaRPr lang="en-US" sz="1350" dirty="0"/>
          </a:p>
          <a:p>
            <a:pPr marL="0" indent="0">
              <a:buNone/>
            </a:pPr>
            <a:r>
              <a:rPr lang="en-US" sz="110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common early error, and the message says exactly that. Read it.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6629400" y="5084064"/>
            <a:ext cx="4965192" cy="1024128"/>
          </a:xfrm>
          <a:prstGeom prst="rect">
            <a:avLst/>
          </a:prstGeom>
          <a:solidFill>
            <a:srgbClr val="EDEDF7"/>
          </a:solidFill>
          <a:ln w="9525">
            <a:solidFill>
              <a:srgbClr val="C9C9E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629400" y="5084064"/>
            <a:ext cx="50292" cy="1024128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830568" y="5413248"/>
            <a:ext cx="365760" cy="365760"/>
          </a:xfrm>
          <a:prstGeom prst="ellipse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830568" y="54132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7360920" y="5084064"/>
            <a:ext cx="4014216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222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Configuration is already loaded</a:t>
            </a:r>
            <a:endParaRPr lang="en-US" sz="1350" dirty="0"/>
          </a:p>
          <a:p>
            <a:pPr marL="0" indent="0">
              <a:buNone/>
            </a:pPr>
            <a:r>
              <a:rPr lang="en-US" sz="110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builder.Configuration reads appsettings.json and environment variables for you.</a:t>
            </a:r>
            <a:endParaRPr lang="en-US" sz="1350" dirty="0"/>
          </a:p>
        </p:txBody>
      </p:sp>
      <p:sp>
        <p:nvSpPr>
          <p:cNvPr id="29" name="Shape 27"/>
          <p:cNvSpPr/>
          <p:nvPr/>
        </p:nvSpPr>
        <p:spPr>
          <a:xfrm>
            <a:off x="0" y="6400800"/>
            <a:ext cx="3840480" cy="457200"/>
          </a:xfrm>
          <a:prstGeom prst="rect">
            <a:avLst/>
          </a:prstGeom>
          <a:solidFill>
            <a:srgbClr val="22226B"/>
          </a:solidFill>
          <a:ln w="12700">
            <a:solidFill>
              <a:srgbClr val="22226B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164592" y="6400800"/>
            <a:ext cx="3511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HAL  ·  .NET, React &amp; SQL Programme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3840480" y="6400800"/>
            <a:ext cx="6675120" cy="457200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4005072" y="6400800"/>
            <a:ext cx="6345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 1 · Session 4 — Building Your First ASP.NET Web App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10515600" y="6400800"/>
            <a:ext cx="1676095" cy="457200"/>
          </a:xfrm>
          <a:prstGeom prst="rect">
            <a:avLst/>
          </a:prstGeom>
          <a:solidFill>
            <a:srgbClr val="22226B"/>
          </a:solidFill>
          <a:ln w="12700">
            <a:solidFill>
              <a:srgbClr val="22226B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10680192" y="6400800"/>
            <a:ext cx="134691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22226B"/>
          </a:solidFill>
          <a:ln w="12700">
            <a:solidFill>
              <a:srgbClr val="22226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94360" y="0"/>
            <a:ext cx="11002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80" dirty="0">
                <a:solidFill>
                  <a:srgbClr val="C9C9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LOOK OF THE THING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0" y="365760"/>
            <a:ext cx="12191695" cy="841248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365760"/>
            <a:ext cx="1100297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wwwroot, Bootstrap and where your CSS goes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94360" y="1627632"/>
            <a:ext cx="5806440" cy="2157984"/>
          </a:xfrm>
          <a:prstGeom prst="rect">
            <a:avLst/>
          </a:prstGeom>
          <a:solidFill>
            <a:srgbClr val="F4F4FA"/>
          </a:solidFill>
          <a:ln w="9525">
            <a:solidFill>
              <a:srgbClr val="C9C9E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13816" y="1783080"/>
            <a:ext cx="53675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3333B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SERVED EXACTLY AS THEY SIT ON DISK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813816" y="2075688"/>
            <a:ext cx="5367528" cy="1581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wwwroot/</a:t>
            </a:r>
            <a:endParaRPr lang="en-US" sz="1050" dirty="0"/>
          </a:p>
          <a:p>
            <a:pPr marL="0" indent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css/site.css</a:t>
            </a:r>
            <a:endParaRPr lang="en-US" sz="1050" dirty="0"/>
          </a:p>
          <a:p>
            <a:pPr marL="0" indent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js/site.js</a:t>
            </a:r>
            <a:endParaRPr lang="en-US" sz="1050" dirty="0"/>
          </a:p>
          <a:p>
            <a:pPr marL="0" indent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lib/bootstrap/</a:t>
            </a:r>
            <a:endParaRPr lang="en-US" sz="1050" dirty="0"/>
          </a:p>
          <a:p>
            <a:pPr marL="0" indent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images/hal-logo.png</a:t>
            </a:r>
            <a:endParaRPr lang="en-US" sz="1050" dirty="0"/>
          </a:p>
          <a:p>
            <a:pPr marL="0" indent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marL="0" indent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referenced with a leading ~</a:t>
            </a:r>
            <a:endParaRPr lang="en-US" sz="1050" dirty="0"/>
          </a:p>
          <a:p>
            <a:pPr marL="0" indent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&lt;link href="~/css/site.css" rel="stylesheet" /&gt;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94360" y="3913632"/>
            <a:ext cx="5806440" cy="402336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77240" y="3913632"/>
            <a:ext cx="5440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Rules worth knowing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94360" y="4315968"/>
            <a:ext cx="5806440" cy="1627632"/>
          </a:xfrm>
          <a:prstGeom prst="rect">
            <a:avLst/>
          </a:prstGeom>
          <a:solidFill>
            <a:srgbClr val="F4F4FA"/>
          </a:solidFill>
          <a:ln w="9525">
            <a:solidFill>
              <a:srgbClr val="C9C9E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13816" y="4462272"/>
            <a:ext cx="5367528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▸"/>
            </a:pPr>
            <a:r>
              <a:rPr lang="en-US" sz="120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Only wwwroot is public — everything else is unreachable from a browser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▸"/>
            </a:pPr>
            <a:r>
              <a:rPr lang="en-US" sz="120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Never put a report file, a config file or a backup in there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▸"/>
            </a:pPr>
            <a:r>
              <a:rPr lang="en-US" sz="120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Bootstrap ships with the template; you do not need to design from nothing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▸"/>
            </a:pPr>
            <a:r>
              <a:rPr lang="en-US" sz="120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Cache-busting matters once you deploy — asp-append-version handles it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629400" y="1627632"/>
            <a:ext cx="4965192" cy="1024128"/>
          </a:xfrm>
          <a:prstGeom prst="rect">
            <a:avLst/>
          </a:prstGeom>
          <a:solidFill>
            <a:srgbClr val="EDEDF7"/>
          </a:solidFill>
          <a:ln w="9525">
            <a:solidFill>
              <a:srgbClr val="C9C9E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629400" y="1627632"/>
            <a:ext cx="50292" cy="1024128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830568" y="1956816"/>
            <a:ext cx="365760" cy="365760"/>
          </a:xfrm>
          <a:prstGeom prst="ellipse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830568" y="19568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7360920" y="1627632"/>
            <a:ext cx="4014216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222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 the Bootstrap grid</a:t>
            </a:r>
            <a:endParaRPr lang="en-US" sz="1350" dirty="0"/>
          </a:p>
          <a:p>
            <a:pPr marL="0" indent="0">
              <a:buNone/>
            </a:pPr>
            <a:r>
              <a:rPr lang="en-US" sz="110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container, row, col. It gets you a respectable layout without writing CSS.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629400" y="2779776"/>
            <a:ext cx="4965192" cy="1024128"/>
          </a:xfrm>
          <a:prstGeom prst="rect">
            <a:avLst/>
          </a:prstGeom>
          <a:solidFill>
            <a:srgbClr val="EDEDF7"/>
          </a:solidFill>
          <a:ln w="9525">
            <a:solidFill>
              <a:srgbClr val="C9C9E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629400" y="2779776"/>
            <a:ext cx="50292" cy="1024128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830568" y="3108960"/>
            <a:ext cx="365760" cy="365760"/>
          </a:xfrm>
          <a:prstGeom prst="ellipse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830568" y="3108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7360920" y="2779776"/>
            <a:ext cx="4014216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222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table table-striped</a:t>
            </a:r>
            <a:endParaRPr lang="en-US" sz="1350" dirty="0"/>
          </a:p>
          <a:p>
            <a:pPr marL="0" indent="0">
              <a:buNone/>
            </a:pPr>
            <a:r>
              <a:rPr lang="en-US" sz="110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class turns a raw table into something a user will accept.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6629400" y="3931920"/>
            <a:ext cx="4965192" cy="1024128"/>
          </a:xfrm>
          <a:prstGeom prst="rect">
            <a:avLst/>
          </a:prstGeom>
          <a:solidFill>
            <a:srgbClr val="EDEDF7"/>
          </a:solidFill>
          <a:ln w="9525">
            <a:solidFill>
              <a:srgbClr val="C9C9E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629400" y="3931920"/>
            <a:ext cx="50292" cy="1024128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830568" y="4261104"/>
            <a:ext cx="365760" cy="365760"/>
          </a:xfrm>
          <a:prstGeom prst="ellipse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830568" y="42611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7360920" y="3931920"/>
            <a:ext cx="4014216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222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Keep your own CSS in site.css</a:t>
            </a:r>
            <a:endParaRPr lang="en-US" sz="1350" dirty="0"/>
          </a:p>
          <a:p>
            <a:pPr marL="0" indent="0">
              <a:buNone/>
            </a:pPr>
            <a:r>
              <a:rPr lang="en-US" sz="110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 not edit the Bootstrap files; the next upgrade will overwrite you.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6629400" y="5084064"/>
            <a:ext cx="4965192" cy="1024128"/>
          </a:xfrm>
          <a:prstGeom prst="rect">
            <a:avLst/>
          </a:prstGeom>
          <a:solidFill>
            <a:srgbClr val="EDEDF7"/>
          </a:solidFill>
          <a:ln w="9525">
            <a:solidFill>
              <a:srgbClr val="C9C9E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629400" y="5084064"/>
            <a:ext cx="50292" cy="1024128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830568" y="5413248"/>
            <a:ext cx="365760" cy="365760"/>
          </a:xfrm>
          <a:prstGeom prst="ellipse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830568" y="54132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7360920" y="5084064"/>
            <a:ext cx="4014216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222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Consistency beats decoration</a:t>
            </a:r>
            <a:endParaRPr lang="en-US" sz="1350" dirty="0"/>
          </a:p>
          <a:p>
            <a:pPr marL="0" indent="0">
              <a:buNone/>
            </a:pPr>
            <a:r>
              <a:rPr lang="en-US" sz="110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plain application that behaves predictably beats a pretty one that surprises people.</a:t>
            </a:r>
            <a:endParaRPr lang="en-US" sz="1350" dirty="0"/>
          </a:p>
        </p:txBody>
      </p:sp>
      <p:sp>
        <p:nvSpPr>
          <p:cNvPr id="33" name="Shape 31"/>
          <p:cNvSpPr/>
          <p:nvPr/>
        </p:nvSpPr>
        <p:spPr>
          <a:xfrm>
            <a:off x="0" y="6400800"/>
            <a:ext cx="3840480" cy="457200"/>
          </a:xfrm>
          <a:prstGeom prst="rect">
            <a:avLst/>
          </a:prstGeom>
          <a:solidFill>
            <a:srgbClr val="22226B"/>
          </a:solidFill>
          <a:ln w="12700">
            <a:solidFill>
              <a:srgbClr val="22226B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164592" y="6400800"/>
            <a:ext cx="3511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HAL  ·  .NET, React &amp; SQL Programme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3840480" y="6400800"/>
            <a:ext cx="6675120" cy="457200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4005072" y="6400800"/>
            <a:ext cx="6345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 1 · Session 4 — Building Your First ASP.NET Web App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10515600" y="6400800"/>
            <a:ext cx="1676095" cy="457200"/>
          </a:xfrm>
          <a:prstGeom prst="rect">
            <a:avLst/>
          </a:prstGeom>
          <a:solidFill>
            <a:srgbClr val="22226B"/>
          </a:solidFill>
          <a:ln w="12700">
            <a:solidFill>
              <a:srgbClr val="22226B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10680192" y="6400800"/>
            <a:ext cx="134691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22226B"/>
          </a:solidFill>
          <a:ln w="12700">
            <a:solidFill>
              <a:srgbClr val="22226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94360" y="0"/>
            <a:ext cx="11002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80" dirty="0">
                <a:solidFill>
                  <a:srgbClr val="C9C9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ADDING CONTROLLERS AND VIEWS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0" y="365760"/>
            <a:ext cx="12191695" cy="841248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365760"/>
            <a:ext cx="1100297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pieces that make a page feel finished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94360" y="1627632"/>
            <a:ext cx="3529584" cy="402336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1627632"/>
            <a:ext cx="31638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Layouts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94360" y="2029968"/>
            <a:ext cx="3529584" cy="1563624"/>
          </a:xfrm>
          <a:prstGeom prst="rect">
            <a:avLst/>
          </a:prstGeom>
          <a:solidFill>
            <a:srgbClr val="F4F4FA"/>
          </a:solidFill>
          <a:ln w="9525">
            <a:solidFill>
              <a:srgbClr val="C9C9E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13816" y="2176272"/>
            <a:ext cx="3090672" cy="1289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20"/>
              </a:lnSpc>
              <a:buNone/>
            </a:pPr>
            <a:r>
              <a:rPr lang="en-US" sz="120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_Layout.cshtml holds the header, navigation and footer. Every view drops into @RenderBody().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25112" y="1627632"/>
            <a:ext cx="3529584" cy="402336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07992" y="1627632"/>
            <a:ext cx="31638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Tag helpers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325112" y="2029968"/>
            <a:ext cx="3529584" cy="1563624"/>
          </a:xfrm>
          <a:prstGeom prst="rect">
            <a:avLst/>
          </a:prstGeom>
          <a:solidFill>
            <a:srgbClr val="F4F4FA"/>
          </a:solidFill>
          <a:ln w="9525">
            <a:solidFill>
              <a:srgbClr val="C9C9E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44568" y="2176272"/>
            <a:ext cx="3090672" cy="1289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20"/>
              </a:lnSpc>
              <a:buNone/>
            </a:pPr>
            <a:r>
              <a:rPr lang="en-US" sz="120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asp-action, asp-for and asp-route generate correct URLs and form fields from your C#.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055864" y="1627632"/>
            <a:ext cx="3529584" cy="402336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238744" y="1627632"/>
            <a:ext cx="31638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Static files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055864" y="2029968"/>
            <a:ext cx="3529584" cy="1563624"/>
          </a:xfrm>
          <a:prstGeom prst="rect">
            <a:avLst/>
          </a:prstGeom>
          <a:solidFill>
            <a:srgbClr val="F4F4FA"/>
          </a:solidFill>
          <a:ln w="9525">
            <a:solidFill>
              <a:srgbClr val="C9C9E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275320" y="2176272"/>
            <a:ext cx="3090672" cy="1289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20"/>
              </a:lnSpc>
              <a:buNone/>
            </a:pPr>
            <a:r>
              <a:rPr lang="en-US" sz="120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Anything in wwwroot is served directly. Bootstrap ships with the template.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94360" y="3840480"/>
            <a:ext cx="5577840" cy="1595628"/>
          </a:xfrm>
          <a:prstGeom prst="rect">
            <a:avLst/>
          </a:prstGeom>
          <a:solidFill>
            <a:srgbClr val="F4F4FA"/>
          </a:solidFill>
          <a:ln w="9525">
            <a:solidFill>
              <a:srgbClr val="C9C9E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13816" y="3995928"/>
            <a:ext cx="5138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3333B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FORM, WIRED WITH TAG HELPERS</a:t>
            </a:r>
            <a:endParaRPr lang="en-US" sz="950" dirty="0"/>
          </a:p>
        </p:txBody>
      </p:sp>
      <p:sp>
        <p:nvSpPr>
          <p:cNvPr id="20" name="Text 18"/>
          <p:cNvSpPr txBox="1"/>
          <p:nvPr/>
        </p:nvSpPr>
        <p:spPr>
          <a:xfrm>
            <a:off x="813816" y="4288536"/>
            <a:ext cx="5138928" cy="10195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&lt;form asp-action="Create" method="post"&gt;</a:t>
            </a:r>
            <a:endParaRPr lang="en-US" sz="1050" dirty="0"/>
          </a:p>
          <a:p>
            <a:pPr marL="0" indent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&lt;input asp-for="PartNo" class="form-control" /&gt;</a:t>
            </a:r>
            <a:endParaRPr lang="en-US" sz="1050" dirty="0"/>
          </a:p>
          <a:p>
            <a:pPr marL="0" indent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&lt;span asp-validation-for="PartNo"&gt;&lt;/span&gt;</a:t>
            </a:r>
            <a:endParaRPr lang="en-US" sz="1050" dirty="0"/>
          </a:p>
          <a:p>
            <a:pPr marL="0" indent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&lt;button type="submit"&gt;Save&lt;/button&gt;</a:t>
            </a:r>
            <a:endParaRPr lang="en-US" sz="1050" dirty="0"/>
          </a:p>
          <a:p>
            <a:pPr marL="0" indent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&lt;/form&gt;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382512" y="3840480"/>
            <a:ext cx="5212080" cy="1970532"/>
          </a:xfrm>
          <a:prstGeom prst="rect">
            <a:avLst/>
          </a:prstGeom>
          <a:solidFill>
            <a:srgbClr val="F4F4FA"/>
          </a:solidFill>
          <a:ln w="9525">
            <a:solidFill>
              <a:srgbClr val="C9C9EA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601968" y="3995928"/>
            <a:ext cx="4773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3333B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ACTION THAT RECEIVES IT</a:t>
            </a:r>
            <a:endParaRPr lang="en-US" sz="950" dirty="0"/>
          </a:p>
        </p:txBody>
      </p:sp>
      <p:sp>
        <p:nvSpPr>
          <p:cNvPr id="23" name="Text 21"/>
          <p:cNvSpPr txBox="1"/>
          <p:nvPr/>
        </p:nvSpPr>
        <p:spPr>
          <a:xfrm>
            <a:off x="6601968" y="4288536"/>
            <a:ext cx="4773168" cy="1394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[HttpPost]</a:t>
            </a:r>
            <a:endParaRPr lang="en-US" sz="1050" dirty="0"/>
          </a:p>
          <a:p>
            <a:pPr marL="0" indent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IActionResult Create(SparePart part)</a:t>
            </a:r>
            <a:endParaRPr lang="en-US" sz="1050" dirty="0"/>
          </a:p>
          <a:p>
            <a:pPr marL="0" indent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50" dirty="0"/>
          </a:p>
          <a:p>
            <a:pPr marL="0" indent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(!ModelState.IsValid) return View(part);</a:t>
            </a:r>
            <a:endParaRPr lang="en-US" sz="1050" dirty="0"/>
          </a:p>
          <a:p>
            <a:pPr marL="0" indent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_parts.Add(part);</a:t>
            </a:r>
            <a:endParaRPr lang="en-US" sz="1050" dirty="0"/>
          </a:p>
          <a:p>
            <a:pPr marL="0" indent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RedirectToAction("Index");</a:t>
            </a:r>
            <a:endParaRPr lang="en-US" sz="1050" dirty="0"/>
          </a:p>
          <a:p>
            <a:pPr marL="0" indent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0" y="6400800"/>
            <a:ext cx="3840480" cy="457200"/>
          </a:xfrm>
          <a:prstGeom prst="rect">
            <a:avLst/>
          </a:prstGeom>
          <a:solidFill>
            <a:srgbClr val="22226B"/>
          </a:solidFill>
          <a:ln w="12700">
            <a:solidFill>
              <a:srgbClr val="22226B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64592" y="6400800"/>
            <a:ext cx="3511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HAL  ·  .NET, React &amp; SQL Programme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840480" y="6400800"/>
            <a:ext cx="6675120" cy="457200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005072" y="6400800"/>
            <a:ext cx="6345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 1 · Session 4 — Building Your First ASP.NET Web App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10515600" y="6400800"/>
            <a:ext cx="1676095" cy="457200"/>
          </a:xfrm>
          <a:prstGeom prst="rect">
            <a:avLst/>
          </a:prstGeom>
          <a:solidFill>
            <a:srgbClr val="22226B"/>
          </a:solidFill>
          <a:ln w="12700">
            <a:solidFill>
              <a:srgbClr val="22226B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10680192" y="6400800"/>
            <a:ext cx="134691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22226B"/>
          </a:solidFill>
          <a:ln w="12700">
            <a:solidFill>
              <a:srgbClr val="22226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94360" y="0"/>
            <a:ext cx="11002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80" dirty="0">
                <a:solidFill>
                  <a:srgbClr val="C9C9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FORMS END TO END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0" y="365760"/>
            <a:ext cx="12191695" cy="841248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365760"/>
            <a:ext cx="1100297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Show, submit, validate, redirect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94360" y="1627632"/>
            <a:ext cx="5806440" cy="1970532"/>
          </a:xfrm>
          <a:prstGeom prst="rect">
            <a:avLst/>
          </a:prstGeom>
          <a:solidFill>
            <a:srgbClr val="F4F4FA"/>
          </a:solidFill>
          <a:ln w="9525">
            <a:solidFill>
              <a:srgbClr val="C9C9E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13816" y="1783080"/>
            <a:ext cx="53675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3333B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GET RENDERS THE EMPTY FORM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813816" y="2075688"/>
            <a:ext cx="5367528" cy="1394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[HttpGet]</a:t>
            </a:r>
            <a:endParaRPr lang="en-US" sz="1050" dirty="0"/>
          </a:p>
          <a:p>
            <a:pPr marL="0" indent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IActionResult Create() =&gt; View();</a:t>
            </a:r>
            <a:endParaRPr lang="en-US" sz="1050" dirty="0"/>
          </a:p>
          <a:p>
            <a:pPr marL="0" indent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marL="0" indent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&lt;form asp-action="Create" method="post"&gt;</a:t>
            </a:r>
            <a:endParaRPr lang="en-US" sz="1050" dirty="0"/>
          </a:p>
          <a:p>
            <a:pPr marL="0" indent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&lt;input asp-for="PartNo" class="form-control" /&gt;</a:t>
            </a:r>
            <a:endParaRPr lang="en-US" sz="1050" dirty="0"/>
          </a:p>
          <a:p>
            <a:pPr marL="0" indent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&lt;span asp-validation-for="PartNo"&gt;&lt;/span&gt;</a:t>
            </a:r>
            <a:endParaRPr lang="en-US" sz="1050" dirty="0"/>
          </a:p>
          <a:p>
            <a:pPr marL="0" indent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&lt;/form&gt;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94360" y="3749040"/>
            <a:ext cx="5806440" cy="2157984"/>
          </a:xfrm>
          <a:prstGeom prst="rect">
            <a:avLst/>
          </a:prstGeom>
          <a:solidFill>
            <a:srgbClr val="F4F4FA"/>
          </a:solidFill>
          <a:ln w="9525">
            <a:solidFill>
              <a:srgbClr val="C9C9E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13816" y="3904488"/>
            <a:ext cx="53675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3333B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POST RECEIVES, CHECKS, REDIRECTS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813816" y="4197096"/>
            <a:ext cx="5367528" cy="1581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[HttpPost]</a:t>
            </a:r>
            <a:endParaRPr lang="en-US" sz="1050" dirty="0"/>
          </a:p>
          <a:p>
            <a:pPr marL="0" indent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[ValidateAntiForgeryToken]</a:t>
            </a:r>
            <a:endParaRPr lang="en-US" sz="1050" dirty="0"/>
          </a:p>
          <a:p>
            <a:pPr marL="0" indent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IActionResult Create(SparePart part)</a:t>
            </a:r>
            <a:endParaRPr lang="en-US" sz="1050" dirty="0"/>
          </a:p>
          <a:p>
            <a:pPr marL="0" indent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50" dirty="0"/>
          </a:p>
          <a:p>
            <a:pPr marL="0" indent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(!ModelState.IsValid) return View(part);</a:t>
            </a:r>
            <a:endParaRPr lang="en-US" sz="1050" dirty="0"/>
          </a:p>
          <a:p>
            <a:pPr marL="0" indent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_parts.Add(part);</a:t>
            </a:r>
            <a:endParaRPr lang="en-US" sz="1050" dirty="0"/>
          </a:p>
          <a:p>
            <a:pPr marL="0" indent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RedirectToAction(nameof(Index));</a:t>
            </a:r>
            <a:endParaRPr lang="en-US" sz="1050" dirty="0"/>
          </a:p>
          <a:p>
            <a:pPr marL="0" indent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629400" y="1627632"/>
            <a:ext cx="4965192" cy="1024128"/>
          </a:xfrm>
          <a:prstGeom prst="rect">
            <a:avLst/>
          </a:prstGeom>
          <a:solidFill>
            <a:srgbClr val="EDEDF7"/>
          </a:solidFill>
          <a:ln w="9525">
            <a:solidFill>
              <a:srgbClr val="C9C9E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629400" y="1627632"/>
            <a:ext cx="50292" cy="1024128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30568" y="1956816"/>
            <a:ext cx="365760" cy="365760"/>
          </a:xfrm>
          <a:prstGeom prst="ellipse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830568" y="19568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7360920" y="1627632"/>
            <a:ext cx="4014216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222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actions, one name</a:t>
            </a:r>
            <a:endParaRPr lang="en-US" sz="1350" dirty="0"/>
          </a:p>
          <a:p>
            <a:pPr marL="0" indent="0">
              <a:buNone/>
            </a:pPr>
            <a:r>
              <a:rPr lang="en-US" sz="110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GET shows the form, the POST handles it. The verb attributes keep them apart.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629400" y="2779776"/>
            <a:ext cx="4965192" cy="1024128"/>
          </a:xfrm>
          <a:prstGeom prst="rect">
            <a:avLst/>
          </a:prstGeom>
          <a:solidFill>
            <a:srgbClr val="EDEDF7"/>
          </a:solidFill>
          <a:ln w="9525">
            <a:solidFill>
              <a:srgbClr val="C9C9E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629400" y="2779776"/>
            <a:ext cx="50292" cy="1024128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830568" y="3108960"/>
            <a:ext cx="365760" cy="365760"/>
          </a:xfrm>
          <a:prstGeom prst="ellipse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830568" y="3108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7360920" y="2779776"/>
            <a:ext cx="4014216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222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Return the view on failure</a:t>
            </a:r>
            <a:endParaRPr lang="en-US" sz="1350" dirty="0"/>
          </a:p>
          <a:p>
            <a:pPr marL="0" indent="0">
              <a:buNone/>
            </a:pPr>
            <a:r>
              <a:rPr lang="en-US" sz="110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With the model, so the user does not retype everything. This is the most-missed step.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6629400" y="3931920"/>
            <a:ext cx="4965192" cy="1024128"/>
          </a:xfrm>
          <a:prstGeom prst="rect">
            <a:avLst/>
          </a:prstGeom>
          <a:solidFill>
            <a:srgbClr val="EDEDF7"/>
          </a:solidFill>
          <a:ln w="9525">
            <a:solidFill>
              <a:srgbClr val="C9C9E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629400" y="3931920"/>
            <a:ext cx="50292" cy="1024128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830568" y="4261104"/>
            <a:ext cx="365760" cy="365760"/>
          </a:xfrm>
          <a:prstGeom prst="ellipse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830568" y="42611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7360920" y="3931920"/>
            <a:ext cx="4014216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222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Anti-forgery token</a:t>
            </a:r>
            <a:endParaRPr lang="en-US" sz="1350" dirty="0"/>
          </a:p>
          <a:p>
            <a:pPr marL="0" indent="0">
              <a:buNone/>
            </a:pPr>
            <a:r>
              <a:rPr lang="en-US" sz="110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form tag helper adds it; the attribute checks it. It stops another site posting on your user's behalf.</a:t>
            </a:r>
            <a:endParaRPr lang="en-US" sz="1350" dirty="0"/>
          </a:p>
        </p:txBody>
      </p:sp>
      <p:sp>
        <p:nvSpPr>
          <p:cNvPr id="27" name="Shape 25"/>
          <p:cNvSpPr/>
          <p:nvPr/>
        </p:nvSpPr>
        <p:spPr>
          <a:xfrm>
            <a:off x="6629400" y="5084064"/>
            <a:ext cx="4965192" cy="1024128"/>
          </a:xfrm>
          <a:prstGeom prst="rect">
            <a:avLst/>
          </a:prstGeom>
          <a:solidFill>
            <a:srgbClr val="EDEDF7"/>
          </a:solidFill>
          <a:ln w="9525">
            <a:solidFill>
              <a:srgbClr val="C9C9E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629400" y="5084064"/>
            <a:ext cx="50292" cy="1024128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830568" y="5413248"/>
            <a:ext cx="365760" cy="365760"/>
          </a:xfrm>
          <a:prstGeom prst="ellipse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830568" y="54132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7360920" y="5084064"/>
            <a:ext cx="4014216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222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Redirect on success</a:t>
            </a:r>
            <a:endParaRPr lang="en-US" sz="1350" dirty="0"/>
          </a:p>
          <a:p>
            <a:pPr marL="0" indent="0">
              <a:buNone/>
            </a:pPr>
            <a:r>
              <a:rPr lang="en-US" sz="110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Post-Redirect-Get. Never return a view directly from a successful POST.</a:t>
            </a:r>
            <a:endParaRPr lang="en-US" sz="1350" dirty="0"/>
          </a:p>
        </p:txBody>
      </p:sp>
      <p:sp>
        <p:nvSpPr>
          <p:cNvPr id="32" name="Shape 30"/>
          <p:cNvSpPr/>
          <p:nvPr/>
        </p:nvSpPr>
        <p:spPr>
          <a:xfrm>
            <a:off x="0" y="6400800"/>
            <a:ext cx="3840480" cy="457200"/>
          </a:xfrm>
          <a:prstGeom prst="rect">
            <a:avLst/>
          </a:prstGeom>
          <a:solidFill>
            <a:srgbClr val="22226B"/>
          </a:solidFill>
          <a:ln w="12700">
            <a:solidFill>
              <a:srgbClr val="22226B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164592" y="6400800"/>
            <a:ext cx="3511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HAL  ·  .NET, React &amp; SQL Programme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3840480" y="6400800"/>
            <a:ext cx="6675120" cy="457200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4005072" y="6400800"/>
            <a:ext cx="6345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 1 · Session 4 — Building Your First ASP.NET Web App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10515600" y="6400800"/>
            <a:ext cx="1676095" cy="457200"/>
          </a:xfrm>
          <a:prstGeom prst="rect">
            <a:avLst/>
          </a:prstGeom>
          <a:solidFill>
            <a:srgbClr val="22226B"/>
          </a:solidFill>
          <a:ln w="12700">
            <a:solidFill>
              <a:srgbClr val="22226B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10680192" y="6400800"/>
            <a:ext cx="134691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22226B"/>
          </a:solidFill>
          <a:ln w="12700">
            <a:solidFill>
              <a:srgbClr val="22226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94360" y="0"/>
            <a:ext cx="11002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80" dirty="0">
                <a:solidFill>
                  <a:srgbClr val="C9C9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BASIC CRUD OPERATIONS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0" y="365760"/>
            <a:ext cx="12191695" cy="841248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365760"/>
            <a:ext cx="1100297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operations, four actions, four verbs</a:t>
            </a:r>
            <a:endParaRPr lang="en-US" sz="26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664208"/>
          <a:ext cx="11002975" cy="914400"/>
        </p:xfrm>
        <a:graphic>
          <a:graphicData uri="http://schemas.openxmlformats.org/drawingml/2006/table">
            <a:tbl>
              <a:tblPr/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48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9136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Operation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52400" marR="152400" marT="76200" marB="76200" anchor="ctr">
                    <a:lnL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2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Verb + URL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52400" marR="152400" marT="76200" marB="76200" anchor="ctr">
                    <a:lnL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2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Action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52400" marR="152400" marT="76200" marB="76200" anchor="ctr">
                    <a:lnL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B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Returns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52400" marR="152400" marT="76200" marB="76200" anchor="ctr">
                    <a:lnL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B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26B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Read all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52400" marR="152400" marT="76200" marB="76200" anchor="ctr">
                    <a:lnL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26B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GET /parts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52400" marR="152400" marT="76200" marB="76200" anchor="ctr">
                    <a:lnL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26B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Index()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52400" marR="152400" marT="76200" marB="76200" anchor="ctr">
                    <a:lnL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26B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 view listing every part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52400" marR="152400" marT="76200" marB="76200" anchor="ctr">
                    <a:lnL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26B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Read one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52400" marR="152400" marT="76200" marB="76200" anchor="ctr">
                    <a:lnL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26B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GET /parts/details/4471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52400" marR="152400" marT="76200" marB="76200" anchor="ctr">
                    <a:lnL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26B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Details(id)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52400" marR="152400" marT="76200" marB="76200" anchor="ctr">
                    <a:lnL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26B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 view for one part, or NotFound()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52400" marR="152400" marT="76200" marB="76200" anchor="ctr">
                    <a:lnL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26B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Create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52400" marR="152400" marT="76200" marB="76200" anchor="ctr">
                    <a:lnL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26B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GET then POST /parts/create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52400" marR="152400" marT="76200" marB="76200" anchor="ctr">
                    <a:lnL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26B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Create()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52400" marR="152400" marT="76200" marB="76200" anchor="ctr">
                    <a:lnL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26B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 blank form, then a redirect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52400" marR="152400" marT="76200" marB="76200" anchor="ctr">
                    <a:lnL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26B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Update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52400" marR="152400" marT="76200" marB="76200" anchor="ctr">
                    <a:lnL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26B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GET then POST /parts/edit/4471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52400" marR="152400" marT="76200" marB="76200" anchor="ctr">
                    <a:lnL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26B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Edit(id)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52400" marR="152400" marT="76200" marB="76200" anchor="ctr">
                    <a:lnL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26B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 filled form, then a redirect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52400" marR="152400" marT="76200" marB="76200" anchor="ctr">
                    <a:lnL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26B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Delete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52400" marR="152400" marT="76200" marB="76200" anchor="ctr">
                    <a:lnL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26B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POST /parts/delete/4471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52400" marR="152400" marT="76200" marB="76200" anchor="ctr">
                    <a:lnL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26B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Delete(id)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52400" marR="152400" marT="76200" marB="76200" anchor="ctr">
                    <a:lnL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26B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 redirect to the list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52400" marR="152400" marT="76200" marB="76200" anchor="ctr">
                    <a:lnL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94360" y="4828032"/>
            <a:ext cx="5394960" cy="402336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" y="4828032"/>
            <a:ext cx="5029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the verb matters</a:t>
            </a:r>
            <a:endParaRPr lang="en-US" sz="1450" dirty="0"/>
          </a:p>
        </p:txBody>
      </p:sp>
      <p:sp>
        <p:nvSpPr>
          <p:cNvPr id="6" name="Shape 6"/>
          <p:cNvSpPr/>
          <p:nvPr/>
        </p:nvSpPr>
        <p:spPr>
          <a:xfrm>
            <a:off x="594360" y="5230368"/>
            <a:ext cx="5394960" cy="713232"/>
          </a:xfrm>
          <a:prstGeom prst="rect">
            <a:avLst/>
          </a:prstGeom>
          <a:solidFill>
            <a:srgbClr val="F4F4FA"/>
          </a:solidFill>
          <a:ln w="9525">
            <a:solidFill>
              <a:srgbClr val="C9C9EA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13816" y="5376672"/>
            <a:ext cx="49560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20"/>
              </a:lnSpc>
              <a:buNone/>
            </a:pPr>
            <a:r>
              <a:rPr lang="en-US" sz="120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GET must never change data. Browsers, proxies and crawlers assume they can repeat it safely.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199632" y="4828032"/>
            <a:ext cx="5394960" cy="402336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382512" y="4828032"/>
            <a:ext cx="5029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Mock data first</a:t>
            </a:r>
            <a:endParaRPr lang="en-US" sz="1450" dirty="0"/>
          </a:p>
        </p:txBody>
      </p:sp>
      <p:sp>
        <p:nvSpPr>
          <p:cNvPr id="13" name="Shape 10"/>
          <p:cNvSpPr/>
          <p:nvPr/>
        </p:nvSpPr>
        <p:spPr>
          <a:xfrm>
            <a:off x="6199632" y="5230368"/>
            <a:ext cx="5394960" cy="713232"/>
          </a:xfrm>
          <a:prstGeom prst="rect">
            <a:avLst/>
          </a:prstGeom>
          <a:solidFill>
            <a:srgbClr val="F4F4FA"/>
          </a:solidFill>
          <a:ln w="9525">
            <a:solidFill>
              <a:srgbClr val="C9C9EA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419088" y="5376672"/>
            <a:ext cx="49560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20"/>
              </a:lnSpc>
              <a:buNone/>
            </a:pPr>
            <a:r>
              <a:rPr lang="en-US" sz="120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static List&lt;SparePart&gt; is enough today. It resets on restart — that is fine. Tomorrow it becomes a database.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0" y="6400800"/>
            <a:ext cx="3840480" cy="457200"/>
          </a:xfrm>
          <a:prstGeom prst="rect">
            <a:avLst/>
          </a:prstGeom>
          <a:solidFill>
            <a:srgbClr val="22226B"/>
          </a:solidFill>
          <a:ln w="12700">
            <a:solidFill>
              <a:srgbClr val="22226B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164592" y="6400800"/>
            <a:ext cx="3511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HAL  ·  .NET, React &amp; SQL Programme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3840480" y="6400800"/>
            <a:ext cx="6675120" cy="457200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4005072" y="6400800"/>
            <a:ext cx="6345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 1 · Session 4 — Building Your First ASP.NET Web App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10515600" y="6400800"/>
            <a:ext cx="1676095" cy="457200"/>
          </a:xfrm>
          <a:prstGeom prst="rect">
            <a:avLst/>
          </a:prstGeom>
          <a:solidFill>
            <a:srgbClr val="22226B"/>
          </a:solidFill>
          <a:ln w="12700">
            <a:solidFill>
              <a:srgbClr val="22226B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10680192" y="6400800"/>
            <a:ext cx="134691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22226B"/>
          </a:solidFill>
          <a:ln w="12700">
            <a:solidFill>
              <a:srgbClr val="22226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94360" y="0"/>
            <a:ext cx="11002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80" dirty="0">
                <a:solidFill>
                  <a:srgbClr val="C9C9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CARRYING DATA BETWEEN REQUESTS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0" y="365760"/>
            <a:ext cx="12191695" cy="841248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365760"/>
            <a:ext cx="1100297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HTTP forgets everything, deliberately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94360" y="1627632"/>
            <a:ext cx="5394960" cy="402336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1627632"/>
            <a:ext cx="5029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TempData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94360" y="2029968"/>
            <a:ext cx="5394960" cy="1700784"/>
          </a:xfrm>
          <a:prstGeom prst="rect">
            <a:avLst/>
          </a:prstGeom>
          <a:solidFill>
            <a:srgbClr val="F4F4FA"/>
          </a:solidFill>
          <a:ln w="9525">
            <a:solidFill>
              <a:srgbClr val="C9C9E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13816" y="2176272"/>
            <a:ext cx="4956048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20"/>
              </a:lnSpc>
              <a:buNone/>
            </a:pPr>
            <a:r>
              <a:rPr lang="en-US" sz="120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Survives exactly one redirect, then disappears. Made for the "Part HAL-4471 saved" message after a POST.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99632" y="1627632"/>
            <a:ext cx="5394960" cy="402336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382512" y="1627632"/>
            <a:ext cx="5029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Session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199632" y="2029968"/>
            <a:ext cx="5394960" cy="1700784"/>
          </a:xfrm>
          <a:prstGeom prst="rect">
            <a:avLst/>
          </a:prstGeom>
          <a:solidFill>
            <a:srgbClr val="F4F4FA"/>
          </a:solidFill>
          <a:ln w="9525">
            <a:solidFill>
              <a:srgbClr val="C9C9E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19088" y="2176272"/>
            <a:ext cx="4956048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20"/>
              </a:lnSpc>
              <a:buNone/>
            </a:pPr>
            <a:r>
              <a:rPr lang="en-US" sz="120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Lasts for the user's visit. Useful for a shopping-basket shape of problem; a liability if you put anything important in it.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94360" y="3840480"/>
            <a:ext cx="5394960" cy="402336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77240" y="3840480"/>
            <a:ext cx="5029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database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94360" y="4242816"/>
            <a:ext cx="5394960" cy="1700784"/>
          </a:xfrm>
          <a:prstGeom prst="rect">
            <a:avLst/>
          </a:prstGeom>
          <a:solidFill>
            <a:srgbClr val="F4F4FA"/>
          </a:solidFill>
          <a:ln w="9525">
            <a:solidFill>
              <a:srgbClr val="C9C9E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13816" y="4389120"/>
            <a:ext cx="4956048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20"/>
              </a:lnSpc>
              <a:buNone/>
            </a:pPr>
            <a:r>
              <a:rPr lang="en-US" sz="120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Anything that must survive a restart, a second server or tomorrow morning. When in doubt, this is the answer.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199632" y="3840480"/>
            <a:ext cx="5394960" cy="402336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382512" y="3840480"/>
            <a:ext cx="5029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Never a static field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199632" y="4242816"/>
            <a:ext cx="5394960" cy="1700784"/>
          </a:xfrm>
          <a:prstGeom prst="rect">
            <a:avLst/>
          </a:prstGeom>
          <a:solidFill>
            <a:srgbClr val="F4F4FA"/>
          </a:solidFill>
          <a:ln w="9525">
            <a:solidFill>
              <a:srgbClr val="C9C9E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19088" y="4389120"/>
            <a:ext cx="4956048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20"/>
              </a:lnSpc>
              <a:buNone/>
            </a:pPr>
            <a:r>
              <a:rPr lang="en-US" sz="120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static list is shared by every user of the site at once. It looks like it works with one tester and fails the moment two people use it.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0" y="6400800"/>
            <a:ext cx="3840480" cy="457200"/>
          </a:xfrm>
          <a:prstGeom prst="rect">
            <a:avLst/>
          </a:prstGeom>
          <a:solidFill>
            <a:srgbClr val="22226B"/>
          </a:solidFill>
          <a:ln w="12700">
            <a:solidFill>
              <a:srgbClr val="22226B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164592" y="6400800"/>
            <a:ext cx="3511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HAL  ·  .NET, React &amp; SQL Programme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840480" y="6400800"/>
            <a:ext cx="6675120" cy="457200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005072" y="6400800"/>
            <a:ext cx="6345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 1 · Session 4 — Building Your First ASP.NET Web App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10515600" y="6400800"/>
            <a:ext cx="1676095" cy="457200"/>
          </a:xfrm>
          <a:prstGeom prst="rect">
            <a:avLst/>
          </a:prstGeom>
          <a:solidFill>
            <a:srgbClr val="22226B"/>
          </a:solidFill>
          <a:ln w="12700">
            <a:solidFill>
              <a:srgbClr val="22226B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10680192" y="6400800"/>
            <a:ext cx="134691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22226B"/>
          </a:solidFill>
          <a:ln w="12700">
            <a:solidFill>
              <a:srgbClr val="22226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94360" y="0"/>
            <a:ext cx="11002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80" dirty="0">
                <a:solidFill>
                  <a:srgbClr val="C9C9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SOMETHING GOES WRONG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0" y="365760"/>
            <a:ext cx="12191695" cy="841248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365760"/>
            <a:ext cx="1100297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user sees, and what you see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94360" y="1627632"/>
            <a:ext cx="5806440" cy="1024128"/>
          </a:xfrm>
          <a:prstGeom prst="rect">
            <a:avLst/>
          </a:prstGeom>
          <a:solidFill>
            <a:srgbClr val="EDEDF7"/>
          </a:solidFill>
          <a:ln w="9525">
            <a:solidFill>
              <a:srgbClr val="C9C9E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" y="1627632"/>
            <a:ext cx="50292" cy="1024128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95528" y="1956816"/>
            <a:ext cx="365760" cy="365760"/>
          </a:xfrm>
          <a:prstGeom prst="ellipse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95528" y="19568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1627632"/>
            <a:ext cx="4855464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222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Developer exception page</a:t>
            </a:r>
            <a:endParaRPr lang="en-US" sz="1350" dirty="0"/>
          </a:p>
          <a:p>
            <a:pPr marL="0" indent="0">
              <a:buNone/>
            </a:pPr>
            <a:r>
              <a:rPr lang="en-US" sz="110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Full stack trace, in Development only. Never expose it to a user — it tells an attacker a great deal.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94360" y="2779776"/>
            <a:ext cx="5806440" cy="1024128"/>
          </a:xfrm>
          <a:prstGeom prst="rect">
            <a:avLst/>
          </a:prstGeom>
          <a:solidFill>
            <a:srgbClr val="EDEDF7"/>
          </a:solidFill>
          <a:ln w="9525">
            <a:solidFill>
              <a:srgbClr val="C9C9E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94360" y="2779776"/>
            <a:ext cx="50292" cy="1024128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95528" y="3108960"/>
            <a:ext cx="365760" cy="365760"/>
          </a:xfrm>
          <a:prstGeom prst="ellipse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95528" y="3108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325880" y="2779776"/>
            <a:ext cx="4855464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222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UseExceptionHandler</a:t>
            </a:r>
            <a:endParaRPr lang="en-US" sz="1350" dirty="0"/>
          </a:p>
          <a:p>
            <a:pPr marL="0" indent="0">
              <a:buNone/>
            </a:pPr>
            <a:r>
              <a:rPr lang="en-US" sz="110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production path: log the detail, show a plain apology, keep the site standing.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94360" y="3931920"/>
            <a:ext cx="5806440" cy="1024128"/>
          </a:xfrm>
          <a:prstGeom prst="rect">
            <a:avLst/>
          </a:prstGeom>
          <a:solidFill>
            <a:srgbClr val="EDEDF7"/>
          </a:solidFill>
          <a:ln w="9525">
            <a:solidFill>
              <a:srgbClr val="C9C9E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94360" y="3931920"/>
            <a:ext cx="50292" cy="1024128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95528" y="4261104"/>
            <a:ext cx="365760" cy="365760"/>
          </a:xfrm>
          <a:prstGeom prst="ellipse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95528" y="42611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325880" y="3931920"/>
            <a:ext cx="4855464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222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Status code pages</a:t>
            </a:r>
            <a:endParaRPr lang="en-US" sz="1350" dirty="0"/>
          </a:p>
          <a:p>
            <a:pPr marL="0" indent="0">
              <a:buNone/>
            </a:pPr>
            <a:r>
              <a:rPr lang="en-US" sz="110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friendly 404 that keeps navigation, instead of a blank browser error.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594360" y="5084064"/>
            <a:ext cx="5806440" cy="1024128"/>
          </a:xfrm>
          <a:prstGeom prst="rect">
            <a:avLst/>
          </a:prstGeom>
          <a:solidFill>
            <a:srgbClr val="EDEDF7"/>
          </a:solidFill>
          <a:ln w="9525">
            <a:solidFill>
              <a:srgbClr val="C9C9E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94360" y="5084064"/>
            <a:ext cx="50292" cy="1024128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95528" y="5413248"/>
            <a:ext cx="365760" cy="365760"/>
          </a:xfrm>
          <a:prstGeom prst="ellipse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95528" y="54132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1325880" y="5084064"/>
            <a:ext cx="4855464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222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environment decides</a:t>
            </a:r>
            <a:endParaRPr lang="en-US" sz="1350" dirty="0"/>
          </a:p>
          <a:p>
            <a:pPr marL="0" indent="0">
              <a:buNone/>
            </a:pPr>
            <a:r>
              <a:rPr lang="en-US" sz="110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ASPNETCORE_ENVIRONMENT chooses between them. You will set it on the server on Day 3.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6629400" y="1627632"/>
            <a:ext cx="4965192" cy="2907792"/>
          </a:xfrm>
          <a:prstGeom prst="rect">
            <a:avLst/>
          </a:prstGeom>
          <a:solidFill>
            <a:srgbClr val="F4F4FA"/>
          </a:solidFill>
          <a:ln w="9525">
            <a:solidFill>
              <a:srgbClr val="C9C9EA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848856" y="1783080"/>
            <a:ext cx="4526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3333B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TEMPLATE ALREADY DOES THIS</a:t>
            </a:r>
            <a:endParaRPr lang="en-US" sz="950" dirty="0"/>
          </a:p>
        </p:txBody>
      </p:sp>
      <p:sp>
        <p:nvSpPr>
          <p:cNvPr id="28" name="Text 26"/>
          <p:cNvSpPr txBox="1"/>
          <p:nvPr/>
        </p:nvSpPr>
        <p:spPr>
          <a:xfrm>
            <a:off x="6848856" y="2075688"/>
            <a:ext cx="452628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(app.Environment</a:t>
            </a:r>
            <a:endParaRPr lang="en-US" sz="1050" dirty="0"/>
          </a:p>
          <a:p>
            <a:pPr marL="0" indent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.IsDevelopment())</a:t>
            </a:r>
            <a:endParaRPr lang="en-US" sz="1050" dirty="0"/>
          </a:p>
          <a:p>
            <a:pPr marL="0" indent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50" dirty="0"/>
          </a:p>
          <a:p>
            <a:pPr marL="0" indent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app.UseDeveloperExceptionPage();</a:t>
            </a:r>
            <a:endParaRPr lang="en-US" sz="1050" dirty="0"/>
          </a:p>
          <a:p>
            <a:pPr marL="0" indent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  <a:p>
            <a:pPr marL="0" indent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</a:t>
            </a:r>
            <a:endParaRPr lang="en-US" sz="1050" dirty="0"/>
          </a:p>
          <a:p>
            <a:pPr marL="0" indent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50" dirty="0"/>
          </a:p>
          <a:p>
            <a:pPr marL="0" indent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app.UseExceptionHandler("/Home/Error");</a:t>
            </a:r>
            <a:endParaRPr lang="en-US" sz="1050" dirty="0"/>
          </a:p>
          <a:p>
            <a:pPr marL="0" indent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app.UseStatusCodePagesWith</a:t>
            </a:r>
            <a:endParaRPr lang="en-US" sz="1050" dirty="0"/>
          </a:p>
          <a:p>
            <a:pPr marL="0" indent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ReExecute("/Home/Error",</a:t>
            </a:r>
            <a:endParaRPr lang="en-US" sz="1050" dirty="0"/>
          </a:p>
          <a:p>
            <a:pPr marL="0" indent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"?code={0}");</a:t>
            </a:r>
            <a:endParaRPr lang="en-US" sz="1050" dirty="0"/>
          </a:p>
          <a:p>
            <a:pPr marL="0" indent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629400" y="4846320"/>
            <a:ext cx="4965192" cy="402336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812280" y="4846320"/>
            <a:ext cx="45994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 the unhappy path</a:t>
            </a:r>
            <a:endParaRPr lang="en-US" sz="1450" dirty="0"/>
          </a:p>
        </p:txBody>
      </p:sp>
      <p:sp>
        <p:nvSpPr>
          <p:cNvPr id="31" name="Shape 29"/>
          <p:cNvSpPr/>
          <p:nvPr/>
        </p:nvSpPr>
        <p:spPr>
          <a:xfrm>
            <a:off x="6629400" y="5248656"/>
            <a:ext cx="4965192" cy="694944"/>
          </a:xfrm>
          <a:prstGeom prst="rect">
            <a:avLst/>
          </a:prstGeom>
          <a:solidFill>
            <a:srgbClr val="F4F4FA"/>
          </a:solidFill>
          <a:ln w="9525">
            <a:solidFill>
              <a:srgbClr val="C9C9EA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848856" y="5394960"/>
            <a:ext cx="4526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53"/>
              </a:lnSpc>
              <a:buNone/>
            </a:pPr>
            <a:r>
              <a:rPr lang="en-US" sz="115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Throw an exception on purpose today, and see what a user would see.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0" y="6400800"/>
            <a:ext cx="3840480" cy="457200"/>
          </a:xfrm>
          <a:prstGeom prst="rect">
            <a:avLst/>
          </a:prstGeom>
          <a:solidFill>
            <a:srgbClr val="22226B"/>
          </a:solidFill>
          <a:ln w="12700">
            <a:solidFill>
              <a:srgbClr val="22226B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164592" y="6400800"/>
            <a:ext cx="3511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HAL  ·  .NET, React &amp; SQL Programme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3840480" y="6400800"/>
            <a:ext cx="6675120" cy="457200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4005072" y="6400800"/>
            <a:ext cx="6345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 1 · Session 4 — Building Your First ASP.NET Web App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10515600" y="6400800"/>
            <a:ext cx="1676095" cy="457200"/>
          </a:xfrm>
          <a:prstGeom prst="rect">
            <a:avLst/>
          </a:prstGeom>
          <a:solidFill>
            <a:srgbClr val="22226B"/>
          </a:solidFill>
          <a:ln w="12700">
            <a:solidFill>
              <a:srgbClr val="22226B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10680192" y="6400800"/>
            <a:ext cx="134691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22226B"/>
          </a:solidFill>
          <a:ln w="12700">
            <a:solidFill>
              <a:srgbClr val="22226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94360" y="0"/>
            <a:ext cx="11002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80" dirty="0">
                <a:solidFill>
                  <a:srgbClr val="C9C9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MOCK DATA TODAY, A DATABASE TOMORROW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0" y="365760"/>
            <a:ext cx="12191695" cy="841248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365760"/>
            <a:ext cx="1100297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so the swap costs nothing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94360" y="1664208"/>
            <a:ext cx="5806440" cy="731520"/>
          </a:xfrm>
          <a:prstGeom prst="rect">
            <a:avLst/>
          </a:prstGeom>
          <a:solidFill>
            <a:srgbClr val="EDEDF7"/>
          </a:solidFill>
          <a:ln w="9525">
            <a:solidFill>
              <a:srgbClr val="C9C9E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" y="1664208"/>
            <a:ext cx="50292" cy="731520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95528" y="1847088"/>
            <a:ext cx="365760" cy="365760"/>
          </a:xfrm>
          <a:prstGeom prst="ellipse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95528" y="18470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1664208"/>
            <a:ext cx="48554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22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Put the list behind an interface</a:t>
            </a:r>
            <a:endParaRPr lang="en-US" sz="1400" dirty="0"/>
          </a:p>
          <a:p>
            <a:pPr marL="0" indent="0">
              <a:buNone/>
            </a:pPr>
            <a:r>
              <a:rPr lang="en-US" sz="115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IPartRepository today returns a static list. Tomorrow the same interface talks to SQL Server.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94360" y="2514600"/>
            <a:ext cx="5806440" cy="731520"/>
          </a:xfrm>
          <a:prstGeom prst="rect">
            <a:avLst/>
          </a:prstGeom>
          <a:solidFill>
            <a:srgbClr val="EDEDF7"/>
          </a:solidFill>
          <a:ln w="9525">
            <a:solidFill>
              <a:srgbClr val="C9C9E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94360" y="2514600"/>
            <a:ext cx="50292" cy="731520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95528" y="2697480"/>
            <a:ext cx="365760" cy="365760"/>
          </a:xfrm>
          <a:prstGeom prst="ellipse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95528" y="2697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325880" y="2514600"/>
            <a:ext cx="48554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22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controller must not know</a:t>
            </a:r>
            <a:endParaRPr lang="en-US" sz="1400" dirty="0"/>
          </a:p>
          <a:p>
            <a:pPr marL="0" indent="0">
              <a:buNone/>
            </a:pPr>
            <a:r>
              <a:rPr lang="en-US" sz="115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If your controller mentions a List&lt;SparePart&gt;, the swap will touch every action.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94360" y="3364992"/>
            <a:ext cx="5806440" cy="731520"/>
          </a:xfrm>
          <a:prstGeom prst="rect">
            <a:avLst/>
          </a:prstGeom>
          <a:solidFill>
            <a:srgbClr val="EDEDF7"/>
          </a:solidFill>
          <a:ln w="9525">
            <a:solidFill>
              <a:srgbClr val="C9C9E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94360" y="3364992"/>
            <a:ext cx="50292" cy="731520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95528" y="3547872"/>
            <a:ext cx="365760" cy="365760"/>
          </a:xfrm>
          <a:prstGeom prst="ellipse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95528" y="35478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325880" y="3364992"/>
            <a:ext cx="48554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22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the data properly now</a:t>
            </a:r>
            <a:endParaRPr lang="en-US" sz="1400" dirty="0"/>
          </a:p>
          <a:p>
            <a:pPr marL="0" indent="0">
              <a:buNone/>
            </a:pPr>
            <a:r>
              <a:rPr lang="en-US" sz="115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 number, nomenclature, quantity, location, dates. Getting the shape right saves a migration later.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94360" y="4215384"/>
            <a:ext cx="5806440" cy="731520"/>
          </a:xfrm>
          <a:prstGeom prst="rect">
            <a:avLst/>
          </a:prstGeom>
          <a:solidFill>
            <a:srgbClr val="EDEDF7"/>
          </a:solidFill>
          <a:ln w="9525">
            <a:solidFill>
              <a:srgbClr val="C9C9E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94360" y="4215384"/>
            <a:ext cx="50292" cy="731520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95528" y="4398264"/>
            <a:ext cx="365760" cy="365760"/>
          </a:xfrm>
          <a:prstGeom prst="ellipse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95528" y="43982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1325880" y="4215384"/>
            <a:ext cx="48554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22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Seed realistic data</a:t>
            </a:r>
            <a:endParaRPr lang="en-US" sz="1400" dirty="0"/>
          </a:p>
          <a:p>
            <a:pPr marL="0" indent="0">
              <a:buNone/>
            </a:pPr>
            <a:r>
              <a:rPr lang="en-US" sz="115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Eight rows with real-looking part numbers will expose formatting problems that "test1, test2" never will.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594360" y="5065776"/>
            <a:ext cx="5806440" cy="731520"/>
          </a:xfrm>
          <a:prstGeom prst="rect">
            <a:avLst/>
          </a:prstGeom>
          <a:solidFill>
            <a:srgbClr val="EDEDF7"/>
          </a:solidFill>
          <a:ln w="9525">
            <a:solidFill>
              <a:srgbClr val="C9C9E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94360" y="5065776"/>
            <a:ext cx="50292" cy="731520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95528" y="5248656"/>
            <a:ext cx="365760" cy="365760"/>
          </a:xfrm>
          <a:prstGeom prst="ellipse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95528" y="52486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1325880" y="5065776"/>
            <a:ext cx="48554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22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Write the awkward cases in</a:t>
            </a:r>
            <a:endParaRPr lang="en-US" sz="1400" dirty="0"/>
          </a:p>
          <a:p>
            <a:pPr marL="0" indent="0">
              <a:buNone/>
            </a:pPr>
            <a:r>
              <a:rPr lang="en-US" sz="115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zero quantity, a very long nomenclature, a missing location. Your layout should survive all three.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6629400" y="1664208"/>
            <a:ext cx="4965192" cy="2907792"/>
          </a:xfrm>
          <a:prstGeom prst="rect">
            <a:avLst/>
          </a:prstGeom>
          <a:solidFill>
            <a:srgbClr val="F4F4FA"/>
          </a:solidFill>
          <a:ln w="9525">
            <a:solidFill>
              <a:srgbClr val="C9C9EA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848856" y="1819656"/>
            <a:ext cx="4526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3333B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TODAY AND TOMORROW, SAME SHAPE</a:t>
            </a:r>
            <a:endParaRPr lang="en-US" sz="950" dirty="0"/>
          </a:p>
        </p:txBody>
      </p:sp>
      <p:sp>
        <p:nvSpPr>
          <p:cNvPr id="33" name="Text 31"/>
          <p:cNvSpPr txBox="1"/>
          <p:nvPr/>
        </p:nvSpPr>
        <p:spPr>
          <a:xfrm>
            <a:off x="6848856" y="2112264"/>
            <a:ext cx="452628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interface IPartRepository</a:t>
            </a:r>
            <a:endParaRPr lang="en-US" sz="1050" dirty="0"/>
          </a:p>
          <a:p>
            <a:pPr marL="0" indent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50" dirty="0"/>
          </a:p>
          <a:p>
            <a:pPr marL="0" indent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IEnumerable&lt;SparePart&gt; GetAll();</a:t>
            </a:r>
            <a:endParaRPr lang="en-US" sz="1050" dirty="0"/>
          </a:p>
          <a:p>
            <a:pPr marL="0" indent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SparePart GetByPartNo(string no);</a:t>
            </a:r>
            <a:endParaRPr lang="en-US" sz="1050" dirty="0"/>
          </a:p>
          <a:p>
            <a:pPr marL="0" indent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void Add(SparePart part);</a:t>
            </a:r>
            <a:endParaRPr lang="en-US" sz="1050" dirty="0"/>
          </a:p>
          <a:p>
            <a:pPr marL="0" indent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  <a:p>
            <a:pPr marL="0" indent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marL="0" indent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today</a:t>
            </a:r>
            <a:endParaRPr lang="en-US" sz="1050" dirty="0"/>
          </a:p>
          <a:p>
            <a:pPr marL="0" indent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InMemoryPartRepository : IPartRepository</a:t>
            </a:r>
            <a:endParaRPr lang="en-US" sz="1050" dirty="0"/>
          </a:p>
          <a:p>
            <a:pPr marL="0" indent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marL="0" indent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tomorrow</a:t>
            </a:r>
            <a:endParaRPr lang="en-US" sz="1050" dirty="0"/>
          </a:p>
          <a:p>
            <a:pPr marL="0" indent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EfPartRepository : IPartRepository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629400" y="4846320"/>
            <a:ext cx="4965192" cy="402336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812280" y="4846320"/>
            <a:ext cx="45994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This is the whole point of Session 1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6629400" y="5248656"/>
            <a:ext cx="4965192" cy="548640"/>
          </a:xfrm>
          <a:prstGeom prst="rect">
            <a:avLst/>
          </a:prstGeom>
          <a:solidFill>
            <a:srgbClr val="F4F4FA"/>
          </a:solidFill>
          <a:ln w="9525">
            <a:solidFill>
              <a:srgbClr val="C9C9EA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848856" y="5394960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53"/>
              </a:lnSpc>
              <a:buNone/>
            </a:pPr>
            <a:r>
              <a:rPr lang="en-US" sz="115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Depend on an interface, not a concrete class.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0" y="6400800"/>
            <a:ext cx="3840480" cy="457200"/>
          </a:xfrm>
          <a:prstGeom prst="rect">
            <a:avLst/>
          </a:prstGeom>
          <a:solidFill>
            <a:srgbClr val="22226B"/>
          </a:solidFill>
          <a:ln w="12700">
            <a:solidFill>
              <a:srgbClr val="22226B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164592" y="6400800"/>
            <a:ext cx="3511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HAL  ·  .NET, React &amp; SQL Programme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3840480" y="6400800"/>
            <a:ext cx="6675120" cy="457200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4005072" y="6400800"/>
            <a:ext cx="6345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 1 · Session 4 — Building Your First ASP.NET Web App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10515600" y="6400800"/>
            <a:ext cx="1676095" cy="457200"/>
          </a:xfrm>
          <a:prstGeom prst="rect">
            <a:avLst/>
          </a:prstGeom>
          <a:solidFill>
            <a:srgbClr val="22226B"/>
          </a:solidFill>
          <a:ln w="12700">
            <a:solidFill>
              <a:srgbClr val="22226B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10680192" y="6400800"/>
            <a:ext cx="134691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22226B"/>
          </a:solidFill>
          <a:ln w="12700">
            <a:solidFill>
              <a:srgbClr val="22226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94360" y="0"/>
            <a:ext cx="11002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80" dirty="0">
                <a:solidFill>
                  <a:srgbClr val="C9C9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DEFINITION OF DONE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0" y="365760"/>
            <a:ext cx="12191695" cy="841248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365760"/>
            <a:ext cx="1100297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is a screen actually finished?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94360" y="1627632"/>
            <a:ext cx="5394960" cy="384048"/>
          </a:xfrm>
          <a:prstGeom prst="rect">
            <a:avLst/>
          </a:prstGeom>
          <a:solidFill>
            <a:srgbClr val="22226B"/>
          </a:solidFill>
          <a:ln w="12700">
            <a:solidFill>
              <a:srgbClr val="22226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1627632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4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WORKS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94360" y="2139696"/>
            <a:ext cx="5394960" cy="2834640"/>
          </a:xfrm>
          <a:prstGeom prst="rect">
            <a:avLst/>
          </a:prstGeom>
          <a:solidFill>
            <a:srgbClr val="FFFFFF"/>
          </a:solidFill>
          <a:ln w="9525">
            <a:solidFill>
              <a:srgbClr val="C9C9E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13816" y="2286000"/>
            <a:ext cx="4956048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▸"/>
            </a:pPr>
            <a:r>
              <a:rPr lang="en-US" sz="125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happy path does what was asked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▸"/>
            </a:pPr>
            <a:r>
              <a:rPr lang="en-US" sz="125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looks acceptable on a normal screen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▸"/>
            </a:pPr>
            <a:r>
              <a:rPr lang="en-US" sz="125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runs on your machine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99632" y="1627632"/>
            <a:ext cx="5394960" cy="384048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382512" y="1627632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4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IS DONE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199632" y="2139696"/>
            <a:ext cx="5394960" cy="2834640"/>
          </a:xfrm>
          <a:prstGeom prst="rect">
            <a:avLst/>
          </a:prstGeom>
          <a:solidFill>
            <a:srgbClr val="FFFFFF"/>
          </a:solidFill>
          <a:ln w="9525">
            <a:solidFill>
              <a:srgbClr val="C9C9E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19088" y="2286000"/>
            <a:ext cx="4956048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▸"/>
            </a:pPr>
            <a:r>
              <a:rPr lang="en-US" sz="125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Empty list, missing record and invalid input all handled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▸"/>
            </a:pPr>
            <a:r>
              <a:rPr lang="en-US" sz="125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Validation messages are readable by a storekeeper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▸"/>
            </a:pPr>
            <a:r>
              <a:rPr lang="en-US" sz="125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secrets in code; no SQL built by concatenation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▸"/>
            </a:pPr>
            <a:r>
              <a:rPr lang="en-US" sz="125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Names and structure a reviewer would accept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▸"/>
            </a:pPr>
            <a:r>
              <a:rPr lang="en-US" sz="125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Committed, with a message explaining why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▸"/>
            </a:pPr>
            <a:r>
              <a:rPr lang="en-US" sz="125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Someone else has run it on their machine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94360" y="5193792"/>
            <a:ext cx="11002975" cy="640080"/>
          </a:xfrm>
          <a:prstGeom prst="rect">
            <a:avLst/>
          </a:prstGeom>
          <a:solidFill>
            <a:srgbClr val="FBECEC"/>
          </a:solidFill>
          <a:ln w="12700">
            <a:solidFill>
              <a:srgbClr val="A0000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32104" y="5193792"/>
            <a:ext cx="10527487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90"/>
              </a:lnSpc>
              <a:buNone/>
            </a:pPr>
            <a:r>
              <a:rPr lang="en-US" sz="1300" b="1" dirty="0">
                <a:solidFill>
                  <a:srgbClr val="7A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Agree this list as a team once, then hold each other to it. It is the same idea as a stage inspection.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0" y="6400800"/>
            <a:ext cx="3840480" cy="457200"/>
          </a:xfrm>
          <a:prstGeom prst="rect">
            <a:avLst/>
          </a:prstGeom>
          <a:solidFill>
            <a:srgbClr val="22226B"/>
          </a:solidFill>
          <a:ln w="12700">
            <a:solidFill>
              <a:srgbClr val="22226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64592" y="6400800"/>
            <a:ext cx="3511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HAL  ·  .NET, React &amp; SQL Programme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840480" y="6400800"/>
            <a:ext cx="6675120" cy="457200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005072" y="6400800"/>
            <a:ext cx="6345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 1 · Session 4 — Building Your First ASP.NET Web App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10515600" y="6400800"/>
            <a:ext cx="1676095" cy="457200"/>
          </a:xfrm>
          <a:prstGeom prst="rect">
            <a:avLst/>
          </a:prstGeom>
          <a:solidFill>
            <a:srgbClr val="22226B"/>
          </a:solidFill>
          <a:ln w="12700">
            <a:solidFill>
              <a:srgbClr val="22226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0680192" y="6400800"/>
            <a:ext cx="134691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B2B7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5050A8"/>
          </a:solidFill>
          <a:ln w="12700">
            <a:solidFill>
              <a:srgbClr val="5050A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94360" y="0"/>
            <a:ext cx="11002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80" dirty="0">
                <a:solidFill>
                  <a:srgbClr val="C9C9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CHECKPOINT · 10 MINUTES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0" y="365760"/>
            <a:ext cx="12191695" cy="841248"/>
          </a:xfrm>
          <a:prstGeom prst="rect">
            <a:avLst/>
          </a:prstGeom>
          <a:solidFill>
            <a:srgbClr val="3B3B96"/>
          </a:solidFill>
          <a:ln w="12700">
            <a:solidFill>
              <a:srgbClr val="3B3B9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365760"/>
            <a:ext cx="1100297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Before we build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94360" y="1664208"/>
            <a:ext cx="6949440" cy="960120"/>
          </a:xfrm>
          <a:prstGeom prst="rect">
            <a:avLst/>
          </a:prstGeom>
          <a:solidFill>
            <a:srgbClr val="3B3B96"/>
          </a:solidFill>
          <a:ln w="9525">
            <a:solidFill>
              <a:srgbClr val="5050A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" y="1664208"/>
            <a:ext cx="50292" cy="960120"/>
          </a:xfrm>
          <a:prstGeom prst="rect">
            <a:avLst/>
          </a:prstGeom>
          <a:solidFill>
            <a:srgbClr val="8A8AC4"/>
          </a:solidFill>
          <a:ln w="12700">
            <a:solidFill>
              <a:srgbClr val="8A8AC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95528" y="1961388"/>
            <a:ext cx="365760" cy="365760"/>
          </a:xfrm>
          <a:prstGeom prst="ellipse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95528" y="19613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1664208"/>
            <a:ext cx="599846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screen would you rebuild first?</a:t>
            </a:r>
            <a:endParaRPr lang="en-US" sz="1350" dirty="0"/>
          </a:p>
          <a:p>
            <a:pPr marL="0" indent="0">
              <a:buNone/>
            </a:pPr>
            <a:r>
              <a:rPr lang="en-US" sz="1100" dirty="0">
                <a:solidFill>
                  <a:srgbClr val="D9D9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Something small, real, and currently painful.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94360" y="2752344"/>
            <a:ext cx="6949440" cy="960120"/>
          </a:xfrm>
          <a:prstGeom prst="rect">
            <a:avLst/>
          </a:prstGeom>
          <a:solidFill>
            <a:srgbClr val="3B3B96"/>
          </a:solidFill>
          <a:ln w="9525">
            <a:solidFill>
              <a:srgbClr val="5050A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94360" y="2752344"/>
            <a:ext cx="50292" cy="960120"/>
          </a:xfrm>
          <a:prstGeom prst="rect">
            <a:avLst/>
          </a:prstGeom>
          <a:solidFill>
            <a:srgbClr val="8A8AC4"/>
          </a:solidFill>
          <a:ln w="12700">
            <a:solidFill>
              <a:srgbClr val="8A8AC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95528" y="3049524"/>
            <a:ext cx="365760" cy="365760"/>
          </a:xfrm>
          <a:prstGeom prst="ellipse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95528" y="30495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325880" y="2752344"/>
            <a:ext cx="599846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are its users?</a:t>
            </a:r>
            <a:endParaRPr lang="en-US" sz="1350" dirty="0"/>
          </a:p>
          <a:p>
            <a:pPr marL="0" indent="0">
              <a:buNone/>
            </a:pPr>
            <a:r>
              <a:rPr lang="en-US" sz="1100" dirty="0">
                <a:solidFill>
                  <a:srgbClr val="D9D9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do they already know, and what do they get wrong today?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94360" y="3840480"/>
            <a:ext cx="6949440" cy="960120"/>
          </a:xfrm>
          <a:prstGeom prst="rect">
            <a:avLst/>
          </a:prstGeom>
          <a:solidFill>
            <a:srgbClr val="3B3B96"/>
          </a:solidFill>
          <a:ln w="9525">
            <a:solidFill>
              <a:srgbClr val="5050A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94360" y="3840480"/>
            <a:ext cx="50292" cy="960120"/>
          </a:xfrm>
          <a:prstGeom prst="rect">
            <a:avLst/>
          </a:prstGeom>
          <a:solidFill>
            <a:srgbClr val="8A8AC4"/>
          </a:solidFill>
          <a:ln w="12700">
            <a:solidFill>
              <a:srgbClr val="8A8AC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95528" y="4137660"/>
            <a:ext cx="365760" cy="365760"/>
          </a:xfrm>
          <a:prstGeom prst="ellipse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95528" y="41376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325880" y="3840480"/>
            <a:ext cx="599846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data does it need?</a:t>
            </a:r>
            <a:endParaRPr lang="en-US" sz="1350" dirty="0"/>
          </a:p>
          <a:p>
            <a:pPr marL="0" indent="0">
              <a:buNone/>
            </a:pPr>
            <a:r>
              <a:rPr lang="en-US" sz="1100" dirty="0">
                <a:solidFill>
                  <a:srgbClr val="D9D9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List the fields out loud — that is your model.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594360" y="4928616"/>
            <a:ext cx="6949440" cy="960120"/>
          </a:xfrm>
          <a:prstGeom prst="rect">
            <a:avLst/>
          </a:prstGeom>
          <a:solidFill>
            <a:srgbClr val="3B3B96"/>
          </a:solidFill>
          <a:ln w="9525">
            <a:solidFill>
              <a:srgbClr val="5050A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94360" y="4928616"/>
            <a:ext cx="50292" cy="960120"/>
          </a:xfrm>
          <a:prstGeom prst="rect">
            <a:avLst/>
          </a:prstGeom>
          <a:solidFill>
            <a:srgbClr val="8A8AC4"/>
          </a:solidFill>
          <a:ln w="12700">
            <a:solidFill>
              <a:srgbClr val="8A8AC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95528" y="5225796"/>
            <a:ext cx="365760" cy="365760"/>
          </a:xfrm>
          <a:prstGeom prst="ellipse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95528" y="52257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1325880" y="4928616"/>
            <a:ext cx="599846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would "done" mean for it?</a:t>
            </a:r>
            <a:endParaRPr lang="en-US" sz="1350" dirty="0"/>
          </a:p>
          <a:p>
            <a:pPr marL="0" indent="0">
              <a:buNone/>
            </a:pPr>
            <a:r>
              <a:rPr lang="en-US" sz="1100" dirty="0">
                <a:solidFill>
                  <a:srgbClr val="D9D9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 the checklist from the last slide.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7635240" y="1664208"/>
            <a:ext cx="3959352" cy="402336"/>
          </a:xfrm>
          <a:prstGeom prst="rect">
            <a:avLst/>
          </a:prstGeom>
          <a:solidFill>
            <a:srgbClr val="5050A8"/>
          </a:solidFill>
          <a:ln w="12700">
            <a:solidFill>
              <a:srgbClr val="5050A8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818120" y="1664208"/>
            <a:ext cx="35935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Running it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7635240" y="2066544"/>
            <a:ext cx="3959352" cy="3803904"/>
          </a:xfrm>
          <a:prstGeom prst="rect">
            <a:avLst/>
          </a:prstGeom>
          <a:solidFill>
            <a:srgbClr val="3B3B96"/>
          </a:solidFill>
          <a:ln w="9525">
            <a:solidFill>
              <a:srgbClr val="5050A8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854696" y="2212848"/>
            <a:ext cx="3520440" cy="3529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▸"/>
            </a:pPr>
            <a:r>
              <a:rPr lang="en-US" sz="1200" dirty="0">
                <a:solidFill>
                  <a:srgbClr val="D9D9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minutes in pairs, then three answers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▸"/>
            </a:pPr>
            <a:r>
              <a:rPr lang="en-US" sz="1200" dirty="0">
                <a:solidFill>
                  <a:srgbClr val="D9D9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Keep the answers — a good candidate here becomes the Day 5 project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▸"/>
            </a:pPr>
            <a:r>
              <a:rPr lang="en-US" sz="1200" dirty="0">
                <a:solidFill>
                  <a:srgbClr val="D9D9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Push people towards something genuinely small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0" y="6400800"/>
            <a:ext cx="3840480" cy="457200"/>
          </a:xfrm>
          <a:prstGeom prst="rect">
            <a:avLst/>
          </a:prstGeom>
          <a:solidFill>
            <a:srgbClr val="5050A8"/>
          </a:solidFill>
          <a:ln w="12700">
            <a:solidFill>
              <a:srgbClr val="5050A8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164592" y="6400800"/>
            <a:ext cx="3511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HAL  ·  .NET, React &amp; SQL Programme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3840480" y="6400800"/>
            <a:ext cx="6675120" cy="457200"/>
          </a:xfrm>
          <a:prstGeom prst="rect">
            <a:avLst/>
          </a:prstGeom>
          <a:solidFill>
            <a:srgbClr val="3B3B96"/>
          </a:solidFill>
          <a:ln w="12700">
            <a:solidFill>
              <a:srgbClr val="3B3B96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4005072" y="6400800"/>
            <a:ext cx="6345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 1 · Session 4 — Building Your First ASP.NET Web App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10515600" y="6400800"/>
            <a:ext cx="1676095" cy="457200"/>
          </a:xfrm>
          <a:prstGeom prst="rect">
            <a:avLst/>
          </a:prstGeom>
          <a:solidFill>
            <a:srgbClr val="5050A8"/>
          </a:solidFill>
          <a:ln w="12700">
            <a:solidFill>
              <a:srgbClr val="5050A8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10680192" y="6400800"/>
            <a:ext cx="134691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B2B7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5050A8"/>
          </a:solidFill>
          <a:ln w="12700">
            <a:solidFill>
              <a:srgbClr val="5050A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94360" y="0"/>
            <a:ext cx="11002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80" dirty="0">
                <a:solidFill>
                  <a:srgbClr val="C9C9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HANDS-ON · 40 MINUTES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0" y="365760"/>
            <a:ext cx="12191695" cy="841248"/>
          </a:xfrm>
          <a:prstGeom prst="rect">
            <a:avLst/>
          </a:prstGeom>
          <a:solidFill>
            <a:srgbClr val="3B3B96"/>
          </a:solidFill>
          <a:ln w="12700">
            <a:solidFill>
              <a:srgbClr val="3B3B9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365760"/>
            <a:ext cx="106070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Mini project: the HAL Spares Tracker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298448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D9D9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application we extend for the rest of the week. Today it runs on mock data.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182880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40" dirty="0">
                <a:solidFill>
                  <a:srgbClr val="C9C9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TASKS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94360" y="2176272"/>
            <a:ext cx="6035040" cy="502920"/>
          </a:xfrm>
          <a:prstGeom prst="rect">
            <a:avLst/>
          </a:prstGeom>
          <a:solidFill>
            <a:srgbClr val="3B3B96"/>
          </a:solidFill>
          <a:ln w="9525">
            <a:solidFill>
              <a:srgbClr val="5050A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94360" y="2176272"/>
            <a:ext cx="50292" cy="502920"/>
          </a:xfrm>
          <a:prstGeom prst="rect">
            <a:avLst/>
          </a:prstGeom>
          <a:solidFill>
            <a:srgbClr val="8A8AC4"/>
          </a:solidFill>
          <a:ln w="12700">
            <a:solidFill>
              <a:srgbClr val="8A8AC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95528" y="2244852"/>
            <a:ext cx="365760" cy="365760"/>
          </a:xfrm>
          <a:prstGeom prst="ellipse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95528" y="22448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325880" y="2176272"/>
            <a:ext cx="50840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Create the project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D9D9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dotnet new mvc -n HalSpares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94360" y="2788920"/>
            <a:ext cx="6035040" cy="502920"/>
          </a:xfrm>
          <a:prstGeom prst="rect">
            <a:avLst/>
          </a:prstGeom>
          <a:solidFill>
            <a:srgbClr val="3B3B96"/>
          </a:solidFill>
          <a:ln w="9525">
            <a:solidFill>
              <a:srgbClr val="5050A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94360" y="2788920"/>
            <a:ext cx="50292" cy="502920"/>
          </a:xfrm>
          <a:prstGeom prst="rect">
            <a:avLst/>
          </a:prstGeom>
          <a:solidFill>
            <a:srgbClr val="8A8AC4"/>
          </a:solidFill>
          <a:ln w="12700">
            <a:solidFill>
              <a:srgbClr val="8A8AC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95528" y="2857500"/>
            <a:ext cx="365760" cy="365760"/>
          </a:xfrm>
          <a:prstGeom prst="ellipse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95528" y="28575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325880" y="2788920"/>
            <a:ext cx="50840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 the SparePart model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D9D9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PartNo, Nomenclature, Quantity, Location, LastIssuedOn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94360" y="3401568"/>
            <a:ext cx="6035040" cy="502920"/>
          </a:xfrm>
          <a:prstGeom prst="rect">
            <a:avLst/>
          </a:prstGeom>
          <a:solidFill>
            <a:srgbClr val="3B3B96"/>
          </a:solidFill>
          <a:ln w="9525">
            <a:solidFill>
              <a:srgbClr val="5050A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94360" y="3401568"/>
            <a:ext cx="50292" cy="502920"/>
          </a:xfrm>
          <a:prstGeom prst="rect">
            <a:avLst/>
          </a:prstGeom>
          <a:solidFill>
            <a:srgbClr val="8A8AC4"/>
          </a:solidFill>
          <a:ln w="12700">
            <a:solidFill>
              <a:srgbClr val="8A8AC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95528" y="3470148"/>
            <a:ext cx="365760" cy="365760"/>
          </a:xfrm>
          <a:prstGeom prst="ellipse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95528" y="34701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325880" y="3401568"/>
            <a:ext cx="50840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 an in-memory store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D9D9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static list seeded with eight parts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94360" y="4014216"/>
            <a:ext cx="6035040" cy="502920"/>
          </a:xfrm>
          <a:prstGeom prst="rect">
            <a:avLst/>
          </a:prstGeom>
          <a:solidFill>
            <a:srgbClr val="3B3B96"/>
          </a:solidFill>
          <a:ln w="9525">
            <a:solidFill>
              <a:srgbClr val="5050A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94360" y="4014216"/>
            <a:ext cx="50292" cy="502920"/>
          </a:xfrm>
          <a:prstGeom prst="rect">
            <a:avLst/>
          </a:prstGeom>
          <a:solidFill>
            <a:srgbClr val="8A8AC4"/>
          </a:solidFill>
          <a:ln w="12700">
            <a:solidFill>
              <a:srgbClr val="8A8AC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95528" y="4082796"/>
            <a:ext cx="365760" cy="365760"/>
          </a:xfrm>
          <a:prstGeom prst="ellipse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95528" y="40827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1325880" y="4014216"/>
            <a:ext cx="50840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Index and Details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D9D9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Carry across what you wrote in Session 3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94360" y="4626864"/>
            <a:ext cx="6035040" cy="502920"/>
          </a:xfrm>
          <a:prstGeom prst="rect">
            <a:avLst/>
          </a:prstGeom>
          <a:solidFill>
            <a:srgbClr val="3B3B96"/>
          </a:solidFill>
          <a:ln w="9525">
            <a:solidFill>
              <a:srgbClr val="5050A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94360" y="4626864"/>
            <a:ext cx="50292" cy="502920"/>
          </a:xfrm>
          <a:prstGeom prst="rect">
            <a:avLst/>
          </a:prstGeom>
          <a:solidFill>
            <a:srgbClr val="8A8AC4"/>
          </a:solidFill>
          <a:ln w="12700">
            <a:solidFill>
              <a:srgbClr val="8A8AC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95528" y="4695444"/>
            <a:ext cx="365760" cy="365760"/>
          </a:xfrm>
          <a:prstGeom prst="ellipse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95528" y="46954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1325880" y="4626864"/>
            <a:ext cx="50840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 Create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D9D9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GET returns the form, POST saves and redirects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594360" y="5239512"/>
            <a:ext cx="6035040" cy="502920"/>
          </a:xfrm>
          <a:prstGeom prst="rect">
            <a:avLst/>
          </a:prstGeom>
          <a:solidFill>
            <a:srgbClr val="3B3B96"/>
          </a:solidFill>
          <a:ln w="9525">
            <a:solidFill>
              <a:srgbClr val="5050A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94360" y="5239512"/>
            <a:ext cx="50292" cy="502920"/>
          </a:xfrm>
          <a:prstGeom prst="rect">
            <a:avLst/>
          </a:prstGeom>
          <a:solidFill>
            <a:srgbClr val="8A8AC4"/>
          </a:solidFill>
          <a:ln w="12700">
            <a:solidFill>
              <a:srgbClr val="8A8AC4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95528" y="5308092"/>
            <a:ext cx="365760" cy="365760"/>
          </a:xfrm>
          <a:prstGeom prst="ellipse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795528" y="53080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300" dirty="0"/>
          </a:p>
        </p:txBody>
      </p:sp>
      <p:sp>
        <p:nvSpPr>
          <p:cNvPr id="37" name="Text 35"/>
          <p:cNvSpPr txBox="1"/>
          <p:nvPr/>
        </p:nvSpPr>
        <p:spPr>
          <a:xfrm>
            <a:off x="1325880" y="5239512"/>
            <a:ext cx="50840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Flag low stock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D9D9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Highlight any row where Quantity is below five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6949440" y="1600200"/>
            <a:ext cx="4645152" cy="402336"/>
          </a:xfrm>
          <a:prstGeom prst="rect">
            <a:avLst/>
          </a:prstGeom>
          <a:solidFill>
            <a:srgbClr val="5050A8"/>
          </a:solidFill>
          <a:ln w="12700">
            <a:solidFill>
              <a:srgbClr val="5050A8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7132320" y="1600200"/>
            <a:ext cx="42793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Done when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6949440" y="2002536"/>
            <a:ext cx="4645152" cy="1563624"/>
          </a:xfrm>
          <a:prstGeom prst="rect">
            <a:avLst/>
          </a:prstGeom>
          <a:solidFill>
            <a:srgbClr val="3B3B96"/>
          </a:solidFill>
          <a:ln w="9525">
            <a:solidFill>
              <a:srgbClr val="5050A8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7168896" y="2148840"/>
            <a:ext cx="4206240" cy="1289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▸"/>
            </a:pPr>
            <a:r>
              <a:rPr lang="en-US" sz="1150" dirty="0">
                <a:solidFill>
                  <a:srgbClr val="D9D9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site runs and /parts lists the seeded data</a:t>
            </a:r>
            <a:endParaRPr lang="en-US" sz="1150" dirty="0"/>
          </a:p>
          <a:p>
            <a:pPr marL="177800" indent="-177800">
              <a:spcAft>
                <a:spcPts val="700"/>
              </a:spcAft>
              <a:buSzPct val="100000"/>
              <a:buChar char="▸"/>
            </a:pPr>
            <a:r>
              <a:rPr lang="en-US" sz="1150" dirty="0">
                <a:solidFill>
                  <a:srgbClr val="D9D9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new part added through the form appears in the list</a:t>
            </a:r>
            <a:endParaRPr lang="en-US" sz="1150" dirty="0"/>
          </a:p>
          <a:p>
            <a:pPr marL="177800" indent="-177800">
              <a:spcAft>
                <a:spcPts val="700"/>
              </a:spcAft>
              <a:buSzPct val="100000"/>
              <a:buChar char="▸"/>
            </a:pPr>
            <a:r>
              <a:rPr lang="en-US" sz="1150" dirty="0">
                <a:solidFill>
                  <a:srgbClr val="D9D9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unknown part number returns Not Found rather than an error page</a:t>
            </a:r>
            <a:endParaRPr lang="en-US" sz="1150" dirty="0"/>
          </a:p>
          <a:p>
            <a:pPr marL="177800" indent="-177800">
              <a:spcAft>
                <a:spcPts val="700"/>
              </a:spcAft>
              <a:buSzPct val="100000"/>
              <a:buChar char="▸"/>
            </a:pPr>
            <a:r>
              <a:rPr lang="en-US" sz="1150" dirty="0">
                <a:solidFill>
                  <a:srgbClr val="D9D9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Low-stock rows are visually distinct</a:t>
            </a:r>
            <a:endParaRPr lang="en-US" sz="1150" dirty="0"/>
          </a:p>
        </p:txBody>
      </p:sp>
      <p:sp>
        <p:nvSpPr>
          <p:cNvPr id="42" name="Text 40"/>
          <p:cNvSpPr txBox="1"/>
          <p:nvPr/>
        </p:nvSpPr>
        <p:spPr>
          <a:xfrm>
            <a:off x="594360" y="5943600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D9D9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Commit this to version control before you leave. Tomorrow we put a Web API and a React front end in front of it.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0" y="6400800"/>
            <a:ext cx="3840480" cy="457200"/>
          </a:xfrm>
          <a:prstGeom prst="rect">
            <a:avLst/>
          </a:prstGeom>
          <a:solidFill>
            <a:srgbClr val="5050A8"/>
          </a:solidFill>
          <a:ln w="12700">
            <a:solidFill>
              <a:srgbClr val="5050A8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164592" y="6400800"/>
            <a:ext cx="3511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HAL  ·  .NET, React &amp; SQL Programme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3840480" y="6400800"/>
            <a:ext cx="6675120" cy="457200"/>
          </a:xfrm>
          <a:prstGeom prst="rect">
            <a:avLst/>
          </a:prstGeom>
          <a:solidFill>
            <a:srgbClr val="3B3B96"/>
          </a:solidFill>
          <a:ln w="12700">
            <a:solidFill>
              <a:srgbClr val="3B3B96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4005072" y="6400800"/>
            <a:ext cx="6345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 1 · Session 4 — Building Your First ASP.NET Web App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10515600" y="6400800"/>
            <a:ext cx="1676095" cy="457200"/>
          </a:xfrm>
          <a:prstGeom prst="rect">
            <a:avLst/>
          </a:prstGeom>
          <a:solidFill>
            <a:srgbClr val="5050A8"/>
          </a:solidFill>
          <a:ln w="12700">
            <a:solidFill>
              <a:srgbClr val="5050A8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10680192" y="6400800"/>
            <a:ext cx="134691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2B2B7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5050A8"/>
          </a:solidFill>
          <a:ln w="12700">
            <a:solidFill>
              <a:srgbClr val="5050A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94360" y="0"/>
            <a:ext cx="11002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80" dirty="0">
                <a:solidFill>
                  <a:srgbClr val="C9C9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 OF DAY 1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0" y="365760"/>
            <a:ext cx="12191695" cy="841248"/>
          </a:xfrm>
          <a:prstGeom prst="rect">
            <a:avLst/>
          </a:prstGeom>
          <a:solidFill>
            <a:srgbClr val="3B3B96"/>
          </a:solidFill>
          <a:ln w="12700">
            <a:solidFill>
              <a:srgbClr val="3B3B9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365760"/>
            <a:ext cx="1100297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have a running application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94360" y="1664208"/>
            <a:ext cx="6400800" cy="621792"/>
          </a:xfrm>
          <a:prstGeom prst="rect">
            <a:avLst/>
          </a:prstGeom>
          <a:solidFill>
            <a:srgbClr val="3B3B96"/>
          </a:solidFill>
          <a:ln w="9525">
            <a:solidFill>
              <a:srgbClr val="5050A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" y="1664208"/>
            <a:ext cx="50292" cy="621792"/>
          </a:xfrm>
          <a:prstGeom prst="rect">
            <a:avLst/>
          </a:prstGeom>
          <a:solidFill>
            <a:srgbClr val="8A8AC4"/>
          </a:solidFill>
          <a:ln w="12700">
            <a:solidFill>
              <a:srgbClr val="8A8AC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95528" y="1792224"/>
            <a:ext cx="365760" cy="365760"/>
          </a:xfrm>
          <a:prstGeom prst="ellipse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95528" y="17922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1664208"/>
            <a:ext cx="544982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project you created, ran and understand the shape of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94360" y="2377440"/>
            <a:ext cx="6400800" cy="621792"/>
          </a:xfrm>
          <a:prstGeom prst="rect">
            <a:avLst/>
          </a:prstGeom>
          <a:solidFill>
            <a:srgbClr val="3B3B96"/>
          </a:solidFill>
          <a:ln w="9525">
            <a:solidFill>
              <a:srgbClr val="5050A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94360" y="2377440"/>
            <a:ext cx="50292" cy="621792"/>
          </a:xfrm>
          <a:prstGeom prst="rect">
            <a:avLst/>
          </a:prstGeom>
          <a:solidFill>
            <a:srgbClr val="8A8AC4"/>
          </a:solidFill>
          <a:ln w="12700">
            <a:solidFill>
              <a:srgbClr val="8A8AC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95528" y="2505456"/>
            <a:ext cx="365760" cy="365760"/>
          </a:xfrm>
          <a:prstGeom prst="ellipse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95528" y="25054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325880" y="2377440"/>
            <a:ext cx="544982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Controllers, views and models working together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94360" y="3090672"/>
            <a:ext cx="6400800" cy="621792"/>
          </a:xfrm>
          <a:prstGeom prst="rect">
            <a:avLst/>
          </a:prstGeom>
          <a:solidFill>
            <a:srgbClr val="3B3B96"/>
          </a:solidFill>
          <a:ln w="9525">
            <a:solidFill>
              <a:srgbClr val="5050A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94360" y="3090672"/>
            <a:ext cx="50292" cy="621792"/>
          </a:xfrm>
          <a:prstGeom prst="rect">
            <a:avLst/>
          </a:prstGeom>
          <a:solidFill>
            <a:srgbClr val="8A8AC4"/>
          </a:solidFill>
          <a:ln w="12700">
            <a:solidFill>
              <a:srgbClr val="8A8AC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95528" y="3218688"/>
            <a:ext cx="365760" cy="365760"/>
          </a:xfrm>
          <a:prstGeom prst="ellipse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95528" y="32186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325880" y="3090672"/>
            <a:ext cx="544982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Forms that validate and redirect properly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594360" y="3803904"/>
            <a:ext cx="6400800" cy="621792"/>
          </a:xfrm>
          <a:prstGeom prst="rect">
            <a:avLst/>
          </a:prstGeom>
          <a:solidFill>
            <a:srgbClr val="3B3B96"/>
          </a:solidFill>
          <a:ln w="9525">
            <a:solidFill>
              <a:srgbClr val="5050A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94360" y="3803904"/>
            <a:ext cx="50292" cy="621792"/>
          </a:xfrm>
          <a:prstGeom prst="rect">
            <a:avLst/>
          </a:prstGeom>
          <a:solidFill>
            <a:srgbClr val="8A8AC4"/>
          </a:solidFill>
          <a:ln w="12700">
            <a:solidFill>
              <a:srgbClr val="8A8AC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95528" y="3931920"/>
            <a:ext cx="365760" cy="365760"/>
          </a:xfrm>
          <a:prstGeom prst="ellipse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95528" y="3931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1325880" y="3803904"/>
            <a:ext cx="544982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behind an interface, ready for a real database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594360" y="4517136"/>
            <a:ext cx="6400800" cy="621792"/>
          </a:xfrm>
          <a:prstGeom prst="rect">
            <a:avLst/>
          </a:prstGeom>
          <a:solidFill>
            <a:srgbClr val="3B3B96"/>
          </a:solidFill>
          <a:ln w="9525">
            <a:solidFill>
              <a:srgbClr val="5050A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94360" y="4517136"/>
            <a:ext cx="50292" cy="621792"/>
          </a:xfrm>
          <a:prstGeom prst="rect">
            <a:avLst/>
          </a:prstGeom>
          <a:solidFill>
            <a:srgbClr val="8A8AC4"/>
          </a:solidFill>
          <a:ln w="12700">
            <a:solidFill>
              <a:srgbClr val="8A8AC4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95528" y="4645152"/>
            <a:ext cx="365760" cy="365760"/>
          </a:xfrm>
          <a:prstGeom prst="ellipse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95528" y="46451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1325880" y="4517136"/>
            <a:ext cx="544982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Standards you can defend in a review</a:t>
            </a:r>
            <a:endParaRPr lang="en-US" sz="1350" dirty="0"/>
          </a:p>
        </p:txBody>
      </p:sp>
      <p:sp>
        <p:nvSpPr>
          <p:cNvPr id="31" name="Shape 29"/>
          <p:cNvSpPr/>
          <p:nvPr/>
        </p:nvSpPr>
        <p:spPr>
          <a:xfrm>
            <a:off x="594360" y="5230368"/>
            <a:ext cx="6400800" cy="621792"/>
          </a:xfrm>
          <a:prstGeom prst="rect">
            <a:avLst/>
          </a:prstGeom>
          <a:solidFill>
            <a:srgbClr val="3B3B96"/>
          </a:solidFill>
          <a:ln w="9525">
            <a:solidFill>
              <a:srgbClr val="5050A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94360" y="5230368"/>
            <a:ext cx="50292" cy="621792"/>
          </a:xfrm>
          <a:prstGeom prst="rect">
            <a:avLst/>
          </a:prstGeom>
          <a:solidFill>
            <a:srgbClr val="8A8AC4"/>
          </a:solidFill>
          <a:ln w="12700">
            <a:solidFill>
              <a:srgbClr val="8A8AC4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95528" y="5358384"/>
            <a:ext cx="365760" cy="365760"/>
          </a:xfrm>
          <a:prstGeom prst="ellipse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795528" y="53583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1325880" y="5230368"/>
            <a:ext cx="544982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definition of done for the week</a:t>
            </a:r>
            <a:endParaRPr lang="en-US" sz="1350" dirty="0"/>
          </a:p>
        </p:txBody>
      </p:sp>
      <p:sp>
        <p:nvSpPr>
          <p:cNvPr id="36" name="Shape 34"/>
          <p:cNvSpPr/>
          <p:nvPr/>
        </p:nvSpPr>
        <p:spPr>
          <a:xfrm>
            <a:off x="7086600" y="1664208"/>
            <a:ext cx="4507992" cy="402336"/>
          </a:xfrm>
          <a:prstGeom prst="rect">
            <a:avLst/>
          </a:prstGeom>
          <a:solidFill>
            <a:srgbClr val="5050A8"/>
          </a:solidFill>
          <a:ln w="12700">
            <a:solidFill>
              <a:srgbClr val="5050A8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7269480" y="1664208"/>
            <a:ext cx="41422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Before tomorrow</a:t>
            </a:r>
            <a:endParaRPr lang="en-US" sz="1500" dirty="0"/>
          </a:p>
        </p:txBody>
      </p:sp>
      <p:sp>
        <p:nvSpPr>
          <p:cNvPr id="38" name="Shape 36"/>
          <p:cNvSpPr/>
          <p:nvPr/>
        </p:nvSpPr>
        <p:spPr>
          <a:xfrm>
            <a:off x="7086600" y="2066544"/>
            <a:ext cx="4507992" cy="3785616"/>
          </a:xfrm>
          <a:prstGeom prst="rect">
            <a:avLst/>
          </a:prstGeom>
          <a:solidFill>
            <a:srgbClr val="3B3B96"/>
          </a:solidFill>
          <a:ln w="9525">
            <a:solidFill>
              <a:srgbClr val="5050A8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7306056" y="2212848"/>
            <a:ext cx="4069080" cy="3511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▸"/>
            </a:pPr>
            <a:r>
              <a:rPr lang="en-US" sz="1200" dirty="0">
                <a:solidFill>
                  <a:srgbClr val="D9D9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Commit today's work with a proper message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▸"/>
            </a:pPr>
            <a:r>
              <a:rPr lang="en-US" sz="1200" dirty="0">
                <a:solidFill>
                  <a:srgbClr val="D9D9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 dotnet dev-certs https --trust if you have not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▸"/>
            </a:pPr>
            <a:r>
              <a:rPr lang="en-US" sz="1200" dirty="0">
                <a:solidFill>
                  <a:srgbClr val="D9D9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 SQL Server is running on your machine</a:t>
            </a:r>
            <a:endParaRPr lang="en-US" sz="1200" dirty="0"/>
          </a:p>
        </p:txBody>
      </p:sp>
      <p:sp>
        <p:nvSpPr>
          <p:cNvPr id="40" name="Text 38"/>
          <p:cNvSpPr txBox="1"/>
          <p:nvPr/>
        </p:nvSpPr>
        <p:spPr>
          <a:xfrm>
            <a:off x="594360" y="5989320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D9D9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Tomorrow: the same data, served as an API and displayed in React.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0" y="6400800"/>
            <a:ext cx="3840480" cy="457200"/>
          </a:xfrm>
          <a:prstGeom prst="rect">
            <a:avLst/>
          </a:prstGeom>
          <a:solidFill>
            <a:srgbClr val="5050A8"/>
          </a:solidFill>
          <a:ln w="12700">
            <a:solidFill>
              <a:srgbClr val="5050A8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164592" y="6400800"/>
            <a:ext cx="3511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HAL  ·  .NET, React &amp; SQL Programme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3840480" y="6400800"/>
            <a:ext cx="6675120" cy="457200"/>
          </a:xfrm>
          <a:prstGeom prst="rect">
            <a:avLst/>
          </a:prstGeom>
          <a:solidFill>
            <a:srgbClr val="3B3B96"/>
          </a:solidFill>
          <a:ln w="12700">
            <a:solidFill>
              <a:srgbClr val="3B3B96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4005072" y="6400800"/>
            <a:ext cx="6345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 1 · Session 4 — Building Your First ASP.NET Web App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10515600" y="6400800"/>
            <a:ext cx="1676095" cy="457200"/>
          </a:xfrm>
          <a:prstGeom prst="rect">
            <a:avLst/>
          </a:prstGeom>
          <a:solidFill>
            <a:srgbClr val="5050A8"/>
          </a:solidFill>
          <a:ln w="12700">
            <a:solidFill>
              <a:srgbClr val="5050A8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10680192" y="6400800"/>
            <a:ext cx="134691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3047</Words>
  <Application>Microsoft Office PowerPoint</Application>
  <PresentationFormat>Widescreen</PresentationFormat>
  <Paragraphs>435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Day 1, Session 4 - First ASP.NET Web App</dc:title>
  <dc:subject>PptxGenJS Presentation</dc:subject>
  <dc:creator>HAL .NET, React &amp; SQL Transition Program</dc:creator>
  <cp:lastModifiedBy>Roshan David Jathanna [MAHE-MIT]</cp:lastModifiedBy>
  <cp:revision>1</cp:revision>
  <dcterms:created xsi:type="dcterms:W3CDTF">2026-09-16T16:44:51Z</dcterms:created>
  <dcterms:modified xsi:type="dcterms:W3CDTF">2026-09-19T15:21:21Z</dcterms:modified>
</cp:coreProperties>
</file>