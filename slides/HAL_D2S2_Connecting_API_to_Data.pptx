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session where yesterday's in-memory list dies. Make the moment of switching over explicit and satisfying.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clearly that choosing EF Core here is a teaching decision as much as a technical one. Anyone maintaining ADO.NET code is not doing it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N+1 query problem is worth demonstrating live if there is time — it is the single most common performance defect in EF applications.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nvarchar(max) default catches nearly every new EF Core project. Show it in SSMS if you have the migration applied.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4 matters at HAL — most real work starts from a database that already exists, not a blank one. Scaffold-DbContext is how you meet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the SQL logging switched on during the demo. The moment they see their LINQ become SQL, EF Core stops being magic.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stock example makes transactions concrete for this audience. Concurrency is worth mentioning but not solving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N+1 is the single most common EF Core defect in production. Demonstrate it with SQL logging on — the wall of queries is memorable.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honest that the repository pattern is debated — some argue DbContext is already a repository. The layering still earns its keep in a team that is learning.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matters more here than anywhere else in the course. Most of what this group will connect to already exists and is not theirs to redesign.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Collect real slow queries here. Day 5 is far better with the group's own examples than with invented 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a fallback ready: if SQL Server is unavailable on some machines, UseSqlite or UseInMemory keeps them moving.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sure everyone has a working database endpoint before the break. The React sessions assume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365760"/>
          </a:xfrm>
          <a:prstGeom prst="rect">
            <a:avLst/>
          </a:prstGeom>
          <a:solidFill>
            <a:srgbClr val="22226B"/>
          </a:solidFill>
          <a:ln w="12700">
            <a:solidFill>
              <a:srgbClr val="22226B"/>
            </a:solidFill>
            <a:prstDash val="solid"/>
          </a:ln>
        </p:spPr>
      </p:sp>
      <p:sp>
        <p:nvSpPr>
          <p:cNvPr id="3" name="Text 1"/>
          <p:cNvSpPr txBox="1"/>
          <p:nvPr/>
        </p:nvSpPr>
        <p:spPr>
          <a:xfrm>
            <a:off x="594360" y="0"/>
            <a:ext cx="11002975" cy="365760"/>
          </a:xfrm>
          <a:prstGeom prst="rect">
            <a:avLst/>
          </a:prstGeom>
          <a:noFill/>
          <a:ln/>
        </p:spPr>
        <p:txBody>
          <a:bodyPr wrap="square" lIns="0" tIns="0" rIns="0" bIns="0" rtlCol="0" anchor="ctr"/>
          <a:lstStyle/>
          <a:p>
            <a:pPr indent="0" marL="0">
              <a:buNone/>
            </a:pPr>
            <a:r>
              <a:rPr lang="en-US" sz="1000" b="1" spc="180" kern="0" dirty="0">
                <a:solidFill>
                  <a:srgbClr val="C9C9EA"/>
                </a:solidFill>
                <a:latin typeface="Cambria" pitchFamily="34" charset="0"/>
                <a:ea typeface="Cambria" pitchFamily="34" charset="-122"/>
                <a:cs typeface="Cambria" pitchFamily="34" charset="-120"/>
              </a:rPr>
              <a:t>DAY 2 · SESSION 2 · 90 MINUTES</a:t>
            </a:r>
            <a:endParaRPr lang="en-US" sz="1000" dirty="0"/>
          </a:p>
        </p:txBody>
      </p:sp>
      <p:sp>
        <p:nvSpPr>
          <p:cNvPr id="4" name="Shape 2"/>
          <p:cNvSpPr/>
          <p:nvPr/>
        </p:nvSpPr>
        <p:spPr>
          <a:xfrm>
            <a:off x="0" y="365760"/>
            <a:ext cx="12191695" cy="841248"/>
          </a:xfrm>
          <a:prstGeom prst="rect">
            <a:avLst/>
          </a:prstGeom>
          <a:solidFill>
            <a:srgbClr val="3333B3"/>
          </a:solidFill>
          <a:ln w="12700">
            <a:solidFill>
              <a:srgbClr val="3333B3"/>
            </a:solidFill>
            <a:prstDash val="solid"/>
          </a:ln>
        </p:spPr>
      </p:sp>
      <p:sp>
        <p:nvSpPr>
          <p:cNvPr id="5" name="Text 3"/>
          <p:cNvSpPr txBox="1"/>
          <p:nvPr/>
        </p:nvSpPr>
        <p:spPr>
          <a:xfrm>
            <a:off x="594360" y="365760"/>
            <a:ext cx="10607040" cy="841248"/>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Connecting the API to Data</a:t>
            </a:r>
            <a:endParaRPr lang="en-US" sz="2600" dirty="0"/>
          </a:p>
        </p:txBody>
      </p:sp>
      <p:sp>
        <p:nvSpPr>
          <p:cNvPr id="6" name="Shape 4"/>
          <p:cNvSpPr/>
          <p:nvPr/>
        </p:nvSpPr>
        <p:spPr>
          <a:xfrm>
            <a:off x="594360" y="1572768"/>
            <a:ext cx="3977640" cy="4233672"/>
          </a:xfrm>
          <a:prstGeom prst="roundRect">
            <a:avLst>
              <a:gd name="adj" fmla="val 1149"/>
            </a:avLst>
          </a:prstGeom>
          <a:solidFill>
            <a:srgbClr val="22226B"/>
          </a:solidFill>
          <a:ln w="12700">
            <a:solidFill>
              <a:srgbClr val="22226B"/>
            </a:solidFill>
            <a:prstDash val="solid"/>
          </a:ln>
        </p:spPr>
      </p:sp>
      <p:sp>
        <p:nvSpPr>
          <p:cNvPr id="7" name="Text 5"/>
          <p:cNvSpPr txBox="1"/>
          <p:nvPr/>
        </p:nvSpPr>
        <p:spPr>
          <a:xfrm>
            <a:off x="868680" y="1847088"/>
            <a:ext cx="3429000" cy="256032"/>
          </a:xfrm>
          <a:prstGeom prst="rect">
            <a:avLst/>
          </a:prstGeom>
          <a:noFill/>
          <a:ln/>
        </p:spPr>
        <p:txBody>
          <a:bodyPr wrap="square" lIns="0" tIns="0" rIns="0" bIns="0" rtlCol="0" anchor="ctr"/>
          <a:lstStyle/>
          <a:p>
            <a:pPr indent="0" marL="0">
              <a:buNone/>
            </a:pPr>
            <a:r>
              <a:rPr lang="en-US" sz="1050" b="1" spc="200" kern="0" dirty="0">
                <a:solidFill>
                  <a:srgbClr val="C9C9EA"/>
                </a:solidFill>
                <a:latin typeface="Cambria" pitchFamily="34" charset="0"/>
                <a:ea typeface="Cambria" pitchFamily="34" charset="-122"/>
                <a:cs typeface="Cambria" pitchFamily="34" charset="-120"/>
              </a:rPr>
              <a:t>BY THE END YOU CAN</a:t>
            </a:r>
            <a:endParaRPr lang="en-US" sz="1050" dirty="0"/>
          </a:p>
        </p:txBody>
      </p:sp>
      <p:sp>
        <p:nvSpPr>
          <p:cNvPr id="8" name="Text 6"/>
          <p:cNvSpPr txBox="1"/>
          <p:nvPr/>
        </p:nvSpPr>
        <p:spPr>
          <a:xfrm>
            <a:off x="868680" y="2231136"/>
            <a:ext cx="3429000" cy="2862072"/>
          </a:xfrm>
          <a:prstGeom prst="rect">
            <a:avLst/>
          </a:prstGeom>
          <a:noFill/>
          <a:ln/>
        </p:spPr>
        <p:txBody>
          <a:bodyPr wrap="square" lIns="0" tIns="0" rIns="0" bIns="0" rtlCol="0" anchor="t"/>
          <a:lstStyle/>
          <a:p>
            <a:pPr marL="177800" indent="-177800">
              <a:spcAft>
                <a:spcPts val="1100"/>
              </a:spcAft>
              <a:buSzPct val="100000"/>
              <a:buChar char="•"/>
            </a:pPr>
            <a:r>
              <a:rPr lang="en-US" sz="1350" dirty="0">
                <a:solidFill>
                  <a:srgbClr val="FFFFFF"/>
                </a:solidFill>
                <a:latin typeface="Cambria" pitchFamily="34" charset="0"/>
                <a:ea typeface="Cambria" pitchFamily="34" charset="-122"/>
                <a:cs typeface="Cambria" pitchFamily="34" charset="-120"/>
              </a:rPr>
              <a:t>Describe what an ORM does and what it costs</a:t>
            </a:r>
            <a:endParaRPr lang="en-US" sz="1350" dirty="0"/>
          </a:p>
          <a:p>
            <a:pPr marL="177800" indent="-177800">
              <a:spcAft>
                <a:spcPts val="1100"/>
              </a:spcAft>
              <a:buSzPct val="100000"/>
              <a:buChar char="•"/>
            </a:pPr>
            <a:r>
              <a:rPr lang="en-US" sz="1350" dirty="0">
                <a:solidFill>
                  <a:srgbClr val="FFFFFF"/>
                </a:solidFill>
                <a:latin typeface="Cambria" pitchFamily="34" charset="0"/>
                <a:ea typeface="Cambria" pitchFamily="34" charset="-122"/>
                <a:cs typeface="Cambria" pitchFamily="34" charset="-120"/>
              </a:rPr>
              <a:t>Define entities and a DbContext for an existing table</a:t>
            </a:r>
            <a:endParaRPr lang="en-US" sz="1350" dirty="0"/>
          </a:p>
          <a:p>
            <a:pPr marL="177800" indent="-177800">
              <a:spcAft>
                <a:spcPts val="1100"/>
              </a:spcAft>
              <a:buSzPct val="100000"/>
              <a:buChar char="•"/>
            </a:pPr>
            <a:r>
              <a:rPr lang="en-US" sz="1350" dirty="0">
                <a:solidFill>
                  <a:srgbClr val="FFFFFF"/>
                </a:solidFill>
                <a:latin typeface="Cambria" pitchFamily="34" charset="0"/>
                <a:ea typeface="Cambria" pitchFamily="34" charset="-122"/>
                <a:cs typeface="Cambria" pitchFamily="34" charset="-120"/>
              </a:rPr>
              <a:t>Create the database from your model with a migration</a:t>
            </a:r>
            <a:endParaRPr lang="en-US" sz="1350" dirty="0"/>
          </a:p>
          <a:p>
            <a:pPr marL="177800" indent="-177800">
              <a:spcAft>
                <a:spcPts val="1100"/>
              </a:spcAft>
              <a:buSzPct val="100000"/>
              <a:buChar char="•"/>
            </a:pPr>
            <a:r>
              <a:rPr lang="en-US" sz="1350" dirty="0">
                <a:solidFill>
                  <a:srgbClr val="FFFFFF"/>
                </a:solidFill>
                <a:latin typeface="Cambria" pitchFamily="34" charset="0"/>
                <a:ea typeface="Cambria" pitchFamily="34" charset="-122"/>
                <a:cs typeface="Cambria" pitchFamily="34" charset="-120"/>
              </a:rPr>
              <a:t>Put a repository between your controller and EF Core</a:t>
            </a:r>
            <a:endParaRPr lang="en-US" sz="1350" dirty="0"/>
          </a:p>
          <a:p>
            <a:pPr marL="177800" indent="-177800">
              <a:spcAft>
                <a:spcPts val="1100"/>
              </a:spcAft>
              <a:buSzPct val="100000"/>
              <a:buChar char="•"/>
            </a:pPr>
            <a:r>
              <a:rPr lang="en-US" sz="1350" dirty="0">
                <a:solidFill>
                  <a:srgbClr val="FFFFFF"/>
                </a:solidFill>
                <a:latin typeface="Cambria" pitchFamily="34" charset="0"/>
                <a:ea typeface="Cambria" pitchFamily="34" charset="-122"/>
                <a:cs typeface="Cambria" pitchFamily="34" charset="-120"/>
              </a:rPr>
              <a:t>Register the repository so injection works</a:t>
            </a:r>
            <a:endParaRPr lang="en-US" sz="1350" dirty="0"/>
          </a:p>
        </p:txBody>
      </p:sp>
      <p:sp>
        <p:nvSpPr>
          <p:cNvPr id="9" name="Shape 7"/>
          <p:cNvSpPr/>
          <p:nvPr/>
        </p:nvSpPr>
        <p:spPr>
          <a:xfrm>
            <a:off x="868680" y="5138928"/>
            <a:ext cx="3429000" cy="0"/>
          </a:xfrm>
          <a:prstGeom prst="line">
            <a:avLst/>
          </a:prstGeom>
          <a:noFill/>
          <a:ln w="12700">
            <a:solidFill>
              <a:srgbClr val="5050A8"/>
            </a:solidFill>
            <a:prstDash val="solid"/>
          </a:ln>
        </p:spPr>
      </p:sp>
      <p:sp>
        <p:nvSpPr>
          <p:cNvPr id="10" name="Text 8"/>
          <p:cNvSpPr txBox="1"/>
          <p:nvPr/>
        </p:nvSpPr>
        <p:spPr>
          <a:xfrm>
            <a:off x="868680" y="5266944"/>
            <a:ext cx="3429000" cy="457200"/>
          </a:xfrm>
          <a:prstGeom prst="rect">
            <a:avLst/>
          </a:prstGeom>
          <a:noFill/>
          <a:ln/>
        </p:spPr>
        <p:txBody>
          <a:bodyPr wrap="square" lIns="0" tIns="0" rIns="0" bIns="0" rtlCol="0" anchor="ctr"/>
          <a:lstStyle/>
          <a:p>
            <a:pPr indent="0" marL="0">
              <a:lnSpc>
                <a:spcPts val="1500"/>
              </a:lnSpc>
              <a:buNone/>
            </a:pPr>
            <a:r>
              <a:rPr lang="en-US" sz="1150" i="1" dirty="0">
                <a:solidFill>
                  <a:srgbClr val="D9D9EF"/>
                </a:solidFill>
                <a:latin typeface="Cambria" pitchFamily="34" charset="0"/>
                <a:ea typeface="Cambria" pitchFamily="34" charset="-122"/>
                <a:cs typeface="Cambria" pitchFamily="34" charset="-120"/>
              </a:rPr>
              <a:t>About 45 minutes of concept and demonstration, then 45 minutes at the keyboard.</a:t>
            </a:r>
            <a:endParaRPr lang="en-US" sz="1150" dirty="0"/>
          </a:p>
        </p:txBody>
      </p:sp>
      <p:sp>
        <p:nvSpPr>
          <p:cNvPr id="11" name="Text 9"/>
          <p:cNvSpPr txBox="1"/>
          <p:nvPr/>
        </p:nvSpPr>
        <p:spPr>
          <a:xfrm>
            <a:off x="4937760" y="1609344"/>
            <a:ext cx="3657600" cy="237744"/>
          </a:xfrm>
          <a:prstGeom prst="rect">
            <a:avLst/>
          </a:prstGeom>
          <a:noFill/>
          <a:ln/>
        </p:spPr>
        <p:txBody>
          <a:bodyPr wrap="square" lIns="0" tIns="0" rIns="0" bIns="0" rtlCol="0" anchor="ctr"/>
          <a:lstStyle/>
          <a:p>
            <a:pPr indent="0" marL="0">
              <a:buNone/>
            </a:pPr>
            <a:r>
              <a:rPr lang="en-US" sz="1050" b="1" spc="140" kern="0" dirty="0">
                <a:solidFill>
                  <a:srgbClr val="3333B3"/>
                </a:solidFill>
                <a:latin typeface="Cambria" pitchFamily="34" charset="0"/>
                <a:ea typeface="Cambria" pitchFamily="34" charset="-122"/>
                <a:cs typeface="Cambria" pitchFamily="34" charset="-120"/>
              </a:rPr>
              <a:t>WHAT WE COVER</a:t>
            </a:r>
            <a:endParaRPr lang="en-US" sz="1050" dirty="0"/>
          </a:p>
        </p:txBody>
      </p:sp>
      <p:sp>
        <p:nvSpPr>
          <p:cNvPr id="12" name="Shape 10"/>
          <p:cNvSpPr/>
          <p:nvPr/>
        </p:nvSpPr>
        <p:spPr>
          <a:xfrm>
            <a:off x="4937760" y="1956816"/>
            <a:ext cx="6656832" cy="713232"/>
          </a:xfrm>
          <a:prstGeom prst="rect">
            <a:avLst/>
          </a:prstGeom>
          <a:solidFill>
            <a:srgbClr val="EDEDF7"/>
          </a:solidFill>
          <a:ln w="9525">
            <a:solidFill>
              <a:srgbClr val="C9C9EA"/>
            </a:solidFill>
            <a:prstDash val="solid"/>
          </a:ln>
        </p:spPr>
      </p:sp>
      <p:sp>
        <p:nvSpPr>
          <p:cNvPr id="13" name="Shape 11"/>
          <p:cNvSpPr/>
          <p:nvPr/>
        </p:nvSpPr>
        <p:spPr>
          <a:xfrm>
            <a:off x="4937760" y="1956816"/>
            <a:ext cx="50292" cy="713232"/>
          </a:xfrm>
          <a:prstGeom prst="rect">
            <a:avLst/>
          </a:prstGeom>
          <a:solidFill>
            <a:srgbClr val="3333B3"/>
          </a:solidFill>
          <a:ln w="12700">
            <a:solidFill>
              <a:srgbClr val="3333B3"/>
            </a:solidFill>
            <a:prstDash val="solid"/>
          </a:ln>
        </p:spPr>
      </p:sp>
      <p:sp>
        <p:nvSpPr>
          <p:cNvPr id="14" name="Shape 12"/>
          <p:cNvSpPr/>
          <p:nvPr/>
        </p:nvSpPr>
        <p:spPr>
          <a:xfrm>
            <a:off x="5138928" y="2130552"/>
            <a:ext cx="365760" cy="365760"/>
          </a:xfrm>
          <a:prstGeom prst="ellipse">
            <a:avLst/>
          </a:prstGeom>
          <a:solidFill>
            <a:srgbClr val="3333B3"/>
          </a:solidFill>
          <a:ln w="12700">
            <a:solidFill>
              <a:srgbClr val="3333B3"/>
            </a:solidFill>
            <a:prstDash val="solid"/>
          </a:ln>
        </p:spPr>
      </p:sp>
      <p:sp>
        <p:nvSpPr>
          <p:cNvPr id="15" name="Text 13"/>
          <p:cNvSpPr txBox="1"/>
          <p:nvPr/>
        </p:nvSpPr>
        <p:spPr>
          <a:xfrm>
            <a:off x="5138928" y="213055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16" name="Text 14"/>
          <p:cNvSpPr txBox="1"/>
          <p:nvPr/>
        </p:nvSpPr>
        <p:spPr>
          <a:xfrm>
            <a:off x="5669280" y="1956816"/>
            <a:ext cx="5705856" cy="713232"/>
          </a:xfrm>
          <a:prstGeom prst="rect">
            <a:avLst/>
          </a:prstGeom>
          <a:noFill/>
          <a:ln/>
        </p:spPr>
        <p:txBody>
          <a:bodyPr wrap="square" lIns="0" tIns="0" rIns="0" bIns="0" rtlCol="0" anchor="ctr"/>
          <a:lstStyle/>
          <a:p>
            <a:pPr indent="0" marL="0">
              <a:buNone/>
            </a:pPr>
            <a:r>
              <a:rPr lang="en-US" sz="1400" b="1" dirty="0">
                <a:solidFill>
                  <a:srgbClr val="22226B"/>
                </a:solidFill>
                <a:latin typeface="Cambria" pitchFamily="34" charset="0"/>
                <a:ea typeface="Cambria" pitchFamily="34" charset="-122"/>
                <a:cs typeface="Cambria" pitchFamily="34" charset="-120"/>
              </a:rPr>
              <a:t>Entity Framework Core</a:t>
            </a:r>
            <a:endParaRPr lang="en-US" sz="1400" dirty="0"/>
          </a:p>
          <a:p>
            <a:pPr indent="0" marL="0">
              <a:buNone/>
            </a:pPr>
            <a:r>
              <a:rPr lang="en-US" sz="1150" dirty="0">
                <a:solidFill>
                  <a:srgbClr val="3E3E5A"/>
                </a:solidFill>
                <a:latin typeface="Cambria" pitchFamily="34" charset="0"/>
                <a:ea typeface="Cambria" pitchFamily="34" charset="-122"/>
                <a:cs typeface="Cambria" pitchFamily="34" charset="-120"/>
              </a:rPr>
              <a:t>Objects in, SQL out</a:t>
            </a:r>
            <a:endParaRPr lang="en-US" sz="1400" dirty="0"/>
          </a:p>
        </p:txBody>
      </p:sp>
      <p:sp>
        <p:nvSpPr>
          <p:cNvPr id="17" name="Shape 15"/>
          <p:cNvSpPr/>
          <p:nvPr/>
        </p:nvSpPr>
        <p:spPr>
          <a:xfrm>
            <a:off x="4937760" y="2798064"/>
            <a:ext cx="6656832" cy="713232"/>
          </a:xfrm>
          <a:prstGeom prst="rect">
            <a:avLst/>
          </a:prstGeom>
          <a:solidFill>
            <a:srgbClr val="EDEDF7"/>
          </a:solidFill>
          <a:ln w="9525">
            <a:solidFill>
              <a:srgbClr val="C9C9EA"/>
            </a:solidFill>
            <a:prstDash val="solid"/>
          </a:ln>
        </p:spPr>
      </p:sp>
      <p:sp>
        <p:nvSpPr>
          <p:cNvPr id="18" name="Shape 16"/>
          <p:cNvSpPr/>
          <p:nvPr/>
        </p:nvSpPr>
        <p:spPr>
          <a:xfrm>
            <a:off x="4937760" y="2798064"/>
            <a:ext cx="50292" cy="713232"/>
          </a:xfrm>
          <a:prstGeom prst="rect">
            <a:avLst/>
          </a:prstGeom>
          <a:solidFill>
            <a:srgbClr val="3333B3"/>
          </a:solidFill>
          <a:ln w="12700">
            <a:solidFill>
              <a:srgbClr val="3333B3"/>
            </a:solidFill>
            <a:prstDash val="solid"/>
          </a:ln>
        </p:spPr>
      </p:sp>
      <p:sp>
        <p:nvSpPr>
          <p:cNvPr id="19" name="Shape 17"/>
          <p:cNvSpPr/>
          <p:nvPr/>
        </p:nvSpPr>
        <p:spPr>
          <a:xfrm>
            <a:off x="5138928" y="2971800"/>
            <a:ext cx="365760" cy="365760"/>
          </a:xfrm>
          <a:prstGeom prst="ellipse">
            <a:avLst/>
          </a:prstGeom>
          <a:solidFill>
            <a:srgbClr val="3333B3"/>
          </a:solidFill>
          <a:ln w="12700">
            <a:solidFill>
              <a:srgbClr val="3333B3"/>
            </a:solidFill>
            <a:prstDash val="solid"/>
          </a:ln>
        </p:spPr>
      </p:sp>
      <p:sp>
        <p:nvSpPr>
          <p:cNvPr id="20" name="Text 18"/>
          <p:cNvSpPr txBox="1"/>
          <p:nvPr/>
        </p:nvSpPr>
        <p:spPr>
          <a:xfrm>
            <a:off x="5138928" y="297180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21" name="Text 19"/>
          <p:cNvSpPr txBox="1"/>
          <p:nvPr/>
        </p:nvSpPr>
        <p:spPr>
          <a:xfrm>
            <a:off x="5669280" y="2798064"/>
            <a:ext cx="5705856" cy="713232"/>
          </a:xfrm>
          <a:prstGeom prst="rect">
            <a:avLst/>
          </a:prstGeom>
          <a:noFill/>
          <a:ln/>
        </p:spPr>
        <p:txBody>
          <a:bodyPr wrap="square" lIns="0" tIns="0" rIns="0" bIns="0" rtlCol="0" anchor="ctr"/>
          <a:lstStyle/>
          <a:p>
            <a:pPr indent="0" marL="0">
              <a:buNone/>
            </a:pPr>
            <a:r>
              <a:rPr lang="en-US" sz="1400" b="1" dirty="0">
                <a:solidFill>
                  <a:srgbClr val="22226B"/>
                </a:solidFill>
                <a:latin typeface="Cambria" pitchFamily="34" charset="0"/>
                <a:ea typeface="Cambria" pitchFamily="34" charset="-122"/>
                <a:cs typeface="Cambria" pitchFamily="34" charset="-120"/>
              </a:rPr>
              <a:t>The DbContext</a:t>
            </a:r>
            <a:endParaRPr lang="en-US" sz="1400" dirty="0"/>
          </a:p>
          <a:p>
            <a:pPr indent="0" marL="0">
              <a:buNone/>
            </a:pPr>
            <a:r>
              <a:rPr lang="en-US" sz="1150" dirty="0">
                <a:solidFill>
                  <a:srgbClr val="3E3E5A"/>
                </a:solidFill>
                <a:latin typeface="Cambria" pitchFamily="34" charset="0"/>
                <a:ea typeface="Cambria" pitchFamily="34" charset="-122"/>
                <a:cs typeface="Cambria" pitchFamily="34" charset="-120"/>
              </a:rPr>
              <a:t>Entities, DbSets, connection strings</a:t>
            </a:r>
            <a:endParaRPr lang="en-US" sz="1400" dirty="0"/>
          </a:p>
        </p:txBody>
      </p:sp>
      <p:sp>
        <p:nvSpPr>
          <p:cNvPr id="22" name="Shape 20"/>
          <p:cNvSpPr/>
          <p:nvPr/>
        </p:nvSpPr>
        <p:spPr>
          <a:xfrm>
            <a:off x="4937760" y="3639312"/>
            <a:ext cx="6656832" cy="713232"/>
          </a:xfrm>
          <a:prstGeom prst="rect">
            <a:avLst/>
          </a:prstGeom>
          <a:solidFill>
            <a:srgbClr val="EDEDF7"/>
          </a:solidFill>
          <a:ln w="9525">
            <a:solidFill>
              <a:srgbClr val="C9C9EA"/>
            </a:solidFill>
            <a:prstDash val="solid"/>
          </a:ln>
        </p:spPr>
      </p:sp>
      <p:sp>
        <p:nvSpPr>
          <p:cNvPr id="23" name="Shape 21"/>
          <p:cNvSpPr/>
          <p:nvPr/>
        </p:nvSpPr>
        <p:spPr>
          <a:xfrm>
            <a:off x="4937760" y="3639312"/>
            <a:ext cx="50292" cy="713232"/>
          </a:xfrm>
          <a:prstGeom prst="rect">
            <a:avLst/>
          </a:prstGeom>
          <a:solidFill>
            <a:srgbClr val="3333B3"/>
          </a:solidFill>
          <a:ln w="12700">
            <a:solidFill>
              <a:srgbClr val="3333B3"/>
            </a:solidFill>
            <a:prstDash val="solid"/>
          </a:ln>
        </p:spPr>
      </p:sp>
      <p:sp>
        <p:nvSpPr>
          <p:cNvPr id="24" name="Shape 22"/>
          <p:cNvSpPr/>
          <p:nvPr/>
        </p:nvSpPr>
        <p:spPr>
          <a:xfrm>
            <a:off x="5138928" y="3813048"/>
            <a:ext cx="365760" cy="365760"/>
          </a:xfrm>
          <a:prstGeom prst="ellipse">
            <a:avLst/>
          </a:prstGeom>
          <a:solidFill>
            <a:srgbClr val="3333B3"/>
          </a:solidFill>
          <a:ln w="12700">
            <a:solidFill>
              <a:srgbClr val="3333B3"/>
            </a:solidFill>
            <a:prstDash val="solid"/>
          </a:ln>
        </p:spPr>
      </p:sp>
      <p:sp>
        <p:nvSpPr>
          <p:cNvPr id="25" name="Text 23"/>
          <p:cNvSpPr txBox="1"/>
          <p:nvPr/>
        </p:nvSpPr>
        <p:spPr>
          <a:xfrm>
            <a:off x="5138928" y="381304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26" name="Text 24"/>
          <p:cNvSpPr txBox="1"/>
          <p:nvPr/>
        </p:nvSpPr>
        <p:spPr>
          <a:xfrm>
            <a:off x="5669280" y="3639312"/>
            <a:ext cx="5705856" cy="713232"/>
          </a:xfrm>
          <a:prstGeom prst="rect">
            <a:avLst/>
          </a:prstGeom>
          <a:noFill/>
          <a:ln/>
        </p:spPr>
        <p:txBody>
          <a:bodyPr wrap="square" lIns="0" tIns="0" rIns="0" bIns="0" rtlCol="0" anchor="ctr"/>
          <a:lstStyle/>
          <a:p>
            <a:pPr indent="0" marL="0">
              <a:buNone/>
            </a:pPr>
            <a:r>
              <a:rPr lang="en-US" sz="1400" b="1" dirty="0">
                <a:solidFill>
                  <a:srgbClr val="22226B"/>
                </a:solidFill>
                <a:latin typeface="Cambria" pitchFamily="34" charset="0"/>
                <a:ea typeface="Cambria" pitchFamily="34" charset="-122"/>
                <a:cs typeface="Cambria" pitchFamily="34" charset="-120"/>
              </a:rPr>
              <a:t>Migrations</a:t>
            </a:r>
            <a:endParaRPr lang="en-US" sz="1400" dirty="0"/>
          </a:p>
          <a:p>
            <a:pPr indent="0" marL="0">
              <a:buNone/>
            </a:pPr>
            <a:r>
              <a:rPr lang="en-US" sz="1150" dirty="0">
                <a:solidFill>
                  <a:srgbClr val="3E3E5A"/>
                </a:solidFill>
                <a:latin typeface="Cambria" pitchFamily="34" charset="0"/>
                <a:ea typeface="Cambria" pitchFamily="34" charset="-122"/>
                <a:cs typeface="Cambria" pitchFamily="34" charset="-120"/>
              </a:rPr>
              <a:t>Version control for the database schema</a:t>
            </a:r>
            <a:endParaRPr lang="en-US" sz="1400" dirty="0"/>
          </a:p>
        </p:txBody>
      </p:sp>
      <p:sp>
        <p:nvSpPr>
          <p:cNvPr id="27" name="Shape 25"/>
          <p:cNvSpPr/>
          <p:nvPr/>
        </p:nvSpPr>
        <p:spPr>
          <a:xfrm>
            <a:off x="4937760" y="4480560"/>
            <a:ext cx="6656832" cy="713232"/>
          </a:xfrm>
          <a:prstGeom prst="rect">
            <a:avLst/>
          </a:prstGeom>
          <a:solidFill>
            <a:srgbClr val="EDEDF7"/>
          </a:solidFill>
          <a:ln w="9525">
            <a:solidFill>
              <a:srgbClr val="C9C9EA"/>
            </a:solidFill>
            <a:prstDash val="solid"/>
          </a:ln>
        </p:spPr>
      </p:sp>
      <p:sp>
        <p:nvSpPr>
          <p:cNvPr id="28" name="Shape 26"/>
          <p:cNvSpPr/>
          <p:nvPr/>
        </p:nvSpPr>
        <p:spPr>
          <a:xfrm>
            <a:off x="4937760" y="4480560"/>
            <a:ext cx="50292" cy="713232"/>
          </a:xfrm>
          <a:prstGeom prst="rect">
            <a:avLst/>
          </a:prstGeom>
          <a:solidFill>
            <a:srgbClr val="3333B3"/>
          </a:solidFill>
          <a:ln w="12700">
            <a:solidFill>
              <a:srgbClr val="3333B3"/>
            </a:solidFill>
            <a:prstDash val="solid"/>
          </a:ln>
        </p:spPr>
      </p:sp>
      <p:sp>
        <p:nvSpPr>
          <p:cNvPr id="29" name="Shape 27"/>
          <p:cNvSpPr/>
          <p:nvPr/>
        </p:nvSpPr>
        <p:spPr>
          <a:xfrm>
            <a:off x="5138928" y="4654296"/>
            <a:ext cx="365760" cy="365760"/>
          </a:xfrm>
          <a:prstGeom prst="ellipse">
            <a:avLst/>
          </a:prstGeom>
          <a:solidFill>
            <a:srgbClr val="3333B3"/>
          </a:solidFill>
          <a:ln w="12700">
            <a:solidFill>
              <a:srgbClr val="3333B3"/>
            </a:solidFill>
            <a:prstDash val="solid"/>
          </a:ln>
        </p:spPr>
      </p:sp>
      <p:sp>
        <p:nvSpPr>
          <p:cNvPr id="30" name="Text 28"/>
          <p:cNvSpPr txBox="1"/>
          <p:nvPr/>
        </p:nvSpPr>
        <p:spPr>
          <a:xfrm>
            <a:off x="5138928" y="465429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4</a:t>
            </a:r>
            <a:endParaRPr lang="en-US" sz="1300" dirty="0"/>
          </a:p>
        </p:txBody>
      </p:sp>
      <p:sp>
        <p:nvSpPr>
          <p:cNvPr id="31" name="Text 29"/>
          <p:cNvSpPr txBox="1"/>
          <p:nvPr/>
        </p:nvSpPr>
        <p:spPr>
          <a:xfrm>
            <a:off x="5669280" y="4480560"/>
            <a:ext cx="5705856" cy="713232"/>
          </a:xfrm>
          <a:prstGeom prst="rect">
            <a:avLst/>
          </a:prstGeom>
          <a:noFill/>
          <a:ln/>
        </p:spPr>
        <p:txBody>
          <a:bodyPr wrap="square" lIns="0" tIns="0" rIns="0" bIns="0" rtlCol="0" anchor="ctr"/>
          <a:lstStyle/>
          <a:p>
            <a:pPr indent="0" marL="0">
              <a:buNone/>
            </a:pPr>
            <a:r>
              <a:rPr lang="en-US" sz="1400" b="1" dirty="0">
                <a:solidFill>
                  <a:srgbClr val="22226B"/>
                </a:solidFill>
                <a:latin typeface="Cambria" pitchFamily="34" charset="0"/>
                <a:ea typeface="Cambria" pitchFamily="34" charset="-122"/>
                <a:cs typeface="Cambria" pitchFamily="34" charset="-120"/>
              </a:rPr>
              <a:t>The repository pattern</a:t>
            </a:r>
            <a:endParaRPr lang="en-US" sz="1400" dirty="0"/>
          </a:p>
          <a:p>
            <a:pPr indent="0" marL="0">
              <a:buNone/>
            </a:pPr>
            <a:r>
              <a:rPr lang="en-US" sz="1150" dirty="0">
                <a:solidFill>
                  <a:srgbClr val="3E3E5A"/>
                </a:solidFill>
                <a:latin typeface="Cambria" pitchFamily="34" charset="0"/>
                <a:ea typeface="Cambria" pitchFamily="34" charset="-122"/>
                <a:cs typeface="Cambria" pitchFamily="34" charset="-120"/>
              </a:rPr>
              <a:t>Why the controller should not know about EF</a:t>
            </a:r>
            <a:endParaRPr lang="en-US" sz="1400" dirty="0"/>
          </a:p>
        </p:txBody>
      </p:sp>
      <p:sp>
        <p:nvSpPr>
          <p:cNvPr id="32" name="Shape 30"/>
          <p:cNvSpPr/>
          <p:nvPr/>
        </p:nvSpPr>
        <p:spPr>
          <a:xfrm>
            <a:off x="4937760" y="5321808"/>
            <a:ext cx="6656832" cy="713232"/>
          </a:xfrm>
          <a:prstGeom prst="rect">
            <a:avLst/>
          </a:prstGeom>
          <a:solidFill>
            <a:srgbClr val="EDEDF7"/>
          </a:solidFill>
          <a:ln w="9525">
            <a:solidFill>
              <a:srgbClr val="C9C9EA"/>
            </a:solidFill>
            <a:prstDash val="solid"/>
          </a:ln>
        </p:spPr>
      </p:sp>
      <p:sp>
        <p:nvSpPr>
          <p:cNvPr id="33" name="Shape 31"/>
          <p:cNvSpPr/>
          <p:nvPr/>
        </p:nvSpPr>
        <p:spPr>
          <a:xfrm>
            <a:off x="4937760" y="5321808"/>
            <a:ext cx="50292" cy="713232"/>
          </a:xfrm>
          <a:prstGeom prst="rect">
            <a:avLst/>
          </a:prstGeom>
          <a:solidFill>
            <a:srgbClr val="3333B3"/>
          </a:solidFill>
          <a:ln w="12700">
            <a:solidFill>
              <a:srgbClr val="3333B3"/>
            </a:solidFill>
            <a:prstDash val="solid"/>
          </a:ln>
        </p:spPr>
      </p:sp>
      <p:sp>
        <p:nvSpPr>
          <p:cNvPr id="34" name="Shape 32"/>
          <p:cNvSpPr/>
          <p:nvPr/>
        </p:nvSpPr>
        <p:spPr>
          <a:xfrm>
            <a:off x="5138928" y="5495544"/>
            <a:ext cx="365760" cy="365760"/>
          </a:xfrm>
          <a:prstGeom prst="ellipse">
            <a:avLst/>
          </a:prstGeom>
          <a:solidFill>
            <a:srgbClr val="3333B3"/>
          </a:solidFill>
          <a:ln w="12700">
            <a:solidFill>
              <a:srgbClr val="3333B3"/>
            </a:solidFill>
            <a:prstDash val="solid"/>
          </a:ln>
        </p:spPr>
      </p:sp>
      <p:sp>
        <p:nvSpPr>
          <p:cNvPr id="35" name="Text 33"/>
          <p:cNvSpPr txBox="1"/>
          <p:nvPr/>
        </p:nvSpPr>
        <p:spPr>
          <a:xfrm>
            <a:off x="5138928" y="5495544"/>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5</a:t>
            </a:r>
            <a:endParaRPr lang="en-US" sz="1300" dirty="0"/>
          </a:p>
        </p:txBody>
      </p:sp>
      <p:sp>
        <p:nvSpPr>
          <p:cNvPr id="36" name="Text 34"/>
          <p:cNvSpPr txBox="1"/>
          <p:nvPr/>
        </p:nvSpPr>
        <p:spPr>
          <a:xfrm>
            <a:off x="5669280" y="5321808"/>
            <a:ext cx="5705856" cy="713232"/>
          </a:xfrm>
          <a:prstGeom prst="rect">
            <a:avLst/>
          </a:prstGeom>
          <a:noFill/>
          <a:ln/>
        </p:spPr>
        <p:txBody>
          <a:bodyPr wrap="square" lIns="0" tIns="0" rIns="0" bIns="0" rtlCol="0" anchor="ctr"/>
          <a:lstStyle/>
          <a:p>
            <a:pPr indent="0" marL="0">
              <a:buNone/>
            </a:pPr>
            <a:r>
              <a:rPr lang="en-US" sz="1400" b="1" dirty="0">
                <a:solidFill>
                  <a:srgbClr val="22226B"/>
                </a:solidFill>
                <a:latin typeface="Cambria" pitchFamily="34" charset="0"/>
                <a:ea typeface="Cambria" pitchFamily="34" charset="-122"/>
                <a:cs typeface="Cambria" pitchFamily="34" charset="-120"/>
              </a:rPr>
              <a:t>Hands-on</a:t>
            </a:r>
            <a:endParaRPr lang="en-US" sz="1400" dirty="0"/>
          </a:p>
          <a:p>
            <a:pPr indent="0" marL="0">
              <a:buNone/>
            </a:pPr>
            <a:r>
              <a:rPr lang="en-US" sz="1150" dirty="0">
                <a:solidFill>
                  <a:srgbClr val="3E3E5A"/>
                </a:solidFill>
                <a:latin typeface="Cambria" pitchFamily="34" charset="0"/>
                <a:ea typeface="Cambria" pitchFamily="34" charset="-122"/>
                <a:cs typeface="Cambria" pitchFamily="34" charset="-120"/>
              </a:rPr>
              <a:t>A Parts API backed by SQL Server</a:t>
            </a:r>
            <a:endParaRPr lang="en-US" sz="1400" dirty="0"/>
          </a:p>
        </p:txBody>
      </p:sp>
      <p:sp>
        <p:nvSpPr>
          <p:cNvPr id="37" name="Shape 35"/>
          <p:cNvSpPr/>
          <p:nvPr/>
        </p:nvSpPr>
        <p:spPr>
          <a:xfrm>
            <a:off x="0" y="6400800"/>
            <a:ext cx="3840480" cy="457200"/>
          </a:xfrm>
          <a:prstGeom prst="rect">
            <a:avLst/>
          </a:prstGeom>
          <a:solidFill>
            <a:srgbClr val="22226B"/>
          </a:solidFill>
          <a:ln w="12700">
            <a:solidFill>
              <a:srgbClr val="22226B"/>
            </a:solidFill>
            <a:prstDash val="solid"/>
          </a:ln>
        </p:spPr>
      </p:sp>
      <p:sp>
        <p:nvSpPr>
          <p:cNvPr id="38" name="Text 36"/>
          <p:cNvSpPr txBox="1"/>
          <p:nvPr/>
        </p:nvSpPr>
        <p:spPr>
          <a:xfrm>
            <a:off x="164592" y="6400800"/>
            <a:ext cx="3511296" cy="457200"/>
          </a:xfrm>
          <a:prstGeom prst="rect">
            <a:avLst/>
          </a:prstGeom>
          <a:noFill/>
          <a:ln/>
        </p:spPr>
        <p:txBody>
          <a:bodyPr wrap="square" lIns="0" tIns="0" rIns="0" bIns="0" rtlCol="0" anchor="ctr"/>
          <a:lstStyle/>
          <a:p>
            <a:pPr algn="l" indent="0" marL="0">
              <a:buNone/>
            </a:pPr>
            <a:r>
              <a:rPr lang="en-US" sz="950" dirty="0">
                <a:solidFill>
                  <a:srgbClr val="FFFFFF"/>
                </a:solidFill>
                <a:latin typeface="Cambria" pitchFamily="34" charset="0"/>
                <a:ea typeface="Cambria" pitchFamily="34" charset="-122"/>
                <a:cs typeface="Cambria" pitchFamily="34" charset="-120"/>
              </a:rPr>
              <a:t>HAL  ·  .NET, React &amp; SQL Programme</a:t>
            </a:r>
            <a:endParaRPr lang="en-US" sz="950" dirty="0"/>
          </a:p>
        </p:txBody>
      </p:sp>
      <p:sp>
        <p:nvSpPr>
          <p:cNvPr id="39" name="Shape 37"/>
          <p:cNvSpPr/>
          <p:nvPr/>
        </p:nvSpPr>
        <p:spPr>
          <a:xfrm>
            <a:off x="3840480" y="6400800"/>
            <a:ext cx="6675120" cy="457200"/>
          </a:xfrm>
          <a:prstGeom prst="rect">
            <a:avLst/>
          </a:prstGeom>
          <a:solidFill>
            <a:srgbClr val="3333B3"/>
          </a:solidFill>
          <a:ln w="12700">
            <a:solidFill>
              <a:srgbClr val="3333B3"/>
            </a:solidFill>
            <a:prstDash val="solid"/>
          </a:ln>
        </p:spPr>
      </p:sp>
      <p:sp>
        <p:nvSpPr>
          <p:cNvPr id="40" name="Text 38"/>
          <p:cNvSpPr txBox="1"/>
          <p:nvPr/>
        </p:nvSpPr>
        <p:spPr>
          <a:xfrm>
            <a:off x="4005072" y="6400800"/>
            <a:ext cx="6345936" cy="457200"/>
          </a:xfrm>
          <a:prstGeom prst="rect">
            <a:avLst/>
          </a:prstGeom>
          <a:noFill/>
          <a:ln/>
        </p:spPr>
        <p:txBody>
          <a:bodyPr wrap="square" lIns="0" tIns="0" rIns="0" bIns="0" rtlCol="0" anchor="ctr"/>
          <a:lstStyle/>
          <a:p>
            <a:pPr algn="l" indent="0" marL="0">
              <a:buNone/>
            </a:pPr>
            <a:r>
              <a:rPr lang="en-US" sz="950" dirty="0">
                <a:solidFill>
                  <a:srgbClr val="FFFFFF"/>
                </a:solidFill>
                <a:latin typeface="Cambria" pitchFamily="34" charset="0"/>
                <a:ea typeface="Cambria" pitchFamily="34" charset="-122"/>
                <a:cs typeface="Cambria" pitchFamily="34" charset="-120"/>
              </a:rPr>
              <a:t>Day 2 · Session 2 — Connecting the API to Data</a:t>
            </a:r>
            <a:endParaRPr lang="en-US" sz="950" dirty="0"/>
          </a:p>
        </p:txBody>
      </p:sp>
      <p:sp>
        <p:nvSpPr>
          <p:cNvPr id="41" name="Shape 39"/>
          <p:cNvSpPr/>
          <p:nvPr/>
        </p:nvSpPr>
        <p:spPr>
          <a:xfrm>
            <a:off x="10515600" y="6400800"/>
            <a:ext cx="1676095" cy="457200"/>
          </a:xfrm>
          <a:prstGeom prst="rect">
            <a:avLst/>
          </a:prstGeom>
          <a:solidFill>
            <a:srgbClr val="22226B"/>
          </a:solidFill>
          <a:ln w="12700">
            <a:solidFill>
              <a:srgbClr val="22226B"/>
            </a:solidFill>
            <a:prstDash val="solid"/>
          </a:ln>
        </p:spPr>
      </p:sp>
      <p:sp>
        <p:nvSpPr>
          <p:cNvPr id="42" name="Text 40"/>
          <p:cNvSpPr txBox="1"/>
          <p:nvPr/>
        </p:nvSpPr>
        <p:spPr>
          <a:xfrm>
            <a:off x="10680192" y="6400800"/>
            <a:ext cx="1346911" cy="457200"/>
          </a:xfrm>
          <a:prstGeom prst="rect">
            <a:avLst/>
          </a:prstGeom>
          <a:noFill/>
          <a:ln/>
        </p:spPr>
        <p:txBody>
          <a:bodyPr wrap="square" lIns="0" tIns="0" rIns="0" bIns="0" rtlCol="0" anchor="ctr"/>
          <a:lstStyle/>
          <a:p>
            <a:pPr algn="ctr" indent="0" marL="0">
              <a:buNone/>
            </a:pPr>
            <a:r>
              <a:rPr lang="en-US" sz="950" dirty="0">
                <a:solidFill>
                  <a:srgbClr val="FFFFFF"/>
                </a:solidFill>
                <a:latin typeface="Cambria" pitchFamily="34" charset="0"/>
                <a:ea typeface="Cambria" pitchFamily="34" charset="-122"/>
                <a:cs typeface="Cambria" pitchFamily="34" charset="-120"/>
              </a:rPr>
              <a:t>1</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365760"/>
          </a:xfrm>
          <a:prstGeom prst="rect">
            <a:avLst/>
          </a:prstGeom>
          <a:solidFill>
            <a:srgbClr val="22226B"/>
          </a:solidFill>
          <a:ln w="12700">
            <a:solidFill>
              <a:srgbClr val="22226B"/>
            </a:solidFill>
            <a:prstDash val="solid"/>
          </a:ln>
        </p:spPr>
      </p:sp>
      <p:sp>
        <p:nvSpPr>
          <p:cNvPr id="3" name="Text 1"/>
          <p:cNvSpPr txBox="1"/>
          <p:nvPr/>
        </p:nvSpPr>
        <p:spPr>
          <a:xfrm>
            <a:off x="594360" y="0"/>
            <a:ext cx="11002975" cy="365760"/>
          </a:xfrm>
          <a:prstGeom prst="rect">
            <a:avLst/>
          </a:prstGeom>
          <a:noFill/>
          <a:ln/>
        </p:spPr>
        <p:txBody>
          <a:bodyPr wrap="square" lIns="0" tIns="0" rIns="0" bIns="0" rtlCol="0" anchor="ctr"/>
          <a:lstStyle/>
          <a:p>
            <a:pPr indent="0" marL="0">
              <a:buNone/>
            </a:pPr>
            <a:r>
              <a:rPr lang="en-US" sz="1000" b="1" spc="180" kern="0" dirty="0">
                <a:solidFill>
                  <a:srgbClr val="C9C9EA"/>
                </a:solidFill>
                <a:latin typeface="Cambria" pitchFamily="34" charset="0"/>
                <a:ea typeface="Cambria" pitchFamily="34" charset="-122"/>
                <a:cs typeface="Cambria" pitchFamily="34" charset="-120"/>
              </a:rPr>
              <a:t>HOW CODE TALKS TO A DATABASE</a:t>
            </a:r>
            <a:endParaRPr lang="en-US" sz="1000" dirty="0"/>
          </a:p>
        </p:txBody>
      </p:sp>
      <p:sp>
        <p:nvSpPr>
          <p:cNvPr id="4" name="Shape 2"/>
          <p:cNvSpPr/>
          <p:nvPr/>
        </p:nvSpPr>
        <p:spPr>
          <a:xfrm>
            <a:off x="0" y="365760"/>
            <a:ext cx="12191695" cy="841248"/>
          </a:xfrm>
          <a:prstGeom prst="rect">
            <a:avLst/>
          </a:prstGeom>
          <a:solidFill>
            <a:srgbClr val="3333B3"/>
          </a:solidFill>
          <a:ln w="12700">
            <a:solidFill>
              <a:srgbClr val="3333B3"/>
            </a:solidFill>
            <a:prstDash val="solid"/>
          </a:ln>
        </p:spPr>
      </p:sp>
      <p:sp>
        <p:nvSpPr>
          <p:cNvPr id="5" name="Text 3"/>
          <p:cNvSpPr txBox="1"/>
          <p:nvPr/>
        </p:nvSpPr>
        <p:spPr>
          <a:xfrm>
            <a:off x="594360" y="365760"/>
            <a:ext cx="11002975" cy="841248"/>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Three approaches you will meet</a:t>
            </a:r>
            <a:endParaRPr lang="en-US" sz="2600" dirty="0"/>
          </a:p>
        </p:txBody>
      </p:sp>
      <p:sp>
        <p:nvSpPr>
          <p:cNvPr id="6" name="Shape 4"/>
          <p:cNvSpPr/>
          <p:nvPr/>
        </p:nvSpPr>
        <p:spPr>
          <a:xfrm>
            <a:off x="594360" y="1627632"/>
            <a:ext cx="3529584" cy="402336"/>
          </a:xfrm>
          <a:prstGeom prst="rect">
            <a:avLst/>
          </a:prstGeom>
          <a:solidFill>
            <a:srgbClr val="3333B3"/>
          </a:solidFill>
          <a:ln w="12700">
            <a:solidFill>
              <a:srgbClr val="3333B3"/>
            </a:solidFill>
            <a:prstDash val="solid"/>
          </a:ln>
        </p:spPr>
      </p:sp>
      <p:sp>
        <p:nvSpPr>
          <p:cNvPr id="7" name="Text 5"/>
          <p:cNvSpPr txBox="1"/>
          <p:nvPr/>
        </p:nvSpPr>
        <p:spPr>
          <a:xfrm>
            <a:off x="777240" y="1627632"/>
            <a:ext cx="3163824" cy="402336"/>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ADO.NET</a:t>
            </a:r>
            <a:endParaRPr lang="en-US" sz="1500" dirty="0"/>
          </a:p>
        </p:txBody>
      </p:sp>
      <p:sp>
        <p:nvSpPr>
          <p:cNvPr id="8" name="Shape 6"/>
          <p:cNvSpPr/>
          <p:nvPr/>
        </p:nvSpPr>
        <p:spPr>
          <a:xfrm>
            <a:off x="594360" y="2029968"/>
            <a:ext cx="3529584" cy="1792224"/>
          </a:xfrm>
          <a:prstGeom prst="rect">
            <a:avLst/>
          </a:prstGeom>
          <a:solidFill>
            <a:srgbClr val="F4F4FA"/>
          </a:solidFill>
          <a:ln w="9525">
            <a:solidFill>
              <a:srgbClr val="C9C9EA"/>
            </a:solidFill>
            <a:prstDash val="solid"/>
          </a:ln>
        </p:spPr>
      </p:sp>
      <p:sp>
        <p:nvSpPr>
          <p:cNvPr id="9" name="Text 7"/>
          <p:cNvSpPr txBox="1"/>
          <p:nvPr/>
        </p:nvSpPr>
        <p:spPr>
          <a:xfrm>
            <a:off x="813816" y="2176272"/>
            <a:ext cx="3090672" cy="1517904"/>
          </a:xfrm>
          <a:prstGeom prst="rect">
            <a:avLst/>
          </a:prstGeom>
          <a:noFill/>
          <a:ln/>
        </p:spPr>
        <p:txBody>
          <a:bodyPr wrap="square" lIns="0" tIns="0" rIns="0" bIns="0" rtlCol="0" anchor="t"/>
          <a:lstStyle/>
          <a:p>
            <a:pPr indent="0" marL="0">
              <a:lnSpc>
                <a:spcPts val="1620"/>
              </a:lnSpc>
              <a:buNone/>
            </a:pPr>
            <a:r>
              <a:rPr lang="en-US" sz="1200" dirty="0">
                <a:solidFill>
                  <a:srgbClr val="3E3E5A"/>
                </a:solidFill>
                <a:latin typeface="Cambria" pitchFamily="34" charset="0"/>
                <a:ea typeface="Cambria" pitchFamily="34" charset="-122"/>
                <a:cs typeface="Cambria" pitchFamily="34" charset="-120"/>
              </a:rPr>
              <a:t>SqlConnection, SqlCommand, DataReader. Total control, and every line written by hand. This is what most older in-house code uses.</a:t>
            </a:r>
            <a:endParaRPr lang="en-US" sz="1200" dirty="0"/>
          </a:p>
        </p:txBody>
      </p:sp>
      <p:sp>
        <p:nvSpPr>
          <p:cNvPr id="10" name="Shape 8"/>
          <p:cNvSpPr/>
          <p:nvPr/>
        </p:nvSpPr>
        <p:spPr>
          <a:xfrm>
            <a:off x="4325112" y="1627632"/>
            <a:ext cx="3529584" cy="402336"/>
          </a:xfrm>
          <a:prstGeom prst="rect">
            <a:avLst/>
          </a:prstGeom>
          <a:solidFill>
            <a:srgbClr val="3333B3"/>
          </a:solidFill>
          <a:ln w="12700">
            <a:solidFill>
              <a:srgbClr val="3333B3"/>
            </a:solidFill>
            <a:prstDash val="solid"/>
          </a:ln>
        </p:spPr>
      </p:sp>
      <p:sp>
        <p:nvSpPr>
          <p:cNvPr id="11" name="Text 9"/>
          <p:cNvSpPr txBox="1"/>
          <p:nvPr/>
        </p:nvSpPr>
        <p:spPr>
          <a:xfrm>
            <a:off x="4507992" y="1627632"/>
            <a:ext cx="3163824" cy="402336"/>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A micro-ORM</a:t>
            </a:r>
            <a:endParaRPr lang="en-US" sz="1500" dirty="0"/>
          </a:p>
        </p:txBody>
      </p:sp>
      <p:sp>
        <p:nvSpPr>
          <p:cNvPr id="12" name="Shape 10"/>
          <p:cNvSpPr/>
          <p:nvPr/>
        </p:nvSpPr>
        <p:spPr>
          <a:xfrm>
            <a:off x="4325112" y="2029968"/>
            <a:ext cx="3529584" cy="1792224"/>
          </a:xfrm>
          <a:prstGeom prst="rect">
            <a:avLst/>
          </a:prstGeom>
          <a:solidFill>
            <a:srgbClr val="F4F4FA"/>
          </a:solidFill>
          <a:ln w="9525">
            <a:solidFill>
              <a:srgbClr val="C9C9EA"/>
            </a:solidFill>
            <a:prstDash val="solid"/>
          </a:ln>
        </p:spPr>
      </p:sp>
      <p:sp>
        <p:nvSpPr>
          <p:cNvPr id="13" name="Text 11"/>
          <p:cNvSpPr txBox="1"/>
          <p:nvPr/>
        </p:nvSpPr>
        <p:spPr>
          <a:xfrm>
            <a:off x="4544568" y="2176272"/>
            <a:ext cx="3090672" cy="1517904"/>
          </a:xfrm>
          <a:prstGeom prst="rect">
            <a:avLst/>
          </a:prstGeom>
          <a:noFill/>
          <a:ln/>
        </p:spPr>
        <p:txBody>
          <a:bodyPr wrap="square" lIns="0" tIns="0" rIns="0" bIns="0" rtlCol="0" anchor="t"/>
          <a:lstStyle/>
          <a:p>
            <a:pPr indent="0" marL="0">
              <a:lnSpc>
                <a:spcPts val="1620"/>
              </a:lnSpc>
              <a:buNone/>
            </a:pPr>
            <a:r>
              <a:rPr lang="en-US" sz="1200" dirty="0">
                <a:solidFill>
                  <a:srgbClr val="3E3E5A"/>
                </a:solidFill>
                <a:latin typeface="Cambria" pitchFamily="34" charset="0"/>
                <a:ea typeface="Cambria" pitchFamily="34" charset="-122"/>
                <a:cs typeface="Cambria" pitchFamily="34" charset="-120"/>
              </a:rPr>
              <a:t>Dapper. You write the SQL; it maps the rows to objects. Fast, thin, and popular where the SQL matters.</a:t>
            </a:r>
            <a:endParaRPr lang="en-US" sz="1200" dirty="0"/>
          </a:p>
        </p:txBody>
      </p:sp>
      <p:sp>
        <p:nvSpPr>
          <p:cNvPr id="14" name="Shape 12"/>
          <p:cNvSpPr/>
          <p:nvPr/>
        </p:nvSpPr>
        <p:spPr>
          <a:xfrm>
            <a:off x="8055864" y="1627632"/>
            <a:ext cx="3529584" cy="402336"/>
          </a:xfrm>
          <a:prstGeom prst="rect">
            <a:avLst/>
          </a:prstGeom>
          <a:solidFill>
            <a:srgbClr val="3333B3"/>
          </a:solidFill>
          <a:ln w="12700">
            <a:solidFill>
              <a:srgbClr val="3333B3"/>
            </a:solidFill>
            <a:prstDash val="solid"/>
          </a:ln>
        </p:spPr>
      </p:sp>
      <p:sp>
        <p:nvSpPr>
          <p:cNvPr id="15" name="Text 13"/>
          <p:cNvSpPr txBox="1"/>
          <p:nvPr/>
        </p:nvSpPr>
        <p:spPr>
          <a:xfrm>
            <a:off x="8238744" y="1627632"/>
            <a:ext cx="3163824" cy="402336"/>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EF Core</a:t>
            </a:r>
            <a:endParaRPr lang="en-US" sz="1500" dirty="0"/>
          </a:p>
        </p:txBody>
      </p:sp>
      <p:sp>
        <p:nvSpPr>
          <p:cNvPr id="16" name="Shape 14"/>
          <p:cNvSpPr/>
          <p:nvPr/>
        </p:nvSpPr>
        <p:spPr>
          <a:xfrm>
            <a:off x="8055864" y="2029968"/>
            <a:ext cx="3529584" cy="1792224"/>
          </a:xfrm>
          <a:prstGeom prst="rect">
            <a:avLst/>
          </a:prstGeom>
          <a:solidFill>
            <a:srgbClr val="F4F4FA"/>
          </a:solidFill>
          <a:ln w="9525">
            <a:solidFill>
              <a:srgbClr val="C9C9EA"/>
            </a:solidFill>
            <a:prstDash val="solid"/>
          </a:ln>
        </p:spPr>
      </p:sp>
      <p:sp>
        <p:nvSpPr>
          <p:cNvPr id="17" name="Text 15"/>
          <p:cNvSpPr txBox="1"/>
          <p:nvPr/>
        </p:nvSpPr>
        <p:spPr>
          <a:xfrm>
            <a:off x="8275320" y="2176272"/>
            <a:ext cx="3090672" cy="1517904"/>
          </a:xfrm>
          <a:prstGeom prst="rect">
            <a:avLst/>
          </a:prstGeom>
          <a:noFill/>
          <a:ln/>
        </p:spPr>
        <p:txBody>
          <a:bodyPr wrap="square" lIns="0" tIns="0" rIns="0" bIns="0" rtlCol="0" anchor="t"/>
          <a:lstStyle/>
          <a:p>
            <a:pPr indent="0" marL="0">
              <a:lnSpc>
                <a:spcPts val="1620"/>
              </a:lnSpc>
              <a:buNone/>
            </a:pPr>
            <a:r>
              <a:rPr lang="en-US" sz="1200" dirty="0">
                <a:solidFill>
                  <a:srgbClr val="3E3E5A"/>
                </a:solidFill>
                <a:latin typeface="Cambria" pitchFamily="34" charset="0"/>
                <a:ea typeface="Cambria" pitchFamily="34" charset="-122"/>
                <a:cs typeface="Cambria" pitchFamily="34" charset="-120"/>
              </a:rPr>
              <a:t>A full ORM. It writes the SQL, tracks changes and manages the schema. What we use this week.</a:t>
            </a:r>
            <a:endParaRPr lang="en-US" sz="1200" dirty="0"/>
          </a:p>
        </p:txBody>
      </p:sp>
      <p:sp>
        <p:nvSpPr>
          <p:cNvPr id="18" name="Shape 16"/>
          <p:cNvSpPr/>
          <p:nvPr/>
        </p:nvSpPr>
        <p:spPr>
          <a:xfrm>
            <a:off x="594360" y="4023360"/>
            <a:ext cx="11002975" cy="932688"/>
          </a:xfrm>
          <a:prstGeom prst="rect">
            <a:avLst/>
          </a:prstGeom>
          <a:solidFill>
            <a:srgbClr val="EDEDF7"/>
          </a:solidFill>
          <a:ln w="9525">
            <a:solidFill>
              <a:srgbClr val="C9C9EA"/>
            </a:solidFill>
            <a:prstDash val="solid"/>
          </a:ln>
        </p:spPr>
      </p:sp>
      <p:sp>
        <p:nvSpPr>
          <p:cNvPr id="19" name="Shape 17"/>
          <p:cNvSpPr/>
          <p:nvPr/>
        </p:nvSpPr>
        <p:spPr>
          <a:xfrm>
            <a:off x="594360" y="4023360"/>
            <a:ext cx="50292" cy="932688"/>
          </a:xfrm>
          <a:prstGeom prst="rect">
            <a:avLst/>
          </a:prstGeom>
          <a:solidFill>
            <a:srgbClr val="3333B3"/>
          </a:solidFill>
          <a:ln w="12700">
            <a:solidFill>
              <a:srgbClr val="3333B3"/>
            </a:solidFill>
            <a:prstDash val="solid"/>
          </a:ln>
        </p:spPr>
      </p:sp>
      <p:sp>
        <p:nvSpPr>
          <p:cNvPr id="20" name="Text 18"/>
          <p:cNvSpPr txBox="1"/>
          <p:nvPr/>
        </p:nvSpPr>
        <p:spPr>
          <a:xfrm>
            <a:off x="832104" y="4023360"/>
            <a:ext cx="10545775" cy="932688"/>
          </a:xfrm>
          <a:prstGeom prst="rect">
            <a:avLst/>
          </a:prstGeom>
          <a:noFill/>
          <a:ln/>
        </p:spPr>
        <p:txBody>
          <a:bodyPr wrap="square" lIns="0" tIns="0" rIns="0" bIns="0" rtlCol="0" anchor="ctr"/>
          <a:lstStyle/>
          <a:p>
            <a:pPr indent="0" marL="0">
              <a:buNone/>
            </a:pPr>
            <a:r>
              <a:rPr lang="en-US" sz="1450" b="1" dirty="0">
                <a:solidFill>
                  <a:srgbClr val="22226B"/>
                </a:solidFill>
                <a:latin typeface="Cambria" pitchFamily="34" charset="0"/>
                <a:ea typeface="Cambria" pitchFamily="34" charset="-122"/>
                <a:cs typeface="Cambria" pitchFamily="34" charset="-120"/>
              </a:rPr>
              <a:t>None of these is wrong</a:t>
            </a:r>
            <a:endParaRPr lang="en-US" sz="1450" dirty="0"/>
          </a:p>
          <a:p>
            <a:pPr indent="0" marL="0">
              <a:buNone/>
            </a:pPr>
            <a:r>
              <a:rPr lang="en-US" sz="1200" dirty="0">
                <a:solidFill>
                  <a:srgbClr val="3E3E5A"/>
                </a:solidFill>
                <a:latin typeface="Cambria" pitchFamily="34" charset="0"/>
                <a:ea typeface="Cambria" pitchFamily="34" charset="-122"/>
                <a:cs typeface="Cambria" pitchFamily="34" charset="-120"/>
              </a:rPr>
              <a:t>EF Core suits applications with lots of straightforward CRUD, which is most business software. Dapper suits reporting and hot paths where you want to own the query. ADO.NET is what you will find under the bonnet of both.</a:t>
            </a:r>
            <a:endParaRPr lang="en-US" sz="1450" dirty="0"/>
          </a:p>
        </p:txBody>
      </p:sp>
      <p:sp>
        <p:nvSpPr>
          <p:cNvPr id="21" name="Shape 19"/>
          <p:cNvSpPr/>
          <p:nvPr/>
        </p:nvSpPr>
        <p:spPr>
          <a:xfrm>
            <a:off x="594360" y="5084064"/>
            <a:ext cx="11002975" cy="932688"/>
          </a:xfrm>
          <a:prstGeom prst="rect">
            <a:avLst/>
          </a:prstGeom>
          <a:solidFill>
            <a:srgbClr val="EDEDF7"/>
          </a:solidFill>
          <a:ln w="9525">
            <a:solidFill>
              <a:srgbClr val="C9C9EA"/>
            </a:solidFill>
            <a:prstDash val="solid"/>
          </a:ln>
        </p:spPr>
      </p:sp>
      <p:sp>
        <p:nvSpPr>
          <p:cNvPr id="22" name="Shape 20"/>
          <p:cNvSpPr/>
          <p:nvPr/>
        </p:nvSpPr>
        <p:spPr>
          <a:xfrm>
            <a:off x="594360" y="5084064"/>
            <a:ext cx="50292" cy="932688"/>
          </a:xfrm>
          <a:prstGeom prst="rect">
            <a:avLst/>
          </a:prstGeom>
          <a:solidFill>
            <a:srgbClr val="3333B3"/>
          </a:solidFill>
          <a:ln w="12700">
            <a:solidFill>
              <a:srgbClr val="3333B3"/>
            </a:solidFill>
            <a:prstDash val="solid"/>
          </a:ln>
        </p:spPr>
      </p:sp>
      <p:sp>
        <p:nvSpPr>
          <p:cNvPr id="23" name="Text 21"/>
          <p:cNvSpPr txBox="1"/>
          <p:nvPr/>
        </p:nvSpPr>
        <p:spPr>
          <a:xfrm>
            <a:off x="832104" y="5084064"/>
            <a:ext cx="10545775" cy="932688"/>
          </a:xfrm>
          <a:prstGeom prst="rect">
            <a:avLst/>
          </a:prstGeom>
          <a:noFill/>
          <a:ln/>
        </p:spPr>
        <p:txBody>
          <a:bodyPr wrap="square" lIns="0" tIns="0" rIns="0" bIns="0" rtlCol="0" anchor="ctr"/>
          <a:lstStyle/>
          <a:p>
            <a:pPr indent="0" marL="0">
              <a:buNone/>
            </a:pPr>
            <a:r>
              <a:rPr lang="en-US" sz="1450" b="1" dirty="0">
                <a:solidFill>
                  <a:srgbClr val="22226B"/>
                </a:solidFill>
                <a:latin typeface="Cambria" pitchFamily="34" charset="0"/>
                <a:ea typeface="Cambria" pitchFamily="34" charset="-122"/>
                <a:cs typeface="Cambria" pitchFamily="34" charset="-120"/>
              </a:rPr>
              <a:t>You can mix them</a:t>
            </a:r>
            <a:endParaRPr lang="en-US" sz="1450" dirty="0"/>
          </a:p>
          <a:p>
            <a:pPr indent="0" marL="0">
              <a:buNone/>
            </a:pPr>
            <a:r>
              <a:rPr lang="en-US" sz="1200" dirty="0">
                <a:solidFill>
                  <a:srgbClr val="3E3E5A"/>
                </a:solidFill>
                <a:latin typeface="Cambria" pitchFamily="34" charset="0"/>
                <a:ea typeface="Cambria" pitchFamily="34" charset="-122"/>
                <a:cs typeface="Cambria" pitchFamily="34" charset="-120"/>
              </a:rPr>
              <a:t>EF Core for the ordinary work, and a hand-written query for the one report that needs it. That is a normal, defensible design — not a failure.</a:t>
            </a:r>
            <a:endParaRPr lang="en-US" sz="1450" dirty="0"/>
          </a:p>
        </p:txBody>
      </p:sp>
      <p:sp>
        <p:nvSpPr>
          <p:cNvPr id="24" name="Shape 22"/>
          <p:cNvSpPr/>
          <p:nvPr/>
        </p:nvSpPr>
        <p:spPr>
          <a:xfrm>
            <a:off x="0" y="6400800"/>
            <a:ext cx="3840480" cy="457200"/>
          </a:xfrm>
          <a:prstGeom prst="rect">
            <a:avLst/>
          </a:prstGeom>
          <a:solidFill>
            <a:srgbClr val="22226B"/>
          </a:solidFill>
          <a:ln w="12700">
            <a:solidFill>
              <a:srgbClr val="22226B"/>
            </a:solidFill>
            <a:prstDash val="solid"/>
          </a:ln>
        </p:spPr>
      </p:sp>
      <p:sp>
        <p:nvSpPr>
          <p:cNvPr id="25" name="Text 23"/>
          <p:cNvSpPr txBox="1"/>
          <p:nvPr/>
        </p:nvSpPr>
        <p:spPr>
          <a:xfrm>
            <a:off x="164592" y="6400800"/>
            <a:ext cx="3511296" cy="457200"/>
          </a:xfrm>
          <a:prstGeom prst="rect">
            <a:avLst/>
          </a:prstGeom>
          <a:noFill/>
          <a:ln/>
        </p:spPr>
        <p:txBody>
          <a:bodyPr wrap="square" lIns="0" tIns="0" rIns="0" bIns="0" rtlCol="0" anchor="ctr"/>
          <a:lstStyle/>
          <a:p>
            <a:pPr algn="l" indent="0" marL="0">
              <a:buNone/>
            </a:pPr>
            <a:r>
              <a:rPr lang="en-US" sz="950" dirty="0">
                <a:solidFill>
                  <a:srgbClr val="FFFFFF"/>
                </a:solidFill>
                <a:latin typeface="Cambria" pitchFamily="34" charset="0"/>
                <a:ea typeface="Cambria" pitchFamily="34" charset="-122"/>
                <a:cs typeface="Cambria" pitchFamily="34" charset="-120"/>
              </a:rPr>
              <a:t>HAL  ·  .NET, React &amp; SQL Programme</a:t>
            </a:r>
            <a:endParaRPr lang="en-US" sz="950" dirty="0"/>
          </a:p>
        </p:txBody>
      </p:sp>
      <p:sp>
        <p:nvSpPr>
          <p:cNvPr id="26" name="Shape 24"/>
          <p:cNvSpPr/>
          <p:nvPr/>
        </p:nvSpPr>
        <p:spPr>
          <a:xfrm>
            <a:off x="3840480" y="6400800"/>
            <a:ext cx="6675120" cy="457200"/>
          </a:xfrm>
          <a:prstGeom prst="rect">
            <a:avLst/>
          </a:prstGeom>
          <a:solidFill>
            <a:srgbClr val="3333B3"/>
          </a:solidFill>
          <a:ln w="12700">
            <a:solidFill>
              <a:srgbClr val="3333B3"/>
            </a:solidFill>
            <a:prstDash val="solid"/>
          </a:ln>
        </p:spPr>
      </p:sp>
      <p:sp>
        <p:nvSpPr>
          <p:cNvPr id="27" name="Text 25"/>
          <p:cNvSpPr txBox="1"/>
          <p:nvPr/>
        </p:nvSpPr>
        <p:spPr>
          <a:xfrm>
            <a:off x="4005072" y="6400800"/>
            <a:ext cx="6345936" cy="457200"/>
          </a:xfrm>
          <a:prstGeom prst="rect">
            <a:avLst/>
          </a:prstGeom>
          <a:noFill/>
          <a:ln/>
        </p:spPr>
        <p:txBody>
          <a:bodyPr wrap="square" lIns="0" tIns="0" rIns="0" bIns="0" rtlCol="0" anchor="ctr"/>
          <a:lstStyle/>
          <a:p>
            <a:pPr algn="l" indent="0" marL="0">
              <a:buNone/>
            </a:pPr>
            <a:r>
              <a:rPr lang="en-US" sz="950" dirty="0">
                <a:solidFill>
                  <a:srgbClr val="FFFFFF"/>
                </a:solidFill>
                <a:latin typeface="Cambria" pitchFamily="34" charset="0"/>
                <a:ea typeface="Cambria" pitchFamily="34" charset="-122"/>
                <a:cs typeface="Cambria" pitchFamily="34" charset="-120"/>
              </a:rPr>
              <a:t>Day 2 · Session 2 — Connecting the API to Data</a:t>
            </a:r>
            <a:endParaRPr lang="en-US" sz="950" dirty="0"/>
          </a:p>
        </p:txBody>
      </p:sp>
      <p:sp>
        <p:nvSpPr>
          <p:cNvPr id="28" name="Shape 26"/>
          <p:cNvSpPr/>
          <p:nvPr/>
        </p:nvSpPr>
        <p:spPr>
          <a:xfrm>
            <a:off x="10515600" y="6400800"/>
            <a:ext cx="1676095" cy="457200"/>
          </a:xfrm>
          <a:prstGeom prst="rect">
            <a:avLst/>
          </a:prstGeom>
          <a:solidFill>
            <a:srgbClr val="22226B"/>
          </a:solidFill>
          <a:ln w="12700">
            <a:solidFill>
              <a:srgbClr val="22226B"/>
            </a:solidFill>
            <a:prstDash val="solid"/>
          </a:ln>
        </p:spPr>
      </p:sp>
      <p:sp>
        <p:nvSpPr>
          <p:cNvPr id="29" name="Text 27"/>
          <p:cNvSpPr txBox="1"/>
          <p:nvPr/>
        </p:nvSpPr>
        <p:spPr>
          <a:xfrm>
            <a:off x="10680192" y="6400800"/>
            <a:ext cx="1346911" cy="457200"/>
          </a:xfrm>
          <a:prstGeom prst="rect">
            <a:avLst/>
          </a:prstGeom>
          <a:noFill/>
          <a:ln/>
        </p:spPr>
        <p:txBody>
          <a:bodyPr wrap="square" lIns="0" tIns="0" rIns="0" bIns="0" rtlCol="0" anchor="ctr"/>
          <a:lstStyle/>
          <a:p>
            <a:pPr algn="ctr" indent="0" marL="0">
              <a:buNone/>
            </a:pPr>
            <a:r>
              <a:rPr lang="en-US" sz="950" dirty="0">
                <a:solidFill>
                  <a:srgbClr val="FFFFFF"/>
                </a:solidFill>
                <a:latin typeface="Cambria" pitchFamily="34" charset="0"/>
                <a:ea typeface="Cambria" pitchFamily="34" charset="-122"/>
                <a:cs typeface="Cambria" pitchFamily="34" charset="-120"/>
              </a:rPr>
              <a:t>2</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365760"/>
          </a:xfrm>
          <a:prstGeom prst="rect">
            <a:avLst/>
          </a:prstGeom>
          <a:solidFill>
            <a:srgbClr val="22226B"/>
          </a:solidFill>
          <a:ln w="12700">
            <a:solidFill>
              <a:srgbClr val="22226B"/>
            </a:solidFill>
            <a:prstDash val="solid"/>
          </a:ln>
        </p:spPr>
      </p:sp>
      <p:sp>
        <p:nvSpPr>
          <p:cNvPr id="3" name="Text 1"/>
          <p:cNvSpPr txBox="1"/>
          <p:nvPr/>
        </p:nvSpPr>
        <p:spPr>
          <a:xfrm>
            <a:off x="594360" y="0"/>
            <a:ext cx="11002975" cy="365760"/>
          </a:xfrm>
          <a:prstGeom prst="rect">
            <a:avLst/>
          </a:prstGeom>
          <a:noFill/>
          <a:ln/>
        </p:spPr>
        <p:txBody>
          <a:bodyPr wrap="square" lIns="0" tIns="0" rIns="0" bIns="0" rtlCol="0" anchor="ctr"/>
          <a:lstStyle/>
          <a:p>
            <a:pPr indent="0" marL="0">
              <a:buNone/>
            </a:pPr>
            <a:r>
              <a:rPr lang="en-US" sz="1000" b="1" spc="180" kern="0" dirty="0">
                <a:solidFill>
                  <a:srgbClr val="C9C9EA"/>
                </a:solidFill>
                <a:latin typeface="Cambria" pitchFamily="34" charset="0"/>
                <a:ea typeface="Cambria" pitchFamily="34" charset="-122"/>
                <a:cs typeface="Cambria" pitchFamily="34" charset="-120"/>
              </a:rPr>
              <a:t>ENTITY FRAMEWORK CORE</a:t>
            </a:r>
            <a:endParaRPr lang="en-US" sz="1000" dirty="0"/>
          </a:p>
        </p:txBody>
      </p:sp>
      <p:sp>
        <p:nvSpPr>
          <p:cNvPr id="4" name="Shape 2"/>
          <p:cNvSpPr/>
          <p:nvPr/>
        </p:nvSpPr>
        <p:spPr>
          <a:xfrm>
            <a:off x="0" y="365760"/>
            <a:ext cx="12191695" cy="841248"/>
          </a:xfrm>
          <a:prstGeom prst="rect">
            <a:avLst/>
          </a:prstGeom>
          <a:solidFill>
            <a:srgbClr val="3333B3"/>
          </a:solidFill>
          <a:ln w="12700">
            <a:solidFill>
              <a:srgbClr val="3333B3"/>
            </a:solidFill>
            <a:prstDash val="solid"/>
          </a:ln>
        </p:spPr>
      </p:sp>
      <p:sp>
        <p:nvSpPr>
          <p:cNvPr id="5" name="Text 3"/>
          <p:cNvSpPr txBox="1"/>
          <p:nvPr/>
        </p:nvSpPr>
        <p:spPr>
          <a:xfrm>
            <a:off x="594360" y="365760"/>
            <a:ext cx="11002975" cy="841248"/>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You write C#; EF writes the SQL</a:t>
            </a:r>
            <a:endParaRPr lang="en-US" sz="2600" dirty="0"/>
          </a:p>
        </p:txBody>
      </p:sp>
      <p:sp>
        <p:nvSpPr>
          <p:cNvPr id="6" name="Shape 4"/>
          <p:cNvSpPr/>
          <p:nvPr/>
        </p:nvSpPr>
        <p:spPr>
          <a:xfrm>
            <a:off x="594360" y="1664208"/>
            <a:ext cx="2517572" cy="1097280"/>
          </a:xfrm>
          <a:prstGeom prst="rect">
            <a:avLst/>
          </a:prstGeom>
          <a:solidFill>
            <a:srgbClr val="EDEDF7"/>
          </a:solidFill>
          <a:ln w="9525">
            <a:solidFill>
              <a:srgbClr val="C9C9EA"/>
            </a:solidFill>
            <a:prstDash val="solid"/>
          </a:ln>
        </p:spPr>
      </p:sp>
      <p:sp>
        <p:nvSpPr>
          <p:cNvPr id="7" name="Text 5"/>
          <p:cNvSpPr txBox="1"/>
          <p:nvPr/>
        </p:nvSpPr>
        <p:spPr>
          <a:xfrm>
            <a:off x="704088" y="1664208"/>
            <a:ext cx="2298116" cy="1097280"/>
          </a:xfrm>
          <a:prstGeom prst="rect">
            <a:avLst/>
          </a:prstGeom>
          <a:noFill/>
          <a:ln/>
        </p:spPr>
        <p:txBody>
          <a:bodyPr wrap="square" lIns="0" tIns="0" rIns="0" bIns="0" rtlCol="0" anchor="ctr"/>
          <a:lstStyle/>
          <a:p>
            <a:pPr algn="ctr" indent="0" marL="0">
              <a:buNone/>
            </a:pPr>
            <a:r>
              <a:rPr lang="en-US" sz="1350" b="1" dirty="0">
                <a:solidFill>
                  <a:srgbClr val="22226B"/>
                </a:solidFill>
                <a:latin typeface="Cambria" pitchFamily="34" charset="0"/>
                <a:ea typeface="Cambria" pitchFamily="34" charset="-122"/>
                <a:cs typeface="Cambria" pitchFamily="34" charset="-120"/>
              </a:rPr>
              <a:t>LINQ query</a:t>
            </a:r>
            <a:endParaRPr lang="en-US" sz="1350" dirty="0"/>
          </a:p>
          <a:p>
            <a:pPr algn="ctr" indent="0" marL="0">
              <a:buNone/>
            </a:pPr>
            <a:r>
              <a:rPr lang="en-US" sz="1050" dirty="0">
                <a:solidFill>
                  <a:srgbClr val="3E3E5A"/>
                </a:solidFill>
                <a:latin typeface="Cambria" pitchFamily="34" charset="0"/>
                <a:ea typeface="Cambria" pitchFamily="34" charset="-122"/>
                <a:cs typeface="Cambria" pitchFamily="34" charset="-120"/>
              </a:rPr>
              <a:t>parts.Where(p =&gt; p.Quantity &lt; 5)</a:t>
            </a:r>
            <a:endParaRPr lang="en-US" sz="1350" dirty="0"/>
          </a:p>
        </p:txBody>
      </p:sp>
      <p:sp>
        <p:nvSpPr>
          <p:cNvPr id="8" name="Shape 6"/>
          <p:cNvSpPr/>
          <p:nvPr/>
        </p:nvSpPr>
        <p:spPr>
          <a:xfrm>
            <a:off x="3166796" y="2121408"/>
            <a:ext cx="201168" cy="182880"/>
          </a:xfrm>
          <a:prstGeom prst="chevron">
            <a:avLst/>
          </a:prstGeom>
          <a:solidFill>
            <a:srgbClr val="3333B3"/>
          </a:solidFill>
          <a:ln w="12700">
            <a:solidFill>
              <a:srgbClr val="3333B3"/>
            </a:solidFill>
            <a:prstDash val="solid"/>
          </a:ln>
        </p:spPr>
      </p:sp>
      <p:sp>
        <p:nvSpPr>
          <p:cNvPr id="9" name="Shape 7"/>
          <p:cNvSpPr/>
          <p:nvPr/>
        </p:nvSpPr>
        <p:spPr>
          <a:xfrm>
            <a:off x="3422828" y="1664208"/>
            <a:ext cx="2517572" cy="1097280"/>
          </a:xfrm>
          <a:prstGeom prst="rect">
            <a:avLst/>
          </a:prstGeom>
          <a:solidFill>
            <a:srgbClr val="3333B3"/>
          </a:solidFill>
          <a:ln w="9525">
            <a:solidFill>
              <a:srgbClr val="3333B3"/>
            </a:solidFill>
            <a:prstDash val="solid"/>
          </a:ln>
        </p:spPr>
      </p:sp>
      <p:sp>
        <p:nvSpPr>
          <p:cNvPr id="10" name="Text 8"/>
          <p:cNvSpPr txBox="1"/>
          <p:nvPr/>
        </p:nvSpPr>
        <p:spPr>
          <a:xfrm>
            <a:off x="3532556" y="1664208"/>
            <a:ext cx="2298116" cy="1097280"/>
          </a:xfrm>
          <a:prstGeom prst="rect">
            <a:avLst/>
          </a:prstGeom>
          <a:noFill/>
          <a:ln/>
        </p:spPr>
        <p:txBody>
          <a:bodyPr wrap="square" lIns="0" tIns="0" rIns="0" bIns="0" rtlCol="0" anchor="ctr"/>
          <a:lstStyle/>
          <a:p>
            <a:pPr algn="ctr" indent="0" marL="0">
              <a:buNone/>
            </a:pPr>
            <a:r>
              <a:rPr lang="en-US" sz="1350" b="1" dirty="0">
                <a:solidFill>
                  <a:srgbClr val="FFFFFF"/>
                </a:solidFill>
                <a:latin typeface="Cambria" pitchFamily="34" charset="0"/>
                <a:ea typeface="Cambria" pitchFamily="34" charset="-122"/>
                <a:cs typeface="Cambria" pitchFamily="34" charset="-120"/>
              </a:rPr>
              <a:t>EF Core</a:t>
            </a:r>
            <a:endParaRPr lang="en-US" sz="1350" dirty="0"/>
          </a:p>
          <a:p>
            <a:pPr algn="ctr" indent="0" marL="0">
              <a:buNone/>
            </a:pPr>
            <a:r>
              <a:rPr lang="en-US" sz="1050" dirty="0">
                <a:solidFill>
                  <a:srgbClr val="C9C9EA"/>
                </a:solidFill>
                <a:latin typeface="Cambria" pitchFamily="34" charset="0"/>
                <a:ea typeface="Cambria" pitchFamily="34" charset="-122"/>
                <a:cs typeface="Cambria" pitchFamily="34" charset="-120"/>
              </a:rPr>
              <a:t>Translates and parameterises</a:t>
            </a:r>
            <a:endParaRPr lang="en-US" sz="1350" dirty="0"/>
          </a:p>
        </p:txBody>
      </p:sp>
      <p:sp>
        <p:nvSpPr>
          <p:cNvPr id="11" name="Shape 9"/>
          <p:cNvSpPr/>
          <p:nvPr/>
        </p:nvSpPr>
        <p:spPr>
          <a:xfrm>
            <a:off x="5995264" y="2121408"/>
            <a:ext cx="201168" cy="182880"/>
          </a:xfrm>
          <a:prstGeom prst="chevron">
            <a:avLst/>
          </a:prstGeom>
          <a:solidFill>
            <a:srgbClr val="3333B3"/>
          </a:solidFill>
          <a:ln w="12700">
            <a:solidFill>
              <a:srgbClr val="3333B3"/>
            </a:solidFill>
            <a:prstDash val="solid"/>
          </a:ln>
        </p:spPr>
      </p:sp>
      <p:sp>
        <p:nvSpPr>
          <p:cNvPr id="12" name="Shape 10"/>
          <p:cNvSpPr/>
          <p:nvPr/>
        </p:nvSpPr>
        <p:spPr>
          <a:xfrm>
            <a:off x="6251296" y="1664208"/>
            <a:ext cx="2517572" cy="1097280"/>
          </a:xfrm>
          <a:prstGeom prst="rect">
            <a:avLst/>
          </a:prstGeom>
          <a:solidFill>
            <a:srgbClr val="EDEDF7"/>
          </a:solidFill>
          <a:ln w="9525">
            <a:solidFill>
              <a:srgbClr val="C9C9EA"/>
            </a:solidFill>
            <a:prstDash val="solid"/>
          </a:ln>
        </p:spPr>
      </p:sp>
      <p:sp>
        <p:nvSpPr>
          <p:cNvPr id="13" name="Text 11"/>
          <p:cNvSpPr txBox="1"/>
          <p:nvPr/>
        </p:nvSpPr>
        <p:spPr>
          <a:xfrm>
            <a:off x="6361024" y="1664208"/>
            <a:ext cx="2298116" cy="1097280"/>
          </a:xfrm>
          <a:prstGeom prst="rect">
            <a:avLst/>
          </a:prstGeom>
          <a:noFill/>
          <a:ln/>
        </p:spPr>
        <p:txBody>
          <a:bodyPr wrap="square" lIns="0" tIns="0" rIns="0" bIns="0" rtlCol="0" anchor="ctr"/>
          <a:lstStyle/>
          <a:p>
            <a:pPr algn="ctr" indent="0" marL="0">
              <a:buNone/>
            </a:pPr>
            <a:r>
              <a:rPr lang="en-US" sz="1350" b="1" dirty="0">
                <a:solidFill>
                  <a:srgbClr val="22226B"/>
                </a:solidFill>
                <a:latin typeface="Cambria" pitchFamily="34" charset="0"/>
                <a:ea typeface="Cambria" pitchFamily="34" charset="-122"/>
                <a:cs typeface="Cambria" pitchFamily="34" charset="-120"/>
              </a:rPr>
              <a:t>SQL Server</a:t>
            </a:r>
            <a:endParaRPr lang="en-US" sz="1350" dirty="0"/>
          </a:p>
          <a:p>
            <a:pPr algn="ctr" indent="0" marL="0">
              <a:buNone/>
            </a:pPr>
            <a:r>
              <a:rPr lang="en-US" sz="1050" dirty="0">
                <a:solidFill>
                  <a:srgbClr val="3E3E5A"/>
                </a:solidFill>
                <a:latin typeface="Cambria" pitchFamily="34" charset="0"/>
                <a:ea typeface="Cambria" pitchFamily="34" charset="-122"/>
                <a:cs typeface="Cambria" pitchFamily="34" charset="-120"/>
              </a:rPr>
              <a:t>SELECT ... WHERE Quantity &lt; @p0</a:t>
            </a:r>
            <a:endParaRPr lang="en-US" sz="1350" dirty="0"/>
          </a:p>
        </p:txBody>
      </p:sp>
      <p:sp>
        <p:nvSpPr>
          <p:cNvPr id="14" name="Shape 12"/>
          <p:cNvSpPr/>
          <p:nvPr/>
        </p:nvSpPr>
        <p:spPr>
          <a:xfrm>
            <a:off x="8823731" y="2121408"/>
            <a:ext cx="201168" cy="182880"/>
          </a:xfrm>
          <a:prstGeom prst="chevron">
            <a:avLst/>
          </a:prstGeom>
          <a:solidFill>
            <a:srgbClr val="3333B3"/>
          </a:solidFill>
          <a:ln w="12700">
            <a:solidFill>
              <a:srgbClr val="3333B3"/>
            </a:solidFill>
            <a:prstDash val="solid"/>
          </a:ln>
        </p:spPr>
      </p:sp>
      <p:sp>
        <p:nvSpPr>
          <p:cNvPr id="15" name="Shape 13"/>
          <p:cNvSpPr/>
          <p:nvPr/>
        </p:nvSpPr>
        <p:spPr>
          <a:xfrm>
            <a:off x="9079763" y="1664208"/>
            <a:ext cx="2517572" cy="1097280"/>
          </a:xfrm>
          <a:prstGeom prst="rect">
            <a:avLst/>
          </a:prstGeom>
          <a:solidFill>
            <a:srgbClr val="EDEDF7"/>
          </a:solidFill>
          <a:ln w="9525">
            <a:solidFill>
              <a:srgbClr val="C9C9EA"/>
            </a:solidFill>
            <a:prstDash val="solid"/>
          </a:ln>
        </p:spPr>
      </p:sp>
      <p:sp>
        <p:nvSpPr>
          <p:cNvPr id="16" name="Text 14"/>
          <p:cNvSpPr txBox="1"/>
          <p:nvPr/>
        </p:nvSpPr>
        <p:spPr>
          <a:xfrm>
            <a:off x="9189491" y="1664208"/>
            <a:ext cx="2298116" cy="1097280"/>
          </a:xfrm>
          <a:prstGeom prst="rect">
            <a:avLst/>
          </a:prstGeom>
          <a:noFill/>
          <a:ln/>
        </p:spPr>
        <p:txBody>
          <a:bodyPr wrap="square" lIns="0" tIns="0" rIns="0" bIns="0" rtlCol="0" anchor="ctr"/>
          <a:lstStyle/>
          <a:p>
            <a:pPr algn="ctr" indent="0" marL="0">
              <a:buNone/>
            </a:pPr>
            <a:r>
              <a:rPr lang="en-US" sz="1350" b="1" dirty="0">
                <a:solidFill>
                  <a:srgbClr val="22226B"/>
                </a:solidFill>
                <a:latin typeface="Cambria" pitchFamily="34" charset="0"/>
                <a:ea typeface="Cambria" pitchFamily="34" charset="-122"/>
                <a:cs typeface="Cambria" pitchFamily="34" charset="-120"/>
              </a:rPr>
              <a:t>Objects back</a:t>
            </a:r>
            <a:endParaRPr lang="en-US" sz="1350" dirty="0"/>
          </a:p>
          <a:p>
            <a:pPr algn="ctr" indent="0" marL="0">
              <a:buNone/>
            </a:pPr>
            <a:r>
              <a:rPr lang="en-US" sz="1050" dirty="0">
                <a:solidFill>
                  <a:srgbClr val="3E3E5A"/>
                </a:solidFill>
                <a:latin typeface="Cambria" pitchFamily="34" charset="0"/>
                <a:ea typeface="Cambria" pitchFamily="34" charset="-122"/>
                <a:cs typeface="Cambria" pitchFamily="34" charset="-120"/>
              </a:rPr>
              <a:t>A List&lt;SparePart&gt;, tracked</a:t>
            </a:r>
            <a:endParaRPr lang="en-US" sz="1350" dirty="0"/>
          </a:p>
        </p:txBody>
      </p:sp>
      <p:sp>
        <p:nvSpPr>
          <p:cNvPr id="17" name="Shape 15"/>
          <p:cNvSpPr/>
          <p:nvPr/>
        </p:nvSpPr>
        <p:spPr>
          <a:xfrm>
            <a:off x="594360" y="3017520"/>
            <a:ext cx="5394960" cy="402336"/>
          </a:xfrm>
          <a:prstGeom prst="rect">
            <a:avLst/>
          </a:prstGeom>
          <a:solidFill>
            <a:srgbClr val="3333B3"/>
          </a:solidFill>
          <a:ln w="12700">
            <a:solidFill>
              <a:srgbClr val="3333B3"/>
            </a:solidFill>
            <a:prstDash val="solid"/>
          </a:ln>
        </p:spPr>
      </p:sp>
      <p:sp>
        <p:nvSpPr>
          <p:cNvPr id="18" name="Text 16"/>
          <p:cNvSpPr txBox="1"/>
          <p:nvPr/>
        </p:nvSpPr>
        <p:spPr>
          <a:xfrm>
            <a:off x="777240" y="3017520"/>
            <a:ext cx="5029200" cy="402336"/>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What you gain</a:t>
            </a:r>
            <a:endParaRPr lang="en-US" sz="1500" dirty="0"/>
          </a:p>
        </p:txBody>
      </p:sp>
      <p:sp>
        <p:nvSpPr>
          <p:cNvPr id="19" name="Shape 17"/>
          <p:cNvSpPr/>
          <p:nvPr/>
        </p:nvSpPr>
        <p:spPr>
          <a:xfrm>
            <a:off x="594360" y="3419856"/>
            <a:ext cx="5394960" cy="1014984"/>
          </a:xfrm>
          <a:prstGeom prst="rect">
            <a:avLst/>
          </a:prstGeom>
          <a:solidFill>
            <a:srgbClr val="F4F4FA"/>
          </a:solidFill>
          <a:ln w="9525">
            <a:solidFill>
              <a:srgbClr val="C9C9EA"/>
            </a:solidFill>
            <a:prstDash val="solid"/>
          </a:ln>
        </p:spPr>
      </p:sp>
      <p:sp>
        <p:nvSpPr>
          <p:cNvPr id="20" name="Text 18"/>
          <p:cNvSpPr txBox="1"/>
          <p:nvPr/>
        </p:nvSpPr>
        <p:spPr>
          <a:xfrm>
            <a:off x="813816" y="3566160"/>
            <a:ext cx="4956048" cy="740664"/>
          </a:xfrm>
          <a:prstGeom prst="rect">
            <a:avLst/>
          </a:prstGeom>
          <a:noFill/>
          <a:ln/>
        </p:spPr>
        <p:txBody>
          <a:bodyPr wrap="square" lIns="0" tIns="0" rIns="0" bIns="0" rtlCol="0" anchor="t"/>
          <a:lstStyle/>
          <a:p>
            <a:pPr marL="177800" indent="-177800">
              <a:spcAft>
                <a:spcPts val="700"/>
              </a:spcAft>
              <a:buSzPct val="100000"/>
              <a:buChar char="▸"/>
            </a:pPr>
            <a:r>
              <a:rPr lang="en-US" sz="1200" dirty="0">
                <a:solidFill>
                  <a:srgbClr val="3E3E5A"/>
                </a:solidFill>
                <a:latin typeface="Cambria" pitchFamily="34" charset="0"/>
                <a:ea typeface="Cambria" pitchFamily="34" charset="-122"/>
                <a:cs typeface="Cambria" pitchFamily="34" charset="-120"/>
              </a:rPr>
              <a:t>Queries are parameterised, so injection is closed by default</a:t>
            </a:r>
            <a:endParaRPr lang="en-US" sz="1200" dirty="0"/>
          </a:p>
          <a:p>
            <a:pPr marL="177800" indent="-177800">
              <a:spcAft>
                <a:spcPts val="700"/>
              </a:spcAft>
              <a:buSzPct val="100000"/>
              <a:buChar char="▸"/>
            </a:pPr>
            <a:r>
              <a:rPr lang="en-US" sz="1200" dirty="0">
                <a:solidFill>
                  <a:srgbClr val="3E3E5A"/>
                </a:solidFill>
                <a:latin typeface="Cambria" pitchFamily="34" charset="0"/>
                <a:ea typeface="Cambria" pitchFamily="34" charset="-122"/>
                <a:cs typeface="Cambria" pitchFamily="34" charset="-120"/>
              </a:rPr>
              <a:t>Change tracking writes only what actually changed</a:t>
            </a:r>
            <a:endParaRPr lang="en-US" sz="1200" dirty="0"/>
          </a:p>
          <a:p>
            <a:pPr marL="177800" indent="-177800">
              <a:spcAft>
                <a:spcPts val="700"/>
              </a:spcAft>
              <a:buSzPct val="100000"/>
              <a:buChar char="▸"/>
            </a:pPr>
            <a:r>
              <a:rPr lang="en-US" sz="1200" dirty="0">
                <a:solidFill>
                  <a:srgbClr val="3E3E5A"/>
                </a:solidFill>
                <a:latin typeface="Cambria" pitchFamily="34" charset="0"/>
                <a:ea typeface="Cambria" pitchFamily="34" charset="-122"/>
                <a:cs typeface="Cambria" pitchFamily="34" charset="-120"/>
              </a:rPr>
              <a:t>The schema and the model stay in step through migrations</a:t>
            </a:r>
            <a:endParaRPr lang="en-US" sz="1200" dirty="0"/>
          </a:p>
        </p:txBody>
      </p:sp>
      <p:sp>
        <p:nvSpPr>
          <p:cNvPr id="21" name="Shape 19"/>
          <p:cNvSpPr/>
          <p:nvPr/>
        </p:nvSpPr>
        <p:spPr>
          <a:xfrm>
            <a:off x="6199632" y="3017520"/>
            <a:ext cx="5394960" cy="402336"/>
          </a:xfrm>
          <a:prstGeom prst="rect">
            <a:avLst/>
          </a:prstGeom>
          <a:solidFill>
            <a:srgbClr val="3333B3"/>
          </a:solidFill>
          <a:ln w="12700">
            <a:solidFill>
              <a:srgbClr val="3333B3"/>
            </a:solidFill>
            <a:prstDash val="solid"/>
          </a:ln>
        </p:spPr>
      </p:sp>
      <p:sp>
        <p:nvSpPr>
          <p:cNvPr id="22" name="Text 20"/>
          <p:cNvSpPr txBox="1"/>
          <p:nvPr/>
        </p:nvSpPr>
        <p:spPr>
          <a:xfrm>
            <a:off x="6382512" y="3017520"/>
            <a:ext cx="5029200" cy="402336"/>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What it costs</a:t>
            </a:r>
            <a:endParaRPr lang="en-US" sz="1500" dirty="0"/>
          </a:p>
        </p:txBody>
      </p:sp>
      <p:sp>
        <p:nvSpPr>
          <p:cNvPr id="23" name="Shape 21"/>
          <p:cNvSpPr/>
          <p:nvPr/>
        </p:nvSpPr>
        <p:spPr>
          <a:xfrm>
            <a:off x="6199632" y="3419856"/>
            <a:ext cx="5394960" cy="1014984"/>
          </a:xfrm>
          <a:prstGeom prst="rect">
            <a:avLst/>
          </a:prstGeom>
          <a:solidFill>
            <a:srgbClr val="F4F4FA"/>
          </a:solidFill>
          <a:ln w="9525">
            <a:solidFill>
              <a:srgbClr val="C9C9EA"/>
            </a:solidFill>
            <a:prstDash val="solid"/>
          </a:ln>
        </p:spPr>
      </p:sp>
      <p:sp>
        <p:nvSpPr>
          <p:cNvPr id="24" name="Text 22"/>
          <p:cNvSpPr txBox="1"/>
          <p:nvPr/>
        </p:nvSpPr>
        <p:spPr>
          <a:xfrm>
            <a:off x="6419088" y="3566160"/>
            <a:ext cx="4956048" cy="740664"/>
          </a:xfrm>
          <a:prstGeom prst="rect">
            <a:avLst/>
          </a:prstGeom>
          <a:noFill/>
          <a:ln/>
        </p:spPr>
        <p:txBody>
          <a:bodyPr wrap="square" lIns="0" tIns="0" rIns="0" bIns="0" rtlCol="0" anchor="t"/>
          <a:lstStyle/>
          <a:p>
            <a:pPr marL="177800" indent="-177800">
              <a:spcAft>
                <a:spcPts val="700"/>
              </a:spcAft>
              <a:buSzPct val="100000"/>
              <a:buChar char="▸"/>
            </a:pPr>
            <a:r>
              <a:rPr lang="en-US" sz="1200" dirty="0">
                <a:solidFill>
                  <a:srgbClr val="3E3E5A"/>
                </a:solidFill>
                <a:latin typeface="Cambria" pitchFamily="34" charset="0"/>
                <a:ea typeface="Cambria" pitchFamily="34" charset="-122"/>
                <a:cs typeface="Cambria" pitchFamily="34" charset="-120"/>
              </a:rPr>
              <a:t>A careless LINQ query can generate terrible SQL</a:t>
            </a:r>
            <a:endParaRPr lang="en-US" sz="1200" dirty="0"/>
          </a:p>
          <a:p>
            <a:pPr marL="177800" indent="-177800">
              <a:spcAft>
                <a:spcPts val="700"/>
              </a:spcAft>
              <a:buSzPct val="100000"/>
              <a:buChar char="▸"/>
            </a:pPr>
            <a:r>
              <a:rPr lang="en-US" sz="1200" dirty="0">
                <a:solidFill>
                  <a:srgbClr val="3E3E5A"/>
                </a:solidFill>
                <a:latin typeface="Cambria" pitchFamily="34" charset="0"/>
                <a:ea typeface="Cambria" pitchFamily="34" charset="-122"/>
                <a:cs typeface="Cambria" pitchFamily="34" charset="-120"/>
              </a:rPr>
              <a:t>Lazy loading can fire hundreds of queries in a loop</a:t>
            </a:r>
            <a:endParaRPr lang="en-US" sz="1200" dirty="0"/>
          </a:p>
          <a:p>
            <a:pPr marL="177800" indent="-177800">
              <a:spcAft>
                <a:spcPts val="700"/>
              </a:spcAft>
              <a:buSzPct val="100000"/>
              <a:buChar char="▸"/>
            </a:pPr>
            <a:r>
              <a:rPr lang="en-US" sz="1200" dirty="0">
                <a:solidFill>
                  <a:srgbClr val="3E3E5A"/>
                </a:solidFill>
                <a:latin typeface="Cambria" pitchFamily="34" charset="0"/>
                <a:ea typeface="Cambria" pitchFamily="34" charset="-122"/>
                <a:cs typeface="Cambria" pitchFamily="34" charset="-120"/>
              </a:rPr>
              <a:t>You still need to read execution plans — that is Day 5</a:t>
            </a:r>
            <a:endParaRPr lang="en-US" sz="1200" dirty="0"/>
          </a:p>
        </p:txBody>
      </p:sp>
      <p:sp>
        <p:nvSpPr>
          <p:cNvPr id="25" name="Shape 23"/>
          <p:cNvSpPr/>
          <p:nvPr/>
        </p:nvSpPr>
        <p:spPr>
          <a:xfrm>
            <a:off x="594360" y="4617720"/>
            <a:ext cx="11002975" cy="1033272"/>
          </a:xfrm>
          <a:prstGeom prst="rect">
            <a:avLst/>
          </a:prstGeom>
          <a:solidFill>
            <a:srgbClr val="F4F4FA"/>
          </a:solidFill>
          <a:ln w="9525">
            <a:solidFill>
              <a:srgbClr val="C9C9EA"/>
            </a:solidFill>
            <a:prstDash val="solid"/>
          </a:ln>
        </p:spPr>
      </p:sp>
      <p:sp>
        <p:nvSpPr>
          <p:cNvPr id="26" name="Text 24"/>
          <p:cNvSpPr txBox="1"/>
          <p:nvPr/>
        </p:nvSpPr>
        <p:spPr>
          <a:xfrm>
            <a:off x="813816" y="4773168"/>
            <a:ext cx="10564063" cy="219456"/>
          </a:xfrm>
          <a:prstGeom prst="rect">
            <a:avLst/>
          </a:prstGeom>
          <a:noFill/>
          <a:ln/>
        </p:spPr>
        <p:txBody>
          <a:bodyPr wrap="square" lIns="0" tIns="0" rIns="0" bIns="0" rtlCol="0" anchor="ctr"/>
          <a:lstStyle/>
          <a:p>
            <a:pPr indent="0" marL="0">
              <a:buNone/>
            </a:pPr>
            <a:r>
              <a:rPr lang="en-US" sz="950" b="1" spc="140" kern="0" dirty="0">
                <a:solidFill>
                  <a:srgbClr val="3333B3"/>
                </a:solidFill>
                <a:latin typeface="Cambria" pitchFamily="34" charset="0"/>
                <a:ea typeface="Cambria" pitchFamily="34" charset="-122"/>
                <a:cs typeface="Cambria" pitchFamily="34" charset="-120"/>
              </a:rPr>
              <a:t>READING THE GENERATED SQL IS NOT OPTIONAL</a:t>
            </a:r>
            <a:endParaRPr lang="en-US" sz="950" dirty="0"/>
          </a:p>
        </p:txBody>
      </p:sp>
      <p:sp>
        <p:nvSpPr>
          <p:cNvPr id="27" name="Text 25"/>
          <p:cNvSpPr txBox="1"/>
          <p:nvPr/>
        </p:nvSpPr>
        <p:spPr>
          <a:xfrm>
            <a:off x="813816" y="5065776"/>
            <a:ext cx="10564063" cy="457200"/>
          </a:xfrm>
          <a:prstGeom prst="rect">
            <a:avLst/>
          </a:prstGeom>
          <a:noFill/>
          <a:ln/>
        </p:spPr>
        <p:txBody>
          <a:bodyPr wrap="square" lIns="0" tIns="0" rIns="0" bIns="0" rtlCol="0" anchor="t"/>
          <a:lstStyle/>
          <a:p>
            <a:pPr indent="0" marL="0">
              <a:lnSpc>
                <a:spcPts val="1485"/>
              </a:lnSpc>
              <a:buNone/>
            </a:pPr>
            <a:r>
              <a:rPr lang="en-US" sz="1100" dirty="0">
                <a:solidFill>
                  <a:srgbClr val="1A1A33"/>
                </a:solidFill>
                <a:latin typeface="Courier New" pitchFamily="34" charset="0"/>
                <a:ea typeface="Courier New" pitchFamily="34" charset="-122"/>
                <a:cs typeface="Courier New" pitchFamily="34" charset="-120"/>
              </a:rPr>
              <a:t>var low = await _db.Parts.Where(p =&gt; p.Quantity &lt; 5).OrderBy(p =&gt; p.PartNo).ToListAsync();</a:t>
            </a:r>
            <a:endParaRPr lang="en-US" sz="1100" dirty="0"/>
          </a:p>
          <a:p>
            <a:pPr indent="0" marL="0">
              <a:lnSpc>
                <a:spcPts val="1485"/>
              </a:lnSpc>
              <a:buNone/>
            </a:pPr>
            <a:r>
              <a:rPr lang="en-US" sz="1100" dirty="0">
                <a:solidFill>
                  <a:srgbClr val="1A1A33"/>
                </a:solidFill>
                <a:latin typeface="Courier New" pitchFamily="34" charset="0"/>
                <a:ea typeface="Courier New" pitchFamily="34" charset="-122"/>
                <a:cs typeface="Courier New" pitchFamily="34" charset="-120"/>
              </a:rPr>
              <a:t>// log it: builder.Services.AddDbContext&lt;AppDbContext&gt;(o =&gt; o.LogTo(Console.WriteLine));</a:t>
            </a:r>
            <a:endParaRPr lang="en-US" sz="1100" dirty="0"/>
          </a:p>
        </p:txBody>
      </p:sp>
      <p:sp>
        <p:nvSpPr>
          <p:cNvPr id="28" name="Shape 26"/>
          <p:cNvSpPr/>
          <p:nvPr/>
        </p:nvSpPr>
        <p:spPr>
          <a:xfrm>
            <a:off x="0" y="6400800"/>
            <a:ext cx="3840480" cy="457200"/>
          </a:xfrm>
          <a:prstGeom prst="rect">
            <a:avLst/>
          </a:prstGeom>
          <a:solidFill>
            <a:srgbClr val="22226B"/>
          </a:solidFill>
          <a:ln w="12700">
            <a:solidFill>
              <a:srgbClr val="22226B"/>
            </a:solidFill>
            <a:prstDash val="solid"/>
          </a:ln>
        </p:spPr>
      </p:sp>
      <p:sp>
        <p:nvSpPr>
          <p:cNvPr id="29" name="Text 27"/>
          <p:cNvSpPr txBox="1"/>
          <p:nvPr/>
        </p:nvSpPr>
        <p:spPr>
          <a:xfrm>
            <a:off x="164592" y="6400800"/>
            <a:ext cx="3511296" cy="457200"/>
          </a:xfrm>
          <a:prstGeom prst="rect">
            <a:avLst/>
          </a:prstGeom>
          <a:noFill/>
          <a:ln/>
        </p:spPr>
        <p:txBody>
          <a:bodyPr wrap="square" lIns="0" tIns="0" rIns="0" bIns="0" rtlCol="0" anchor="ctr"/>
          <a:lstStyle/>
          <a:p>
            <a:pPr algn="l" indent="0" marL="0">
              <a:buNone/>
            </a:pPr>
            <a:r>
              <a:rPr lang="en-US" sz="950" dirty="0">
                <a:solidFill>
                  <a:srgbClr val="FFFFFF"/>
                </a:solidFill>
                <a:latin typeface="Cambria" pitchFamily="34" charset="0"/>
                <a:ea typeface="Cambria" pitchFamily="34" charset="-122"/>
                <a:cs typeface="Cambria" pitchFamily="34" charset="-120"/>
              </a:rPr>
              <a:t>HAL  ·  .NET, React &amp; SQL Programme</a:t>
            </a:r>
            <a:endParaRPr lang="en-US" sz="950" dirty="0"/>
          </a:p>
        </p:txBody>
      </p:sp>
      <p:sp>
        <p:nvSpPr>
          <p:cNvPr id="30" name="Shape 28"/>
          <p:cNvSpPr/>
          <p:nvPr/>
        </p:nvSpPr>
        <p:spPr>
          <a:xfrm>
            <a:off x="3840480" y="6400800"/>
            <a:ext cx="6675120" cy="457200"/>
          </a:xfrm>
          <a:prstGeom prst="rect">
            <a:avLst/>
          </a:prstGeom>
          <a:solidFill>
            <a:srgbClr val="3333B3"/>
          </a:solidFill>
          <a:ln w="12700">
            <a:solidFill>
              <a:srgbClr val="3333B3"/>
            </a:solidFill>
            <a:prstDash val="solid"/>
          </a:ln>
        </p:spPr>
      </p:sp>
      <p:sp>
        <p:nvSpPr>
          <p:cNvPr id="31" name="Text 29"/>
          <p:cNvSpPr txBox="1"/>
          <p:nvPr/>
        </p:nvSpPr>
        <p:spPr>
          <a:xfrm>
            <a:off x="4005072" y="6400800"/>
            <a:ext cx="6345936" cy="457200"/>
          </a:xfrm>
          <a:prstGeom prst="rect">
            <a:avLst/>
          </a:prstGeom>
          <a:noFill/>
          <a:ln/>
        </p:spPr>
        <p:txBody>
          <a:bodyPr wrap="square" lIns="0" tIns="0" rIns="0" bIns="0" rtlCol="0" anchor="ctr"/>
          <a:lstStyle/>
          <a:p>
            <a:pPr algn="l" indent="0" marL="0">
              <a:buNone/>
            </a:pPr>
            <a:r>
              <a:rPr lang="en-US" sz="950" dirty="0">
                <a:solidFill>
                  <a:srgbClr val="FFFFFF"/>
                </a:solidFill>
                <a:latin typeface="Cambria" pitchFamily="34" charset="0"/>
                <a:ea typeface="Cambria" pitchFamily="34" charset="-122"/>
                <a:cs typeface="Cambria" pitchFamily="34" charset="-120"/>
              </a:rPr>
              <a:t>Day 2 · Session 2 — Connecting the API to Data</a:t>
            </a:r>
            <a:endParaRPr lang="en-US" sz="950" dirty="0"/>
          </a:p>
        </p:txBody>
      </p:sp>
      <p:sp>
        <p:nvSpPr>
          <p:cNvPr id="32" name="Shape 30"/>
          <p:cNvSpPr/>
          <p:nvPr/>
        </p:nvSpPr>
        <p:spPr>
          <a:xfrm>
            <a:off x="10515600" y="6400800"/>
            <a:ext cx="1676095" cy="457200"/>
          </a:xfrm>
          <a:prstGeom prst="rect">
            <a:avLst/>
          </a:prstGeom>
          <a:solidFill>
            <a:srgbClr val="22226B"/>
          </a:solidFill>
          <a:ln w="12700">
            <a:solidFill>
              <a:srgbClr val="22226B"/>
            </a:solidFill>
            <a:prstDash val="solid"/>
          </a:ln>
        </p:spPr>
      </p:sp>
      <p:sp>
        <p:nvSpPr>
          <p:cNvPr id="33" name="Text 31"/>
          <p:cNvSpPr txBox="1"/>
          <p:nvPr/>
        </p:nvSpPr>
        <p:spPr>
          <a:xfrm>
            <a:off x="10680192" y="6400800"/>
            <a:ext cx="1346911" cy="457200"/>
          </a:xfrm>
          <a:prstGeom prst="rect">
            <a:avLst/>
          </a:prstGeom>
          <a:noFill/>
          <a:ln/>
        </p:spPr>
        <p:txBody>
          <a:bodyPr wrap="square" lIns="0" tIns="0" rIns="0" bIns="0" rtlCol="0" anchor="ctr"/>
          <a:lstStyle/>
          <a:p>
            <a:pPr algn="ctr" indent="0" marL="0">
              <a:buNone/>
            </a:pPr>
            <a:r>
              <a:rPr lang="en-US" sz="950" dirty="0">
                <a:solidFill>
                  <a:srgbClr val="FFFFFF"/>
                </a:solidFill>
                <a:latin typeface="Cambria" pitchFamily="34" charset="0"/>
                <a:ea typeface="Cambria" pitchFamily="34" charset="-122"/>
                <a:cs typeface="Cambria" pitchFamily="34" charset="-120"/>
              </a:rPr>
              <a:t>3</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365760"/>
          </a:xfrm>
          <a:prstGeom prst="rect">
            <a:avLst/>
          </a:prstGeom>
          <a:solidFill>
            <a:srgbClr val="22226B"/>
          </a:solidFill>
          <a:ln w="12700">
            <a:solidFill>
              <a:srgbClr val="22226B"/>
            </a:solidFill>
            <a:prstDash val="solid"/>
          </a:ln>
        </p:spPr>
      </p:sp>
      <p:sp>
        <p:nvSpPr>
          <p:cNvPr id="3" name="Text 1"/>
          <p:cNvSpPr txBox="1"/>
          <p:nvPr/>
        </p:nvSpPr>
        <p:spPr>
          <a:xfrm>
            <a:off x="594360" y="0"/>
            <a:ext cx="11002975" cy="365760"/>
          </a:xfrm>
          <a:prstGeom prst="rect">
            <a:avLst/>
          </a:prstGeom>
          <a:noFill/>
          <a:ln/>
        </p:spPr>
        <p:txBody>
          <a:bodyPr wrap="square" lIns="0" tIns="0" rIns="0" bIns="0" rtlCol="0" anchor="ctr"/>
          <a:lstStyle/>
          <a:p>
            <a:pPr indent="0" marL="0">
              <a:buNone/>
            </a:pPr>
            <a:r>
              <a:rPr lang="en-US" sz="1000" b="1" spc="180" kern="0" dirty="0">
                <a:solidFill>
                  <a:srgbClr val="C9C9EA"/>
                </a:solidFill>
                <a:latin typeface="Cambria" pitchFamily="34" charset="0"/>
                <a:ea typeface="Cambria" pitchFamily="34" charset="-122"/>
                <a:cs typeface="Cambria" pitchFamily="34" charset="-120"/>
              </a:rPr>
              <a:t>ENTITIES AND MAPPING</a:t>
            </a:r>
            <a:endParaRPr lang="en-US" sz="1000" dirty="0"/>
          </a:p>
        </p:txBody>
      </p:sp>
      <p:sp>
        <p:nvSpPr>
          <p:cNvPr id="4" name="Shape 2"/>
          <p:cNvSpPr/>
          <p:nvPr/>
        </p:nvSpPr>
        <p:spPr>
          <a:xfrm>
            <a:off x="0" y="365760"/>
            <a:ext cx="12191695" cy="841248"/>
          </a:xfrm>
          <a:prstGeom prst="rect">
            <a:avLst/>
          </a:prstGeom>
          <a:solidFill>
            <a:srgbClr val="3333B3"/>
          </a:solidFill>
          <a:ln w="12700">
            <a:solidFill>
              <a:srgbClr val="3333B3"/>
            </a:solidFill>
            <a:prstDash val="solid"/>
          </a:ln>
        </p:spPr>
      </p:sp>
      <p:sp>
        <p:nvSpPr>
          <p:cNvPr id="5" name="Text 3"/>
          <p:cNvSpPr txBox="1"/>
          <p:nvPr/>
        </p:nvSpPr>
        <p:spPr>
          <a:xfrm>
            <a:off x="594360" y="365760"/>
            <a:ext cx="11002975" cy="841248"/>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A class becomes a table</a:t>
            </a:r>
            <a:endParaRPr lang="en-US" sz="2600" dirty="0"/>
          </a:p>
        </p:txBody>
      </p:sp>
      <p:sp>
        <p:nvSpPr>
          <p:cNvPr id="6" name="Shape 4"/>
          <p:cNvSpPr/>
          <p:nvPr/>
        </p:nvSpPr>
        <p:spPr>
          <a:xfrm>
            <a:off x="594360" y="1627632"/>
            <a:ext cx="5806440" cy="2532888"/>
          </a:xfrm>
          <a:prstGeom prst="rect">
            <a:avLst/>
          </a:prstGeom>
          <a:solidFill>
            <a:srgbClr val="F4F4FA"/>
          </a:solidFill>
          <a:ln w="9525">
            <a:solidFill>
              <a:srgbClr val="C9C9EA"/>
            </a:solidFill>
            <a:prstDash val="solid"/>
          </a:ln>
        </p:spPr>
      </p:sp>
      <p:sp>
        <p:nvSpPr>
          <p:cNvPr id="7" name="Text 5"/>
          <p:cNvSpPr txBox="1"/>
          <p:nvPr/>
        </p:nvSpPr>
        <p:spPr>
          <a:xfrm>
            <a:off x="813816" y="1783080"/>
            <a:ext cx="5367528" cy="219456"/>
          </a:xfrm>
          <a:prstGeom prst="rect">
            <a:avLst/>
          </a:prstGeom>
          <a:noFill/>
          <a:ln/>
        </p:spPr>
        <p:txBody>
          <a:bodyPr wrap="square" lIns="0" tIns="0" rIns="0" bIns="0" rtlCol="0" anchor="ctr"/>
          <a:lstStyle/>
          <a:p>
            <a:pPr indent="0" marL="0">
              <a:buNone/>
            </a:pPr>
            <a:r>
              <a:rPr lang="en-US" sz="950" b="1" spc="140" kern="0" dirty="0">
                <a:solidFill>
                  <a:srgbClr val="3333B3"/>
                </a:solidFill>
                <a:latin typeface="Cambria" pitchFamily="34" charset="0"/>
                <a:ea typeface="Cambria" pitchFamily="34" charset="-122"/>
                <a:cs typeface="Cambria" pitchFamily="34" charset="-120"/>
              </a:rPr>
              <a:t>CONVENTIONS DO MOST OF THE WORK</a:t>
            </a:r>
            <a:endParaRPr lang="en-US" sz="950" dirty="0"/>
          </a:p>
        </p:txBody>
      </p:sp>
      <p:sp>
        <p:nvSpPr>
          <p:cNvPr id="8" name="Text 6"/>
          <p:cNvSpPr txBox="1"/>
          <p:nvPr/>
        </p:nvSpPr>
        <p:spPr>
          <a:xfrm>
            <a:off x="813816" y="2075688"/>
            <a:ext cx="5367528" cy="1956816"/>
          </a:xfrm>
          <a:prstGeom prst="rect">
            <a:avLst/>
          </a:prstGeom>
          <a:noFill/>
          <a:ln/>
        </p:spPr>
        <p:txBody>
          <a:bodyPr wrap="square" lIns="0" tIns="0" rIns="0" bIns="0" rtlCol="0" anchor="t"/>
          <a:lstStyle/>
          <a:p>
            <a:pPr indent="0" marL="0">
              <a:lnSpc>
                <a:spcPts val="1418"/>
              </a:lnSpc>
              <a:buNone/>
            </a:pPr>
            <a:r>
              <a:rPr lang="en-US" sz="1050" dirty="0">
                <a:solidFill>
                  <a:srgbClr val="1A1A33"/>
                </a:solidFill>
                <a:latin typeface="Courier New" pitchFamily="34" charset="0"/>
                <a:ea typeface="Courier New" pitchFamily="34" charset="-122"/>
                <a:cs typeface="Courier New" pitchFamily="34" charset="-120"/>
              </a:rPr>
              <a:t>public class SparePart</a:t>
            </a:r>
            <a:endParaRPr lang="en-US" sz="1050" dirty="0"/>
          </a:p>
          <a:p>
            <a:pPr indent="0" marL="0">
              <a:lnSpc>
                <a:spcPts val="1418"/>
              </a:lnSpc>
              <a:buNone/>
            </a:pPr>
            <a:r>
              <a:rPr lang="en-US" sz="1050" dirty="0">
                <a:solidFill>
                  <a:srgbClr val="1A1A33"/>
                </a:solidFill>
                <a:latin typeface="Courier New" pitchFamily="34" charset="0"/>
                <a:ea typeface="Courier New" pitchFamily="34" charset="-122"/>
                <a:cs typeface="Courier New" pitchFamily="34" charset="-120"/>
              </a:rPr>
              <a:t>{</a:t>
            </a:r>
            <a:endParaRPr lang="en-US" sz="1050" dirty="0"/>
          </a:p>
          <a:p>
            <a:pPr indent="0" marL="0">
              <a:lnSpc>
                <a:spcPts val="1418"/>
              </a:lnSpc>
              <a:buNone/>
            </a:pPr>
            <a:r>
              <a:rPr lang="en-US" sz="1050" dirty="0">
                <a:solidFill>
                  <a:srgbClr val="1A1A33"/>
                </a:solidFill>
                <a:latin typeface="Courier New" pitchFamily="34" charset="0"/>
                <a:ea typeface="Courier New" pitchFamily="34" charset="-122"/>
                <a:cs typeface="Courier New" pitchFamily="34" charset="-120"/>
              </a:rPr>
              <a:t>  public int Id { get; set; }        // key</a:t>
            </a:r>
            <a:endParaRPr lang="en-US" sz="1050" dirty="0"/>
          </a:p>
          <a:p>
            <a:pPr indent="0" marL="0">
              <a:lnSpc>
                <a:spcPts val="1418"/>
              </a:lnSpc>
              <a:buNone/>
            </a:pPr>
            <a:r>
              <a:rPr lang="en-US" sz="1050" dirty="0">
                <a:solidFill>
                  <a:srgbClr val="1A1A33"/>
                </a:solidFill>
                <a:latin typeface="Courier New" pitchFamily="34" charset="0"/>
                <a:ea typeface="Courier New" pitchFamily="34" charset="-122"/>
                <a:cs typeface="Courier New" pitchFamily="34" charset="-120"/>
              </a:rPr>
              <a:t>  public string PartNo { get; set; }</a:t>
            </a:r>
            <a:endParaRPr lang="en-US" sz="1050" dirty="0"/>
          </a:p>
          <a:p>
            <a:pPr indent="0" marL="0">
              <a:lnSpc>
                <a:spcPts val="1418"/>
              </a:lnSpc>
              <a:buNone/>
            </a:pPr>
            <a:r>
              <a:rPr lang="en-US" sz="1050" dirty="0">
                <a:solidFill>
                  <a:srgbClr val="1A1A33"/>
                </a:solidFill>
                <a:latin typeface="Courier New" pitchFamily="34" charset="0"/>
                <a:ea typeface="Courier New" pitchFamily="34" charset="-122"/>
                <a:cs typeface="Courier New" pitchFamily="34" charset="-120"/>
              </a:rPr>
              <a:t>  public int Quantity { get; set; }</a:t>
            </a:r>
            <a:endParaRPr lang="en-US" sz="1050" dirty="0"/>
          </a:p>
          <a:p>
            <a:pPr indent="0" marL="0">
              <a:lnSpc>
                <a:spcPts val="1418"/>
              </a:lnSpc>
              <a:buNone/>
            </a:pPr>
            <a:r>
              <a:rPr lang="en-US" sz="1050" dirty="0">
                <a:solidFill>
                  <a:srgbClr val="1A1A33"/>
                </a:solidFill>
                <a:latin typeface="Courier New" pitchFamily="34" charset="0"/>
                <a:ea typeface="Courier New" pitchFamily="34" charset="-122"/>
                <a:cs typeface="Courier New" pitchFamily="34" charset="-120"/>
              </a:rPr>
              <a:t>  public DateTime? LastIssuedOn { get; set; }</a:t>
            </a:r>
            <a:endParaRPr lang="en-US" sz="1050" dirty="0"/>
          </a:p>
          <a:p>
            <a:pPr indent="0" marL="0">
              <a:lnSpc>
                <a:spcPts val="1418"/>
              </a:lnSpc>
              <a:buNone/>
            </a:pPr>
            <a:r>
              <a:rPr lang="en-US" sz="1050" dirty="0">
                <a:solidFill>
                  <a:srgbClr val="1A1A33"/>
                </a:solidFill>
                <a:latin typeface="Courier New" pitchFamily="34" charset="0"/>
                <a:ea typeface="Courier New" pitchFamily="34" charset="-122"/>
                <a:cs typeface="Courier New" pitchFamily="34" charset="-120"/>
              </a:rPr>
              <a:t>}</a:t>
            </a:r>
            <a:endParaRPr lang="en-US" sz="1050" dirty="0"/>
          </a:p>
          <a:p>
            <a:pPr indent="0" marL="0">
              <a:lnSpc>
                <a:spcPts val="1418"/>
              </a:lnSpc>
              <a:buNone/>
            </a:pPr>
            <a:r>
              <a:rPr lang="en-US" sz="1050" dirty="0">
                <a:solidFill>
                  <a:srgbClr val="1A1A33"/>
                </a:solidFill>
                <a:latin typeface="Courier New" pitchFamily="34" charset="0"/>
                <a:ea typeface="Courier New" pitchFamily="34" charset="-122"/>
                <a:cs typeface="Courier New" pitchFamily="34" charset="-120"/>
              </a:rPr>
              <a:t> </a:t>
            </a:r>
            <a:endParaRPr lang="en-US" sz="1050" dirty="0"/>
          </a:p>
          <a:p>
            <a:pPr indent="0" marL="0">
              <a:lnSpc>
                <a:spcPts val="1418"/>
              </a:lnSpc>
              <a:buNone/>
            </a:pPr>
            <a:r>
              <a:rPr lang="en-US" sz="1050" dirty="0">
                <a:solidFill>
                  <a:srgbClr val="1A1A33"/>
                </a:solidFill>
                <a:latin typeface="Courier New" pitchFamily="34" charset="0"/>
                <a:ea typeface="Courier New" pitchFamily="34" charset="-122"/>
                <a:cs typeface="Courier New" pitchFamily="34" charset="-120"/>
              </a:rPr>
              <a:t>// DbSet name becomes the table name</a:t>
            </a:r>
            <a:endParaRPr lang="en-US" sz="1050" dirty="0"/>
          </a:p>
          <a:p>
            <a:pPr indent="0" marL="0">
              <a:lnSpc>
                <a:spcPts val="1418"/>
              </a:lnSpc>
              <a:buNone/>
            </a:pPr>
            <a:r>
              <a:rPr lang="en-US" sz="1050" dirty="0">
                <a:solidFill>
                  <a:srgbClr val="1A1A33"/>
                </a:solidFill>
                <a:latin typeface="Courier New" pitchFamily="34" charset="0"/>
                <a:ea typeface="Courier New" pitchFamily="34" charset="-122"/>
                <a:cs typeface="Courier New" pitchFamily="34" charset="-120"/>
              </a:rPr>
              <a:t>public DbSet&lt;SparePart&gt; Parts =&gt; Set&lt;SparePart&gt;();</a:t>
            </a:r>
            <a:endParaRPr lang="en-US" sz="1050" dirty="0"/>
          </a:p>
        </p:txBody>
      </p:sp>
      <p:sp>
        <p:nvSpPr>
          <p:cNvPr id="9" name="Shape 7"/>
          <p:cNvSpPr/>
          <p:nvPr/>
        </p:nvSpPr>
        <p:spPr>
          <a:xfrm>
            <a:off x="594360" y="4297680"/>
            <a:ext cx="5806440" cy="402336"/>
          </a:xfrm>
          <a:prstGeom prst="rect">
            <a:avLst/>
          </a:prstGeom>
          <a:solidFill>
            <a:srgbClr val="3333B3"/>
          </a:solidFill>
          <a:ln w="12700">
            <a:solidFill>
              <a:srgbClr val="3333B3"/>
            </a:solidFill>
            <a:prstDash val="solid"/>
          </a:ln>
        </p:spPr>
      </p:sp>
      <p:sp>
        <p:nvSpPr>
          <p:cNvPr id="10" name="Text 8"/>
          <p:cNvSpPr txBox="1"/>
          <p:nvPr/>
        </p:nvSpPr>
        <p:spPr>
          <a:xfrm>
            <a:off x="777240" y="4297680"/>
            <a:ext cx="5440680" cy="402336"/>
          </a:xfrm>
          <a:prstGeom prst="rect">
            <a:avLst/>
          </a:prstGeom>
          <a:noFill/>
          <a:ln/>
        </p:spPr>
        <p:txBody>
          <a:bodyPr wrap="square" lIns="0" tIns="0" rIns="0" bIns="0" rtlCol="0" anchor="ctr"/>
          <a:lstStyle/>
          <a:p>
            <a:pPr indent="0" marL="0">
              <a:buNone/>
            </a:pPr>
            <a:r>
              <a:rPr lang="en-US" sz="1450" b="1" dirty="0">
                <a:solidFill>
                  <a:srgbClr val="FFFFFF"/>
                </a:solidFill>
                <a:latin typeface="Cambria" pitchFamily="34" charset="0"/>
                <a:ea typeface="Cambria" pitchFamily="34" charset="-122"/>
                <a:cs typeface="Cambria" pitchFamily="34" charset="-120"/>
              </a:rPr>
              <a:t>When conventions are not enough</a:t>
            </a:r>
            <a:endParaRPr lang="en-US" sz="1450" dirty="0"/>
          </a:p>
        </p:txBody>
      </p:sp>
      <p:sp>
        <p:nvSpPr>
          <p:cNvPr id="11" name="Shape 9"/>
          <p:cNvSpPr/>
          <p:nvPr/>
        </p:nvSpPr>
        <p:spPr>
          <a:xfrm>
            <a:off x="594360" y="4700016"/>
            <a:ext cx="5806440" cy="1243584"/>
          </a:xfrm>
          <a:prstGeom prst="rect">
            <a:avLst/>
          </a:prstGeom>
          <a:solidFill>
            <a:srgbClr val="F4F4FA"/>
          </a:solidFill>
          <a:ln w="9525">
            <a:solidFill>
              <a:srgbClr val="C9C9EA"/>
            </a:solidFill>
            <a:prstDash val="solid"/>
          </a:ln>
        </p:spPr>
      </p:sp>
      <p:sp>
        <p:nvSpPr>
          <p:cNvPr id="12" name="Text 10"/>
          <p:cNvSpPr txBox="1"/>
          <p:nvPr/>
        </p:nvSpPr>
        <p:spPr>
          <a:xfrm>
            <a:off x="813816" y="4846320"/>
            <a:ext cx="5367528" cy="969264"/>
          </a:xfrm>
          <a:prstGeom prst="rect">
            <a:avLst/>
          </a:prstGeom>
          <a:noFill/>
          <a:ln/>
        </p:spPr>
        <p:txBody>
          <a:bodyPr wrap="square" lIns="0" tIns="0" rIns="0" bIns="0" rtlCol="0" anchor="t"/>
          <a:lstStyle/>
          <a:p>
            <a:pPr indent="0" marL="0">
              <a:lnSpc>
                <a:spcPts val="1553"/>
              </a:lnSpc>
              <a:buNone/>
            </a:pPr>
            <a:r>
              <a:rPr lang="en-US" sz="1150" dirty="0">
                <a:solidFill>
                  <a:srgbClr val="3E3E5A"/>
                </a:solidFill>
                <a:latin typeface="Cambria" pitchFamily="34" charset="0"/>
                <a:ea typeface="Cambria" pitchFamily="34" charset="-122"/>
                <a:cs typeface="Cambria" pitchFamily="34" charset="-120"/>
              </a:rPr>
              <a:t>Use the fluent API in OnModelCreating for column types, lengths, indexes and composite keys. Prefer it to attributes: it keeps mapping detail out of your domain classes.</a:t>
            </a:r>
            <a:endParaRPr lang="en-US" sz="1150" dirty="0"/>
          </a:p>
        </p:txBody>
      </p:sp>
      <p:sp>
        <p:nvSpPr>
          <p:cNvPr id="13" name="Shape 11"/>
          <p:cNvSpPr/>
          <p:nvPr/>
        </p:nvSpPr>
        <p:spPr>
          <a:xfrm>
            <a:off x="6629400" y="1627632"/>
            <a:ext cx="4965192" cy="1024128"/>
          </a:xfrm>
          <a:prstGeom prst="rect">
            <a:avLst/>
          </a:prstGeom>
          <a:solidFill>
            <a:srgbClr val="EDEDF7"/>
          </a:solidFill>
          <a:ln w="9525">
            <a:solidFill>
              <a:srgbClr val="C9C9EA"/>
            </a:solidFill>
            <a:prstDash val="solid"/>
          </a:ln>
        </p:spPr>
      </p:sp>
      <p:sp>
        <p:nvSpPr>
          <p:cNvPr id="14" name="Shape 12"/>
          <p:cNvSpPr/>
          <p:nvPr/>
        </p:nvSpPr>
        <p:spPr>
          <a:xfrm>
            <a:off x="6629400" y="1627632"/>
            <a:ext cx="50292" cy="1024128"/>
          </a:xfrm>
          <a:prstGeom prst="rect">
            <a:avLst/>
          </a:prstGeom>
          <a:solidFill>
            <a:srgbClr val="3333B3"/>
          </a:solidFill>
          <a:ln w="12700">
            <a:solidFill>
              <a:srgbClr val="3333B3"/>
            </a:solidFill>
            <a:prstDash val="solid"/>
          </a:ln>
        </p:spPr>
      </p:sp>
      <p:sp>
        <p:nvSpPr>
          <p:cNvPr id="15" name="Shape 13"/>
          <p:cNvSpPr/>
          <p:nvPr/>
        </p:nvSpPr>
        <p:spPr>
          <a:xfrm>
            <a:off x="6830568" y="1956816"/>
            <a:ext cx="365760" cy="365760"/>
          </a:xfrm>
          <a:prstGeom prst="ellipse">
            <a:avLst/>
          </a:prstGeom>
          <a:solidFill>
            <a:srgbClr val="3333B3"/>
          </a:solidFill>
          <a:ln w="12700">
            <a:solidFill>
              <a:srgbClr val="3333B3"/>
            </a:solidFill>
            <a:prstDash val="solid"/>
          </a:ln>
        </p:spPr>
      </p:sp>
      <p:sp>
        <p:nvSpPr>
          <p:cNvPr id="16" name="Text 14"/>
          <p:cNvSpPr txBox="1"/>
          <p:nvPr/>
        </p:nvSpPr>
        <p:spPr>
          <a:xfrm>
            <a:off x="6830568" y="195681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17" name="Text 15"/>
          <p:cNvSpPr txBox="1"/>
          <p:nvPr/>
        </p:nvSpPr>
        <p:spPr>
          <a:xfrm>
            <a:off x="7360920" y="1627632"/>
            <a:ext cx="4014216" cy="1024128"/>
          </a:xfrm>
          <a:prstGeom prst="rect">
            <a:avLst/>
          </a:prstGeom>
          <a:noFill/>
          <a:ln/>
        </p:spPr>
        <p:txBody>
          <a:bodyPr wrap="square" lIns="0" tIns="0" rIns="0" bIns="0" rtlCol="0" anchor="ctr"/>
          <a:lstStyle/>
          <a:p>
            <a:pPr indent="0" marL="0">
              <a:buNone/>
            </a:pPr>
            <a:r>
              <a:rPr lang="en-US" sz="1350" b="1" dirty="0">
                <a:solidFill>
                  <a:srgbClr val="22226B"/>
                </a:solidFill>
                <a:latin typeface="Cambria" pitchFamily="34" charset="0"/>
                <a:ea typeface="Cambria" pitchFamily="34" charset="-122"/>
                <a:cs typeface="Cambria" pitchFamily="34" charset="-120"/>
              </a:rPr>
              <a:t>Id or ClassNameId is the key</a:t>
            </a:r>
            <a:endParaRPr lang="en-US" sz="1350" dirty="0"/>
          </a:p>
          <a:p>
            <a:pPr indent="0" marL="0">
              <a:buNone/>
            </a:pPr>
            <a:r>
              <a:rPr lang="en-US" sz="1100" dirty="0">
                <a:solidFill>
                  <a:srgbClr val="3E3E5A"/>
                </a:solidFill>
                <a:latin typeface="Cambria" pitchFamily="34" charset="0"/>
                <a:ea typeface="Cambria" pitchFamily="34" charset="-122"/>
                <a:cs typeface="Cambria" pitchFamily="34" charset="-120"/>
              </a:rPr>
              <a:t>By convention, and integer keys become identity columns automatically.</a:t>
            </a:r>
            <a:endParaRPr lang="en-US" sz="1350" dirty="0"/>
          </a:p>
        </p:txBody>
      </p:sp>
      <p:sp>
        <p:nvSpPr>
          <p:cNvPr id="18" name="Shape 16"/>
          <p:cNvSpPr/>
          <p:nvPr/>
        </p:nvSpPr>
        <p:spPr>
          <a:xfrm>
            <a:off x="6629400" y="2779776"/>
            <a:ext cx="4965192" cy="1024128"/>
          </a:xfrm>
          <a:prstGeom prst="rect">
            <a:avLst/>
          </a:prstGeom>
          <a:solidFill>
            <a:srgbClr val="EDEDF7"/>
          </a:solidFill>
          <a:ln w="9525">
            <a:solidFill>
              <a:srgbClr val="C9C9EA"/>
            </a:solidFill>
            <a:prstDash val="solid"/>
          </a:ln>
        </p:spPr>
      </p:sp>
      <p:sp>
        <p:nvSpPr>
          <p:cNvPr id="19" name="Shape 17"/>
          <p:cNvSpPr/>
          <p:nvPr/>
        </p:nvSpPr>
        <p:spPr>
          <a:xfrm>
            <a:off x="6629400" y="2779776"/>
            <a:ext cx="50292" cy="1024128"/>
          </a:xfrm>
          <a:prstGeom prst="rect">
            <a:avLst/>
          </a:prstGeom>
          <a:solidFill>
            <a:srgbClr val="3333B3"/>
          </a:solidFill>
          <a:ln w="12700">
            <a:solidFill>
              <a:srgbClr val="3333B3"/>
            </a:solidFill>
            <a:prstDash val="solid"/>
          </a:ln>
        </p:spPr>
      </p:sp>
      <p:sp>
        <p:nvSpPr>
          <p:cNvPr id="20" name="Shape 18"/>
          <p:cNvSpPr/>
          <p:nvPr/>
        </p:nvSpPr>
        <p:spPr>
          <a:xfrm>
            <a:off x="6830568" y="3108960"/>
            <a:ext cx="365760" cy="365760"/>
          </a:xfrm>
          <a:prstGeom prst="ellipse">
            <a:avLst/>
          </a:prstGeom>
          <a:solidFill>
            <a:srgbClr val="3333B3"/>
          </a:solidFill>
          <a:ln w="12700">
            <a:solidFill>
              <a:srgbClr val="3333B3"/>
            </a:solidFill>
            <a:prstDash val="solid"/>
          </a:ln>
        </p:spPr>
      </p:sp>
      <p:sp>
        <p:nvSpPr>
          <p:cNvPr id="21" name="Text 19"/>
          <p:cNvSpPr txBox="1"/>
          <p:nvPr/>
        </p:nvSpPr>
        <p:spPr>
          <a:xfrm>
            <a:off x="6830568" y="310896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22" name="Text 20"/>
          <p:cNvSpPr txBox="1"/>
          <p:nvPr/>
        </p:nvSpPr>
        <p:spPr>
          <a:xfrm>
            <a:off x="7360920" y="2779776"/>
            <a:ext cx="4014216" cy="1024128"/>
          </a:xfrm>
          <a:prstGeom prst="rect">
            <a:avLst/>
          </a:prstGeom>
          <a:noFill/>
          <a:ln/>
        </p:spPr>
        <p:txBody>
          <a:bodyPr wrap="square" lIns="0" tIns="0" rIns="0" bIns="0" rtlCol="0" anchor="ctr"/>
          <a:lstStyle/>
          <a:p>
            <a:pPr indent="0" marL="0">
              <a:buNone/>
            </a:pPr>
            <a:r>
              <a:rPr lang="en-US" sz="1350" b="1" dirty="0">
                <a:solidFill>
                  <a:srgbClr val="22226B"/>
                </a:solidFill>
                <a:latin typeface="Cambria" pitchFamily="34" charset="0"/>
                <a:ea typeface="Cambria" pitchFamily="34" charset="-122"/>
                <a:cs typeface="Cambria" pitchFamily="34" charset="-120"/>
              </a:rPr>
              <a:t>Nullable in C# means nullable in SQL</a:t>
            </a:r>
            <a:endParaRPr lang="en-US" sz="1350" dirty="0"/>
          </a:p>
          <a:p>
            <a:pPr indent="0" marL="0">
              <a:buNone/>
            </a:pPr>
            <a:r>
              <a:rPr lang="en-US" sz="1100" dirty="0">
                <a:solidFill>
                  <a:srgbClr val="3E3E5A"/>
                </a:solidFill>
                <a:latin typeface="Cambria" pitchFamily="34" charset="0"/>
                <a:ea typeface="Cambria" pitchFamily="34" charset="-122"/>
                <a:cs typeface="Cambria" pitchFamily="34" charset="-120"/>
              </a:rPr>
              <a:t>DateTime? is a nullable column. This is worth being deliberate about.</a:t>
            </a:r>
            <a:endParaRPr lang="en-US" sz="1350" dirty="0"/>
          </a:p>
        </p:txBody>
      </p:sp>
      <p:sp>
        <p:nvSpPr>
          <p:cNvPr id="23" name="Shape 21"/>
          <p:cNvSpPr/>
          <p:nvPr/>
        </p:nvSpPr>
        <p:spPr>
          <a:xfrm>
            <a:off x="6629400" y="3931920"/>
            <a:ext cx="4965192" cy="1024128"/>
          </a:xfrm>
          <a:prstGeom prst="rect">
            <a:avLst/>
          </a:prstGeom>
          <a:solidFill>
            <a:srgbClr val="EDEDF7"/>
          </a:solidFill>
          <a:ln w="9525">
            <a:solidFill>
              <a:srgbClr val="C9C9EA"/>
            </a:solidFill>
            <a:prstDash val="solid"/>
          </a:ln>
        </p:spPr>
      </p:sp>
      <p:sp>
        <p:nvSpPr>
          <p:cNvPr id="24" name="Shape 22"/>
          <p:cNvSpPr/>
          <p:nvPr/>
        </p:nvSpPr>
        <p:spPr>
          <a:xfrm>
            <a:off x="6629400" y="3931920"/>
            <a:ext cx="50292" cy="1024128"/>
          </a:xfrm>
          <a:prstGeom prst="rect">
            <a:avLst/>
          </a:prstGeom>
          <a:solidFill>
            <a:srgbClr val="3333B3"/>
          </a:solidFill>
          <a:ln w="12700">
            <a:solidFill>
              <a:srgbClr val="3333B3"/>
            </a:solidFill>
            <a:prstDash val="solid"/>
          </a:ln>
        </p:spPr>
      </p:sp>
      <p:sp>
        <p:nvSpPr>
          <p:cNvPr id="25" name="Shape 23"/>
          <p:cNvSpPr/>
          <p:nvPr/>
        </p:nvSpPr>
        <p:spPr>
          <a:xfrm>
            <a:off x="6830568" y="4261104"/>
            <a:ext cx="365760" cy="365760"/>
          </a:xfrm>
          <a:prstGeom prst="ellipse">
            <a:avLst/>
          </a:prstGeom>
          <a:solidFill>
            <a:srgbClr val="3333B3"/>
          </a:solidFill>
          <a:ln w="12700">
            <a:solidFill>
              <a:srgbClr val="3333B3"/>
            </a:solidFill>
            <a:prstDash val="solid"/>
          </a:ln>
        </p:spPr>
      </p:sp>
      <p:sp>
        <p:nvSpPr>
          <p:cNvPr id="26" name="Text 24"/>
          <p:cNvSpPr txBox="1"/>
          <p:nvPr/>
        </p:nvSpPr>
        <p:spPr>
          <a:xfrm>
            <a:off x="6830568" y="4261104"/>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27" name="Text 25"/>
          <p:cNvSpPr txBox="1"/>
          <p:nvPr/>
        </p:nvSpPr>
        <p:spPr>
          <a:xfrm>
            <a:off x="7360920" y="3931920"/>
            <a:ext cx="4014216" cy="1024128"/>
          </a:xfrm>
          <a:prstGeom prst="rect">
            <a:avLst/>
          </a:prstGeom>
          <a:noFill/>
          <a:ln/>
        </p:spPr>
        <p:txBody>
          <a:bodyPr wrap="square" lIns="0" tIns="0" rIns="0" bIns="0" rtlCol="0" anchor="ctr"/>
          <a:lstStyle/>
          <a:p>
            <a:pPr indent="0" marL="0">
              <a:buNone/>
            </a:pPr>
            <a:r>
              <a:rPr lang="en-US" sz="1350" b="1" dirty="0">
                <a:solidFill>
                  <a:srgbClr val="22226B"/>
                </a:solidFill>
                <a:latin typeface="Cambria" pitchFamily="34" charset="0"/>
                <a:ea typeface="Cambria" pitchFamily="34" charset="-122"/>
                <a:cs typeface="Cambria" pitchFamily="34" charset="-120"/>
              </a:rPr>
              <a:t>Navigation properties make relationships</a:t>
            </a:r>
            <a:endParaRPr lang="en-US" sz="1350" dirty="0"/>
          </a:p>
          <a:p>
            <a:pPr indent="0" marL="0">
              <a:buNone/>
            </a:pPr>
            <a:r>
              <a:rPr lang="en-US" sz="1100" dirty="0">
                <a:solidFill>
                  <a:srgbClr val="3E3E5A"/>
                </a:solidFill>
                <a:latin typeface="Cambria" pitchFamily="34" charset="0"/>
                <a:ea typeface="Cambria" pitchFamily="34" charset="-122"/>
                <a:cs typeface="Cambria" pitchFamily="34" charset="-120"/>
              </a:rPr>
              <a:t>A WorkOrder with a List&lt;Issue&gt; becomes a foreign key without you writing one.</a:t>
            </a:r>
            <a:endParaRPr lang="en-US" sz="1350" dirty="0"/>
          </a:p>
        </p:txBody>
      </p:sp>
      <p:sp>
        <p:nvSpPr>
          <p:cNvPr id="28" name="Shape 26"/>
          <p:cNvSpPr/>
          <p:nvPr/>
        </p:nvSpPr>
        <p:spPr>
          <a:xfrm>
            <a:off x="6629400" y="5084064"/>
            <a:ext cx="4965192" cy="1024128"/>
          </a:xfrm>
          <a:prstGeom prst="rect">
            <a:avLst/>
          </a:prstGeom>
          <a:solidFill>
            <a:srgbClr val="EDEDF7"/>
          </a:solidFill>
          <a:ln w="9525">
            <a:solidFill>
              <a:srgbClr val="C9C9EA"/>
            </a:solidFill>
            <a:prstDash val="solid"/>
          </a:ln>
        </p:spPr>
      </p:sp>
      <p:sp>
        <p:nvSpPr>
          <p:cNvPr id="29" name="Shape 27"/>
          <p:cNvSpPr/>
          <p:nvPr/>
        </p:nvSpPr>
        <p:spPr>
          <a:xfrm>
            <a:off x="6629400" y="5084064"/>
            <a:ext cx="50292" cy="1024128"/>
          </a:xfrm>
          <a:prstGeom prst="rect">
            <a:avLst/>
          </a:prstGeom>
          <a:solidFill>
            <a:srgbClr val="3333B3"/>
          </a:solidFill>
          <a:ln w="12700">
            <a:solidFill>
              <a:srgbClr val="3333B3"/>
            </a:solidFill>
            <a:prstDash val="solid"/>
          </a:ln>
        </p:spPr>
      </p:sp>
      <p:sp>
        <p:nvSpPr>
          <p:cNvPr id="30" name="Shape 28"/>
          <p:cNvSpPr/>
          <p:nvPr/>
        </p:nvSpPr>
        <p:spPr>
          <a:xfrm>
            <a:off x="6830568" y="5413248"/>
            <a:ext cx="365760" cy="365760"/>
          </a:xfrm>
          <a:prstGeom prst="ellipse">
            <a:avLst/>
          </a:prstGeom>
          <a:solidFill>
            <a:srgbClr val="3333B3"/>
          </a:solidFill>
          <a:ln w="12700">
            <a:solidFill>
              <a:srgbClr val="3333B3"/>
            </a:solidFill>
            <a:prstDash val="solid"/>
          </a:ln>
        </p:spPr>
      </p:sp>
      <p:sp>
        <p:nvSpPr>
          <p:cNvPr id="31" name="Text 29"/>
          <p:cNvSpPr txBox="1"/>
          <p:nvPr/>
        </p:nvSpPr>
        <p:spPr>
          <a:xfrm>
            <a:off x="6830568" y="541324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4</a:t>
            </a:r>
            <a:endParaRPr lang="en-US" sz="1300" dirty="0"/>
          </a:p>
        </p:txBody>
      </p:sp>
      <p:sp>
        <p:nvSpPr>
          <p:cNvPr id="32" name="Text 30"/>
          <p:cNvSpPr txBox="1"/>
          <p:nvPr/>
        </p:nvSpPr>
        <p:spPr>
          <a:xfrm>
            <a:off x="7360920" y="5084064"/>
            <a:ext cx="4014216" cy="1024128"/>
          </a:xfrm>
          <a:prstGeom prst="rect">
            <a:avLst/>
          </a:prstGeom>
          <a:noFill/>
          <a:ln/>
        </p:spPr>
        <p:txBody>
          <a:bodyPr wrap="square" lIns="0" tIns="0" rIns="0" bIns="0" rtlCol="0" anchor="ctr"/>
          <a:lstStyle/>
          <a:p>
            <a:pPr indent="0" marL="0">
              <a:buNone/>
            </a:pPr>
            <a:r>
              <a:rPr lang="en-US" sz="1350" b="1" dirty="0">
                <a:solidFill>
                  <a:srgbClr val="22226B"/>
                </a:solidFill>
                <a:latin typeface="Cambria" pitchFamily="34" charset="0"/>
                <a:ea typeface="Cambria" pitchFamily="34" charset="-122"/>
                <a:cs typeface="Cambria" pitchFamily="34" charset="-120"/>
              </a:rPr>
              <a:t>Set string lengths explicitly</a:t>
            </a:r>
            <a:endParaRPr lang="en-US" sz="1350" dirty="0"/>
          </a:p>
          <a:p>
            <a:pPr indent="0" marL="0">
              <a:buNone/>
            </a:pPr>
            <a:r>
              <a:rPr lang="en-US" sz="1100" dirty="0">
                <a:solidFill>
                  <a:srgbClr val="3E3E5A"/>
                </a:solidFill>
                <a:latin typeface="Cambria" pitchFamily="34" charset="0"/>
                <a:ea typeface="Cambria" pitchFamily="34" charset="-122"/>
                <a:cs typeface="Cambria" pitchFamily="34" charset="-120"/>
              </a:rPr>
              <a:t>Otherwise you get nvarchar(max) everywhere, which indexes badly and wastes space.</a:t>
            </a:r>
            <a:endParaRPr lang="en-US" sz="1350" dirty="0"/>
          </a:p>
        </p:txBody>
      </p:sp>
      <p:sp>
        <p:nvSpPr>
          <p:cNvPr id="33" name="Shape 31"/>
          <p:cNvSpPr/>
          <p:nvPr/>
        </p:nvSpPr>
        <p:spPr>
          <a:xfrm>
            <a:off x="0" y="6400800"/>
            <a:ext cx="3840480" cy="457200"/>
          </a:xfrm>
          <a:prstGeom prst="rect">
            <a:avLst/>
          </a:prstGeom>
          <a:solidFill>
            <a:srgbClr val="22226B"/>
          </a:solidFill>
          <a:ln w="12700">
            <a:solidFill>
              <a:srgbClr val="22226B"/>
            </a:solidFill>
            <a:prstDash val="solid"/>
          </a:ln>
        </p:spPr>
      </p:sp>
      <p:sp>
        <p:nvSpPr>
          <p:cNvPr id="34" name="Text 32"/>
          <p:cNvSpPr txBox="1"/>
          <p:nvPr/>
        </p:nvSpPr>
        <p:spPr>
          <a:xfrm>
            <a:off x="164592" y="6400800"/>
            <a:ext cx="3511296" cy="457200"/>
          </a:xfrm>
          <a:prstGeom prst="rect">
            <a:avLst/>
          </a:prstGeom>
          <a:noFill/>
          <a:ln/>
        </p:spPr>
        <p:txBody>
          <a:bodyPr wrap="square" lIns="0" tIns="0" rIns="0" bIns="0" rtlCol="0" anchor="ctr"/>
          <a:lstStyle/>
          <a:p>
            <a:pPr algn="l" indent="0" marL="0">
              <a:buNone/>
            </a:pPr>
            <a:r>
              <a:rPr lang="en-US" sz="950" dirty="0">
                <a:solidFill>
                  <a:srgbClr val="FFFFFF"/>
                </a:solidFill>
                <a:latin typeface="Cambria" pitchFamily="34" charset="0"/>
                <a:ea typeface="Cambria" pitchFamily="34" charset="-122"/>
                <a:cs typeface="Cambria" pitchFamily="34" charset="-120"/>
              </a:rPr>
              <a:t>HAL  ·  .NET, React &amp; SQL Programme</a:t>
            </a:r>
            <a:endParaRPr lang="en-US" sz="950" dirty="0"/>
          </a:p>
        </p:txBody>
      </p:sp>
      <p:sp>
        <p:nvSpPr>
          <p:cNvPr id="35" name="Shape 33"/>
          <p:cNvSpPr/>
          <p:nvPr/>
        </p:nvSpPr>
        <p:spPr>
          <a:xfrm>
            <a:off x="3840480" y="6400800"/>
            <a:ext cx="6675120" cy="457200"/>
          </a:xfrm>
          <a:prstGeom prst="rect">
            <a:avLst/>
          </a:prstGeom>
          <a:solidFill>
            <a:srgbClr val="3333B3"/>
          </a:solidFill>
          <a:ln w="12700">
            <a:solidFill>
              <a:srgbClr val="3333B3"/>
            </a:solidFill>
            <a:prstDash val="solid"/>
          </a:ln>
        </p:spPr>
      </p:sp>
      <p:sp>
        <p:nvSpPr>
          <p:cNvPr id="36" name="Text 34"/>
          <p:cNvSpPr txBox="1"/>
          <p:nvPr/>
        </p:nvSpPr>
        <p:spPr>
          <a:xfrm>
            <a:off x="4005072" y="6400800"/>
            <a:ext cx="6345936" cy="457200"/>
          </a:xfrm>
          <a:prstGeom prst="rect">
            <a:avLst/>
          </a:prstGeom>
          <a:noFill/>
          <a:ln/>
        </p:spPr>
        <p:txBody>
          <a:bodyPr wrap="square" lIns="0" tIns="0" rIns="0" bIns="0" rtlCol="0" anchor="ctr"/>
          <a:lstStyle/>
          <a:p>
            <a:pPr algn="l" indent="0" marL="0">
              <a:buNone/>
            </a:pPr>
            <a:r>
              <a:rPr lang="en-US" sz="950" dirty="0">
                <a:solidFill>
                  <a:srgbClr val="FFFFFF"/>
                </a:solidFill>
                <a:latin typeface="Cambria" pitchFamily="34" charset="0"/>
                <a:ea typeface="Cambria" pitchFamily="34" charset="-122"/>
                <a:cs typeface="Cambria" pitchFamily="34" charset="-120"/>
              </a:rPr>
              <a:t>Day 2 · Session 2 — Connecting the API to Data</a:t>
            </a:r>
            <a:endParaRPr lang="en-US" sz="950" dirty="0"/>
          </a:p>
        </p:txBody>
      </p:sp>
      <p:sp>
        <p:nvSpPr>
          <p:cNvPr id="37" name="Shape 35"/>
          <p:cNvSpPr/>
          <p:nvPr/>
        </p:nvSpPr>
        <p:spPr>
          <a:xfrm>
            <a:off x="10515600" y="6400800"/>
            <a:ext cx="1676095" cy="457200"/>
          </a:xfrm>
          <a:prstGeom prst="rect">
            <a:avLst/>
          </a:prstGeom>
          <a:solidFill>
            <a:srgbClr val="22226B"/>
          </a:solidFill>
          <a:ln w="12700">
            <a:solidFill>
              <a:srgbClr val="22226B"/>
            </a:solidFill>
            <a:prstDash val="solid"/>
          </a:ln>
        </p:spPr>
      </p:sp>
      <p:sp>
        <p:nvSpPr>
          <p:cNvPr id="38" name="Text 36"/>
          <p:cNvSpPr txBox="1"/>
          <p:nvPr/>
        </p:nvSpPr>
        <p:spPr>
          <a:xfrm>
            <a:off x="10680192" y="6400800"/>
            <a:ext cx="1346911" cy="457200"/>
          </a:xfrm>
          <a:prstGeom prst="rect">
            <a:avLst/>
          </a:prstGeom>
          <a:noFill/>
          <a:ln/>
        </p:spPr>
        <p:txBody>
          <a:bodyPr wrap="square" lIns="0" tIns="0" rIns="0" bIns="0" rtlCol="0" anchor="ctr"/>
          <a:lstStyle/>
          <a:p>
            <a:pPr algn="ctr" indent="0" marL="0">
              <a:buNone/>
            </a:pPr>
            <a:r>
              <a:rPr lang="en-US" sz="950" dirty="0">
                <a:solidFill>
                  <a:srgbClr val="FFFFFF"/>
                </a:solidFill>
                <a:latin typeface="Cambria" pitchFamily="34" charset="0"/>
                <a:ea typeface="Cambria" pitchFamily="34" charset="-122"/>
                <a:cs typeface="Cambria" pitchFamily="34" charset="-120"/>
              </a:rPr>
              <a:t>4</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365760"/>
          </a:xfrm>
          <a:prstGeom prst="rect">
            <a:avLst/>
          </a:prstGeom>
          <a:solidFill>
            <a:srgbClr val="22226B"/>
          </a:solidFill>
          <a:ln w="12700">
            <a:solidFill>
              <a:srgbClr val="22226B"/>
            </a:solidFill>
            <a:prstDash val="solid"/>
          </a:ln>
        </p:spPr>
      </p:sp>
      <p:sp>
        <p:nvSpPr>
          <p:cNvPr id="3" name="Text 1"/>
          <p:cNvSpPr txBox="1"/>
          <p:nvPr/>
        </p:nvSpPr>
        <p:spPr>
          <a:xfrm>
            <a:off x="594360" y="0"/>
            <a:ext cx="11002975" cy="365760"/>
          </a:xfrm>
          <a:prstGeom prst="rect">
            <a:avLst/>
          </a:prstGeom>
          <a:noFill/>
          <a:ln/>
        </p:spPr>
        <p:txBody>
          <a:bodyPr wrap="square" lIns="0" tIns="0" rIns="0" bIns="0" rtlCol="0" anchor="ctr"/>
          <a:lstStyle/>
          <a:p>
            <a:pPr indent="0" marL="0">
              <a:buNone/>
            </a:pPr>
            <a:r>
              <a:rPr lang="en-US" sz="1000" b="1" spc="180" kern="0" dirty="0">
                <a:solidFill>
                  <a:srgbClr val="C9C9EA"/>
                </a:solidFill>
                <a:latin typeface="Cambria" pitchFamily="34" charset="0"/>
                <a:ea typeface="Cambria" pitchFamily="34" charset="-122"/>
                <a:cs typeface="Cambria" pitchFamily="34" charset="-120"/>
              </a:rPr>
              <a:t>DBCONTEXT, ENTITIES AND MIGRATIONS</a:t>
            </a:r>
            <a:endParaRPr lang="en-US" sz="1000" dirty="0"/>
          </a:p>
        </p:txBody>
      </p:sp>
      <p:sp>
        <p:nvSpPr>
          <p:cNvPr id="4" name="Shape 2"/>
          <p:cNvSpPr/>
          <p:nvPr/>
        </p:nvSpPr>
        <p:spPr>
          <a:xfrm>
            <a:off x="0" y="365760"/>
            <a:ext cx="12191695" cy="841248"/>
          </a:xfrm>
          <a:prstGeom prst="rect">
            <a:avLst/>
          </a:prstGeom>
          <a:solidFill>
            <a:srgbClr val="3333B3"/>
          </a:solidFill>
          <a:ln w="12700">
            <a:solidFill>
              <a:srgbClr val="3333B3"/>
            </a:solidFill>
            <a:prstDash val="solid"/>
          </a:ln>
        </p:spPr>
      </p:sp>
      <p:sp>
        <p:nvSpPr>
          <p:cNvPr id="5" name="Text 3"/>
          <p:cNvSpPr txBox="1"/>
          <p:nvPr/>
        </p:nvSpPr>
        <p:spPr>
          <a:xfrm>
            <a:off x="594360" y="365760"/>
            <a:ext cx="11002975" cy="841248"/>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Three files and two commands</a:t>
            </a:r>
            <a:endParaRPr lang="en-US" sz="2600" dirty="0"/>
          </a:p>
        </p:txBody>
      </p:sp>
      <p:sp>
        <p:nvSpPr>
          <p:cNvPr id="6" name="Shape 4"/>
          <p:cNvSpPr/>
          <p:nvPr/>
        </p:nvSpPr>
        <p:spPr>
          <a:xfrm>
            <a:off x="594360" y="1627632"/>
            <a:ext cx="5806440" cy="2157984"/>
          </a:xfrm>
          <a:prstGeom prst="rect">
            <a:avLst/>
          </a:prstGeom>
          <a:solidFill>
            <a:srgbClr val="F4F4FA"/>
          </a:solidFill>
          <a:ln w="9525">
            <a:solidFill>
              <a:srgbClr val="C9C9EA"/>
            </a:solidFill>
            <a:prstDash val="solid"/>
          </a:ln>
        </p:spPr>
      </p:sp>
      <p:sp>
        <p:nvSpPr>
          <p:cNvPr id="7" name="Text 5"/>
          <p:cNvSpPr txBox="1"/>
          <p:nvPr/>
        </p:nvSpPr>
        <p:spPr>
          <a:xfrm>
            <a:off x="813816" y="1783080"/>
            <a:ext cx="5367528" cy="219456"/>
          </a:xfrm>
          <a:prstGeom prst="rect">
            <a:avLst/>
          </a:prstGeom>
          <a:noFill/>
          <a:ln/>
        </p:spPr>
        <p:txBody>
          <a:bodyPr wrap="square" lIns="0" tIns="0" rIns="0" bIns="0" rtlCol="0" anchor="ctr"/>
          <a:lstStyle/>
          <a:p>
            <a:pPr indent="0" marL="0">
              <a:buNone/>
            </a:pPr>
            <a:r>
              <a:rPr lang="en-US" sz="950" b="1" spc="140" kern="0" dirty="0">
                <a:solidFill>
                  <a:srgbClr val="3333B3"/>
                </a:solidFill>
                <a:latin typeface="Cambria" pitchFamily="34" charset="0"/>
                <a:ea typeface="Cambria" pitchFamily="34" charset="-122"/>
                <a:cs typeface="Cambria" pitchFamily="34" charset="-120"/>
              </a:rPr>
              <a:t>DATA/APPDBCONTEXT.CS</a:t>
            </a:r>
            <a:endParaRPr lang="en-US" sz="950" dirty="0"/>
          </a:p>
        </p:txBody>
      </p:sp>
      <p:sp>
        <p:nvSpPr>
          <p:cNvPr id="8" name="Text 6"/>
          <p:cNvSpPr txBox="1"/>
          <p:nvPr/>
        </p:nvSpPr>
        <p:spPr>
          <a:xfrm>
            <a:off x="813816" y="2075688"/>
            <a:ext cx="5367528" cy="1581912"/>
          </a:xfrm>
          <a:prstGeom prst="rect">
            <a:avLst/>
          </a:prstGeom>
          <a:noFill/>
          <a:ln/>
        </p:spPr>
        <p:txBody>
          <a:bodyPr wrap="square" lIns="0" tIns="0" rIns="0" bIns="0" rtlCol="0" anchor="t"/>
          <a:lstStyle/>
          <a:p>
            <a:pPr indent="0" marL="0">
              <a:lnSpc>
                <a:spcPts val="1418"/>
              </a:lnSpc>
              <a:buNone/>
            </a:pPr>
            <a:r>
              <a:rPr lang="en-US" sz="1050" dirty="0">
                <a:solidFill>
                  <a:srgbClr val="1A1A33"/>
                </a:solidFill>
                <a:latin typeface="Courier New" pitchFamily="34" charset="0"/>
                <a:ea typeface="Courier New" pitchFamily="34" charset="-122"/>
                <a:cs typeface="Courier New" pitchFamily="34" charset="-120"/>
              </a:rPr>
              <a:t>public class AppDbContext : DbContext</a:t>
            </a:r>
            <a:endParaRPr lang="en-US" sz="1050" dirty="0"/>
          </a:p>
          <a:p>
            <a:pPr indent="0" marL="0">
              <a:lnSpc>
                <a:spcPts val="1418"/>
              </a:lnSpc>
              <a:buNone/>
            </a:pPr>
            <a:r>
              <a:rPr lang="en-US" sz="1050" dirty="0">
                <a:solidFill>
                  <a:srgbClr val="1A1A33"/>
                </a:solidFill>
                <a:latin typeface="Courier New" pitchFamily="34" charset="0"/>
                <a:ea typeface="Courier New" pitchFamily="34" charset="-122"/>
                <a:cs typeface="Courier New" pitchFamily="34" charset="-120"/>
              </a:rPr>
              <a:t>{</a:t>
            </a:r>
            <a:endParaRPr lang="en-US" sz="1050" dirty="0"/>
          </a:p>
          <a:p>
            <a:pPr indent="0" marL="0">
              <a:lnSpc>
                <a:spcPts val="1418"/>
              </a:lnSpc>
              <a:buNone/>
            </a:pPr>
            <a:r>
              <a:rPr lang="en-US" sz="1050" dirty="0">
                <a:solidFill>
                  <a:srgbClr val="1A1A33"/>
                </a:solidFill>
                <a:latin typeface="Courier New" pitchFamily="34" charset="0"/>
                <a:ea typeface="Courier New" pitchFamily="34" charset="-122"/>
                <a:cs typeface="Courier New" pitchFamily="34" charset="-120"/>
              </a:rPr>
              <a:t>  public AppDbContext(</a:t>
            </a:r>
            <a:endParaRPr lang="en-US" sz="1050" dirty="0"/>
          </a:p>
          <a:p>
            <a:pPr indent="0" marL="0">
              <a:lnSpc>
                <a:spcPts val="1418"/>
              </a:lnSpc>
              <a:buNone/>
            </a:pPr>
            <a:r>
              <a:rPr lang="en-US" sz="1050" dirty="0">
                <a:solidFill>
                  <a:srgbClr val="1A1A33"/>
                </a:solidFill>
                <a:latin typeface="Courier New" pitchFamily="34" charset="0"/>
                <a:ea typeface="Courier New" pitchFamily="34" charset="-122"/>
                <a:cs typeface="Courier New" pitchFamily="34" charset="-120"/>
              </a:rPr>
              <a:t>      DbContextOptions&lt;AppDbContext&gt; options)</a:t>
            </a:r>
            <a:endParaRPr lang="en-US" sz="1050" dirty="0"/>
          </a:p>
          <a:p>
            <a:pPr indent="0" marL="0">
              <a:lnSpc>
                <a:spcPts val="1418"/>
              </a:lnSpc>
              <a:buNone/>
            </a:pPr>
            <a:r>
              <a:rPr lang="en-US" sz="1050" dirty="0">
                <a:solidFill>
                  <a:srgbClr val="1A1A33"/>
                </a:solidFill>
                <a:latin typeface="Courier New" pitchFamily="34" charset="0"/>
                <a:ea typeface="Courier New" pitchFamily="34" charset="-122"/>
                <a:cs typeface="Courier New" pitchFamily="34" charset="-120"/>
              </a:rPr>
              <a:t>      : base(options) { }</a:t>
            </a:r>
            <a:endParaRPr lang="en-US" sz="1050" dirty="0"/>
          </a:p>
          <a:p>
            <a:pPr indent="0" marL="0">
              <a:lnSpc>
                <a:spcPts val="1418"/>
              </a:lnSpc>
              <a:buNone/>
            </a:pPr>
            <a:r>
              <a:rPr lang="en-US" sz="1050" dirty="0">
                <a:solidFill>
                  <a:srgbClr val="1A1A33"/>
                </a:solidFill>
                <a:latin typeface="Courier New" pitchFamily="34" charset="0"/>
                <a:ea typeface="Courier New" pitchFamily="34" charset="-122"/>
                <a:cs typeface="Courier New" pitchFamily="34" charset="-120"/>
              </a:rPr>
              <a:t> </a:t>
            </a:r>
            <a:endParaRPr lang="en-US" sz="1050" dirty="0"/>
          </a:p>
          <a:p>
            <a:pPr indent="0" marL="0">
              <a:lnSpc>
                <a:spcPts val="1418"/>
              </a:lnSpc>
              <a:buNone/>
            </a:pPr>
            <a:r>
              <a:rPr lang="en-US" sz="1050" dirty="0">
                <a:solidFill>
                  <a:srgbClr val="1A1A33"/>
                </a:solidFill>
                <a:latin typeface="Courier New" pitchFamily="34" charset="0"/>
                <a:ea typeface="Courier New" pitchFamily="34" charset="-122"/>
                <a:cs typeface="Courier New" pitchFamily="34" charset="-120"/>
              </a:rPr>
              <a:t>  public DbSet&lt;SparePart&gt; Parts =&gt; Set&lt;SparePart&gt;();</a:t>
            </a:r>
            <a:endParaRPr lang="en-US" sz="1050" dirty="0"/>
          </a:p>
          <a:p>
            <a:pPr indent="0" marL="0">
              <a:lnSpc>
                <a:spcPts val="1418"/>
              </a:lnSpc>
              <a:buNone/>
            </a:pPr>
            <a:r>
              <a:rPr lang="en-US" sz="1050" dirty="0">
                <a:solidFill>
                  <a:srgbClr val="1A1A33"/>
                </a:solidFill>
                <a:latin typeface="Courier New" pitchFamily="34" charset="0"/>
                <a:ea typeface="Courier New" pitchFamily="34" charset="-122"/>
                <a:cs typeface="Courier New" pitchFamily="34" charset="-120"/>
              </a:rPr>
              <a:t>}</a:t>
            </a:r>
            <a:endParaRPr lang="en-US" sz="1050" dirty="0"/>
          </a:p>
        </p:txBody>
      </p:sp>
      <p:sp>
        <p:nvSpPr>
          <p:cNvPr id="9" name="Shape 7"/>
          <p:cNvSpPr/>
          <p:nvPr/>
        </p:nvSpPr>
        <p:spPr>
          <a:xfrm>
            <a:off x="594360" y="3913632"/>
            <a:ext cx="5806440" cy="2157984"/>
          </a:xfrm>
          <a:prstGeom prst="rect">
            <a:avLst/>
          </a:prstGeom>
          <a:solidFill>
            <a:srgbClr val="F4F4FA"/>
          </a:solidFill>
          <a:ln w="9525">
            <a:solidFill>
              <a:srgbClr val="C9C9EA"/>
            </a:solidFill>
            <a:prstDash val="solid"/>
          </a:ln>
        </p:spPr>
      </p:sp>
      <p:sp>
        <p:nvSpPr>
          <p:cNvPr id="10" name="Text 8"/>
          <p:cNvSpPr txBox="1"/>
          <p:nvPr/>
        </p:nvSpPr>
        <p:spPr>
          <a:xfrm>
            <a:off x="813816" y="4069080"/>
            <a:ext cx="5367528" cy="219456"/>
          </a:xfrm>
          <a:prstGeom prst="rect">
            <a:avLst/>
          </a:prstGeom>
          <a:noFill/>
          <a:ln/>
        </p:spPr>
        <p:txBody>
          <a:bodyPr wrap="square" lIns="0" tIns="0" rIns="0" bIns="0" rtlCol="0" anchor="ctr"/>
          <a:lstStyle/>
          <a:p>
            <a:pPr indent="0" marL="0">
              <a:buNone/>
            </a:pPr>
            <a:r>
              <a:rPr lang="en-US" sz="950" b="1" spc="140" kern="0" dirty="0">
                <a:solidFill>
                  <a:srgbClr val="3333B3"/>
                </a:solidFill>
                <a:latin typeface="Cambria" pitchFamily="34" charset="0"/>
                <a:ea typeface="Cambria" pitchFamily="34" charset="-122"/>
                <a:cs typeface="Cambria" pitchFamily="34" charset="-120"/>
              </a:rPr>
              <a:t>APPSETTINGS.JSON + PROGRAM.CS</a:t>
            </a:r>
            <a:endParaRPr lang="en-US" sz="950" dirty="0"/>
          </a:p>
        </p:txBody>
      </p:sp>
      <p:sp>
        <p:nvSpPr>
          <p:cNvPr id="11" name="Text 9"/>
          <p:cNvSpPr txBox="1"/>
          <p:nvPr/>
        </p:nvSpPr>
        <p:spPr>
          <a:xfrm>
            <a:off x="813816" y="4361688"/>
            <a:ext cx="5367528" cy="1581912"/>
          </a:xfrm>
          <a:prstGeom prst="rect">
            <a:avLst/>
          </a:prstGeom>
          <a:noFill/>
          <a:ln/>
        </p:spPr>
        <p:txBody>
          <a:bodyPr wrap="square" lIns="0" tIns="0" rIns="0" bIns="0" rtlCol="0" anchor="t"/>
          <a:lstStyle/>
          <a:p>
            <a:pPr indent="0" marL="0">
              <a:lnSpc>
                <a:spcPts val="1418"/>
              </a:lnSpc>
              <a:buNone/>
            </a:pPr>
            <a:r>
              <a:rPr lang="en-US" sz="1050" dirty="0">
                <a:solidFill>
                  <a:srgbClr val="1A1A33"/>
                </a:solidFill>
                <a:latin typeface="Courier New" pitchFamily="34" charset="0"/>
                <a:ea typeface="Courier New" pitchFamily="34" charset="-122"/>
                <a:cs typeface="Courier New" pitchFamily="34" charset="-120"/>
              </a:rPr>
              <a:t>"ConnectionStrings": {</a:t>
            </a:r>
            <a:endParaRPr lang="en-US" sz="1050" dirty="0"/>
          </a:p>
          <a:p>
            <a:pPr indent="0" marL="0">
              <a:lnSpc>
                <a:spcPts val="1418"/>
              </a:lnSpc>
              <a:buNone/>
            </a:pPr>
            <a:r>
              <a:rPr lang="en-US" sz="1050" dirty="0">
                <a:solidFill>
                  <a:srgbClr val="1A1A33"/>
                </a:solidFill>
                <a:latin typeface="Courier New" pitchFamily="34" charset="0"/>
                <a:ea typeface="Courier New" pitchFamily="34" charset="-122"/>
                <a:cs typeface="Courier New" pitchFamily="34" charset="-120"/>
              </a:rPr>
              <a:t>  "Default": "Server=.;Database=HalSpares;</a:t>
            </a:r>
            <a:endParaRPr lang="en-US" sz="1050" dirty="0"/>
          </a:p>
          <a:p>
            <a:pPr indent="0" marL="0">
              <a:lnSpc>
                <a:spcPts val="1418"/>
              </a:lnSpc>
              <a:buNone/>
            </a:pPr>
            <a:r>
              <a:rPr lang="en-US" sz="1050" dirty="0">
                <a:solidFill>
                  <a:srgbClr val="1A1A33"/>
                </a:solidFill>
                <a:latin typeface="Courier New" pitchFamily="34" charset="0"/>
                <a:ea typeface="Courier New" pitchFamily="34" charset="-122"/>
                <a:cs typeface="Courier New" pitchFamily="34" charset="-120"/>
              </a:rPr>
              <a:t>              Trusted_Connection=True;"</a:t>
            </a:r>
            <a:endParaRPr lang="en-US" sz="1050" dirty="0"/>
          </a:p>
          <a:p>
            <a:pPr indent="0" marL="0">
              <a:lnSpc>
                <a:spcPts val="1418"/>
              </a:lnSpc>
              <a:buNone/>
            </a:pPr>
            <a:r>
              <a:rPr lang="en-US" sz="1050" dirty="0">
                <a:solidFill>
                  <a:srgbClr val="1A1A33"/>
                </a:solidFill>
                <a:latin typeface="Courier New" pitchFamily="34" charset="0"/>
                <a:ea typeface="Courier New" pitchFamily="34" charset="-122"/>
                <a:cs typeface="Courier New" pitchFamily="34" charset="-120"/>
              </a:rPr>
              <a:t>}</a:t>
            </a:r>
            <a:endParaRPr lang="en-US" sz="1050" dirty="0"/>
          </a:p>
          <a:p>
            <a:pPr indent="0" marL="0">
              <a:lnSpc>
                <a:spcPts val="1418"/>
              </a:lnSpc>
              <a:buNone/>
            </a:pPr>
            <a:r>
              <a:rPr lang="en-US" sz="1050" dirty="0">
                <a:solidFill>
                  <a:srgbClr val="1A1A33"/>
                </a:solidFill>
                <a:latin typeface="Courier New" pitchFamily="34" charset="0"/>
                <a:ea typeface="Courier New" pitchFamily="34" charset="-122"/>
                <a:cs typeface="Courier New" pitchFamily="34" charset="-120"/>
              </a:rPr>
              <a:t> </a:t>
            </a:r>
            <a:endParaRPr lang="en-US" sz="1050" dirty="0"/>
          </a:p>
          <a:p>
            <a:pPr indent="0" marL="0">
              <a:lnSpc>
                <a:spcPts val="1418"/>
              </a:lnSpc>
              <a:buNone/>
            </a:pPr>
            <a:r>
              <a:rPr lang="en-US" sz="1050" dirty="0">
                <a:solidFill>
                  <a:srgbClr val="1A1A33"/>
                </a:solidFill>
                <a:latin typeface="Courier New" pitchFamily="34" charset="0"/>
                <a:ea typeface="Courier New" pitchFamily="34" charset="-122"/>
                <a:cs typeface="Courier New" pitchFamily="34" charset="-120"/>
              </a:rPr>
              <a:t>builder.Services.AddDbContext&lt;AppDbContext&gt;(o =&gt;</a:t>
            </a:r>
            <a:endParaRPr lang="en-US" sz="1050" dirty="0"/>
          </a:p>
          <a:p>
            <a:pPr indent="0" marL="0">
              <a:lnSpc>
                <a:spcPts val="1418"/>
              </a:lnSpc>
              <a:buNone/>
            </a:pPr>
            <a:r>
              <a:rPr lang="en-US" sz="1050" dirty="0">
                <a:solidFill>
                  <a:srgbClr val="1A1A33"/>
                </a:solidFill>
                <a:latin typeface="Courier New" pitchFamily="34" charset="0"/>
                <a:ea typeface="Courier New" pitchFamily="34" charset="-122"/>
                <a:cs typeface="Courier New" pitchFamily="34" charset="-120"/>
              </a:rPr>
              <a:t>  o.UseSqlServer(builder.Configuration</a:t>
            </a:r>
            <a:endParaRPr lang="en-US" sz="1050" dirty="0"/>
          </a:p>
          <a:p>
            <a:pPr indent="0" marL="0">
              <a:lnSpc>
                <a:spcPts val="1418"/>
              </a:lnSpc>
              <a:buNone/>
            </a:pPr>
            <a:r>
              <a:rPr lang="en-US" sz="1050" dirty="0">
                <a:solidFill>
                  <a:srgbClr val="1A1A33"/>
                </a:solidFill>
                <a:latin typeface="Courier New" pitchFamily="34" charset="0"/>
                <a:ea typeface="Courier New" pitchFamily="34" charset="-122"/>
                <a:cs typeface="Courier New" pitchFamily="34" charset="-120"/>
              </a:rPr>
              <a:t>     .GetConnectionString("Default")));</a:t>
            </a:r>
            <a:endParaRPr lang="en-US" sz="1050" dirty="0"/>
          </a:p>
        </p:txBody>
      </p:sp>
      <p:sp>
        <p:nvSpPr>
          <p:cNvPr id="12" name="Text 10"/>
          <p:cNvSpPr txBox="1"/>
          <p:nvPr/>
        </p:nvSpPr>
        <p:spPr>
          <a:xfrm>
            <a:off x="6629400" y="1572768"/>
            <a:ext cx="4572000" cy="237744"/>
          </a:xfrm>
          <a:prstGeom prst="rect">
            <a:avLst/>
          </a:prstGeom>
          <a:noFill/>
          <a:ln/>
        </p:spPr>
        <p:txBody>
          <a:bodyPr wrap="square" lIns="0" tIns="0" rIns="0" bIns="0" rtlCol="0" anchor="ctr"/>
          <a:lstStyle/>
          <a:p>
            <a:pPr indent="0" marL="0">
              <a:buNone/>
            </a:pPr>
            <a:r>
              <a:rPr lang="en-US" sz="1050" b="1" spc="140" kern="0" dirty="0">
                <a:solidFill>
                  <a:srgbClr val="3333B3"/>
                </a:solidFill>
                <a:latin typeface="Cambria" pitchFamily="34" charset="0"/>
                <a:ea typeface="Cambria" pitchFamily="34" charset="-122"/>
                <a:cs typeface="Cambria" pitchFamily="34" charset="-120"/>
              </a:rPr>
              <a:t>MIGRATIONS</a:t>
            </a:r>
            <a:endParaRPr lang="en-US" sz="1050" dirty="0"/>
          </a:p>
        </p:txBody>
      </p:sp>
      <p:sp>
        <p:nvSpPr>
          <p:cNvPr id="13" name="Shape 11"/>
          <p:cNvSpPr/>
          <p:nvPr/>
        </p:nvSpPr>
        <p:spPr>
          <a:xfrm>
            <a:off x="6629400" y="1847088"/>
            <a:ext cx="4965192" cy="777240"/>
          </a:xfrm>
          <a:prstGeom prst="rect">
            <a:avLst/>
          </a:prstGeom>
          <a:solidFill>
            <a:srgbClr val="EDEDF7"/>
          </a:solidFill>
          <a:ln w="9525">
            <a:solidFill>
              <a:srgbClr val="C9C9EA"/>
            </a:solidFill>
            <a:prstDash val="solid"/>
          </a:ln>
        </p:spPr>
      </p:sp>
      <p:sp>
        <p:nvSpPr>
          <p:cNvPr id="14" name="Shape 12"/>
          <p:cNvSpPr/>
          <p:nvPr/>
        </p:nvSpPr>
        <p:spPr>
          <a:xfrm>
            <a:off x="6629400" y="1847088"/>
            <a:ext cx="50292" cy="777240"/>
          </a:xfrm>
          <a:prstGeom prst="rect">
            <a:avLst/>
          </a:prstGeom>
          <a:solidFill>
            <a:srgbClr val="3333B3"/>
          </a:solidFill>
          <a:ln w="12700">
            <a:solidFill>
              <a:srgbClr val="3333B3"/>
            </a:solidFill>
            <a:prstDash val="solid"/>
          </a:ln>
        </p:spPr>
      </p:sp>
      <p:sp>
        <p:nvSpPr>
          <p:cNvPr id="15" name="Shape 13"/>
          <p:cNvSpPr/>
          <p:nvPr/>
        </p:nvSpPr>
        <p:spPr>
          <a:xfrm>
            <a:off x="6830568" y="2052828"/>
            <a:ext cx="365760" cy="365760"/>
          </a:xfrm>
          <a:prstGeom prst="ellipse">
            <a:avLst/>
          </a:prstGeom>
          <a:solidFill>
            <a:srgbClr val="3333B3"/>
          </a:solidFill>
          <a:ln w="12700">
            <a:solidFill>
              <a:srgbClr val="3333B3"/>
            </a:solidFill>
            <a:prstDash val="solid"/>
          </a:ln>
        </p:spPr>
      </p:sp>
      <p:sp>
        <p:nvSpPr>
          <p:cNvPr id="16" name="Text 14"/>
          <p:cNvSpPr txBox="1"/>
          <p:nvPr/>
        </p:nvSpPr>
        <p:spPr>
          <a:xfrm>
            <a:off x="6830568" y="205282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17" name="Text 15"/>
          <p:cNvSpPr txBox="1"/>
          <p:nvPr/>
        </p:nvSpPr>
        <p:spPr>
          <a:xfrm>
            <a:off x="7360920" y="1847088"/>
            <a:ext cx="4014216" cy="777240"/>
          </a:xfrm>
          <a:prstGeom prst="rect">
            <a:avLst/>
          </a:prstGeom>
          <a:noFill/>
          <a:ln/>
        </p:spPr>
        <p:txBody>
          <a:bodyPr wrap="square" lIns="0" tIns="0" rIns="0" bIns="0" rtlCol="0" anchor="ctr"/>
          <a:lstStyle/>
          <a:p>
            <a:pPr indent="0" marL="0">
              <a:buNone/>
            </a:pPr>
            <a:r>
              <a:rPr lang="en-US" sz="1350" b="1" dirty="0">
                <a:solidFill>
                  <a:srgbClr val="22226B"/>
                </a:solidFill>
                <a:latin typeface="Cambria" pitchFamily="34" charset="0"/>
                <a:ea typeface="Cambria" pitchFamily="34" charset="-122"/>
                <a:cs typeface="Cambria" pitchFamily="34" charset="-120"/>
              </a:rPr>
              <a:t>Add-Migration InitialCreate</a:t>
            </a:r>
            <a:endParaRPr lang="en-US" sz="1350" dirty="0"/>
          </a:p>
          <a:p>
            <a:pPr indent="0" marL="0">
              <a:buNone/>
            </a:pPr>
            <a:r>
              <a:rPr lang="en-US" sz="1100" dirty="0">
                <a:solidFill>
                  <a:srgbClr val="3E3E5A"/>
                </a:solidFill>
                <a:latin typeface="Cambria" pitchFamily="34" charset="0"/>
                <a:ea typeface="Cambria" pitchFamily="34" charset="-122"/>
                <a:cs typeface="Cambria" pitchFamily="34" charset="-120"/>
              </a:rPr>
              <a:t>Generates a C# file describing the schema change</a:t>
            </a:r>
            <a:endParaRPr lang="en-US" sz="1350" dirty="0"/>
          </a:p>
        </p:txBody>
      </p:sp>
      <p:sp>
        <p:nvSpPr>
          <p:cNvPr id="18" name="Shape 16"/>
          <p:cNvSpPr/>
          <p:nvPr/>
        </p:nvSpPr>
        <p:spPr>
          <a:xfrm>
            <a:off x="6629400" y="2752344"/>
            <a:ext cx="4965192" cy="777240"/>
          </a:xfrm>
          <a:prstGeom prst="rect">
            <a:avLst/>
          </a:prstGeom>
          <a:solidFill>
            <a:srgbClr val="EDEDF7"/>
          </a:solidFill>
          <a:ln w="9525">
            <a:solidFill>
              <a:srgbClr val="C9C9EA"/>
            </a:solidFill>
            <a:prstDash val="solid"/>
          </a:ln>
        </p:spPr>
      </p:sp>
      <p:sp>
        <p:nvSpPr>
          <p:cNvPr id="19" name="Shape 17"/>
          <p:cNvSpPr/>
          <p:nvPr/>
        </p:nvSpPr>
        <p:spPr>
          <a:xfrm>
            <a:off x="6629400" y="2752344"/>
            <a:ext cx="50292" cy="777240"/>
          </a:xfrm>
          <a:prstGeom prst="rect">
            <a:avLst/>
          </a:prstGeom>
          <a:solidFill>
            <a:srgbClr val="3333B3"/>
          </a:solidFill>
          <a:ln w="12700">
            <a:solidFill>
              <a:srgbClr val="3333B3"/>
            </a:solidFill>
            <a:prstDash val="solid"/>
          </a:ln>
        </p:spPr>
      </p:sp>
      <p:sp>
        <p:nvSpPr>
          <p:cNvPr id="20" name="Shape 18"/>
          <p:cNvSpPr/>
          <p:nvPr/>
        </p:nvSpPr>
        <p:spPr>
          <a:xfrm>
            <a:off x="6830568" y="2958084"/>
            <a:ext cx="365760" cy="365760"/>
          </a:xfrm>
          <a:prstGeom prst="ellipse">
            <a:avLst/>
          </a:prstGeom>
          <a:solidFill>
            <a:srgbClr val="3333B3"/>
          </a:solidFill>
          <a:ln w="12700">
            <a:solidFill>
              <a:srgbClr val="3333B3"/>
            </a:solidFill>
            <a:prstDash val="solid"/>
          </a:ln>
        </p:spPr>
      </p:sp>
      <p:sp>
        <p:nvSpPr>
          <p:cNvPr id="21" name="Text 19"/>
          <p:cNvSpPr txBox="1"/>
          <p:nvPr/>
        </p:nvSpPr>
        <p:spPr>
          <a:xfrm>
            <a:off x="6830568" y="2958084"/>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22" name="Text 20"/>
          <p:cNvSpPr txBox="1"/>
          <p:nvPr/>
        </p:nvSpPr>
        <p:spPr>
          <a:xfrm>
            <a:off x="7360920" y="2752344"/>
            <a:ext cx="4014216" cy="777240"/>
          </a:xfrm>
          <a:prstGeom prst="rect">
            <a:avLst/>
          </a:prstGeom>
          <a:noFill/>
          <a:ln/>
        </p:spPr>
        <p:txBody>
          <a:bodyPr wrap="square" lIns="0" tIns="0" rIns="0" bIns="0" rtlCol="0" anchor="ctr"/>
          <a:lstStyle/>
          <a:p>
            <a:pPr indent="0" marL="0">
              <a:buNone/>
            </a:pPr>
            <a:r>
              <a:rPr lang="en-US" sz="1350" b="1" dirty="0">
                <a:solidFill>
                  <a:srgbClr val="22226B"/>
                </a:solidFill>
                <a:latin typeface="Cambria" pitchFamily="34" charset="0"/>
                <a:ea typeface="Cambria" pitchFamily="34" charset="-122"/>
                <a:cs typeface="Cambria" pitchFamily="34" charset="-120"/>
              </a:rPr>
              <a:t>Update-Database</a:t>
            </a:r>
            <a:endParaRPr lang="en-US" sz="1350" dirty="0"/>
          </a:p>
          <a:p>
            <a:pPr indent="0" marL="0">
              <a:buNone/>
            </a:pPr>
            <a:r>
              <a:rPr lang="en-US" sz="1100" dirty="0">
                <a:solidFill>
                  <a:srgbClr val="3E3E5A"/>
                </a:solidFill>
                <a:latin typeface="Cambria" pitchFamily="34" charset="0"/>
                <a:ea typeface="Cambria" pitchFamily="34" charset="-122"/>
                <a:cs typeface="Cambria" pitchFamily="34" charset="-120"/>
              </a:rPr>
              <a:t>Applies it, and records that it has been applied</a:t>
            </a:r>
            <a:endParaRPr lang="en-US" sz="1350" dirty="0"/>
          </a:p>
        </p:txBody>
      </p:sp>
      <p:sp>
        <p:nvSpPr>
          <p:cNvPr id="23" name="Shape 21"/>
          <p:cNvSpPr/>
          <p:nvPr/>
        </p:nvSpPr>
        <p:spPr>
          <a:xfrm>
            <a:off x="6629400" y="3657600"/>
            <a:ext cx="4965192" cy="777240"/>
          </a:xfrm>
          <a:prstGeom prst="rect">
            <a:avLst/>
          </a:prstGeom>
          <a:solidFill>
            <a:srgbClr val="EDEDF7"/>
          </a:solidFill>
          <a:ln w="9525">
            <a:solidFill>
              <a:srgbClr val="C9C9EA"/>
            </a:solidFill>
            <a:prstDash val="solid"/>
          </a:ln>
        </p:spPr>
      </p:sp>
      <p:sp>
        <p:nvSpPr>
          <p:cNvPr id="24" name="Shape 22"/>
          <p:cNvSpPr/>
          <p:nvPr/>
        </p:nvSpPr>
        <p:spPr>
          <a:xfrm>
            <a:off x="6629400" y="3657600"/>
            <a:ext cx="50292" cy="777240"/>
          </a:xfrm>
          <a:prstGeom prst="rect">
            <a:avLst/>
          </a:prstGeom>
          <a:solidFill>
            <a:srgbClr val="3333B3"/>
          </a:solidFill>
          <a:ln w="12700">
            <a:solidFill>
              <a:srgbClr val="3333B3"/>
            </a:solidFill>
            <a:prstDash val="solid"/>
          </a:ln>
        </p:spPr>
      </p:sp>
      <p:sp>
        <p:nvSpPr>
          <p:cNvPr id="25" name="Shape 23"/>
          <p:cNvSpPr/>
          <p:nvPr/>
        </p:nvSpPr>
        <p:spPr>
          <a:xfrm>
            <a:off x="6830568" y="3863340"/>
            <a:ext cx="365760" cy="365760"/>
          </a:xfrm>
          <a:prstGeom prst="ellipse">
            <a:avLst/>
          </a:prstGeom>
          <a:solidFill>
            <a:srgbClr val="3333B3"/>
          </a:solidFill>
          <a:ln w="12700">
            <a:solidFill>
              <a:srgbClr val="3333B3"/>
            </a:solidFill>
            <a:prstDash val="solid"/>
          </a:ln>
        </p:spPr>
      </p:sp>
      <p:sp>
        <p:nvSpPr>
          <p:cNvPr id="26" name="Text 24"/>
          <p:cNvSpPr txBox="1"/>
          <p:nvPr/>
        </p:nvSpPr>
        <p:spPr>
          <a:xfrm>
            <a:off x="6830568" y="386334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27" name="Text 25"/>
          <p:cNvSpPr txBox="1"/>
          <p:nvPr/>
        </p:nvSpPr>
        <p:spPr>
          <a:xfrm>
            <a:off x="7360920" y="3657600"/>
            <a:ext cx="4014216" cy="777240"/>
          </a:xfrm>
          <a:prstGeom prst="rect">
            <a:avLst/>
          </a:prstGeom>
          <a:noFill/>
          <a:ln/>
        </p:spPr>
        <p:txBody>
          <a:bodyPr wrap="square" lIns="0" tIns="0" rIns="0" bIns="0" rtlCol="0" anchor="ctr"/>
          <a:lstStyle/>
          <a:p>
            <a:pPr indent="0" marL="0">
              <a:buNone/>
            </a:pPr>
            <a:r>
              <a:rPr lang="en-US" sz="1350" b="1" dirty="0">
                <a:solidFill>
                  <a:srgbClr val="22226B"/>
                </a:solidFill>
                <a:latin typeface="Cambria" pitchFamily="34" charset="0"/>
                <a:ea typeface="Cambria" pitchFamily="34" charset="-122"/>
                <a:cs typeface="Cambria" pitchFamily="34" charset="-120"/>
              </a:rPr>
              <a:t>Commit the migration</a:t>
            </a:r>
            <a:endParaRPr lang="en-US" sz="1350" dirty="0"/>
          </a:p>
          <a:p>
            <a:pPr indent="0" marL="0">
              <a:buNone/>
            </a:pPr>
            <a:r>
              <a:rPr lang="en-US" sz="1100" dirty="0">
                <a:solidFill>
                  <a:srgbClr val="3E3E5A"/>
                </a:solidFill>
                <a:latin typeface="Cambria" pitchFamily="34" charset="0"/>
                <a:ea typeface="Cambria" pitchFamily="34" charset="-122"/>
                <a:cs typeface="Cambria" pitchFamily="34" charset="-120"/>
              </a:rPr>
              <a:t>It belongs in version control with the code that needs it</a:t>
            </a:r>
            <a:endParaRPr lang="en-US" sz="1350" dirty="0"/>
          </a:p>
        </p:txBody>
      </p:sp>
      <p:sp>
        <p:nvSpPr>
          <p:cNvPr id="28" name="Shape 26"/>
          <p:cNvSpPr/>
          <p:nvPr/>
        </p:nvSpPr>
        <p:spPr>
          <a:xfrm>
            <a:off x="6629400" y="4562856"/>
            <a:ext cx="4965192" cy="777240"/>
          </a:xfrm>
          <a:prstGeom prst="rect">
            <a:avLst/>
          </a:prstGeom>
          <a:solidFill>
            <a:srgbClr val="EDEDF7"/>
          </a:solidFill>
          <a:ln w="9525">
            <a:solidFill>
              <a:srgbClr val="C9C9EA"/>
            </a:solidFill>
            <a:prstDash val="solid"/>
          </a:ln>
        </p:spPr>
      </p:sp>
      <p:sp>
        <p:nvSpPr>
          <p:cNvPr id="29" name="Shape 27"/>
          <p:cNvSpPr/>
          <p:nvPr/>
        </p:nvSpPr>
        <p:spPr>
          <a:xfrm>
            <a:off x="6629400" y="4562856"/>
            <a:ext cx="50292" cy="777240"/>
          </a:xfrm>
          <a:prstGeom prst="rect">
            <a:avLst/>
          </a:prstGeom>
          <a:solidFill>
            <a:srgbClr val="3333B3"/>
          </a:solidFill>
          <a:ln w="12700">
            <a:solidFill>
              <a:srgbClr val="3333B3"/>
            </a:solidFill>
            <a:prstDash val="solid"/>
          </a:ln>
        </p:spPr>
      </p:sp>
      <p:sp>
        <p:nvSpPr>
          <p:cNvPr id="30" name="Shape 28"/>
          <p:cNvSpPr/>
          <p:nvPr/>
        </p:nvSpPr>
        <p:spPr>
          <a:xfrm>
            <a:off x="6830568" y="4768596"/>
            <a:ext cx="365760" cy="365760"/>
          </a:xfrm>
          <a:prstGeom prst="ellipse">
            <a:avLst/>
          </a:prstGeom>
          <a:solidFill>
            <a:srgbClr val="3333B3"/>
          </a:solidFill>
          <a:ln w="12700">
            <a:solidFill>
              <a:srgbClr val="3333B3"/>
            </a:solidFill>
            <a:prstDash val="solid"/>
          </a:ln>
        </p:spPr>
      </p:sp>
      <p:sp>
        <p:nvSpPr>
          <p:cNvPr id="31" name="Text 29"/>
          <p:cNvSpPr txBox="1"/>
          <p:nvPr/>
        </p:nvSpPr>
        <p:spPr>
          <a:xfrm>
            <a:off x="6830568" y="476859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4</a:t>
            </a:r>
            <a:endParaRPr lang="en-US" sz="1300" dirty="0"/>
          </a:p>
        </p:txBody>
      </p:sp>
      <p:sp>
        <p:nvSpPr>
          <p:cNvPr id="32" name="Text 30"/>
          <p:cNvSpPr txBox="1"/>
          <p:nvPr/>
        </p:nvSpPr>
        <p:spPr>
          <a:xfrm>
            <a:off x="7360920" y="4562856"/>
            <a:ext cx="4014216" cy="777240"/>
          </a:xfrm>
          <a:prstGeom prst="rect">
            <a:avLst/>
          </a:prstGeom>
          <a:noFill/>
          <a:ln/>
        </p:spPr>
        <p:txBody>
          <a:bodyPr wrap="square" lIns="0" tIns="0" rIns="0" bIns="0" rtlCol="0" anchor="ctr"/>
          <a:lstStyle/>
          <a:p>
            <a:pPr indent="0" marL="0">
              <a:buNone/>
            </a:pPr>
            <a:r>
              <a:rPr lang="en-US" sz="1350" b="1" dirty="0">
                <a:solidFill>
                  <a:srgbClr val="22226B"/>
                </a:solidFill>
                <a:latin typeface="Cambria" pitchFamily="34" charset="0"/>
                <a:ea typeface="Cambria" pitchFamily="34" charset="-122"/>
                <a:cs typeface="Cambria" pitchFamily="34" charset="-120"/>
              </a:rPr>
              <a:t>Scaffold-DbContext</a:t>
            </a:r>
            <a:endParaRPr lang="en-US" sz="1350" dirty="0"/>
          </a:p>
          <a:p>
            <a:pPr indent="0" marL="0">
              <a:buNone/>
            </a:pPr>
            <a:r>
              <a:rPr lang="en-US" sz="1100" dirty="0">
                <a:solidFill>
                  <a:srgbClr val="3E3E5A"/>
                </a:solidFill>
                <a:latin typeface="Cambria" pitchFamily="34" charset="0"/>
                <a:ea typeface="Cambria" pitchFamily="34" charset="-122"/>
                <a:cs typeface="Cambria" pitchFamily="34" charset="-120"/>
              </a:rPr>
              <a:t>Going the other way: generate the model from a database that already exists</a:t>
            </a:r>
            <a:endParaRPr lang="en-US" sz="1350" dirty="0"/>
          </a:p>
        </p:txBody>
      </p:sp>
      <p:sp>
        <p:nvSpPr>
          <p:cNvPr id="33" name="Shape 31"/>
          <p:cNvSpPr/>
          <p:nvPr/>
        </p:nvSpPr>
        <p:spPr>
          <a:xfrm>
            <a:off x="6629400" y="5577840"/>
            <a:ext cx="4965192" cy="365760"/>
          </a:xfrm>
          <a:prstGeom prst="rect">
            <a:avLst/>
          </a:prstGeom>
          <a:solidFill>
            <a:srgbClr val="FBECEC"/>
          </a:solidFill>
          <a:ln w="12700">
            <a:solidFill>
              <a:srgbClr val="A00000"/>
            </a:solidFill>
            <a:prstDash val="solid"/>
          </a:ln>
        </p:spPr>
      </p:sp>
      <p:sp>
        <p:nvSpPr>
          <p:cNvPr id="34" name="Text 32"/>
          <p:cNvSpPr txBox="1"/>
          <p:nvPr/>
        </p:nvSpPr>
        <p:spPr>
          <a:xfrm>
            <a:off x="6867144" y="5577840"/>
            <a:ext cx="4489704" cy="365760"/>
          </a:xfrm>
          <a:prstGeom prst="rect">
            <a:avLst/>
          </a:prstGeom>
          <a:noFill/>
          <a:ln/>
        </p:spPr>
        <p:txBody>
          <a:bodyPr wrap="square" lIns="0" tIns="0" rIns="0" bIns="0" rtlCol="0" anchor="ctr"/>
          <a:lstStyle/>
          <a:p>
            <a:pPr indent="0" marL="0">
              <a:lnSpc>
                <a:spcPts val="1560"/>
              </a:lnSpc>
              <a:buNone/>
            </a:pPr>
            <a:r>
              <a:rPr lang="en-US" sz="1200" b="1" dirty="0">
                <a:solidFill>
                  <a:srgbClr val="7A0000"/>
                </a:solidFill>
                <a:latin typeface="Cambria" pitchFamily="34" charset="0"/>
                <a:ea typeface="Cambria" pitchFamily="34" charset="-122"/>
                <a:cs typeface="Cambria" pitchFamily="34" charset="-120"/>
              </a:rPr>
              <a:t>Never edit the database by hand once migrations are in use.</a:t>
            </a:r>
            <a:endParaRPr lang="en-US" sz="1200" dirty="0"/>
          </a:p>
        </p:txBody>
      </p:sp>
      <p:sp>
        <p:nvSpPr>
          <p:cNvPr id="35" name="Shape 33"/>
          <p:cNvSpPr/>
          <p:nvPr/>
        </p:nvSpPr>
        <p:spPr>
          <a:xfrm>
            <a:off x="0" y="6400800"/>
            <a:ext cx="3840480" cy="457200"/>
          </a:xfrm>
          <a:prstGeom prst="rect">
            <a:avLst/>
          </a:prstGeom>
          <a:solidFill>
            <a:srgbClr val="22226B"/>
          </a:solidFill>
          <a:ln w="12700">
            <a:solidFill>
              <a:srgbClr val="22226B"/>
            </a:solidFill>
            <a:prstDash val="solid"/>
          </a:ln>
        </p:spPr>
      </p:sp>
      <p:sp>
        <p:nvSpPr>
          <p:cNvPr id="36" name="Text 34"/>
          <p:cNvSpPr txBox="1"/>
          <p:nvPr/>
        </p:nvSpPr>
        <p:spPr>
          <a:xfrm>
            <a:off x="164592" y="6400800"/>
            <a:ext cx="3511296" cy="457200"/>
          </a:xfrm>
          <a:prstGeom prst="rect">
            <a:avLst/>
          </a:prstGeom>
          <a:noFill/>
          <a:ln/>
        </p:spPr>
        <p:txBody>
          <a:bodyPr wrap="square" lIns="0" tIns="0" rIns="0" bIns="0" rtlCol="0" anchor="ctr"/>
          <a:lstStyle/>
          <a:p>
            <a:pPr algn="l" indent="0" marL="0">
              <a:buNone/>
            </a:pPr>
            <a:r>
              <a:rPr lang="en-US" sz="950" dirty="0">
                <a:solidFill>
                  <a:srgbClr val="FFFFFF"/>
                </a:solidFill>
                <a:latin typeface="Cambria" pitchFamily="34" charset="0"/>
                <a:ea typeface="Cambria" pitchFamily="34" charset="-122"/>
                <a:cs typeface="Cambria" pitchFamily="34" charset="-120"/>
              </a:rPr>
              <a:t>HAL  ·  .NET, React &amp; SQL Programme</a:t>
            </a:r>
            <a:endParaRPr lang="en-US" sz="950" dirty="0"/>
          </a:p>
        </p:txBody>
      </p:sp>
      <p:sp>
        <p:nvSpPr>
          <p:cNvPr id="37" name="Shape 35"/>
          <p:cNvSpPr/>
          <p:nvPr/>
        </p:nvSpPr>
        <p:spPr>
          <a:xfrm>
            <a:off x="3840480" y="6400800"/>
            <a:ext cx="6675120" cy="457200"/>
          </a:xfrm>
          <a:prstGeom prst="rect">
            <a:avLst/>
          </a:prstGeom>
          <a:solidFill>
            <a:srgbClr val="3333B3"/>
          </a:solidFill>
          <a:ln w="12700">
            <a:solidFill>
              <a:srgbClr val="3333B3"/>
            </a:solidFill>
            <a:prstDash val="solid"/>
          </a:ln>
        </p:spPr>
      </p:sp>
      <p:sp>
        <p:nvSpPr>
          <p:cNvPr id="38" name="Text 36"/>
          <p:cNvSpPr txBox="1"/>
          <p:nvPr/>
        </p:nvSpPr>
        <p:spPr>
          <a:xfrm>
            <a:off x="4005072" y="6400800"/>
            <a:ext cx="6345936" cy="457200"/>
          </a:xfrm>
          <a:prstGeom prst="rect">
            <a:avLst/>
          </a:prstGeom>
          <a:noFill/>
          <a:ln/>
        </p:spPr>
        <p:txBody>
          <a:bodyPr wrap="square" lIns="0" tIns="0" rIns="0" bIns="0" rtlCol="0" anchor="ctr"/>
          <a:lstStyle/>
          <a:p>
            <a:pPr algn="l" indent="0" marL="0">
              <a:buNone/>
            </a:pPr>
            <a:r>
              <a:rPr lang="en-US" sz="950" dirty="0">
                <a:solidFill>
                  <a:srgbClr val="FFFFFF"/>
                </a:solidFill>
                <a:latin typeface="Cambria" pitchFamily="34" charset="0"/>
                <a:ea typeface="Cambria" pitchFamily="34" charset="-122"/>
                <a:cs typeface="Cambria" pitchFamily="34" charset="-120"/>
              </a:rPr>
              <a:t>Day 2 · Session 2 — Connecting the API to Data</a:t>
            </a:r>
            <a:endParaRPr lang="en-US" sz="950" dirty="0"/>
          </a:p>
        </p:txBody>
      </p:sp>
      <p:sp>
        <p:nvSpPr>
          <p:cNvPr id="39" name="Shape 37"/>
          <p:cNvSpPr/>
          <p:nvPr/>
        </p:nvSpPr>
        <p:spPr>
          <a:xfrm>
            <a:off x="10515600" y="6400800"/>
            <a:ext cx="1676095" cy="457200"/>
          </a:xfrm>
          <a:prstGeom prst="rect">
            <a:avLst/>
          </a:prstGeom>
          <a:solidFill>
            <a:srgbClr val="22226B"/>
          </a:solidFill>
          <a:ln w="12700">
            <a:solidFill>
              <a:srgbClr val="22226B"/>
            </a:solidFill>
            <a:prstDash val="solid"/>
          </a:ln>
        </p:spPr>
      </p:sp>
      <p:sp>
        <p:nvSpPr>
          <p:cNvPr id="40" name="Text 38"/>
          <p:cNvSpPr txBox="1"/>
          <p:nvPr/>
        </p:nvSpPr>
        <p:spPr>
          <a:xfrm>
            <a:off x="10680192" y="6400800"/>
            <a:ext cx="1346911" cy="457200"/>
          </a:xfrm>
          <a:prstGeom prst="rect">
            <a:avLst/>
          </a:prstGeom>
          <a:noFill/>
          <a:ln/>
        </p:spPr>
        <p:txBody>
          <a:bodyPr wrap="square" lIns="0" tIns="0" rIns="0" bIns="0" rtlCol="0" anchor="ctr"/>
          <a:lstStyle/>
          <a:p>
            <a:pPr algn="ctr" indent="0" marL="0">
              <a:buNone/>
            </a:pPr>
            <a:r>
              <a:rPr lang="en-US" sz="950" dirty="0">
                <a:solidFill>
                  <a:srgbClr val="FFFFFF"/>
                </a:solidFill>
                <a:latin typeface="Cambria" pitchFamily="34" charset="0"/>
                <a:ea typeface="Cambria" pitchFamily="34" charset="-122"/>
                <a:cs typeface="Cambria" pitchFamily="34" charset="-120"/>
              </a:rPr>
              <a:t>5</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365760"/>
          </a:xfrm>
          <a:prstGeom prst="rect">
            <a:avLst/>
          </a:prstGeom>
          <a:solidFill>
            <a:srgbClr val="22226B"/>
          </a:solidFill>
          <a:ln w="12700">
            <a:solidFill>
              <a:srgbClr val="22226B"/>
            </a:solidFill>
            <a:prstDash val="solid"/>
          </a:ln>
        </p:spPr>
      </p:sp>
      <p:sp>
        <p:nvSpPr>
          <p:cNvPr id="3" name="Text 1"/>
          <p:cNvSpPr txBox="1"/>
          <p:nvPr/>
        </p:nvSpPr>
        <p:spPr>
          <a:xfrm>
            <a:off x="594360" y="0"/>
            <a:ext cx="11002975" cy="365760"/>
          </a:xfrm>
          <a:prstGeom prst="rect">
            <a:avLst/>
          </a:prstGeom>
          <a:noFill/>
          <a:ln/>
        </p:spPr>
        <p:txBody>
          <a:bodyPr wrap="square" lIns="0" tIns="0" rIns="0" bIns="0" rtlCol="0" anchor="ctr"/>
          <a:lstStyle/>
          <a:p>
            <a:pPr indent="0" marL="0">
              <a:buNone/>
            </a:pPr>
            <a:r>
              <a:rPr lang="en-US" sz="1000" b="1" spc="180" kern="0" dirty="0">
                <a:solidFill>
                  <a:srgbClr val="C9C9EA"/>
                </a:solidFill>
                <a:latin typeface="Cambria" pitchFamily="34" charset="0"/>
                <a:ea typeface="Cambria" pitchFamily="34" charset="-122"/>
                <a:cs typeface="Cambria" pitchFamily="34" charset="-120"/>
              </a:rPr>
              <a:t>QUERYING</a:t>
            </a:r>
            <a:endParaRPr lang="en-US" sz="1000" dirty="0"/>
          </a:p>
        </p:txBody>
      </p:sp>
      <p:sp>
        <p:nvSpPr>
          <p:cNvPr id="4" name="Shape 2"/>
          <p:cNvSpPr/>
          <p:nvPr/>
        </p:nvSpPr>
        <p:spPr>
          <a:xfrm>
            <a:off x="0" y="365760"/>
            <a:ext cx="12191695" cy="841248"/>
          </a:xfrm>
          <a:prstGeom prst="rect">
            <a:avLst/>
          </a:prstGeom>
          <a:solidFill>
            <a:srgbClr val="3333B3"/>
          </a:solidFill>
          <a:ln w="12700">
            <a:solidFill>
              <a:srgbClr val="3333B3"/>
            </a:solidFill>
            <a:prstDash val="solid"/>
          </a:ln>
        </p:spPr>
      </p:sp>
      <p:sp>
        <p:nvSpPr>
          <p:cNvPr id="5" name="Text 3"/>
          <p:cNvSpPr txBox="1"/>
          <p:nvPr/>
        </p:nvSpPr>
        <p:spPr>
          <a:xfrm>
            <a:off x="594360" y="365760"/>
            <a:ext cx="11002975" cy="841248"/>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LINQ in, SQL out</a:t>
            </a:r>
            <a:endParaRPr lang="en-US" sz="2600" dirty="0"/>
          </a:p>
        </p:txBody>
      </p:sp>
      <p:sp>
        <p:nvSpPr>
          <p:cNvPr id="6" name="Shape 4"/>
          <p:cNvSpPr/>
          <p:nvPr/>
        </p:nvSpPr>
        <p:spPr>
          <a:xfrm>
            <a:off x="594360" y="1627632"/>
            <a:ext cx="5806440" cy="1783080"/>
          </a:xfrm>
          <a:prstGeom prst="rect">
            <a:avLst/>
          </a:prstGeom>
          <a:solidFill>
            <a:srgbClr val="F4F4FA"/>
          </a:solidFill>
          <a:ln w="9525">
            <a:solidFill>
              <a:srgbClr val="C9C9EA"/>
            </a:solidFill>
            <a:prstDash val="solid"/>
          </a:ln>
        </p:spPr>
      </p:sp>
      <p:sp>
        <p:nvSpPr>
          <p:cNvPr id="7" name="Text 5"/>
          <p:cNvSpPr txBox="1"/>
          <p:nvPr/>
        </p:nvSpPr>
        <p:spPr>
          <a:xfrm>
            <a:off x="813816" y="1783080"/>
            <a:ext cx="5367528" cy="219456"/>
          </a:xfrm>
          <a:prstGeom prst="rect">
            <a:avLst/>
          </a:prstGeom>
          <a:noFill/>
          <a:ln/>
        </p:spPr>
        <p:txBody>
          <a:bodyPr wrap="square" lIns="0" tIns="0" rIns="0" bIns="0" rtlCol="0" anchor="ctr"/>
          <a:lstStyle/>
          <a:p>
            <a:pPr indent="0" marL="0">
              <a:buNone/>
            </a:pPr>
            <a:r>
              <a:rPr lang="en-US" sz="950" b="1" spc="140" kern="0" dirty="0">
                <a:solidFill>
                  <a:srgbClr val="3333B3"/>
                </a:solidFill>
                <a:latin typeface="Cambria" pitchFamily="34" charset="0"/>
                <a:ea typeface="Cambria" pitchFamily="34" charset="-122"/>
                <a:cs typeface="Cambria" pitchFamily="34" charset="-120"/>
              </a:rPr>
              <a:t>WHAT YOU WRITE</a:t>
            </a:r>
            <a:endParaRPr lang="en-US" sz="950" dirty="0"/>
          </a:p>
        </p:txBody>
      </p:sp>
      <p:sp>
        <p:nvSpPr>
          <p:cNvPr id="8" name="Text 6"/>
          <p:cNvSpPr txBox="1"/>
          <p:nvPr/>
        </p:nvSpPr>
        <p:spPr>
          <a:xfrm>
            <a:off x="813816" y="2075688"/>
            <a:ext cx="5367528" cy="1207008"/>
          </a:xfrm>
          <a:prstGeom prst="rect">
            <a:avLst/>
          </a:prstGeom>
          <a:noFill/>
          <a:ln/>
        </p:spPr>
        <p:txBody>
          <a:bodyPr wrap="square" lIns="0" tIns="0" rIns="0" bIns="0" rtlCol="0" anchor="t"/>
          <a:lstStyle/>
          <a:p>
            <a:pPr indent="0" marL="0">
              <a:lnSpc>
                <a:spcPts val="1418"/>
              </a:lnSpc>
              <a:buNone/>
            </a:pPr>
            <a:r>
              <a:rPr lang="en-US" sz="1050" dirty="0">
                <a:solidFill>
                  <a:srgbClr val="1A1A33"/>
                </a:solidFill>
                <a:latin typeface="Courier New" pitchFamily="34" charset="0"/>
                <a:ea typeface="Courier New" pitchFamily="34" charset="-122"/>
                <a:cs typeface="Courier New" pitchFamily="34" charset="-120"/>
              </a:rPr>
              <a:t>var low = await _db.Parts</a:t>
            </a:r>
            <a:endParaRPr lang="en-US" sz="1050" dirty="0"/>
          </a:p>
          <a:p>
            <a:pPr indent="0" marL="0">
              <a:lnSpc>
                <a:spcPts val="1418"/>
              </a:lnSpc>
              <a:buNone/>
            </a:pPr>
            <a:r>
              <a:rPr lang="en-US" sz="1050" dirty="0">
                <a:solidFill>
                  <a:srgbClr val="1A1A33"/>
                </a:solidFill>
                <a:latin typeface="Courier New" pitchFamily="34" charset="0"/>
                <a:ea typeface="Courier New" pitchFamily="34" charset="-122"/>
                <a:cs typeface="Courier New" pitchFamily="34" charset="-120"/>
              </a:rPr>
              <a:t>    .Where(p =&gt; p.Quantity &lt; 5)</a:t>
            </a:r>
            <a:endParaRPr lang="en-US" sz="1050" dirty="0"/>
          </a:p>
          <a:p>
            <a:pPr indent="0" marL="0">
              <a:lnSpc>
                <a:spcPts val="1418"/>
              </a:lnSpc>
              <a:buNone/>
            </a:pPr>
            <a:r>
              <a:rPr lang="en-US" sz="1050" dirty="0">
                <a:solidFill>
                  <a:srgbClr val="1A1A33"/>
                </a:solidFill>
                <a:latin typeface="Courier New" pitchFamily="34" charset="0"/>
                <a:ea typeface="Courier New" pitchFamily="34" charset="-122"/>
                <a:cs typeface="Courier New" pitchFamily="34" charset="-120"/>
              </a:rPr>
              <a:t>    .OrderBy(p =&gt; p.PartNo)</a:t>
            </a:r>
            <a:endParaRPr lang="en-US" sz="1050" dirty="0"/>
          </a:p>
          <a:p>
            <a:pPr indent="0" marL="0">
              <a:lnSpc>
                <a:spcPts val="1418"/>
              </a:lnSpc>
              <a:buNone/>
            </a:pPr>
            <a:r>
              <a:rPr lang="en-US" sz="1050" dirty="0">
                <a:solidFill>
                  <a:srgbClr val="1A1A33"/>
                </a:solidFill>
                <a:latin typeface="Courier New" pitchFamily="34" charset="0"/>
                <a:ea typeface="Courier New" pitchFamily="34" charset="-122"/>
                <a:cs typeface="Courier New" pitchFamily="34" charset="-120"/>
              </a:rPr>
              <a:t>    .Select(p =&gt; new PartResponse(</a:t>
            </a:r>
            <a:endParaRPr lang="en-US" sz="1050" dirty="0"/>
          </a:p>
          <a:p>
            <a:pPr indent="0" marL="0">
              <a:lnSpc>
                <a:spcPts val="1418"/>
              </a:lnSpc>
              <a:buNone/>
            </a:pPr>
            <a:r>
              <a:rPr lang="en-US" sz="1050" dirty="0">
                <a:solidFill>
                  <a:srgbClr val="1A1A33"/>
                </a:solidFill>
                <a:latin typeface="Courier New" pitchFamily="34" charset="0"/>
                <a:ea typeface="Courier New" pitchFamily="34" charset="-122"/>
                <a:cs typeface="Courier New" pitchFamily="34" charset="-120"/>
              </a:rPr>
              <a:t>        p.PartNo, p.Quantity, true))</a:t>
            </a:r>
            <a:endParaRPr lang="en-US" sz="1050" dirty="0"/>
          </a:p>
          <a:p>
            <a:pPr indent="0" marL="0">
              <a:lnSpc>
                <a:spcPts val="1418"/>
              </a:lnSpc>
              <a:buNone/>
            </a:pPr>
            <a:r>
              <a:rPr lang="en-US" sz="1050" dirty="0">
                <a:solidFill>
                  <a:srgbClr val="1A1A33"/>
                </a:solidFill>
                <a:latin typeface="Courier New" pitchFamily="34" charset="0"/>
                <a:ea typeface="Courier New" pitchFamily="34" charset="-122"/>
                <a:cs typeface="Courier New" pitchFamily="34" charset="-120"/>
              </a:rPr>
              <a:t>    .ToListAsync();</a:t>
            </a:r>
            <a:endParaRPr lang="en-US" sz="1050" dirty="0"/>
          </a:p>
        </p:txBody>
      </p:sp>
      <p:sp>
        <p:nvSpPr>
          <p:cNvPr id="9" name="Shape 7"/>
          <p:cNvSpPr/>
          <p:nvPr/>
        </p:nvSpPr>
        <p:spPr>
          <a:xfrm>
            <a:off x="594360" y="3547872"/>
            <a:ext cx="5806440" cy="1408176"/>
          </a:xfrm>
          <a:prstGeom prst="rect">
            <a:avLst/>
          </a:prstGeom>
          <a:solidFill>
            <a:srgbClr val="F4F4FA"/>
          </a:solidFill>
          <a:ln w="9525">
            <a:solidFill>
              <a:srgbClr val="C9C9EA"/>
            </a:solidFill>
            <a:prstDash val="solid"/>
          </a:ln>
        </p:spPr>
      </p:sp>
      <p:sp>
        <p:nvSpPr>
          <p:cNvPr id="10" name="Text 8"/>
          <p:cNvSpPr txBox="1"/>
          <p:nvPr/>
        </p:nvSpPr>
        <p:spPr>
          <a:xfrm>
            <a:off x="813816" y="3703320"/>
            <a:ext cx="5367528" cy="219456"/>
          </a:xfrm>
          <a:prstGeom prst="rect">
            <a:avLst/>
          </a:prstGeom>
          <a:noFill/>
          <a:ln/>
        </p:spPr>
        <p:txBody>
          <a:bodyPr wrap="square" lIns="0" tIns="0" rIns="0" bIns="0" rtlCol="0" anchor="ctr"/>
          <a:lstStyle/>
          <a:p>
            <a:pPr indent="0" marL="0">
              <a:buNone/>
            </a:pPr>
            <a:r>
              <a:rPr lang="en-US" sz="950" b="1" spc="140" kern="0" dirty="0">
                <a:solidFill>
                  <a:srgbClr val="3333B3"/>
                </a:solidFill>
                <a:latin typeface="Cambria" pitchFamily="34" charset="0"/>
                <a:ea typeface="Cambria" pitchFamily="34" charset="-122"/>
                <a:cs typeface="Cambria" pitchFamily="34" charset="-120"/>
              </a:rPr>
              <a:t>WHAT RUNS</a:t>
            </a:r>
            <a:endParaRPr lang="en-US" sz="950" dirty="0"/>
          </a:p>
        </p:txBody>
      </p:sp>
      <p:sp>
        <p:nvSpPr>
          <p:cNvPr id="11" name="Text 9"/>
          <p:cNvSpPr txBox="1"/>
          <p:nvPr/>
        </p:nvSpPr>
        <p:spPr>
          <a:xfrm>
            <a:off x="813816" y="3995928"/>
            <a:ext cx="5367528" cy="832104"/>
          </a:xfrm>
          <a:prstGeom prst="rect">
            <a:avLst/>
          </a:prstGeom>
          <a:noFill/>
          <a:ln/>
        </p:spPr>
        <p:txBody>
          <a:bodyPr wrap="square" lIns="0" tIns="0" rIns="0" bIns="0" rtlCol="0" anchor="t"/>
          <a:lstStyle/>
          <a:p>
            <a:pPr indent="0" marL="0">
              <a:lnSpc>
                <a:spcPts val="1418"/>
              </a:lnSpc>
              <a:buNone/>
            </a:pPr>
            <a:r>
              <a:rPr lang="en-US" sz="1050" dirty="0">
                <a:solidFill>
                  <a:srgbClr val="1A1A33"/>
                </a:solidFill>
                <a:latin typeface="Courier New" pitchFamily="34" charset="0"/>
                <a:ea typeface="Courier New" pitchFamily="34" charset="-122"/>
                <a:cs typeface="Courier New" pitchFamily="34" charset="-120"/>
              </a:rPr>
              <a:t>SELECT [p].[PartNo], [p].[Quantity]</a:t>
            </a:r>
            <a:endParaRPr lang="en-US" sz="1050" dirty="0"/>
          </a:p>
          <a:p>
            <a:pPr indent="0" marL="0">
              <a:lnSpc>
                <a:spcPts val="1418"/>
              </a:lnSpc>
              <a:buNone/>
            </a:pPr>
            <a:r>
              <a:rPr lang="en-US" sz="1050" dirty="0">
                <a:solidFill>
                  <a:srgbClr val="1A1A33"/>
                </a:solidFill>
                <a:latin typeface="Courier New" pitchFamily="34" charset="0"/>
                <a:ea typeface="Courier New" pitchFamily="34" charset="-122"/>
                <a:cs typeface="Courier New" pitchFamily="34" charset="-120"/>
              </a:rPr>
              <a:t>FROM [Parts] AS [p]</a:t>
            </a:r>
            <a:endParaRPr lang="en-US" sz="1050" dirty="0"/>
          </a:p>
          <a:p>
            <a:pPr indent="0" marL="0">
              <a:lnSpc>
                <a:spcPts val="1418"/>
              </a:lnSpc>
              <a:buNone/>
            </a:pPr>
            <a:r>
              <a:rPr lang="en-US" sz="1050" dirty="0">
                <a:solidFill>
                  <a:srgbClr val="1A1A33"/>
                </a:solidFill>
                <a:latin typeface="Courier New" pitchFamily="34" charset="0"/>
                <a:ea typeface="Courier New" pitchFamily="34" charset="-122"/>
                <a:cs typeface="Courier New" pitchFamily="34" charset="-120"/>
              </a:rPr>
              <a:t>WHERE [p].[Quantity] &lt; 5</a:t>
            </a:r>
            <a:endParaRPr lang="en-US" sz="1050" dirty="0"/>
          </a:p>
          <a:p>
            <a:pPr indent="0" marL="0">
              <a:lnSpc>
                <a:spcPts val="1418"/>
              </a:lnSpc>
              <a:buNone/>
            </a:pPr>
            <a:r>
              <a:rPr lang="en-US" sz="1050" dirty="0">
                <a:solidFill>
                  <a:srgbClr val="1A1A33"/>
                </a:solidFill>
                <a:latin typeface="Courier New" pitchFamily="34" charset="0"/>
                <a:ea typeface="Courier New" pitchFamily="34" charset="-122"/>
                <a:cs typeface="Courier New" pitchFamily="34" charset="-120"/>
              </a:rPr>
              <a:t>ORDER BY [p].[PartNo]</a:t>
            </a:r>
            <a:endParaRPr lang="en-US" sz="1050" dirty="0"/>
          </a:p>
        </p:txBody>
      </p:sp>
      <p:sp>
        <p:nvSpPr>
          <p:cNvPr id="12" name="Shape 10"/>
          <p:cNvSpPr/>
          <p:nvPr/>
        </p:nvSpPr>
        <p:spPr>
          <a:xfrm>
            <a:off x="6629400" y="1627632"/>
            <a:ext cx="4965192" cy="1024128"/>
          </a:xfrm>
          <a:prstGeom prst="rect">
            <a:avLst/>
          </a:prstGeom>
          <a:solidFill>
            <a:srgbClr val="EDEDF7"/>
          </a:solidFill>
          <a:ln w="9525">
            <a:solidFill>
              <a:srgbClr val="C9C9EA"/>
            </a:solidFill>
            <a:prstDash val="solid"/>
          </a:ln>
        </p:spPr>
      </p:sp>
      <p:sp>
        <p:nvSpPr>
          <p:cNvPr id="13" name="Shape 11"/>
          <p:cNvSpPr/>
          <p:nvPr/>
        </p:nvSpPr>
        <p:spPr>
          <a:xfrm>
            <a:off x="6629400" y="1627632"/>
            <a:ext cx="50292" cy="1024128"/>
          </a:xfrm>
          <a:prstGeom prst="rect">
            <a:avLst/>
          </a:prstGeom>
          <a:solidFill>
            <a:srgbClr val="3333B3"/>
          </a:solidFill>
          <a:ln w="12700">
            <a:solidFill>
              <a:srgbClr val="3333B3"/>
            </a:solidFill>
            <a:prstDash val="solid"/>
          </a:ln>
        </p:spPr>
      </p:sp>
      <p:sp>
        <p:nvSpPr>
          <p:cNvPr id="14" name="Shape 12"/>
          <p:cNvSpPr/>
          <p:nvPr/>
        </p:nvSpPr>
        <p:spPr>
          <a:xfrm>
            <a:off x="6830568" y="1956816"/>
            <a:ext cx="365760" cy="365760"/>
          </a:xfrm>
          <a:prstGeom prst="ellipse">
            <a:avLst/>
          </a:prstGeom>
          <a:solidFill>
            <a:srgbClr val="3333B3"/>
          </a:solidFill>
          <a:ln w="12700">
            <a:solidFill>
              <a:srgbClr val="3333B3"/>
            </a:solidFill>
            <a:prstDash val="solid"/>
          </a:ln>
        </p:spPr>
      </p:sp>
      <p:sp>
        <p:nvSpPr>
          <p:cNvPr id="15" name="Text 13"/>
          <p:cNvSpPr txBox="1"/>
          <p:nvPr/>
        </p:nvSpPr>
        <p:spPr>
          <a:xfrm>
            <a:off x="6830568" y="195681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16" name="Text 14"/>
          <p:cNvSpPr txBox="1"/>
          <p:nvPr/>
        </p:nvSpPr>
        <p:spPr>
          <a:xfrm>
            <a:off x="7360920" y="1627632"/>
            <a:ext cx="4014216" cy="1024128"/>
          </a:xfrm>
          <a:prstGeom prst="rect">
            <a:avLst/>
          </a:prstGeom>
          <a:noFill/>
          <a:ln/>
        </p:spPr>
        <p:txBody>
          <a:bodyPr wrap="square" lIns="0" tIns="0" rIns="0" bIns="0" rtlCol="0" anchor="ctr"/>
          <a:lstStyle/>
          <a:p>
            <a:pPr indent="0" marL="0">
              <a:buNone/>
            </a:pPr>
            <a:r>
              <a:rPr lang="en-US" sz="1350" b="1" dirty="0">
                <a:solidFill>
                  <a:srgbClr val="22226B"/>
                </a:solidFill>
                <a:latin typeface="Cambria" pitchFamily="34" charset="0"/>
                <a:ea typeface="Cambria" pitchFamily="34" charset="-122"/>
                <a:cs typeface="Cambria" pitchFamily="34" charset="-120"/>
              </a:rPr>
              <a:t>Select before ToList</a:t>
            </a:r>
            <a:endParaRPr lang="en-US" sz="1350" dirty="0"/>
          </a:p>
          <a:p>
            <a:pPr indent="0" marL="0">
              <a:buNone/>
            </a:pPr>
            <a:r>
              <a:rPr lang="en-US" sz="1100" dirty="0">
                <a:solidFill>
                  <a:srgbClr val="3E3E5A"/>
                </a:solidFill>
                <a:latin typeface="Cambria" pitchFamily="34" charset="0"/>
                <a:ea typeface="Cambria" pitchFamily="34" charset="-122"/>
                <a:cs typeface="Cambria" pitchFamily="34" charset="-120"/>
              </a:rPr>
              <a:t>Projecting first means the database returns only the columns you need, not whole rows.</a:t>
            </a:r>
            <a:endParaRPr lang="en-US" sz="1350" dirty="0"/>
          </a:p>
        </p:txBody>
      </p:sp>
      <p:sp>
        <p:nvSpPr>
          <p:cNvPr id="17" name="Shape 15"/>
          <p:cNvSpPr/>
          <p:nvPr/>
        </p:nvSpPr>
        <p:spPr>
          <a:xfrm>
            <a:off x="6629400" y="2779776"/>
            <a:ext cx="4965192" cy="1024128"/>
          </a:xfrm>
          <a:prstGeom prst="rect">
            <a:avLst/>
          </a:prstGeom>
          <a:solidFill>
            <a:srgbClr val="EDEDF7"/>
          </a:solidFill>
          <a:ln w="9525">
            <a:solidFill>
              <a:srgbClr val="C9C9EA"/>
            </a:solidFill>
            <a:prstDash val="solid"/>
          </a:ln>
        </p:spPr>
      </p:sp>
      <p:sp>
        <p:nvSpPr>
          <p:cNvPr id="18" name="Shape 16"/>
          <p:cNvSpPr/>
          <p:nvPr/>
        </p:nvSpPr>
        <p:spPr>
          <a:xfrm>
            <a:off x="6629400" y="2779776"/>
            <a:ext cx="50292" cy="1024128"/>
          </a:xfrm>
          <a:prstGeom prst="rect">
            <a:avLst/>
          </a:prstGeom>
          <a:solidFill>
            <a:srgbClr val="3333B3"/>
          </a:solidFill>
          <a:ln w="12700">
            <a:solidFill>
              <a:srgbClr val="3333B3"/>
            </a:solidFill>
            <a:prstDash val="solid"/>
          </a:ln>
        </p:spPr>
      </p:sp>
      <p:sp>
        <p:nvSpPr>
          <p:cNvPr id="19" name="Shape 17"/>
          <p:cNvSpPr/>
          <p:nvPr/>
        </p:nvSpPr>
        <p:spPr>
          <a:xfrm>
            <a:off x="6830568" y="3108960"/>
            <a:ext cx="365760" cy="365760"/>
          </a:xfrm>
          <a:prstGeom prst="ellipse">
            <a:avLst/>
          </a:prstGeom>
          <a:solidFill>
            <a:srgbClr val="3333B3"/>
          </a:solidFill>
          <a:ln w="12700">
            <a:solidFill>
              <a:srgbClr val="3333B3"/>
            </a:solidFill>
            <a:prstDash val="solid"/>
          </a:ln>
        </p:spPr>
      </p:sp>
      <p:sp>
        <p:nvSpPr>
          <p:cNvPr id="20" name="Text 18"/>
          <p:cNvSpPr txBox="1"/>
          <p:nvPr/>
        </p:nvSpPr>
        <p:spPr>
          <a:xfrm>
            <a:off x="6830568" y="310896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21" name="Text 19"/>
          <p:cNvSpPr txBox="1"/>
          <p:nvPr/>
        </p:nvSpPr>
        <p:spPr>
          <a:xfrm>
            <a:off x="7360920" y="2779776"/>
            <a:ext cx="4014216" cy="1024128"/>
          </a:xfrm>
          <a:prstGeom prst="rect">
            <a:avLst/>
          </a:prstGeom>
          <a:noFill/>
          <a:ln/>
        </p:spPr>
        <p:txBody>
          <a:bodyPr wrap="square" lIns="0" tIns="0" rIns="0" bIns="0" rtlCol="0" anchor="ctr"/>
          <a:lstStyle/>
          <a:p>
            <a:pPr indent="0" marL="0">
              <a:buNone/>
            </a:pPr>
            <a:r>
              <a:rPr lang="en-US" sz="1350" b="1" dirty="0">
                <a:solidFill>
                  <a:srgbClr val="22226B"/>
                </a:solidFill>
                <a:latin typeface="Cambria" pitchFamily="34" charset="0"/>
                <a:ea typeface="Cambria" pitchFamily="34" charset="-122"/>
                <a:cs typeface="Cambria" pitchFamily="34" charset="-120"/>
              </a:rPr>
              <a:t>ToListAsync is where it executes</a:t>
            </a:r>
            <a:endParaRPr lang="en-US" sz="1350" dirty="0"/>
          </a:p>
          <a:p>
            <a:pPr indent="0" marL="0">
              <a:buNone/>
            </a:pPr>
            <a:r>
              <a:rPr lang="en-US" sz="1100" dirty="0">
                <a:solidFill>
                  <a:srgbClr val="3E3E5A"/>
                </a:solidFill>
                <a:latin typeface="Cambria" pitchFamily="34" charset="0"/>
                <a:ea typeface="Cambria" pitchFamily="34" charset="-122"/>
                <a:cs typeface="Cambria" pitchFamily="34" charset="-120"/>
              </a:rPr>
              <a:t>Everything before that is just building the query. Add filters freely until then.</a:t>
            </a:r>
            <a:endParaRPr lang="en-US" sz="1350" dirty="0"/>
          </a:p>
        </p:txBody>
      </p:sp>
      <p:sp>
        <p:nvSpPr>
          <p:cNvPr id="22" name="Shape 20"/>
          <p:cNvSpPr/>
          <p:nvPr/>
        </p:nvSpPr>
        <p:spPr>
          <a:xfrm>
            <a:off x="6629400" y="3931920"/>
            <a:ext cx="4965192" cy="1024128"/>
          </a:xfrm>
          <a:prstGeom prst="rect">
            <a:avLst/>
          </a:prstGeom>
          <a:solidFill>
            <a:srgbClr val="EDEDF7"/>
          </a:solidFill>
          <a:ln w="9525">
            <a:solidFill>
              <a:srgbClr val="C9C9EA"/>
            </a:solidFill>
            <a:prstDash val="solid"/>
          </a:ln>
        </p:spPr>
      </p:sp>
      <p:sp>
        <p:nvSpPr>
          <p:cNvPr id="23" name="Shape 21"/>
          <p:cNvSpPr/>
          <p:nvPr/>
        </p:nvSpPr>
        <p:spPr>
          <a:xfrm>
            <a:off x="6629400" y="3931920"/>
            <a:ext cx="50292" cy="1024128"/>
          </a:xfrm>
          <a:prstGeom prst="rect">
            <a:avLst/>
          </a:prstGeom>
          <a:solidFill>
            <a:srgbClr val="3333B3"/>
          </a:solidFill>
          <a:ln w="12700">
            <a:solidFill>
              <a:srgbClr val="3333B3"/>
            </a:solidFill>
            <a:prstDash val="solid"/>
          </a:ln>
        </p:spPr>
      </p:sp>
      <p:sp>
        <p:nvSpPr>
          <p:cNvPr id="24" name="Shape 22"/>
          <p:cNvSpPr/>
          <p:nvPr/>
        </p:nvSpPr>
        <p:spPr>
          <a:xfrm>
            <a:off x="6830568" y="4261104"/>
            <a:ext cx="365760" cy="365760"/>
          </a:xfrm>
          <a:prstGeom prst="ellipse">
            <a:avLst/>
          </a:prstGeom>
          <a:solidFill>
            <a:srgbClr val="3333B3"/>
          </a:solidFill>
          <a:ln w="12700">
            <a:solidFill>
              <a:srgbClr val="3333B3"/>
            </a:solidFill>
            <a:prstDash val="solid"/>
          </a:ln>
        </p:spPr>
      </p:sp>
      <p:sp>
        <p:nvSpPr>
          <p:cNvPr id="25" name="Text 23"/>
          <p:cNvSpPr txBox="1"/>
          <p:nvPr/>
        </p:nvSpPr>
        <p:spPr>
          <a:xfrm>
            <a:off x="6830568" y="4261104"/>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26" name="Text 24"/>
          <p:cNvSpPr txBox="1"/>
          <p:nvPr/>
        </p:nvSpPr>
        <p:spPr>
          <a:xfrm>
            <a:off x="7360920" y="3931920"/>
            <a:ext cx="4014216" cy="1024128"/>
          </a:xfrm>
          <a:prstGeom prst="rect">
            <a:avLst/>
          </a:prstGeom>
          <a:noFill/>
          <a:ln/>
        </p:spPr>
        <p:txBody>
          <a:bodyPr wrap="square" lIns="0" tIns="0" rIns="0" bIns="0" rtlCol="0" anchor="ctr"/>
          <a:lstStyle/>
          <a:p>
            <a:pPr indent="0" marL="0">
              <a:buNone/>
            </a:pPr>
            <a:r>
              <a:rPr lang="en-US" sz="1350" b="1" dirty="0">
                <a:solidFill>
                  <a:srgbClr val="22226B"/>
                </a:solidFill>
                <a:latin typeface="Cambria" pitchFamily="34" charset="0"/>
                <a:ea typeface="Cambria" pitchFamily="34" charset="-122"/>
                <a:cs typeface="Cambria" pitchFamily="34" charset="-120"/>
              </a:rPr>
              <a:t>AsNoTracking for read-only work</a:t>
            </a:r>
            <a:endParaRPr lang="en-US" sz="1350" dirty="0"/>
          </a:p>
          <a:p>
            <a:pPr indent="0" marL="0">
              <a:buNone/>
            </a:pPr>
            <a:r>
              <a:rPr lang="en-US" sz="1100" dirty="0">
                <a:solidFill>
                  <a:srgbClr val="3E3E5A"/>
                </a:solidFill>
                <a:latin typeface="Cambria" pitchFamily="34" charset="0"/>
                <a:ea typeface="Cambria" pitchFamily="34" charset="-122"/>
                <a:cs typeface="Cambria" pitchFamily="34" charset="-120"/>
              </a:rPr>
              <a:t>Skips change tracking. Noticeably faster on list screens and reports.</a:t>
            </a:r>
            <a:endParaRPr lang="en-US" sz="1350" dirty="0"/>
          </a:p>
        </p:txBody>
      </p:sp>
      <p:sp>
        <p:nvSpPr>
          <p:cNvPr id="27" name="Shape 25"/>
          <p:cNvSpPr/>
          <p:nvPr/>
        </p:nvSpPr>
        <p:spPr>
          <a:xfrm>
            <a:off x="6629400" y="5084064"/>
            <a:ext cx="4965192" cy="1024128"/>
          </a:xfrm>
          <a:prstGeom prst="rect">
            <a:avLst/>
          </a:prstGeom>
          <a:solidFill>
            <a:srgbClr val="EDEDF7"/>
          </a:solidFill>
          <a:ln w="9525">
            <a:solidFill>
              <a:srgbClr val="C9C9EA"/>
            </a:solidFill>
            <a:prstDash val="solid"/>
          </a:ln>
        </p:spPr>
      </p:sp>
      <p:sp>
        <p:nvSpPr>
          <p:cNvPr id="28" name="Shape 26"/>
          <p:cNvSpPr/>
          <p:nvPr/>
        </p:nvSpPr>
        <p:spPr>
          <a:xfrm>
            <a:off x="6629400" y="5084064"/>
            <a:ext cx="50292" cy="1024128"/>
          </a:xfrm>
          <a:prstGeom prst="rect">
            <a:avLst/>
          </a:prstGeom>
          <a:solidFill>
            <a:srgbClr val="3333B3"/>
          </a:solidFill>
          <a:ln w="12700">
            <a:solidFill>
              <a:srgbClr val="3333B3"/>
            </a:solidFill>
            <a:prstDash val="solid"/>
          </a:ln>
        </p:spPr>
      </p:sp>
      <p:sp>
        <p:nvSpPr>
          <p:cNvPr id="29" name="Shape 27"/>
          <p:cNvSpPr/>
          <p:nvPr/>
        </p:nvSpPr>
        <p:spPr>
          <a:xfrm>
            <a:off x="6830568" y="5413248"/>
            <a:ext cx="365760" cy="365760"/>
          </a:xfrm>
          <a:prstGeom prst="ellipse">
            <a:avLst/>
          </a:prstGeom>
          <a:solidFill>
            <a:srgbClr val="3333B3"/>
          </a:solidFill>
          <a:ln w="12700">
            <a:solidFill>
              <a:srgbClr val="3333B3"/>
            </a:solidFill>
            <a:prstDash val="solid"/>
          </a:ln>
        </p:spPr>
      </p:sp>
      <p:sp>
        <p:nvSpPr>
          <p:cNvPr id="30" name="Text 28"/>
          <p:cNvSpPr txBox="1"/>
          <p:nvPr/>
        </p:nvSpPr>
        <p:spPr>
          <a:xfrm>
            <a:off x="6830568" y="541324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4</a:t>
            </a:r>
            <a:endParaRPr lang="en-US" sz="1300" dirty="0"/>
          </a:p>
        </p:txBody>
      </p:sp>
      <p:sp>
        <p:nvSpPr>
          <p:cNvPr id="31" name="Text 29"/>
          <p:cNvSpPr txBox="1"/>
          <p:nvPr/>
        </p:nvSpPr>
        <p:spPr>
          <a:xfrm>
            <a:off x="7360920" y="5084064"/>
            <a:ext cx="4014216" cy="1024128"/>
          </a:xfrm>
          <a:prstGeom prst="rect">
            <a:avLst/>
          </a:prstGeom>
          <a:noFill/>
          <a:ln/>
        </p:spPr>
        <p:txBody>
          <a:bodyPr wrap="square" lIns="0" tIns="0" rIns="0" bIns="0" rtlCol="0" anchor="ctr"/>
          <a:lstStyle/>
          <a:p>
            <a:pPr indent="0" marL="0">
              <a:buNone/>
            </a:pPr>
            <a:r>
              <a:rPr lang="en-US" sz="1350" b="1" dirty="0">
                <a:solidFill>
                  <a:srgbClr val="22226B"/>
                </a:solidFill>
                <a:latin typeface="Cambria" pitchFamily="34" charset="0"/>
                <a:ea typeface="Cambria" pitchFamily="34" charset="-122"/>
                <a:cs typeface="Cambria" pitchFamily="34" charset="-120"/>
              </a:rPr>
              <a:t>Log the SQL while you learn</a:t>
            </a:r>
            <a:endParaRPr lang="en-US" sz="1350" dirty="0"/>
          </a:p>
          <a:p>
            <a:pPr indent="0" marL="0">
              <a:buNone/>
            </a:pPr>
            <a:r>
              <a:rPr lang="en-US" sz="1100" dirty="0">
                <a:solidFill>
                  <a:srgbClr val="3E3E5A"/>
                </a:solidFill>
                <a:latin typeface="Cambria" pitchFamily="34" charset="0"/>
                <a:ea typeface="Cambria" pitchFamily="34" charset="-122"/>
                <a:cs typeface="Cambria" pitchFamily="34" charset="-120"/>
              </a:rPr>
              <a:t>Watching what your LINQ becomes is the fastest way to get good at this.</a:t>
            </a:r>
            <a:endParaRPr lang="en-US" sz="1350" dirty="0"/>
          </a:p>
        </p:txBody>
      </p:sp>
      <p:sp>
        <p:nvSpPr>
          <p:cNvPr id="32" name="Shape 30"/>
          <p:cNvSpPr/>
          <p:nvPr/>
        </p:nvSpPr>
        <p:spPr>
          <a:xfrm>
            <a:off x="0" y="6400800"/>
            <a:ext cx="3840480" cy="457200"/>
          </a:xfrm>
          <a:prstGeom prst="rect">
            <a:avLst/>
          </a:prstGeom>
          <a:solidFill>
            <a:srgbClr val="22226B"/>
          </a:solidFill>
          <a:ln w="12700">
            <a:solidFill>
              <a:srgbClr val="22226B"/>
            </a:solidFill>
            <a:prstDash val="solid"/>
          </a:ln>
        </p:spPr>
      </p:sp>
      <p:sp>
        <p:nvSpPr>
          <p:cNvPr id="33" name="Text 31"/>
          <p:cNvSpPr txBox="1"/>
          <p:nvPr/>
        </p:nvSpPr>
        <p:spPr>
          <a:xfrm>
            <a:off x="164592" y="6400800"/>
            <a:ext cx="3511296" cy="457200"/>
          </a:xfrm>
          <a:prstGeom prst="rect">
            <a:avLst/>
          </a:prstGeom>
          <a:noFill/>
          <a:ln/>
        </p:spPr>
        <p:txBody>
          <a:bodyPr wrap="square" lIns="0" tIns="0" rIns="0" bIns="0" rtlCol="0" anchor="ctr"/>
          <a:lstStyle/>
          <a:p>
            <a:pPr algn="l" indent="0" marL="0">
              <a:buNone/>
            </a:pPr>
            <a:r>
              <a:rPr lang="en-US" sz="950" dirty="0">
                <a:solidFill>
                  <a:srgbClr val="FFFFFF"/>
                </a:solidFill>
                <a:latin typeface="Cambria" pitchFamily="34" charset="0"/>
                <a:ea typeface="Cambria" pitchFamily="34" charset="-122"/>
                <a:cs typeface="Cambria" pitchFamily="34" charset="-120"/>
              </a:rPr>
              <a:t>HAL  ·  .NET, React &amp; SQL Programme</a:t>
            </a:r>
            <a:endParaRPr lang="en-US" sz="950" dirty="0"/>
          </a:p>
        </p:txBody>
      </p:sp>
      <p:sp>
        <p:nvSpPr>
          <p:cNvPr id="34" name="Shape 32"/>
          <p:cNvSpPr/>
          <p:nvPr/>
        </p:nvSpPr>
        <p:spPr>
          <a:xfrm>
            <a:off x="3840480" y="6400800"/>
            <a:ext cx="6675120" cy="457200"/>
          </a:xfrm>
          <a:prstGeom prst="rect">
            <a:avLst/>
          </a:prstGeom>
          <a:solidFill>
            <a:srgbClr val="3333B3"/>
          </a:solidFill>
          <a:ln w="12700">
            <a:solidFill>
              <a:srgbClr val="3333B3"/>
            </a:solidFill>
            <a:prstDash val="solid"/>
          </a:ln>
        </p:spPr>
      </p:sp>
      <p:sp>
        <p:nvSpPr>
          <p:cNvPr id="35" name="Text 33"/>
          <p:cNvSpPr txBox="1"/>
          <p:nvPr/>
        </p:nvSpPr>
        <p:spPr>
          <a:xfrm>
            <a:off x="4005072" y="6400800"/>
            <a:ext cx="6345936" cy="457200"/>
          </a:xfrm>
          <a:prstGeom prst="rect">
            <a:avLst/>
          </a:prstGeom>
          <a:noFill/>
          <a:ln/>
        </p:spPr>
        <p:txBody>
          <a:bodyPr wrap="square" lIns="0" tIns="0" rIns="0" bIns="0" rtlCol="0" anchor="ctr"/>
          <a:lstStyle/>
          <a:p>
            <a:pPr algn="l" indent="0" marL="0">
              <a:buNone/>
            </a:pPr>
            <a:r>
              <a:rPr lang="en-US" sz="950" dirty="0">
                <a:solidFill>
                  <a:srgbClr val="FFFFFF"/>
                </a:solidFill>
                <a:latin typeface="Cambria" pitchFamily="34" charset="0"/>
                <a:ea typeface="Cambria" pitchFamily="34" charset="-122"/>
                <a:cs typeface="Cambria" pitchFamily="34" charset="-120"/>
              </a:rPr>
              <a:t>Day 2 · Session 2 — Connecting the API to Data</a:t>
            </a:r>
            <a:endParaRPr lang="en-US" sz="950" dirty="0"/>
          </a:p>
        </p:txBody>
      </p:sp>
      <p:sp>
        <p:nvSpPr>
          <p:cNvPr id="36" name="Shape 34"/>
          <p:cNvSpPr/>
          <p:nvPr/>
        </p:nvSpPr>
        <p:spPr>
          <a:xfrm>
            <a:off x="10515600" y="6400800"/>
            <a:ext cx="1676095" cy="457200"/>
          </a:xfrm>
          <a:prstGeom prst="rect">
            <a:avLst/>
          </a:prstGeom>
          <a:solidFill>
            <a:srgbClr val="22226B"/>
          </a:solidFill>
          <a:ln w="12700">
            <a:solidFill>
              <a:srgbClr val="22226B"/>
            </a:solidFill>
            <a:prstDash val="solid"/>
          </a:ln>
        </p:spPr>
      </p:sp>
      <p:sp>
        <p:nvSpPr>
          <p:cNvPr id="37" name="Text 35"/>
          <p:cNvSpPr txBox="1"/>
          <p:nvPr/>
        </p:nvSpPr>
        <p:spPr>
          <a:xfrm>
            <a:off x="10680192" y="6400800"/>
            <a:ext cx="1346911" cy="457200"/>
          </a:xfrm>
          <a:prstGeom prst="rect">
            <a:avLst/>
          </a:prstGeom>
          <a:noFill/>
          <a:ln/>
        </p:spPr>
        <p:txBody>
          <a:bodyPr wrap="square" lIns="0" tIns="0" rIns="0" bIns="0" rtlCol="0" anchor="ctr"/>
          <a:lstStyle/>
          <a:p>
            <a:pPr algn="ctr" indent="0" marL="0">
              <a:buNone/>
            </a:pPr>
            <a:r>
              <a:rPr lang="en-US" sz="950" dirty="0">
                <a:solidFill>
                  <a:srgbClr val="FFFFFF"/>
                </a:solidFill>
                <a:latin typeface="Cambria" pitchFamily="34" charset="0"/>
                <a:ea typeface="Cambria" pitchFamily="34" charset="-122"/>
                <a:cs typeface="Cambria" pitchFamily="34" charset="-120"/>
              </a:rPr>
              <a:t>6</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365760"/>
          </a:xfrm>
          <a:prstGeom prst="rect">
            <a:avLst/>
          </a:prstGeom>
          <a:solidFill>
            <a:srgbClr val="22226B"/>
          </a:solidFill>
          <a:ln w="12700">
            <a:solidFill>
              <a:srgbClr val="22226B"/>
            </a:solidFill>
            <a:prstDash val="solid"/>
          </a:ln>
        </p:spPr>
      </p:sp>
      <p:sp>
        <p:nvSpPr>
          <p:cNvPr id="3" name="Text 1"/>
          <p:cNvSpPr txBox="1"/>
          <p:nvPr/>
        </p:nvSpPr>
        <p:spPr>
          <a:xfrm>
            <a:off x="594360" y="0"/>
            <a:ext cx="11002975" cy="365760"/>
          </a:xfrm>
          <a:prstGeom prst="rect">
            <a:avLst/>
          </a:prstGeom>
          <a:noFill/>
          <a:ln/>
        </p:spPr>
        <p:txBody>
          <a:bodyPr wrap="square" lIns="0" tIns="0" rIns="0" bIns="0" rtlCol="0" anchor="ctr"/>
          <a:lstStyle/>
          <a:p>
            <a:pPr indent="0" marL="0">
              <a:buNone/>
            </a:pPr>
            <a:r>
              <a:rPr lang="en-US" sz="1000" b="1" spc="180" kern="0" dirty="0">
                <a:solidFill>
                  <a:srgbClr val="C9C9EA"/>
                </a:solidFill>
                <a:latin typeface="Cambria" pitchFamily="34" charset="0"/>
                <a:ea typeface="Cambria" pitchFamily="34" charset="-122"/>
                <a:cs typeface="Cambria" pitchFamily="34" charset="-120"/>
              </a:rPr>
              <a:t>SAVING CHANGES</a:t>
            </a:r>
            <a:endParaRPr lang="en-US" sz="1000" dirty="0"/>
          </a:p>
        </p:txBody>
      </p:sp>
      <p:sp>
        <p:nvSpPr>
          <p:cNvPr id="4" name="Shape 2"/>
          <p:cNvSpPr/>
          <p:nvPr/>
        </p:nvSpPr>
        <p:spPr>
          <a:xfrm>
            <a:off x="0" y="365760"/>
            <a:ext cx="12191695" cy="841248"/>
          </a:xfrm>
          <a:prstGeom prst="rect">
            <a:avLst/>
          </a:prstGeom>
          <a:solidFill>
            <a:srgbClr val="3333B3"/>
          </a:solidFill>
          <a:ln w="12700">
            <a:solidFill>
              <a:srgbClr val="3333B3"/>
            </a:solidFill>
            <a:prstDash val="solid"/>
          </a:ln>
        </p:spPr>
      </p:sp>
      <p:sp>
        <p:nvSpPr>
          <p:cNvPr id="5" name="Text 3"/>
          <p:cNvSpPr txBox="1"/>
          <p:nvPr/>
        </p:nvSpPr>
        <p:spPr>
          <a:xfrm>
            <a:off x="594360" y="365760"/>
            <a:ext cx="11002975" cy="841248"/>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Change tracking and the unit of work</a:t>
            </a:r>
            <a:endParaRPr lang="en-US" sz="2600" dirty="0"/>
          </a:p>
        </p:txBody>
      </p:sp>
      <p:sp>
        <p:nvSpPr>
          <p:cNvPr id="6" name="Shape 4"/>
          <p:cNvSpPr/>
          <p:nvPr/>
        </p:nvSpPr>
        <p:spPr>
          <a:xfrm>
            <a:off x="594360" y="1627632"/>
            <a:ext cx="5806440" cy="2157984"/>
          </a:xfrm>
          <a:prstGeom prst="rect">
            <a:avLst/>
          </a:prstGeom>
          <a:solidFill>
            <a:srgbClr val="F4F4FA"/>
          </a:solidFill>
          <a:ln w="9525">
            <a:solidFill>
              <a:srgbClr val="C9C9EA"/>
            </a:solidFill>
            <a:prstDash val="solid"/>
          </a:ln>
        </p:spPr>
      </p:sp>
      <p:sp>
        <p:nvSpPr>
          <p:cNvPr id="7" name="Text 5"/>
          <p:cNvSpPr txBox="1"/>
          <p:nvPr/>
        </p:nvSpPr>
        <p:spPr>
          <a:xfrm>
            <a:off x="813816" y="1783080"/>
            <a:ext cx="5367528" cy="219456"/>
          </a:xfrm>
          <a:prstGeom prst="rect">
            <a:avLst/>
          </a:prstGeom>
          <a:noFill/>
          <a:ln/>
        </p:spPr>
        <p:txBody>
          <a:bodyPr wrap="square" lIns="0" tIns="0" rIns="0" bIns="0" rtlCol="0" anchor="ctr"/>
          <a:lstStyle/>
          <a:p>
            <a:pPr indent="0" marL="0">
              <a:buNone/>
            </a:pPr>
            <a:r>
              <a:rPr lang="en-US" sz="950" b="1" spc="140" kern="0" dirty="0">
                <a:solidFill>
                  <a:srgbClr val="3333B3"/>
                </a:solidFill>
                <a:latin typeface="Cambria" pitchFamily="34" charset="0"/>
                <a:ea typeface="Cambria" pitchFamily="34" charset="-122"/>
                <a:cs typeface="Cambria" pitchFamily="34" charset="-120"/>
              </a:rPr>
              <a:t>ONE SAVECHANGES, ONE TRANSACTION</a:t>
            </a:r>
            <a:endParaRPr lang="en-US" sz="950" dirty="0"/>
          </a:p>
        </p:txBody>
      </p:sp>
      <p:sp>
        <p:nvSpPr>
          <p:cNvPr id="8" name="Text 6"/>
          <p:cNvSpPr txBox="1"/>
          <p:nvPr/>
        </p:nvSpPr>
        <p:spPr>
          <a:xfrm>
            <a:off x="813816" y="2075688"/>
            <a:ext cx="5367528" cy="1581912"/>
          </a:xfrm>
          <a:prstGeom prst="rect">
            <a:avLst/>
          </a:prstGeom>
          <a:noFill/>
          <a:ln/>
        </p:spPr>
        <p:txBody>
          <a:bodyPr wrap="square" lIns="0" tIns="0" rIns="0" bIns="0" rtlCol="0" anchor="t"/>
          <a:lstStyle/>
          <a:p>
            <a:pPr indent="0" marL="0">
              <a:lnSpc>
                <a:spcPts val="1418"/>
              </a:lnSpc>
              <a:buNone/>
            </a:pPr>
            <a:r>
              <a:rPr lang="en-US" sz="1050" dirty="0">
                <a:solidFill>
                  <a:srgbClr val="1A1A33"/>
                </a:solidFill>
                <a:latin typeface="Courier New" pitchFamily="34" charset="0"/>
                <a:ea typeface="Courier New" pitchFamily="34" charset="-122"/>
                <a:cs typeface="Courier New" pitchFamily="34" charset="-120"/>
              </a:rPr>
              <a:t>var part = await _db.Parts.FindAsync(id);</a:t>
            </a:r>
            <a:endParaRPr lang="en-US" sz="1050" dirty="0"/>
          </a:p>
          <a:p>
            <a:pPr indent="0" marL="0">
              <a:lnSpc>
                <a:spcPts val="1418"/>
              </a:lnSpc>
              <a:buNone/>
            </a:pPr>
            <a:r>
              <a:rPr lang="en-US" sz="1050" dirty="0">
                <a:solidFill>
                  <a:srgbClr val="1A1A33"/>
                </a:solidFill>
                <a:latin typeface="Courier New" pitchFamily="34" charset="0"/>
                <a:ea typeface="Courier New" pitchFamily="34" charset="-122"/>
                <a:cs typeface="Courier New" pitchFamily="34" charset="-120"/>
              </a:rPr>
              <a:t>part.Quantity -= issued;</a:t>
            </a:r>
            <a:endParaRPr lang="en-US" sz="1050" dirty="0"/>
          </a:p>
          <a:p>
            <a:pPr indent="0" marL="0">
              <a:lnSpc>
                <a:spcPts val="1418"/>
              </a:lnSpc>
              <a:buNone/>
            </a:pPr>
            <a:r>
              <a:rPr lang="en-US" sz="1050" dirty="0">
                <a:solidFill>
                  <a:srgbClr val="1A1A33"/>
                </a:solidFill>
                <a:latin typeface="Courier New" pitchFamily="34" charset="0"/>
                <a:ea typeface="Courier New" pitchFamily="34" charset="-122"/>
                <a:cs typeface="Courier New" pitchFamily="34" charset="-120"/>
              </a:rPr>
              <a:t> </a:t>
            </a:r>
            <a:endParaRPr lang="en-US" sz="1050" dirty="0"/>
          </a:p>
          <a:p>
            <a:pPr indent="0" marL="0">
              <a:lnSpc>
                <a:spcPts val="1418"/>
              </a:lnSpc>
              <a:buNone/>
            </a:pPr>
            <a:r>
              <a:rPr lang="en-US" sz="1050" dirty="0">
                <a:solidFill>
                  <a:srgbClr val="1A1A33"/>
                </a:solidFill>
                <a:latin typeface="Courier New" pitchFamily="34" charset="0"/>
                <a:ea typeface="Courier New" pitchFamily="34" charset="-122"/>
                <a:cs typeface="Courier New" pitchFamily="34" charset="-120"/>
              </a:rPr>
              <a:t>_db.Issues.Add(new Issue { ... });</a:t>
            </a:r>
            <a:endParaRPr lang="en-US" sz="1050" dirty="0"/>
          </a:p>
          <a:p>
            <a:pPr indent="0" marL="0">
              <a:lnSpc>
                <a:spcPts val="1418"/>
              </a:lnSpc>
              <a:buNone/>
            </a:pPr>
            <a:r>
              <a:rPr lang="en-US" sz="1050" dirty="0">
                <a:solidFill>
                  <a:srgbClr val="1A1A33"/>
                </a:solidFill>
                <a:latin typeface="Courier New" pitchFamily="34" charset="0"/>
                <a:ea typeface="Courier New" pitchFamily="34" charset="-122"/>
                <a:cs typeface="Courier New" pitchFamily="34" charset="-120"/>
              </a:rPr>
              <a:t> </a:t>
            </a:r>
            <a:endParaRPr lang="en-US" sz="1050" dirty="0"/>
          </a:p>
          <a:p>
            <a:pPr indent="0" marL="0">
              <a:lnSpc>
                <a:spcPts val="1418"/>
              </a:lnSpc>
              <a:buNone/>
            </a:pPr>
            <a:r>
              <a:rPr lang="en-US" sz="1050" dirty="0">
                <a:solidFill>
                  <a:srgbClr val="1A1A33"/>
                </a:solidFill>
                <a:latin typeface="Courier New" pitchFamily="34" charset="0"/>
                <a:ea typeface="Courier New" pitchFamily="34" charset="-122"/>
                <a:cs typeface="Courier New" pitchFamily="34" charset="-120"/>
              </a:rPr>
              <a:t>await _db.SaveChangesAsync();</a:t>
            </a:r>
            <a:endParaRPr lang="en-US" sz="1050" dirty="0"/>
          </a:p>
          <a:p>
            <a:pPr indent="0" marL="0">
              <a:lnSpc>
                <a:spcPts val="1418"/>
              </a:lnSpc>
              <a:buNone/>
            </a:pPr>
            <a:r>
              <a:rPr lang="en-US" sz="1050" dirty="0">
                <a:solidFill>
                  <a:srgbClr val="1A1A33"/>
                </a:solidFill>
                <a:latin typeface="Courier New" pitchFamily="34" charset="0"/>
                <a:ea typeface="Courier New" pitchFamily="34" charset="-122"/>
                <a:cs typeface="Courier New" pitchFamily="34" charset="-120"/>
              </a:rPr>
              <a:t>// both statements commit together, or</a:t>
            </a:r>
            <a:endParaRPr lang="en-US" sz="1050" dirty="0"/>
          </a:p>
          <a:p>
            <a:pPr indent="0" marL="0">
              <a:lnSpc>
                <a:spcPts val="1418"/>
              </a:lnSpc>
              <a:buNone/>
            </a:pPr>
            <a:r>
              <a:rPr lang="en-US" sz="1050" dirty="0">
                <a:solidFill>
                  <a:srgbClr val="1A1A33"/>
                </a:solidFill>
                <a:latin typeface="Courier New" pitchFamily="34" charset="0"/>
                <a:ea typeface="Courier New" pitchFamily="34" charset="-122"/>
                <a:cs typeface="Courier New" pitchFamily="34" charset="-120"/>
              </a:rPr>
              <a:t>// neither of them does</a:t>
            </a:r>
            <a:endParaRPr lang="en-US" sz="1050" dirty="0"/>
          </a:p>
        </p:txBody>
      </p:sp>
      <p:sp>
        <p:nvSpPr>
          <p:cNvPr id="9" name="Shape 7"/>
          <p:cNvSpPr/>
          <p:nvPr/>
        </p:nvSpPr>
        <p:spPr>
          <a:xfrm>
            <a:off x="594360" y="3913632"/>
            <a:ext cx="5806440" cy="402336"/>
          </a:xfrm>
          <a:prstGeom prst="rect">
            <a:avLst/>
          </a:prstGeom>
          <a:solidFill>
            <a:srgbClr val="3333B3"/>
          </a:solidFill>
          <a:ln w="12700">
            <a:solidFill>
              <a:srgbClr val="3333B3"/>
            </a:solidFill>
            <a:prstDash val="solid"/>
          </a:ln>
        </p:spPr>
      </p:sp>
      <p:sp>
        <p:nvSpPr>
          <p:cNvPr id="10" name="Text 8"/>
          <p:cNvSpPr txBox="1"/>
          <p:nvPr/>
        </p:nvSpPr>
        <p:spPr>
          <a:xfrm>
            <a:off x="777240" y="3913632"/>
            <a:ext cx="5440680" cy="402336"/>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Why this matters here</a:t>
            </a:r>
            <a:endParaRPr lang="en-US" sz="1500" dirty="0"/>
          </a:p>
        </p:txBody>
      </p:sp>
      <p:sp>
        <p:nvSpPr>
          <p:cNvPr id="11" name="Shape 9"/>
          <p:cNvSpPr/>
          <p:nvPr/>
        </p:nvSpPr>
        <p:spPr>
          <a:xfrm>
            <a:off x="594360" y="4315968"/>
            <a:ext cx="5806440" cy="1627632"/>
          </a:xfrm>
          <a:prstGeom prst="rect">
            <a:avLst/>
          </a:prstGeom>
          <a:solidFill>
            <a:srgbClr val="F4F4FA"/>
          </a:solidFill>
          <a:ln w="9525">
            <a:solidFill>
              <a:srgbClr val="C9C9EA"/>
            </a:solidFill>
            <a:prstDash val="solid"/>
          </a:ln>
        </p:spPr>
      </p:sp>
      <p:sp>
        <p:nvSpPr>
          <p:cNvPr id="12" name="Text 10"/>
          <p:cNvSpPr txBox="1"/>
          <p:nvPr/>
        </p:nvSpPr>
        <p:spPr>
          <a:xfrm>
            <a:off x="813816" y="4462272"/>
            <a:ext cx="5367528" cy="1353312"/>
          </a:xfrm>
          <a:prstGeom prst="rect">
            <a:avLst/>
          </a:prstGeom>
          <a:noFill/>
          <a:ln/>
        </p:spPr>
        <p:txBody>
          <a:bodyPr wrap="square" lIns="0" tIns="0" rIns="0" bIns="0" rtlCol="0" anchor="t"/>
          <a:lstStyle/>
          <a:p>
            <a:pPr indent="0" marL="0">
              <a:lnSpc>
                <a:spcPts val="1620"/>
              </a:lnSpc>
              <a:buNone/>
            </a:pPr>
            <a:r>
              <a:rPr lang="en-US" sz="1200" dirty="0">
                <a:solidFill>
                  <a:srgbClr val="3E3E5A"/>
                </a:solidFill>
                <a:latin typeface="Cambria" pitchFamily="34" charset="0"/>
                <a:ea typeface="Cambria" pitchFamily="34" charset="-122"/>
                <a:cs typeface="Cambria" pitchFamily="34" charset="-120"/>
              </a:rPr>
              <a:t>Reducing stock and recording the issue must both happen, or neither. If the second fails after the first succeeded, your stock figure is wrong and nobody knows. SaveChanges wraps them in one transaction for you.</a:t>
            </a:r>
            <a:endParaRPr lang="en-US" sz="1200" dirty="0"/>
          </a:p>
        </p:txBody>
      </p:sp>
      <p:sp>
        <p:nvSpPr>
          <p:cNvPr id="13" name="Shape 11"/>
          <p:cNvSpPr/>
          <p:nvPr/>
        </p:nvSpPr>
        <p:spPr>
          <a:xfrm>
            <a:off x="6629400" y="1627632"/>
            <a:ext cx="4965192" cy="1024128"/>
          </a:xfrm>
          <a:prstGeom prst="rect">
            <a:avLst/>
          </a:prstGeom>
          <a:solidFill>
            <a:srgbClr val="EDEDF7"/>
          </a:solidFill>
          <a:ln w="9525">
            <a:solidFill>
              <a:srgbClr val="C9C9EA"/>
            </a:solidFill>
            <a:prstDash val="solid"/>
          </a:ln>
        </p:spPr>
      </p:sp>
      <p:sp>
        <p:nvSpPr>
          <p:cNvPr id="14" name="Shape 12"/>
          <p:cNvSpPr/>
          <p:nvPr/>
        </p:nvSpPr>
        <p:spPr>
          <a:xfrm>
            <a:off x="6629400" y="1627632"/>
            <a:ext cx="50292" cy="1024128"/>
          </a:xfrm>
          <a:prstGeom prst="rect">
            <a:avLst/>
          </a:prstGeom>
          <a:solidFill>
            <a:srgbClr val="3333B3"/>
          </a:solidFill>
          <a:ln w="12700">
            <a:solidFill>
              <a:srgbClr val="3333B3"/>
            </a:solidFill>
            <a:prstDash val="solid"/>
          </a:ln>
        </p:spPr>
      </p:sp>
      <p:sp>
        <p:nvSpPr>
          <p:cNvPr id="15" name="Shape 13"/>
          <p:cNvSpPr/>
          <p:nvPr/>
        </p:nvSpPr>
        <p:spPr>
          <a:xfrm>
            <a:off x="6830568" y="1956816"/>
            <a:ext cx="365760" cy="365760"/>
          </a:xfrm>
          <a:prstGeom prst="ellipse">
            <a:avLst/>
          </a:prstGeom>
          <a:solidFill>
            <a:srgbClr val="3333B3"/>
          </a:solidFill>
          <a:ln w="12700">
            <a:solidFill>
              <a:srgbClr val="3333B3"/>
            </a:solidFill>
            <a:prstDash val="solid"/>
          </a:ln>
        </p:spPr>
      </p:sp>
      <p:sp>
        <p:nvSpPr>
          <p:cNvPr id="16" name="Text 14"/>
          <p:cNvSpPr txBox="1"/>
          <p:nvPr/>
        </p:nvSpPr>
        <p:spPr>
          <a:xfrm>
            <a:off x="6830568" y="195681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17" name="Text 15"/>
          <p:cNvSpPr txBox="1"/>
          <p:nvPr/>
        </p:nvSpPr>
        <p:spPr>
          <a:xfrm>
            <a:off x="7360920" y="1627632"/>
            <a:ext cx="4014216" cy="1024128"/>
          </a:xfrm>
          <a:prstGeom prst="rect">
            <a:avLst/>
          </a:prstGeom>
          <a:noFill/>
          <a:ln/>
        </p:spPr>
        <p:txBody>
          <a:bodyPr wrap="square" lIns="0" tIns="0" rIns="0" bIns="0" rtlCol="0" anchor="ctr"/>
          <a:lstStyle/>
          <a:p>
            <a:pPr indent="0" marL="0">
              <a:buNone/>
            </a:pPr>
            <a:r>
              <a:rPr lang="en-US" sz="1350" b="1" dirty="0">
                <a:solidFill>
                  <a:srgbClr val="22226B"/>
                </a:solidFill>
                <a:latin typeface="Cambria" pitchFamily="34" charset="0"/>
                <a:ea typeface="Cambria" pitchFamily="34" charset="-122"/>
                <a:cs typeface="Cambria" pitchFamily="34" charset="-120"/>
              </a:rPr>
              <a:t>You do not write UPDATE</a:t>
            </a:r>
            <a:endParaRPr lang="en-US" sz="1350" dirty="0"/>
          </a:p>
          <a:p>
            <a:pPr indent="0" marL="0">
              <a:buNone/>
            </a:pPr>
            <a:r>
              <a:rPr lang="en-US" sz="1100" dirty="0">
                <a:solidFill>
                  <a:srgbClr val="3E3E5A"/>
                </a:solidFill>
                <a:latin typeface="Cambria" pitchFamily="34" charset="0"/>
                <a:ea typeface="Cambria" pitchFamily="34" charset="-122"/>
                <a:cs typeface="Cambria" pitchFamily="34" charset="-120"/>
              </a:rPr>
              <a:t>EF tracks what you changed and writes only those columns.</a:t>
            </a:r>
            <a:endParaRPr lang="en-US" sz="1350" dirty="0"/>
          </a:p>
        </p:txBody>
      </p:sp>
      <p:sp>
        <p:nvSpPr>
          <p:cNvPr id="18" name="Shape 16"/>
          <p:cNvSpPr/>
          <p:nvPr/>
        </p:nvSpPr>
        <p:spPr>
          <a:xfrm>
            <a:off x="6629400" y="2779776"/>
            <a:ext cx="4965192" cy="1024128"/>
          </a:xfrm>
          <a:prstGeom prst="rect">
            <a:avLst/>
          </a:prstGeom>
          <a:solidFill>
            <a:srgbClr val="EDEDF7"/>
          </a:solidFill>
          <a:ln w="9525">
            <a:solidFill>
              <a:srgbClr val="C9C9EA"/>
            </a:solidFill>
            <a:prstDash val="solid"/>
          </a:ln>
        </p:spPr>
      </p:sp>
      <p:sp>
        <p:nvSpPr>
          <p:cNvPr id="19" name="Shape 17"/>
          <p:cNvSpPr/>
          <p:nvPr/>
        </p:nvSpPr>
        <p:spPr>
          <a:xfrm>
            <a:off x="6629400" y="2779776"/>
            <a:ext cx="50292" cy="1024128"/>
          </a:xfrm>
          <a:prstGeom prst="rect">
            <a:avLst/>
          </a:prstGeom>
          <a:solidFill>
            <a:srgbClr val="3333B3"/>
          </a:solidFill>
          <a:ln w="12700">
            <a:solidFill>
              <a:srgbClr val="3333B3"/>
            </a:solidFill>
            <a:prstDash val="solid"/>
          </a:ln>
        </p:spPr>
      </p:sp>
      <p:sp>
        <p:nvSpPr>
          <p:cNvPr id="20" name="Shape 18"/>
          <p:cNvSpPr/>
          <p:nvPr/>
        </p:nvSpPr>
        <p:spPr>
          <a:xfrm>
            <a:off x="6830568" y="3108960"/>
            <a:ext cx="365760" cy="365760"/>
          </a:xfrm>
          <a:prstGeom prst="ellipse">
            <a:avLst/>
          </a:prstGeom>
          <a:solidFill>
            <a:srgbClr val="3333B3"/>
          </a:solidFill>
          <a:ln w="12700">
            <a:solidFill>
              <a:srgbClr val="3333B3"/>
            </a:solidFill>
            <a:prstDash val="solid"/>
          </a:ln>
        </p:spPr>
      </p:sp>
      <p:sp>
        <p:nvSpPr>
          <p:cNvPr id="21" name="Text 19"/>
          <p:cNvSpPr txBox="1"/>
          <p:nvPr/>
        </p:nvSpPr>
        <p:spPr>
          <a:xfrm>
            <a:off x="6830568" y="310896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22" name="Text 20"/>
          <p:cNvSpPr txBox="1"/>
          <p:nvPr/>
        </p:nvSpPr>
        <p:spPr>
          <a:xfrm>
            <a:off x="7360920" y="2779776"/>
            <a:ext cx="4014216" cy="1024128"/>
          </a:xfrm>
          <a:prstGeom prst="rect">
            <a:avLst/>
          </a:prstGeom>
          <a:noFill/>
          <a:ln/>
        </p:spPr>
        <p:txBody>
          <a:bodyPr wrap="square" lIns="0" tIns="0" rIns="0" bIns="0" rtlCol="0" anchor="ctr"/>
          <a:lstStyle/>
          <a:p>
            <a:pPr indent="0" marL="0">
              <a:buNone/>
            </a:pPr>
            <a:r>
              <a:rPr lang="en-US" sz="1350" b="1" dirty="0">
                <a:solidFill>
                  <a:srgbClr val="22226B"/>
                </a:solidFill>
                <a:latin typeface="Cambria" pitchFamily="34" charset="0"/>
                <a:ea typeface="Cambria" pitchFamily="34" charset="-122"/>
                <a:cs typeface="Cambria" pitchFamily="34" charset="-120"/>
              </a:rPr>
              <a:t>Save once, at the end</a:t>
            </a:r>
            <a:endParaRPr lang="en-US" sz="1350" dirty="0"/>
          </a:p>
          <a:p>
            <a:pPr indent="0" marL="0">
              <a:buNone/>
            </a:pPr>
            <a:r>
              <a:rPr lang="en-US" sz="1100" dirty="0">
                <a:solidFill>
                  <a:srgbClr val="3E3E5A"/>
                </a:solidFill>
                <a:latin typeface="Cambria" pitchFamily="34" charset="0"/>
                <a:ea typeface="Cambria" pitchFamily="34" charset="-122"/>
                <a:cs typeface="Cambria" pitchFamily="34" charset="-120"/>
              </a:rPr>
              <a:t>Calling SaveChanges in a loop is slow and breaks the all-or-nothing guarantee.</a:t>
            </a:r>
            <a:endParaRPr lang="en-US" sz="1350" dirty="0"/>
          </a:p>
        </p:txBody>
      </p:sp>
      <p:sp>
        <p:nvSpPr>
          <p:cNvPr id="23" name="Shape 21"/>
          <p:cNvSpPr/>
          <p:nvPr/>
        </p:nvSpPr>
        <p:spPr>
          <a:xfrm>
            <a:off x="6629400" y="3931920"/>
            <a:ext cx="4965192" cy="1024128"/>
          </a:xfrm>
          <a:prstGeom prst="rect">
            <a:avLst/>
          </a:prstGeom>
          <a:solidFill>
            <a:srgbClr val="EDEDF7"/>
          </a:solidFill>
          <a:ln w="9525">
            <a:solidFill>
              <a:srgbClr val="C9C9EA"/>
            </a:solidFill>
            <a:prstDash val="solid"/>
          </a:ln>
        </p:spPr>
      </p:sp>
      <p:sp>
        <p:nvSpPr>
          <p:cNvPr id="24" name="Shape 22"/>
          <p:cNvSpPr/>
          <p:nvPr/>
        </p:nvSpPr>
        <p:spPr>
          <a:xfrm>
            <a:off x="6629400" y="3931920"/>
            <a:ext cx="50292" cy="1024128"/>
          </a:xfrm>
          <a:prstGeom prst="rect">
            <a:avLst/>
          </a:prstGeom>
          <a:solidFill>
            <a:srgbClr val="3333B3"/>
          </a:solidFill>
          <a:ln w="12700">
            <a:solidFill>
              <a:srgbClr val="3333B3"/>
            </a:solidFill>
            <a:prstDash val="solid"/>
          </a:ln>
        </p:spPr>
      </p:sp>
      <p:sp>
        <p:nvSpPr>
          <p:cNvPr id="25" name="Shape 23"/>
          <p:cNvSpPr/>
          <p:nvPr/>
        </p:nvSpPr>
        <p:spPr>
          <a:xfrm>
            <a:off x="6830568" y="4261104"/>
            <a:ext cx="365760" cy="365760"/>
          </a:xfrm>
          <a:prstGeom prst="ellipse">
            <a:avLst/>
          </a:prstGeom>
          <a:solidFill>
            <a:srgbClr val="3333B3"/>
          </a:solidFill>
          <a:ln w="12700">
            <a:solidFill>
              <a:srgbClr val="3333B3"/>
            </a:solidFill>
            <a:prstDash val="solid"/>
          </a:ln>
        </p:spPr>
      </p:sp>
      <p:sp>
        <p:nvSpPr>
          <p:cNvPr id="26" name="Text 24"/>
          <p:cNvSpPr txBox="1"/>
          <p:nvPr/>
        </p:nvSpPr>
        <p:spPr>
          <a:xfrm>
            <a:off x="6830568" y="4261104"/>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27" name="Text 25"/>
          <p:cNvSpPr txBox="1"/>
          <p:nvPr/>
        </p:nvSpPr>
        <p:spPr>
          <a:xfrm>
            <a:off x="7360920" y="3931920"/>
            <a:ext cx="4014216" cy="1024128"/>
          </a:xfrm>
          <a:prstGeom prst="rect">
            <a:avLst/>
          </a:prstGeom>
          <a:noFill/>
          <a:ln/>
        </p:spPr>
        <p:txBody>
          <a:bodyPr wrap="square" lIns="0" tIns="0" rIns="0" bIns="0" rtlCol="0" anchor="ctr"/>
          <a:lstStyle/>
          <a:p>
            <a:pPr indent="0" marL="0">
              <a:buNone/>
            </a:pPr>
            <a:r>
              <a:rPr lang="en-US" sz="1350" b="1" dirty="0">
                <a:solidFill>
                  <a:srgbClr val="22226B"/>
                </a:solidFill>
                <a:latin typeface="Cambria" pitchFamily="34" charset="0"/>
                <a:ea typeface="Cambria" pitchFamily="34" charset="-122"/>
                <a:cs typeface="Cambria" pitchFamily="34" charset="-120"/>
              </a:rPr>
              <a:t>Concurrency is a real question</a:t>
            </a:r>
            <a:endParaRPr lang="en-US" sz="1350" dirty="0"/>
          </a:p>
          <a:p>
            <a:pPr indent="0" marL="0">
              <a:buNone/>
            </a:pPr>
            <a:r>
              <a:rPr lang="en-US" sz="1100" dirty="0">
                <a:solidFill>
                  <a:srgbClr val="3E3E5A"/>
                </a:solidFill>
                <a:latin typeface="Cambria" pitchFamily="34" charset="0"/>
                <a:ea typeface="Cambria" pitchFamily="34" charset="-122"/>
                <a:cs typeface="Cambria" pitchFamily="34" charset="-120"/>
              </a:rPr>
              <a:t>Two people issuing the last unit at once. A row version column makes the conflict detectable.</a:t>
            </a:r>
            <a:endParaRPr lang="en-US" sz="1350" dirty="0"/>
          </a:p>
        </p:txBody>
      </p:sp>
      <p:sp>
        <p:nvSpPr>
          <p:cNvPr id="28" name="Shape 26"/>
          <p:cNvSpPr/>
          <p:nvPr/>
        </p:nvSpPr>
        <p:spPr>
          <a:xfrm>
            <a:off x="6629400" y="5084064"/>
            <a:ext cx="4965192" cy="1024128"/>
          </a:xfrm>
          <a:prstGeom prst="rect">
            <a:avLst/>
          </a:prstGeom>
          <a:solidFill>
            <a:srgbClr val="EDEDF7"/>
          </a:solidFill>
          <a:ln w="9525">
            <a:solidFill>
              <a:srgbClr val="C9C9EA"/>
            </a:solidFill>
            <a:prstDash val="solid"/>
          </a:ln>
        </p:spPr>
      </p:sp>
      <p:sp>
        <p:nvSpPr>
          <p:cNvPr id="29" name="Shape 27"/>
          <p:cNvSpPr/>
          <p:nvPr/>
        </p:nvSpPr>
        <p:spPr>
          <a:xfrm>
            <a:off x="6629400" y="5084064"/>
            <a:ext cx="50292" cy="1024128"/>
          </a:xfrm>
          <a:prstGeom prst="rect">
            <a:avLst/>
          </a:prstGeom>
          <a:solidFill>
            <a:srgbClr val="3333B3"/>
          </a:solidFill>
          <a:ln w="12700">
            <a:solidFill>
              <a:srgbClr val="3333B3"/>
            </a:solidFill>
            <a:prstDash val="solid"/>
          </a:ln>
        </p:spPr>
      </p:sp>
      <p:sp>
        <p:nvSpPr>
          <p:cNvPr id="30" name="Shape 28"/>
          <p:cNvSpPr/>
          <p:nvPr/>
        </p:nvSpPr>
        <p:spPr>
          <a:xfrm>
            <a:off x="6830568" y="5413248"/>
            <a:ext cx="365760" cy="365760"/>
          </a:xfrm>
          <a:prstGeom prst="ellipse">
            <a:avLst/>
          </a:prstGeom>
          <a:solidFill>
            <a:srgbClr val="3333B3"/>
          </a:solidFill>
          <a:ln w="12700">
            <a:solidFill>
              <a:srgbClr val="3333B3"/>
            </a:solidFill>
            <a:prstDash val="solid"/>
          </a:ln>
        </p:spPr>
      </p:sp>
      <p:sp>
        <p:nvSpPr>
          <p:cNvPr id="31" name="Text 29"/>
          <p:cNvSpPr txBox="1"/>
          <p:nvPr/>
        </p:nvSpPr>
        <p:spPr>
          <a:xfrm>
            <a:off x="6830568" y="541324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4</a:t>
            </a:r>
            <a:endParaRPr lang="en-US" sz="1300" dirty="0"/>
          </a:p>
        </p:txBody>
      </p:sp>
      <p:sp>
        <p:nvSpPr>
          <p:cNvPr id="32" name="Text 30"/>
          <p:cNvSpPr txBox="1"/>
          <p:nvPr/>
        </p:nvSpPr>
        <p:spPr>
          <a:xfrm>
            <a:off x="7360920" y="5084064"/>
            <a:ext cx="4014216" cy="1024128"/>
          </a:xfrm>
          <a:prstGeom prst="rect">
            <a:avLst/>
          </a:prstGeom>
          <a:noFill/>
          <a:ln/>
        </p:spPr>
        <p:txBody>
          <a:bodyPr wrap="square" lIns="0" tIns="0" rIns="0" bIns="0" rtlCol="0" anchor="ctr"/>
          <a:lstStyle/>
          <a:p>
            <a:pPr indent="0" marL="0">
              <a:buNone/>
            </a:pPr>
            <a:r>
              <a:rPr lang="en-US" sz="1350" b="1" dirty="0">
                <a:solidFill>
                  <a:srgbClr val="22226B"/>
                </a:solidFill>
                <a:latin typeface="Cambria" pitchFamily="34" charset="0"/>
                <a:ea typeface="Cambria" pitchFamily="34" charset="-122"/>
                <a:cs typeface="Cambria" pitchFamily="34" charset="-120"/>
              </a:rPr>
              <a:t>The DbContext is short-lived</a:t>
            </a:r>
            <a:endParaRPr lang="en-US" sz="1350" dirty="0"/>
          </a:p>
          <a:p>
            <a:pPr indent="0" marL="0">
              <a:buNone/>
            </a:pPr>
            <a:r>
              <a:rPr lang="en-US" sz="1100" dirty="0">
                <a:solidFill>
                  <a:srgbClr val="3E3E5A"/>
                </a:solidFill>
                <a:latin typeface="Cambria" pitchFamily="34" charset="0"/>
                <a:ea typeface="Cambria" pitchFamily="34" charset="-122"/>
                <a:cs typeface="Cambria" pitchFamily="34" charset="-120"/>
              </a:rPr>
              <a:t>One per request, injected as scoped. Never hold one open for the life of the application.</a:t>
            </a:r>
            <a:endParaRPr lang="en-US" sz="1350" dirty="0"/>
          </a:p>
        </p:txBody>
      </p:sp>
      <p:sp>
        <p:nvSpPr>
          <p:cNvPr id="33" name="Shape 31"/>
          <p:cNvSpPr/>
          <p:nvPr/>
        </p:nvSpPr>
        <p:spPr>
          <a:xfrm>
            <a:off x="0" y="6400800"/>
            <a:ext cx="3840480" cy="457200"/>
          </a:xfrm>
          <a:prstGeom prst="rect">
            <a:avLst/>
          </a:prstGeom>
          <a:solidFill>
            <a:srgbClr val="22226B"/>
          </a:solidFill>
          <a:ln w="12700">
            <a:solidFill>
              <a:srgbClr val="22226B"/>
            </a:solidFill>
            <a:prstDash val="solid"/>
          </a:ln>
        </p:spPr>
      </p:sp>
      <p:sp>
        <p:nvSpPr>
          <p:cNvPr id="34" name="Text 32"/>
          <p:cNvSpPr txBox="1"/>
          <p:nvPr/>
        </p:nvSpPr>
        <p:spPr>
          <a:xfrm>
            <a:off x="164592" y="6400800"/>
            <a:ext cx="3511296" cy="457200"/>
          </a:xfrm>
          <a:prstGeom prst="rect">
            <a:avLst/>
          </a:prstGeom>
          <a:noFill/>
          <a:ln/>
        </p:spPr>
        <p:txBody>
          <a:bodyPr wrap="square" lIns="0" tIns="0" rIns="0" bIns="0" rtlCol="0" anchor="ctr"/>
          <a:lstStyle/>
          <a:p>
            <a:pPr algn="l" indent="0" marL="0">
              <a:buNone/>
            </a:pPr>
            <a:r>
              <a:rPr lang="en-US" sz="950" dirty="0">
                <a:solidFill>
                  <a:srgbClr val="FFFFFF"/>
                </a:solidFill>
                <a:latin typeface="Cambria" pitchFamily="34" charset="0"/>
                <a:ea typeface="Cambria" pitchFamily="34" charset="-122"/>
                <a:cs typeface="Cambria" pitchFamily="34" charset="-120"/>
              </a:rPr>
              <a:t>HAL  ·  .NET, React &amp; SQL Programme</a:t>
            </a:r>
            <a:endParaRPr lang="en-US" sz="950" dirty="0"/>
          </a:p>
        </p:txBody>
      </p:sp>
      <p:sp>
        <p:nvSpPr>
          <p:cNvPr id="35" name="Shape 33"/>
          <p:cNvSpPr/>
          <p:nvPr/>
        </p:nvSpPr>
        <p:spPr>
          <a:xfrm>
            <a:off x="3840480" y="6400800"/>
            <a:ext cx="6675120" cy="457200"/>
          </a:xfrm>
          <a:prstGeom prst="rect">
            <a:avLst/>
          </a:prstGeom>
          <a:solidFill>
            <a:srgbClr val="3333B3"/>
          </a:solidFill>
          <a:ln w="12700">
            <a:solidFill>
              <a:srgbClr val="3333B3"/>
            </a:solidFill>
            <a:prstDash val="solid"/>
          </a:ln>
        </p:spPr>
      </p:sp>
      <p:sp>
        <p:nvSpPr>
          <p:cNvPr id="36" name="Text 34"/>
          <p:cNvSpPr txBox="1"/>
          <p:nvPr/>
        </p:nvSpPr>
        <p:spPr>
          <a:xfrm>
            <a:off x="4005072" y="6400800"/>
            <a:ext cx="6345936" cy="457200"/>
          </a:xfrm>
          <a:prstGeom prst="rect">
            <a:avLst/>
          </a:prstGeom>
          <a:noFill/>
          <a:ln/>
        </p:spPr>
        <p:txBody>
          <a:bodyPr wrap="square" lIns="0" tIns="0" rIns="0" bIns="0" rtlCol="0" anchor="ctr"/>
          <a:lstStyle/>
          <a:p>
            <a:pPr algn="l" indent="0" marL="0">
              <a:buNone/>
            </a:pPr>
            <a:r>
              <a:rPr lang="en-US" sz="950" dirty="0">
                <a:solidFill>
                  <a:srgbClr val="FFFFFF"/>
                </a:solidFill>
                <a:latin typeface="Cambria" pitchFamily="34" charset="0"/>
                <a:ea typeface="Cambria" pitchFamily="34" charset="-122"/>
                <a:cs typeface="Cambria" pitchFamily="34" charset="-120"/>
              </a:rPr>
              <a:t>Day 2 · Session 2 — Connecting the API to Data</a:t>
            </a:r>
            <a:endParaRPr lang="en-US" sz="950" dirty="0"/>
          </a:p>
        </p:txBody>
      </p:sp>
      <p:sp>
        <p:nvSpPr>
          <p:cNvPr id="37" name="Shape 35"/>
          <p:cNvSpPr/>
          <p:nvPr/>
        </p:nvSpPr>
        <p:spPr>
          <a:xfrm>
            <a:off x="10515600" y="6400800"/>
            <a:ext cx="1676095" cy="457200"/>
          </a:xfrm>
          <a:prstGeom prst="rect">
            <a:avLst/>
          </a:prstGeom>
          <a:solidFill>
            <a:srgbClr val="22226B"/>
          </a:solidFill>
          <a:ln w="12700">
            <a:solidFill>
              <a:srgbClr val="22226B"/>
            </a:solidFill>
            <a:prstDash val="solid"/>
          </a:ln>
        </p:spPr>
      </p:sp>
      <p:sp>
        <p:nvSpPr>
          <p:cNvPr id="38" name="Text 36"/>
          <p:cNvSpPr txBox="1"/>
          <p:nvPr/>
        </p:nvSpPr>
        <p:spPr>
          <a:xfrm>
            <a:off x="10680192" y="6400800"/>
            <a:ext cx="1346911" cy="457200"/>
          </a:xfrm>
          <a:prstGeom prst="rect">
            <a:avLst/>
          </a:prstGeom>
          <a:noFill/>
          <a:ln/>
        </p:spPr>
        <p:txBody>
          <a:bodyPr wrap="square" lIns="0" tIns="0" rIns="0" bIns="0" rtlCol="0" anchor="ctr"/>
          <a:lstStyle/>
          <a:p>
            <a:pPr algn="ctr" indent="0" marL="0">
              <a:buNone/>
            </a:pPr>
            <a:r>
              <a:rPr lang="en-US" sz="950" dirty="0">
                <a:solidFill>
                  <a:srgbClr val="FFFFFF"/>
                </a:solidFill>
                <a:latin typeface="Cambria" pitchFamily="34" charset="0"/>
                <a:ea typeface="Cambria" pitchFamily="34" charset="-122"/>
                <a:cs typeface="Cambria" pitchFamily="34" charset="-120"/>
              </a:rPr>
              <a:t>7</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365760"/>
          </a:xfrm>
          <a:prstGeom prst="rect">
            <a:avLst/>
          </a:prstGeom>
          <a:solidFill>
            <a:srgbClr val="22226B"/>
          </a:solidFill>
          <a:ln w="12700">
            <a:solidFill>
              <a:srgbClr val="22226B"/>
            </a:solidFill>
            <a:prstDash val="solid"/>
          </a:ln>
        </p:spPr>
      </p:sp>
      <p:sp>
        <p:nvSpPr>
          <p:cNvPr id="3" name="Text 1"/>
          <p:cNvSpPr txBox="1"/>
          <p:nvPr/>
        </p:nvSpPr>
        <p:spPr>
          <a:xfrm>
            <a:off x="594360" y="0"/>
            <a:ext cx="11002975" cy="365760"/>
          </a:xfrm>
          <a:prstGeom prst="rect">
            <a:avLst/>
          </a:prstGeom>
          <a:noFill/>
          <a:ln/>
        </p:spPr>
        <p:txBody>
          <a:bodyPr wrap="square" lIns="0" tIns="0" rIns="0" bIns="0" rtlCol="0" anchor="ctr"/>
          <a:lstStyle/>
          <a:p>
            <a:pPr indent="0" marL="0">
              <a:buNone/>
            </a:pPr>
            <a:r>
              <a:rPr lang="en-US" sz="1000" b="1" spc="180" kern="0" dirty="0">
                <a:solidFill>
                  <a:srgbClr val="C9C9EA"/>
                </a:solidFill>
                <a:latin typeface="Cambria" pitchFamily="34" charset="0"/>
                <a:ea typeface="Cambria" pitchFamily="34" charset="-122"/>
                <a:cs typeface="Cambria" pitchFamily="34" charset="-120"/>
              </a:rPr>
              <a:t>THE PERFORMANCE TRAPS</a:t>
            </a:r>
            <a:endParaRPr lang="en-US" sz="1000" dirty="0"/>
          </a:p>
        </p:txBody>
      </p:sp>
      <p:sp>
        <p:nvSpPr>
          <p:cNvPr id="4" name="Shape 2"/>
          <p:cNvSpPr/>
          <p:nvPr/>
        </p:nvSpPr>
        <p:spPr>
          <a:xfrm>
            <a:off x="0" y="365760"/>
            <a:ext cx="12191695" cy="841248"/>
          </a:xfrm>
          <a:prstGeom prst="rect">
            <a:avLst/>
          </a:prstGeom>
          <a:solidFill>
            <a:srgbClr val="3333B3"/>
          </a:solidFill>
          <a:ln w="12700">
            <a:solidFill>
              <a:srgbClr val="3333B3"/>
            </a:solidFill>
            <a:prstDash val="solid"/>
          </a:ln>
        </p:spPr>
      </p:sp>
      <p:sp>
        <p:nvSpPr>
          <p:cNvPr id="5" name="Text 3"/>
          <p:cNvSpPr txBox="1"/>
          <p:nvPr/>
        </p:nvSpPr>
        <p:spPr>
          <a:xfrm>
            <a:off x="594360" y="365760"/>
            <a:ext cx="11002975" cy="841248"/>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How a fast application becomes slow</a:t>
            </a:r>
            <a:endParaRPr lang="en-US" sz="2600" dirty="0"/>
          </a:p>
        </p:txBody>
      </p:sp>
      <p:sp>
        <p:nvSpPr>
          <p:cNvPr id="6" name="Shape 4"/>
          <p:cNvSpPr/>
          <p:nvPr/>
        </p:nvSpPr>
        <p:spPr>
          <a:xfrm>
            <a:off x="594360" y="1627632"/>
            <a:ext cx="5806440" cy="1783080"/>
          </a:xfrm>
          <a:prstGeom prst="rect">
            <a:avLst/>
          </a:prstGeom>
          <a:solidFill>
            <a:srgbClr val="F4F4FA"/>
          </a:solidFill>
          <a:ln w="9525">
            <a:solidFill>
              <a:srgbClr val="C9C9EA"/>
            </a:solidFill>
            <a:prstDash val="solid"/>
          </a:ln>
        </p:spPr>
      </p:sp>
      <p:sp>
        <p:nvSpPr>
          <p:cNvPr id="7" name="Text 5"/>
          <p:cNvSpPr txBox="1"/>
          <p:nvPr/>
        </p:nvSpPr>
        <p:spPr>
          <a:xfrm>
            <a:off x="813816" y="1783080"/>
            <a:ext cx="5367528" cy="219456"/>
          </a:xfrm>
          <a:prstGeom prst="rect">
            <a:avLst/>
          </a:prstGeom>
          <a:noFill/>
          <a:ln/>
        </p:spPr>
        <p:txBody>
          <a:bodyPr wrap="square" lIns="0" tIns="0" rIns="0" bIns="0" rtlCol="0" anchor="ctr"/>
          <a:lstStyle/>
          <a:p>
            <a:pPr indent="0" marL="0">
              <a:buNone/>
            </a:pPr>
            <a:r>
              <a:rPr lang="en-US" sz="950" b="1" spc="140" kern="0" dirty="0">
                <a:solidFill>
                  <a:srgbClr val="A00000"/>
                </a:solidFill>
                <a:latin typeface="Cambria" pitchFamily="34" charset="0"/>
                <a:ea typeface="Cambria" pitchFamily="34" charset="-122"/>
                <a:cs typeface="Cambria" pitchFamily="34" charset="-120"/>
              </a:rPr>
              <a:t>N+1: ONE QUERY BECOMES 501</a:t>
            </a:r>
            <a:endParaRPr lang="en-US" sz="950" dirty="0"/>
          </a:p>
        </p:txBody>
      </p:sp>
      <p:sp>
        <p:nvSpPr>
          <p:cNvPr id="8" name="Text 6"/>
          <p:cNvSpPr txBox="1"/>
          <p:nvPr/>
        </p:nvSpPr>
        <p:spPr>
          <a:xfrm>
            <a:off x="813816" y="2075688"/>
            <a:ext cx="5367528" cy="1207008"/>
          </a:xfrm>
          <a:prstGeom prst="rect">
            <a:avLst/>
          </a:prstGeom>
          <a:noFill/>
          <a:ln/>
        </p:spPr>
        <p:txBody>
          <a:bodyPr wrap="square" lIns="0" tIns="0" rIns="0" bIns="0" rtlCol="0" anchor="t"/>
          <a:lstStyle/>
          <a:p>
            <a:pPr indent="0" marL="0">
              <a:lnSpc>
                <a:spcPts val="1418"/>
              </a:lnSpc>
              <a:buNone/>
            </a:pPr>
            <a:r>
              <a:rPr lang="en-US" sz="1050" dirty="0">
                <a:solidFill>
                  <a:srgbClr val="1A1A33"/>
                </a:solidFill>
                <a:latin typeface="Courier New" pitchFamily="34" charset="0"/>
                <a:ea typeface="Courier New" pitchFamily="34" charset="-122"/>
                <a:cs typeface="Courier New" pitchFamily="34" charset="-120"/>
              </a:rPr>
              <a:t>var orders = _db.WorkOrders.ToList();</a:t>
            </a:r>
            <a:endParaRPr lang="en-US" sz="1050" dirty="0"/>
          </a:p>
          <a:p>
            <a:pPr indent="0" marL="0">
              <a:lnSpc>
                <a:spcPts val="1418"/>
              </a:lnSpc>
              <a:buNone/>
            </a:pPr>
            <a:r>
              <a:rPr lang="en-US" sz="1050" dirty="0">
                <a:solidFill>
                  <a:srgbClr val="1A1A33"/>
                </a:solidFill>
                <a:latin typeface="Courier New" pitchFamily="34" charset="0"/>
                <a:ea typeface="Courier New" pitchFamily="34" charset="-122"/>
                <a:cs typeface="Courier New" pitchFamily="34" charset="-120"/>
              </a:rPr>
              <a:t> </a:t>
            </a:r>
            <a:endParaRPr lang="en-US" sz="1050" dirty="0"/>
          </a:p>
          <a:p>
            <a:pPr indent="0" marL="0">
              <a:lnSpc>
                <a:spcPts val="1418"/>
              </a:lnSpc>
              <a:buNone/>
            </a:pPr>
            <a:r>
              <a:rPr lang="en-US" sz="1050" dirty="0">
                <a:solidFill>
                  <a:srgbClr val="1A1A33"/>
                </a:solidFill>
                <a:latin typeface="Courier New" pitchFamily="34" charset="0"/>
                <a:ea typeface="Courier New" pitchFamily="34" charset="-122"/>
                <a:cs typeface="Courier New" pitchFamily="34" charset="-120"/>
              </a:rPr>
              <a:t>foreach (var o in orders)</a:t>
            </a:r>
            <a:endParaRPr lang="en-US" sz="1050" dirty="0"/>
          </a:p>
          <a:p>
            <a:pPr indent="0" marL="0">
              <a:lnSpc>
                <a:spcPts val="1418"/>
              </a:lnSpc>
              <a:buNone/>
            </a:pPr>
            <a:r>
              <a:rPr lang="en-US" sz="1050" dirty="0">
                <a:solidFill>
                  <a:srgbClr val="1A1A33"/>
                </a:solidFill>
                <a:latin typeface="Courier New" pitchFamily="34" charset="0"/>
                <a:ea typeface="Courier New" pitchFamily="34" charset="-122"/>
                <a:cs typeface="Courier New" pitchFamily="34" charset="-120"/>
              </a:rPr>
              <a:t>    Console.WriteLine(o.Issues.Count);</a:t>
            </a:r>
            <a:endParaRPr lang="en-US" sz="1050" dirty="0"/>
          </a:p>
          <a:p>
            <a:pPr indent="0" marL="0">
              <a:lnSpc>
                <a:spcPts val="1418"/>
              </a:lnSpc>
              <a:buNone/>
            </a:pPr>
            <a:r>
              <a:rPr lang="en-US" sz="1050" dirty="0">
                <a:solidFill>
                  <a:srgbClr val="1A1A33"/>
                </a:solidFill>
                <a:latin typeface="Courier New" pitchFamily="34" charset="0"/>
                <a:ea typeface="Courier New" pitchFamily="34" charset="-122"/>
                <a:cs typeface="Courier New" pitchFamily="34" charset="-120"/>
              </a:rPr>
              <a:t>// one query for the orders,</a:t>
            </a:r>
            <a:endParaRPr lang="en-US" sz="1050" dirty="0"/>
          </a:p>
          <a:p>
            <a:pPr indent="0" marL="0">
              <a:lnSpc>
                <a:spcPts val="1418"/>
              </a:lnSpc>
              <a:buNone/>
            </a:pPr>
            <a:r>
              <a:rPr lang="en-US" sz="1050" dirty="0">
                <a:solidFill>
                  <a:srgbClr val="1A1A33"/>
                </a:solidFill>
                <a:latin typeface="Courier New" pitchFamily="34" charset="0"/>
                <a:ea typeface="Courier New" pitchFamily="34" charset="-122"/>
                <a:cs typeface="Courier New" pitchFamily="34" charset="-120"/>
              </a:rPr>
              <a:t>// then one more for every single order</a:t>
            </a:r>
            <a:endParaRPr lang="en-US" sz="1050" dirty="0"/>
          </a:p>
        </p:txBody>
      </p:sp>
      <p:sp>
        <p:nvSpPr>
          <p:cNvPr id="9" name="Shape 7"/>
          <p:cNvSpPr/>
          <p:nvPr/>
        </p:nvSpPr>
        <p:spPr>
          <a:xfrm>
            <a:off x="594360" y="3749040"/>
            <a:ext cx="5806440" cy="1595628"/>
          </a:xfrm>
          <a:prstGeom prst="rect">
            <a:avLst/>
          </a:prstGeom>
          <a:solidFill>
            <a:srgbClr val="F4F4FA"/>
          </a:solidFill>
          <a:ln w="9525">
            <a:solidFill>
              <a:srgbClr val="C9C9EA"/>
            </a:solidFill>
            <a:prstDash val="solid"/>
          </a:ln>
        </p:spPr>
      </p:sp>
      <p:sp>
        <p:nvSpPr>
          <p:cNvPr id="10" name="Text 8"/>
          <p:cNvSpPr txBox="1"/>
          <p:nvPr/>
        </p:nvSpPr>
        <p:spPr>
          <a:xfrm>
            <a:off x="813816" y="3904488"/>
            <a:ext cx="5367528" cy="219456"/>
          </a:xfrm>
          <a:prstGeom prst="rect">
            <a:avLst/>
          </a:prstGeom>
          <a:noFill/>
          <a:ln/>
        </p:spPr>
        <p:txBody>
          <a:bodyPr wrap="square" lIns="0" tIns="0" rIns="0" bIns="0" rtlCol="0" anchor="ctr"/>
          <a:lstStyle/>
          <a:p>
            <a:pPr indent="0" marL="0">
              <a:buNone/>
            </a:pPr>
            <a:r>
              <a:rPr lang="en-US" sz="950" b="1" spc="140" kern="0" dirty="0">
                <a:solidFill>
                  <a:srgbClr val="007A2F"/>
                </a:solidFill>
                <a:latin typeface="Cambria" pitchFamily="34" charset="0"/>
                <a:ea typeface="Cambria" pitchFamily="34" charset="-122"/>
                <a:cs typeface="Cambria" pitchFamily="34" charset="-120"/>
              </a:rPr>
              <a:t>ASK FOR IT UP FRONT</a:t>
            </a:r>
            <a:endParaRPr lang="en-US" sz="950" dirty="0"/>
          </a:p>
        </p:txBody>
      </p:sp>
      <p:sp>
        <p:nvSpPr>
          <p:cNvPr id="11" name="Text 9"/>
          <p:cNvSpPr txBox="1"/>
          <p:nvPr/>
        </p:nvSpPr>
        <p:spPr>
          <a:xfrm>
            <a:off x="813816" y="4197096"/>
            <a:ext cx="5367528" cy="1019556"/>
          </a:xfrm>
          <a:prstGeom prst="rect">
            <a:avLst/>
          </a:prstGeom>
          <a:noFill/>
          <a:ln/>
        </p:spPr>
        <p:txBody>
          <a:bodyPr wrap="square" lIns="0" tIns="0" rIns="0" bIns="0" rtlCol="0" anchor="t"/>
          <a:lstStyle/>
          <a:p>
            <a:pPr indent="0" marL="0">
              <a:lnSpc>
                <a:spcPts val="1418"/>
              </a:lnSpc>
              <a:buNone/>
            </a:pPr>
            <a:r>
              <a:rPr lang="en-US" sz="1050" dirty="0">
                <a:solidFill>
                  <a:srgbClr val="1A1A33"/>
                </a:solidFill>
                <a:latin typeface="Courier New" pitchFamily="34" charset="0"/>
                <a:ea typeface="Courier New" pitchFamily="34" charset="-122"/>
                <a:cs typeface="Courier New" pitchFamily="34" charset="-120"/>
              </a:rPr>
              <a:t>var orders = await _db.WorkOrders</a:t>
            </a:r>
            <a:endParaRPr lang="en-US" sz="1050" dirty="0"/>
          </a:p>
          <a:p>
            <a:pPr indent="0" marL="0">
              <a:lnSpc>
                <a:spcPts val="1418"/>
              </a:lnSpc>
              <a:buNone/>
            </a:pPr>
            <a:r>
              <a:rPr lang="en-US" sz="1050" dirty="0">
                <a:solidFill>
                  <a:srgbClr val="1A1A33"/>
                </a:solidFill>
                <a:latin typeface="Courier New" pitchFamily="34" charset="0"/>
                <a:ea typeface="Courier New" pitchFamily="34" charset="-122"/>
                <a:cs typeface="Courier New" pitchFamily="34" charset="-120"/>
              </a:rPr>
              <a:t>    .Include(o =&gt; o.Issues)</a:t>
            </a:r>
            <a:endParaRPr lang="en-US" sz="1050" dirty="0"/>
          </a:p>
          <a:p>
            <a:pPr indent="0" marL="0">
              <a:lnSpc>
                <a:spcPts val="1418"/>
              </a:lnSpc>
              <a:buNone/>
            </a:pPr>
            <a:r>
              <a:rPr lang="en-US" sz="1050" dirty="0">
                <a:solidFill>
                  <a:srgbClr val="1A1A33"/>
                </a:solidFill>
                <a:latin typeface="Courier New" pitchFamily="34" charset="0"/>
                <a:ea typeface="Courier New" pitchFamily="34" charset="-122"/>
                <a:cs typeface="Courier New" pitchFamily="34" charset="-120"/>
              </a:rPr>
              <a:t>    .ToListAsync();</a:t>
            </a:r>
            <a:endParaRPr lang="en-US" sz="1050" dirty="0"/>
          </a:p>
          <a:p>
            <a:pPr indent="0" marL="0">
              <a:lnSpc>
                <a:spcPts val="1418"/>
              </a:lnSpc>
              <a:buNone/>
            </a:pPr>
            <a:r>
              <a:rPr lang="en-US" sz="1050" dirty="0">
                <a:solidFill>
                  <a:srgbClr val="1A1A33"/>
                </a:solidFill>
                <a:latin typeface="Courier New" pitchFamily="34" charset="0"/>
                <a:ea typeface="Courier New" pitchFamily="34" charset="-122"/>
                <a:cs typeface="Courier New" pitchFamily="34" charset="-120"/>
              </a:rPr>
              <a:t> </a:t>
            </a:r>
            <a:endParaRPr lang="en-US" sz="1050" dirty="0"/>
          </a:p>
          <a:p>
            <a:pPr indent="0" marL="0">
              <a:lnSpc>
                <a:spcPts val="1418"/>
              </a:lnSpc>
              <a:buNone/>
            </a:pPr>
            <a:r>
              <a:rPr lang="en-US" sz="1050" dirty="0">
                <a:solidFill>
                  <a:srgbClr val="1A1A33"/>
                </a:solidFill>
                <a:latin typeface="Courier New" pitchFamily="34" charset="0"/>
                <a:ea typeface="Courier New" pitchFamily="34" charset="-122"/>
                <a:cs typeface="Courier New" pitchFamily="34" charset="-120"/>
              </a:rPr>
              <a:t>// one query, joined</a:t>
            </a:r>
            <a:endParaRPr lang="en-US" sz="1050" dirty="0"/>
          </a:p>
        </p:txBody>
      </p:sp>
      <p:sp>
        <p:nvSpPr>
          <p:cNvPr id="12" name="Shape 10"/>
          <p:cNvSpPr/>
          <p:nvPr/>
        </p:nvSpPr>
        <p:spPr>
          <a:xfrm>
            <a:off x="6629400" y="1627632"/>
            <a:ext cx="4965192" cy="1024128"/>
          </a:xfrm>
          <a:prstGeom prst="rect">
            <a:avLst/>
          </a:prstGeom>
          <a:solidFill>
            <a:srgbClr val="EDEDF7"/>
          </a:solidFill>
          <a:ln w="9525">
            <a:solidFill>
              <a:srgbClr val="C9C9EA"/>
            </a:solidFill>
            <a:prstDash val="solid"/>
          </a:ln>
        </p:spPr>
      </p:sp>
      <p:sp>
        <p:nvSpPr>
          <p:cNvPr id="13" name="Shape 11"/>
          <p:cNvSpPr/>
          <p:nvPr/>
        </p:nvSpPr>
        <p:spPr>
          <a:xfrm>
            <a:off x="6629400" y="1627632"/>
            <a:ext cx="50292" cy="1024128"/>
          </a:xfrm>
          <a:prstGeom prst="rect">
            <a:avLst/>
          </a:prstGeom>
          <a:solidFill>
            <a:srgbClr val="3333B3"/>
          </a:solidFill>
          <a:ln w="12700">
            <a:solidFill>
              <a:srgbClr val="3333B3"/>
            </a:solidFill>
            <a:prstDash val="solid"/>
          </a:ln>
        </p:spPr>
      </p:sp>
      <p:sp>
        <p:nvSpPr>
          <p:cNvPr id="14" name="Shape 12"/>
          <p:cNvSpPr/>
          <p:nvPr/>
        </p:nvSpPr>
        <p:spPr>
          <a:xfrm>
            <a:off x="6830568" y="1956816"/>
            <a:ext cx="365760" cy="365760"/>
          </a:xfrm>
          <a:prstGeom prst="ellipse">
            <a:avLst/>
          </a:prstGeom>
          <a:solidFill>
            <a:srgbClr val="3333B3"/>
          </a:solidFill>
          <a:ln w="12700">
            <a:solidFill>
              <a:srgbClr val="3333B3"/>
            </a:solidFill>
            <a:prstDash val="solid"/>
          </a:ln>
        </p:spPr>
      </p:sp>
      <p:sp>
        <p:nvSpPr>
          <p:cNvPr id="15" name="Text 13"/>
          <p:cNvSpPr txBox="1"/>
          <p:nvPr/>
        </p:nvSpPr>
        <p:spPr>
          <a:xfrm>
            <a:off x="6830568" y="195681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16" name="Text 14"/>
          <p:cNvSpPr txBox="1"/>
          <p:nvPr/>
        </p:nvSpPr>
        <p:spPr>
          <a:xfrm>
            <a:off x="7360920" y="1627632"/>
            <a:ext cx="4014216" cy="1024128"/>
          </a:xfrm>
          <a:prstGeom prst="rect">
            <a:avLst/>
          </a:prstGeom>
          <a:noFill/>
          <a:ln/>
        </p:spPr>
        <p:txBody>
          <a:bodyPr wrap="square" lIns="0" tIns="0" rIns="0" bIns="0" rtlCol="0" anchor="ctr"/>
          <a:lstStyle/>
          <a:p>
            <a:pPr indent="0" marL="0">
              <a:buNone/>
            </a:pPr>
            <a:r>
              <a:rPr lang="en-US" sz="1350" b="1" dirty="0">
                <a:solidFill>
                  <a:srgbClr val="22226B"/>
                </a:solidFill>
                <a:latin typeface="Cambria" pitchFamily="34" charset="0"/>
                <a:ea typeface="Cambria" pitchFamily="34" charset="-122"/>
                <a:cs typeface="Cambria" pitchFamily="34" charset="-120"/>
              </a:rPr>
              <a:t>Filter in the database</a:t>
            </a:r>
            <a:endParaRPr lang="en-US" sz="1350" dirty="0"/>
          </a:p>
          <a:p>
            <a:pPr indent="0" marL="0">
              <a:buNone/>
            </a:pPr>
            <a:r>
              <a:rPr lang="en-US" sz="1100" dirty="0">
                <a:solidFill>
                  <a:srgbClr val="3E3E5A"/>
                </a:solidFill>
                <a:latin typeface="Cambria" pitchFamily="34" charset="0"/>
                <a:ea typeface="Cambria" pitchFamily="34" charset="-122"/>
                <a:cs typeface="Cambria" pitchFamily="34" charset="-120"/>
              </a:rPr>
              <a:t>ToList() then Where() drags the whole table across the network first. Order matters enormously.</a:t>
            </a:r>
            <a:endParaRPr lang="en-US" sz="1350" dirty="0"/>
          </a:p>
        </p:txBody>
      </p:sp>
      <p:sp>
        <p:nvSpPr>
          <p:cNvPr id="17" name="Shape 15"/>
          <p:cNvSpPr/>
          <p:nvPr/>
        </p:nvSpPr>
        <p:spPr>
          <a:xfrm>
            <a:off x="6629400" y="2779776"/>
            <a:ext cx="4965192" cy="1024128"/>
          </a:xfrm>
          <a:prstGeom prst="rect">
            <a:avLst/>
          </a:prstGeom>
          <a:solidFill>
            <a:srgbClr val="EDEDF7"/>
          </a:solidFill>
          <a:ln w="9525">
            <a:solidFill>
              <a:srgbClr val="C9C9EA"/>
            </a:solidFill>
            <a:prstDash val="solid"/>
          </a:ln>
        </p:spPr>
      </p:sp>
      <p:sp>
        <p:nvSpPr>
          <p:cNvPr id="18" name="Shape 16"/>
          <p:cNvSpPr/>
          <p:nvPr/>
        </p:nvSpPr>
        <p:spPr>
          <a:xfrm>
            <a:off x="6629400" y="2779776"/>
            <a:ext cx="50292" cy="1024128"/>
          </a:xfrm>
          <a:prstGeom prst="rect">
            <a:avLst/>
          </a:prstGeom>
          <a:solidFill>
            <a:srgbClr val="3333B3"/>
          </a:solidFill>
          <a:ln w="12700">
            <a:solidFill>
              <a:srgbClr val="3333B3"/>
            </a:solidFill>
            <a:prstDash val="solid"/>
          </a:ln>
        </p:spPr>
      </p:sp>
      <p:sp>
        <p:nvSpPr>
          <p:cNvPr id="19" name="Shape 17"/>
          <p:cNvSpPr/>
          <p:nvPr/>
        </p:nvSpPr>
        <p:spPr>
          <a:xfrm>
            <a:off x="6830568" y="3108960"/>
            <a:ext cx="365760" cy="365760"/>
          </a:xfrm>
          <a:prstGeom prst="ellipse">
            <a:avLst/>
          </a:prstGeom>
          <a:solidFill>
            <a:srgbClr val="3333B3"/>
          </a:solidFill>
          <a:ln w="12700">
            <a:solidFill>
              <a:srgbClr val="3333B3"/>
            </a:solidFill>
            <a:prstDash val="solid"/>
          </a:ln>
        </p:spPr>
      </p:sp>
      <p:sp>
        <p:nvSpPr>
          <p:cNvPr id="20" name="Text 18"/>
          <p:cNvSpPr txBox="1"/>
          <p:nvPr/>
        </p:nvSpPr>
        <p:spPr>
          <a:xfrm>
            <a:off x="6830568" y="310896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21" name="Text 19"/>
          <p:cNvSpPr txBox="1"/>
          <p:nvPr/>
        </p:nvSpPr>
        <p:spPr>
          <a:xfrm>
            <a:off x="7360920" y="2779776"/>
            <a:ext cx="4014216" cy="1024128"/>
          </a:xfrm>
          <a:prstGeom prst="rect">
            <a:avLst/>
          </a:prstGeom>
          <a:noFill/>
          <a:ln/>
        </p:spPr>
        <p:txBody>
          <a:bodyPr wrap="square" lIns="0" tIns="0" rIns="0" bIns="0" rtlCol="0" anchor="ctr"/>
          <a:lstStyle/>
          <a:p>
            <a:pPr indent="0" marL="0">
              <a:buNone/>
            </a:pPr>
            <a:r>
              <a:rPr lang="en-US" sz="1350" b="1" dirty="0">
                <a:solidFill>
                  <a:srgbClr val="22226B"/>
                </a:solidFill>
                <a:latin typeface="Cambria" pitchFamily="34" charset="0"/>
                <a:ea typeface="Cambria" pitchFamily="34" charset="-122"/>
                <a:cs typeface="Cambria" pitchFamily="34" charset="-120"/>
              </a:rPr>
              <a:t>Select only what you need</a:t>
            </a:r>
            <a:endParaRPr lang="en-US" sz="1350" dirty="0"/>
          </a:p>
          <a:p>
            <a:pPr indent="0" marL="0">
              <a:buNone/>
            </a:pPr>
            <a:r>
              <a:rPr lang="en-US" sz="1100" dirty="0">
                <a:solidFill>
                  <a:srgbClr val="3E3E5A"/>
                </a:solidFill>
                <a:latin typeface="Cambria" pitchFamily="34" charset="0"/>
                <a:ea typeface="Cambria" pitchFamily="34" charset="-122"/>
                <a:cs typeface="Cambria" pitchFamily="34" charset="-120"/>
              </a:rPr>
              <a:t>A list screen showing four columns should not fetch forty.</a:t>
            </a:r>
            <a:endParaRPr lang="en-US" sz="1350" dirty="0"/>
          </a:p>
        </p:txBody>
      </p:sp>
      <p:sp>
        <p:nvSpPr>
          <p:cNvPr id="22" name="Shape 20"/>
          <p:cNvSpPr/>
          <p:nvPr/>
        </p:nvSpPr>
        <p:spPr>
          <a:xfrm>
            <a:off x="6629400" y="3931920"/>
            <a:ext cx="4965192" cy="1024128"/>
          </a:xfrm>
          <a:prstGeom prst="rect">
            <a:avLst/>
          </a:prstGeom>
          <a:solidFill>
            <a:srgbClr val="EDEDF7"/>
          </a:solidFill>
          <a:ln w="9525">
            <a:solidFill>
              <a:srgbClr val="C9C9EA"/>
            </a:solidFill>
            <a:prstDash val="solid"/>
          </a:ln>
        </p:spPr>
      </p:sp>
      <p:sp>
        <p:nvSpPr>
          <p:cNvPr id="23" name="Shape 21"/>
          <p:cNvSpPr/>
          <p:nvPr/>
        </p:nvSpPr>
        <p:spPr>
          <a:xfrm>
            <a:off x="6629400" y="3931920"/>
            <a:ext cx="50292" cy="1024128"/>
          </a:xfrm>
          <a:prstGeom prst="rect">
            <a:avLst/>
          </a:prstGeom>
          <a:solidFill>
            <a:srgbClr val="3333B3"/>
          </a:solidFill>
          <a:ln w="12700">
            <a:solidFill>
              <a:srgbClr val="3333B3"/>
            </a:solidFill>
            <a:prstDash val="solid"/>
          </a:ln>
        </p:spPr>
      </p:sp>
      <p:sp>
        <p:nvSpPr>
          <p:cNvPr id="24" name="Shape 22"/>
          <p:cNvSpPr/>
          <p:nvPr/>
        </p:nvSpPr>
        <p:spPr>
          <a:xfrm>
            <a:off x="6830568" y="4261104"/>
            <a:ext cx="365760" cy="365760"/>
          </a:xfrm>
          <a:prstGeom prst="ellipse">
            <a:avLst/>
          </a:prstGeom>
          <a:solidFill>
            <a:srgbClr val="3333B3"/>
          </a:solidFill>
          <a:ln w="12700">
            <a:solidFill>
              <a:srgbClr val="3333B3"/>
            </a:solidFill>
            <a:prstDash val="solid"/>
          </a:ln>
        </p:spPr>
      </p:sp>
      <p:sp>
        <p:nvSpPr>
          <p:cNvPr id="25" name="Text 23"/>
          <p:cNvSpPr txBox="1"/>
          <p:nvPr/>
        </p:nvSpPr>
        <p:spPr>
          <a:xfrm>
            <a:off x="6830568" y="4261104"/>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26" name="Text 24"/>
          <p:cNvSpPr txBox="1"/>
          <p:nvPr/>
        </p:nvSpPr>
        <p:spPr>
          <a:xfrm>
            <a:off x="7360920" y="3931920"/>
            <a:ext cx="4014216" cy="1024128"/>
          </a:xfrm>
          <a:prstGeom prst="rect">
            <a:avLst/>
          </a:prstGeom>
          <a:noFill/>
          <a:ln/>
        </p:spPr>
        <p:txBody>
          <a:bodyPr wrap="square" lIns="0" tIns="0" rIns="0" bIns="0" rtlCol="0" anchor="ctr"/>
          <a:lstStyle/>
          <a:p>
            <a:pPr indent="0" marL="0">
              <a:buNone/>
            </a:pPr>
            <a:r>
              <a:rPr lang="en-US" sz="1350" b="1" dirty="0">
                <a:solidFill>
                  <a:srgbClr val="22226B"/>
                </a:solidFill>
                <a:latin typeface="Cambria" pitchFamily="34" charset="0"/>
                <a:ea typeface="Cambria" pitchFamily="34" charset="-122"/>
                <a:cs typeface="Cambria" pitchFamily="34" charset="-120"/>
              </a:rPr>
              <a:t>Page every list</a:t>
            </a:r>
            <a:endParaRPr lang="en-US" sz="1350" dirty="0"/>
          </a:p>
          <a:p>
            <a:pPr indent="0" marL="0">
              <a:buNone/>
            </a:pPr>
            <a:r>
              <a:rPr lang="en-US" sz="1100" dirty="0">
                <a:solidFill>
                  <a:srgbClr val="3E3E5A"/>
                </a:solidFill>
                <a:latin typeface="Cambria" pitchFamily="34" charset="0"/>
                <a:ea typeface="Cambria" pitchFamily="34" charset="-122"/>
                <a:cs typeface="Cambria" pitchFamily="34" charset="-120"/>
              </a:rPr>
              <a:t>Skip and Take, with a sensible cap. Never trust that a table will stay small.</a:t>
            </a:r>
            <a:endParaRPr lang="en-US" sz="1350" dirty="0"/>
          </a:p>
        </p:txBody>
      </p:sp>
      <p:sp>
        <p:nvSpPr>
          <p:cNvPr id="27" name="Shape 25"/>
          <p:cNvSpPr/>
          <p:nvPr/>
        </p:nvSpPr>
        <p:spPr>
          <a:xfrm>
            <a:off x="6629400" y="5084064"/>
            <a:ext cx="4965192" cy="1024128"/>
          </a:xfrm>
          <a:prstGeom prst="rect">
            <a:avLst/>
          </a:prstGeom>
          <a:solidFill>
            <a:srgbClr val="EDEDF7"/>
          </a:solidFill>
          <a:ln w="9525">
            <a:solidFill>
              <a:srgbClr val="C9C9EA"/>
            </a:solidFill>
            <a:prstDash val="solid"/>
          </a:ln>
        </p:spPr>
      </p:sp>
      <p:sp>
        <p:nvSpPr>
          <p:cNvPr id="28" name="Shape 26"/>
          <p:cNvSpPr/>
          <p:nvPr/>
        </p:nvSpPr>
        <p:spPr>
          <a:xfrm>
            <a:off x="6629400" y="5084064"/>
            <a:ext cx="50292" cy="1024128"/>
          </a:xfrm>
          <a:prstGeom prst="rect">
            <a:avLst/>
          </a:prstGeom>
          <a:solidFill>
            <a:srgbClr val="3333B3"/>
          </a:solidFill>
          <a:ln w="12700">
            <a:solidFill>
              <a:srgbClr val="3333B3"/>
            </a:solidFill>
            <a:prstDash val="solid"/>
          </a:ln>
        </p:spPr>
      </p:sp>
      <p:sp>
        <p:nvSpPr>
          <p:cNvPr id="29" name="Shape 27"/>
          <p:cNvSpPr/>
          <p:nvPr/>
        </p:nvSpPr>
        <p:spPr>
          <a:xfrm>
            <a:off x="6830568" y="5413248"/>
            <a:ext cx="365760" cy="365760"/>
          </a:xfrm>
          <a:prstGeom prst="ellipse">
            <a:avLst/>
          </a:prstGeom>
          <a:solidFill>
            <a:srgbClr val="3333B3"/>
          </a:solidFill>
          <a:ln w="12700">
            <a:solidFill>
              <a:srgbClr val="3333B3"/>
            </a:solidFill>
            <a:prstDash val="solid"/>
          </a:ln>
        </p:spPr>
      </p:sp>
      <p:sp>
        <p:nvSpPr>
          <p:cNvPr id="30" name="Text 28"/>
          <p:cNvSpPr txBox="1"/>
          <p:nvPr/>
        </p:nvSpPr>
        <p:spPr>
          <a:xfrm>
            <a:off x="6830568" y="541324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4</a:t>
            </a:r>
            <a:endParaRPr lang="en-US" sz="1300" dirty="0"/>
          </a:p>
        </p:txBody>
      </p:sp>
      <p:sp>
        <p:nvSpPr>
          <p:cNvPr id="31" name="Text 29"/>
          <p:cNvSpPr txBox="1"/>
          <p:nvPr/>
        </p:nvSpPr>
        <p:spPr>
          <a:xfrm>
            <a:off x="7360920" y="5084064"/>
            <a:ext cx="4014216" cy="1024128"/>
          </a:xfrm>
          <a:prstGeom prst="rect">
            <a:avLst/>
          </a:prstGeom>
          <a:noFill/>
          <a:ln/>
        </p:spPr>
        <p:txBody>
          <a:bodyPr wrap="square" lIns="0" tIns="0" rIns="0" bIns="0" rtlCol="0" anchor="ctr"/>
          <a:lstStyle/>
          <a:p>
            <a:pPr indent="0" marL="0">
              <a:buNone/>
            </a:pPr>
            <a:r>
              <a:rPr lang="en-US" sz="1350" b="1" dirty="0">
                <a:solidFill>
                  <a:srgbClr val="22226B"/>
                </a:solidFill>
                <a:latin typeface="Cambria" pitchFamily="34" charset="0"/>
                <a:ea typeface="Cambria" pitchFamily="34" charset="-122"/>
                <a:cs typeface="Cambria" pitchFamily="34" charset="-120"/>
              </a:rPr>
              <a:t>Measure, do not guess</a:t>
            </a:r>
            <a:endParaRPr lang="en-US" sz="1350" dirty="0"/>
          </a:p>
          <a:p>
            <a:pPr indent="0" marL="0">
              <a:buNone/>
            </a:pPr>
            <a:r>
              <a:rPr lang="en-US" sz="1100" dirty="0">
                <a:solidFill>
                  <a:srgbClr val="3E3E5A"/>
                </a:solidFill>
                <a:latin typeface="Cambria" pitchFamily="34" charset="0"/>
                <a:ea typeface="Cambria" pitchFamily="34" charset="-122"/>
                <a:cs typeface="Cambria" pitchFamily="34" charset="-120"/>
              </a:rPr>
              <a:t>Log the SQL, count the queries, then look at the plan. Day 5 goes further.</a:t>
            </a:r>
            <a:endParaRPr lang="en-US" sz="1350" dirty="0"/>
          </a:p>
        </p:txBody>
      </p:sp>
      <p:sp>
        <p:nvSpPr>
          <p:cNvPr id="32" name="Shape 30"/>
          <p:cNvSpPr/>
          <p:nvPr/>
        </p:nvSpPr>
        <p:spPr>
          <a:xfrm>
            <a:off x="0" y="6400800"/>
            <a:ext cx="3840480" cy="457200"/>
          </a:xfrm>
          <a:prstGeom prst="rect">
            <a:avLst/>
          </a:prstGeom>
          <a:solidFill>
            <a:srgbClr val="22226B"/>
          </a:solidFill>
          <a:ln w="12700">
            <a:solidFill>
              <a:srgbClr val="22226B"/>
            </a:solidFill>
            <a:prstDash val="solid"/>
          </a:ln>
        </p:spPr>
      </p:sp>
      <p:sp>
        <p:nvSpPr>
          <p:cNvPr id="33" name="Text 31"/>
          <p:cNvSpPr txBox="1"/>
          <p:nvPr/>
        </p:nvSpPr>
        <p:spPr>
          <a:xfrm>
            <a:off x="164592" y="6400800"/>
            <a:ext cx="3511296" cy="457200"/>
          </a:xfrm>
          <a:prstGeom prst="rect">
            <a:avLst/>
          </a:prstGeom>
          <a:noFill/>
          <a:ln/>
        </p:spPr>
        <p:txBody>
          <a:bodyPr wrap="square" lIns="0" tIns="0" rIns="0" bIns="0" rtlCol="0" anchor="ctr"/>
          <a:lstStyle/>
          <a:p>
            <a:pPr algn="l" indent="0" marL="0">
              <a:buNone/>
            </a:pPr>
            <a:r>
              <a:rPr lang="en-US" sz="950" dirty="0">
                <a:solidFill>
                  <a:srgbClr val="FFFFFF"/>
                </a:solidFill>
                <a:latin typeface="Cambria" pitchFamily="34" charset="0"/>
                <a:ea typeface="Cambria" pitchFamily="34" charset="-122"/>
                <a:cs typeface="Cambria" pitchFamily="34" charset="-120"/>
              </a:rPr>
              <a:t>HAL  ·  .NET, React &amp; SQL Programme</a:t>
            </a:r>
            <a:endParaRPr lang="en-US" sz="950" dirty="0"/>
          </a:p>
        </p:txBody>
      </p:sp>
      <p:sp>
        <p:nvSpPr>
          <p:cNvPr id="34" name="Shape 32"/>
          <p:cNvSpPr/>
          <p:nvPr/>
        </p:nvSpPr>
        <p:spPr>
          <a:xfrm>
            <a:off x="3840480" y="6400800"/>
            <a:ext cx="6675120" cy="457200"/>
          </a:xfrm>
          <a:prstGeom prst="rect">
            <a:avLst/>
          </a:prstGeom>
          <a:solidFill>
            <a:srgbClr val="3333B3"/>
          </a:solidFill>
          <a:ln w="12700">
            <a:solidFill>
              <a:srgbClr val="3333B3"/>
            </a:solidFill>
            <a:prstDash val="solid"/>
          </a:ln>
        </p:spPr>
      </p:sp>
      <p:sp>
        <p:nvSpPr>
          <p:cNvPr id="35" name="Text 33"/>
          <p:cNvSpPr txBox="1"/>
          <p:nvPr/>
        </p:nvSpPr>
        <p:spPr>
          <a:xfrm>
            <a:off x="4005072" y="6400800"/>
            <a:ext cx="6345936" cy="457200"/>
          </a:xfrm>
          <a:prstGeom prst="rect">
            <a:avLst/>
          </a:prstGeom>
          <a:noFill/>
          <a:ln/>
        </p:spPr>
        <p:txBody>
          <a:bodyPr wrap="square" lIns="0" tIns="0" rIns="0" bIns="0" rtlCol="0" anchor="ctr"/>
          <a:lstStyle/>
          <a:p>
            <a:pPr algn="l" indent="0" marL="0">
              <a:buNone/>
            </a:pPr>
            <a:r>
              <a:rPr lang="en-US" sz="950" dirty="0">
                <a:solidFill>
                  <a:srgbClr val="FFFFFF"/>
                </a:solidFill>
                <a:latin typeface="Cambria" pitchFamily="34" charset="0"/>
                <a:ea typeface="Cambria" pitchFamily="34" charset="-122"/>
                <a:cs typeface="Cambria" pitchFamily="34" charset="-120"/>
              </a:rPr>
              <a:t>Day 2 · Session 2 — Connecting the API to Data</a:t>
            </a:r>
            <a:endParaRPr lang="en-US" sz="950" dirty="0"/>
          </a:p>
        </p:txBody>
      </p:sp>
      <p:sp>
        <p:nvSpPr>
          <p:cNvPr id="36" name="Shape 34"/>
          <p:cNvSpPr/>
          <p:nvPr/>
        </p:nvSpPr>
        <p:spPr>
          <a:xfrm>
            <a:off x="10515600" y="6400800"/>
            <a:ext cx="1676095" cy="457200"/>
          </a:xfrm>
          <a:prstGeom prst="rect">
            <a:avLst/>
          </a:prstGeom>
          <a:solidFill>
            <a:srgbClr val="22226B"/>
          </a:solidFill>
          <a:ln w="12700">
            <a:solidFill>
              <a:srgbClr val="22226B"/>
            </a:solidFill>
            <a:prstDash val="solid"/>
          </a:ln>
        </p:spPr>
      </p:sp>
      <p:sp>
        <p:nvSpPr>
          <p:cNvPr id="37" name="Text 35"/>
          <p:cNvSpPr txBox="1"/>
          <p:nvPr/>
        </p:nvSpPr>
        <p:spPr>
          <a:xfrm>
            <a:off x="10680192" y="6400800"/>
            <a:ext cx="1346911" cy="457200"/>
          </a:xfrm>
          <a:prstGeom prst="rect">
            <a:avLst/>
          </a:prstGeom>
          <a:noFill/>
          <a:ln/>
        </p:spPr>
        <p:txBody>
          <a:bodyPr wrap="square" lIns="0" tIns="0" rIns="0" bIns="0" rtlCol="0" anchor="ctr"/>
          <a:lstStyle/>
          <a:p>
            <a:pPr algn="ctr" indent="0" marL="0">
              <a:buNone/>
            </a:pPr>
            <a:r>
              <a:rPr lang="en-US" sz="950" dirty="0">
                <a:solidFill>
                  <a:srgbClr val="FFFFFF"/>
                </a:solidFill>
                <a:latin typeface="Cambria" pitchFamily="34" charset="0"/>
                <a:ea typeface="Cambria" pitchFamily="34" charset="-122"/>
                <a:cs typeface="Cambria" pitchFamily="34" charset="-120"/>
              </a:rPr>
              <a:t>8</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365760"/>
          </a:xfrm>
          <a:prstGeom prst="rect">
            <a:avLst/>
          </a:prstGeom>
          <a:solidFill>
            <a:srgbClr val="22226B"/>
          </a:solidFill>
          <a:ln w="12700">
            <a:solidFill>
              <a:srgbClr val="22226B"/>
            </a:solidFill>
            <a:prstDash val="solid"/>
          </a:ln>
        </p:spPr>
      </p:sp>
      <p:sp>
        <p:nvSpPr>
          <p:cNvPr id="3" name="Text 1"/>
          <p:cNvSpPr txBox="1"/>
          <p:nvPr/>
        </p:nvSpPr>
        <p:spPr>
          <a:xfrm>
            <a:off x="594360" y="0"/>
            <a:ext cx="11002975" cy="365760"/>
          </a:xfrm>
          <a:prstGeom prst="rect">
            <a:avLst/>
          </a:prstGeom>
          <a:noFill/>
          <a:ln/>
        </p:spPr>
        <p:txBody>
          <a:bodyPr wrap="square" lIns="0" tIns="0" rIns="0" bIns="0" rtlCol="0" anchor="ctr"/>
          <a:lstStyle/>
          <a:p>
            <a:pPr indent="0" marL="0">
              <a:buNone/>
            </a:pPr>
            <a:r>
              <a:rPr lang="en-US" sz="1000" b="1" spc="180" kern="0" dirty="0">
                <a:solidFill>
                  <a:srgbClr val="C9C9EA"/>
                </a:solidFill>
                <a:latin typeface="Cambria" pitchFamily="34" charset="0"/>
                <a:ea typeface="Cambria" pitchFamily="34" charset="-122"/>
                <a:cs typeface="Cambria" pitchFamily="34" charset="-120"/>
              </a:rPr>
              <a:t>THE REPOSITORY PATTERN</a:t>
            </a:r>
            <a:endParaRPr lang="en-US" sz="1000" dirty="0"/>
          </a:p>
        </p:txBody>
      </p:sp>
      <p:sp>
        <p:nvSpPr>
          <p:cNvPr id="4" name="Shape 2"/>
          <p:cNvSpPr/>
          <p:nvPr/>
        </p:nvSpPr>
        <p:spPr>
          <a:xfrm>
            <a:off x="0" y="365760"/>
            <a:ext cx="12191695" cy="841248"/>
          </a:xfrm>
          <a:prstGeom prst="rect">
            <a:avLst/>
          </a:prstGeom>
          <a:solidFill>
            <a:srgbClr val="3333B3"/>
          </a:solidFill>
          <a:ln w="12700">
            <a:solidFill>
              <a:srgbClr val="3333B3"/>
            </a:solidFill>
            <a:prstDash val="solid"/>
          </a:ln>
        </p:spPr>
      </p:sp>
      <p:sp>
        <p:nvSpPr>
          <p:cNvPr id="5" name="Text 3"/>
          <p:cNvSpPr txBox="1"/>
          <p:nvPr/>
        </p:nvSpPr>
        <p:spPr>
          <a:xfrm>
            <a:off x="594360" y="365760"/>
            <a:ext cx="11002975" cy="841248"/>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One layer between the controller and the data</a:t>
            </a:r>
            <a:endParaRPr lang="en-US" sz="2600" dirty="0"/>
          </a:p>
        </p:txBody>
      </p:sp>
      <p:sp>
        <p:nvSpPr>
          <p:cNvPr id="6" name="Shape 4"/>
          <p:cNvSpPr/>
          <p:nvPr/>
        </p:nvSpPr>
        <p:spPr>
          <a:xfrm>
            <a:off x="594360" y="1627632"/>
            <a:ext cx="2517572" cy="960120"/>
          </a:xfrm>
          <a:prstGeom prst="rect">
            <a:avLst/>
          </a:prstGeom>
          <a:solidFill>
            <a:srgbClr val="EDEDF7"/>
          </a:solidFill>
          <a:ln w="9525">
            <a:solidFill>
              <a:srgbClr val="C9C9EA"/>
            </a:solidFill>
            <a:prstDash val="solid"/>
          </a:ln>
        </p:spPr>
      </p:sp>
      <p:sp>
        <p:nvSpPr>
          <p:cNvPr id="7" name="Text 5"/>
          <p:cNvSpPr txBox="1"/>
          <p:nvPr/>
        </p:nvSpPr>
        <p:spPr>
          <a:xfrm>
            <a:off x="704088" y="1627632"/>
            <a:ext cx="2298116" cy="960120"/>
          </a:xfrm>
          <a:prstGeom prst="rect">
            <a:avLst/>
          </a:prstGeom>
          <a:noFill/>
          <a:ln/>
        </p:spPr>
        <p:txBody>
          <a:bodyPr wrap="square" lIns="0" tIns="0" rIns="0" bIns="0" rtlCol="0" anchor="ctr"/>
          <a:lstStyle/>
          <a:p>
            <a:pPr algn="ctr" indent="0" marL="0">
              <a:buNone/>
            </a:pPr>
            <a:r>
              <a:rPr lang="en-US" sz="1350" b="1" dirty="0">
                <a:solidFill>
                  <a:srgbClr val="22226B"/>
                </a:solidFill>
                <a:latin typeface="Cambria" pitchFamily="34" charset="0"/>
                <a:ea typeface="Cambria" pitchFamily="34" charset="-122"/>
                <a:cs typeface="Cambria" pitchFamily="34" charset="-120"/>
              </a:rPr>
              <a:t>Controller</a:t>
            </a:r>
            <a:endParaRPr lang="en-US" sz="1350" dirty="0"/>
          </a:p>
          <a:p>
            <a:pPr algn="ctr" indent="0" marL="0">
              <a:buNone/>
            </a:pPr>
            <a:r>
              <a:rPr lang="en-US" sz="1050" dirty="0">
                <a:solidFill>
                  <a:srgbClr val="3E3E5A"/>
                </a:solidFill>
                <a:latin typeface="Cambria" pitchFamily="34" charset="0"/>
                <a:ea typeface="Cambria" pitchFamily="34" charset="-122"/>
                <a:cs typeface="Cambria" pitchFamily="34" charset="-120"/>
              </a:rPr>
              <a:t>Handles HTTP only</a:t>
            </a:r>
            <a:endParaRPr lang="en-US" sz="1350" dirty="0"/>
          </a:p>
        </p:txBody>
      </p:sp>
      <p:sp>
        <p:nvSpPr>
          <p:cNvPr id="8" name="Shape 6"/>
          <p:cNvSpPr/>
          <p:nvPr/>
        </p:nvSpPr>
        <p:spPr>
          <a:xfrm>
            <a:off x="3166796" y="2016252"/>
            <a:ext cx="201168" cy="182880"/>
          </a:xfrm>
          <a:prstGeom prst="chevron">
            <a:avLst/>
          </a:prstGeom>
          <a:solidFill>
            <a:srgbClr val="3333B3"/>
          </a:solidFill>
          <a:ln w="12700">
            <a:solidFill>
              <a:srgbClr val="3333B3"/>
            </a:solidFill>
            <a:prstDash val="solid"/>
          </a:ln>
        </p:spPr>
      </p:sp>
      <p:sp>
        <p:nvSpPr>
          <p:cNvPr id="9" name="Shape 7"/>
          <p:cNvSpPr/>
          <p:nvPr/>
        </p:nvSpPr>
        <p:spPr>
          <a:xfrm>
            <a:off x="3422828" y="1627632"/>
            <a:ext cx="2517572" cy="960120"/>
          </a:xfrm>
          <a:prstGeom prst="rect">
            <a:avLst/>
          </a:prstGeom>
          <a:solidFill>
            <a:srgbClr val="3333B3"/>
          </a:solidFill>
          <a:ln w="9525">
            <a:solidFill>
              <a:srgbClr val="3333B3"/>
            </a:solidFill>
            <a:prstDash val="solid"/>
          </a:ln>
        </p:spPr>
      </p:sp>
      <p:sp>
        <p:nvSpPr>
          <p:cNvPr id="10" name="Text 8"/>
          <p:cNvSpPr txBox="1"/>
          <p:nvPr/>
        </p:nvSpPr>
        <p:spPr>
          <a:xfrm>
            <a:off x="3532556" y="1627632"/>
            <a:ext cx="2298116" cy="960120"/>
          </a:xfrm>
          <a:prstGeom prst="rect">
            <a:avLst/>
          </a:prstGeom>
          <a:noFill/>
          <a:ln/>
        </p:spPr>
        <p:txBody>
          <a:bodyPr wrap="square" lIns="0" tIns="0" rIns="0" bIns="0" rtlCol="0" anchor="ctr"/>
          <a:lstStyle/>
          <a:p>
            <a:pPr algn="ctr" indent="0" marL="0">
              <a:buNone/>
            </a:pPr>
            <a:r>
              <a:rPr lang="en-US" sz="1350" b="1" dirty="0">
                <a:solidFill>
                  <a:srgbClr val="FFFFFF"/>
                </a:solidFill>
                <a:latin typeface="Cambria" pitchFamily="34" charset="0"/>
                <a:ea typeface="Cambria" pitchFamily="34" charset="-122"/>
                <a:cs typeface="Cambria" pitchFamily="34" charset="-120"/>
              </a:rPr>
              <a:t>IPartRepository</a:t>
            </a:r>
            <a:endParaRPr lang="en-US" sz="1350" dirty="0"/>
          </a:p>
          <a:p>
            <a:pPr algn="ctr" indent="0" marL="0">
              <a:buNone/>
            </a:pPr>
            <a:r>
              <a:rPr lang="en-US" sz="1050" dirty="0">
                <a:solidFill>
                  <a:srgbClr val="C9C9EA"/>
                </a:solidFill>
                <a:latin typeface="Cambria" pitchFamily="34" charset="0"/>
                <a:ea typeface="Cambria" pitchFamily="34" charset="-122"/>
                <a:cs typeface="Cambria" pitchFamily="34" charset="-120"/>
              </a:rPr>
              <a:t>The contract</a:t>
            </a:r>
            <a:endParaRPr lang="en-US" sz="1350" dirty="0"/>
          </a:p>
        </p:txBody>
      </p:sp>
      <p:sp>
        <p:nvSpPr>
          <p:cNvPr id="11" name="Shape 9"/>
          <p:cNvSpPr/>
          <p:nvPr/>
        </p:nvSpPr>
        <p:spPr>
          <a:xfrm>
            <a:off x="5995264" y="2016252"/>
            <a:ext cx="201168" cy="182880"/>
          </a:xfrm>
          <a:prstGeom prst="chevron">
            <a:avLst/>
          </a:prstGeom>
          <a:solidFill>
            <a:srgbClr val="3333B3"/>
          </a:solidFill>
          <a:ln w="12700">
            <a:solidFill>
              <a:srgbClr val="3333B3"/>
            </a:solidFill>
            <a:prstDash val="solid"/>
          </a:ln>
        </p:spPr>
      </p:sp>
      <p:sp>
        <p:nvSpPr>
          <p:cNvPr id="12" name="Shape 10"/>
          <p:cNvSpPr/>
          <p:nvPr/>
        </p:nvSpPr>
        <p:spPr>
          <a:xfrm>
            <a:off x="6251296" y="1627632"/>
            <a:ext cx="2517572" cy="960120"/>
          </a:xfrm>
          <a:prstGeom prst="rect">
            <a:avLst/>
          </a:prstGeom>
          <a:solidFill>
            <a:srgbClr val="EDEDF7"/>
          </a:solidFill>
          <a:ln w="9525">
            <a:solidFill>
              <a:srgbClr val="C9C9EA"/>
            </a:solidFill>
            <a:prstDash val="solid"/>
          </a:ln>
        </p:spPr>
      </p:sp>
      <p:sp>
        <p:nvSpPr>
          <p:cNvPr id="13" name="Text 11"/>
          <p:cNvSpPr txBox="1"/>
          <p:nvPr/>
        </p:nvSpPr>
        <p:spPr>
          <a:xfrm>
            <a:off x="6361024" y="1627632"/>
            <a:ext cx="2298116" cy="960120"/>
          </a:xfrm>
          <a:prstGeom prst="rect">
            <a:avLst/>
          </a:prstGeom>
          <a:noFill/>
          <a:ln/>
        </p:spPr>
        <p:txBody>
          <a:bodyPr wrap="square" lIns="0" tIns="0" rIns="0" bIns="0" rtlCol="0" anchor="ctr"/>
          <a:lstStyle/>
          <a:p>
            <a:pPr algn="ctr" indent="0" marL="0">
              <a:buNone/>
            </a:pPr>
            <a:r>
              <a:rPr lang="en-US" sz="1350" b="1" dirty="0">
                <a:solidFill>
                  <a:srgbClr val="22226B"/>
                </a:solidFill>
                <a:latin typeface="Cambria" pitchFamily="34" charset="0"/>
                <a:ea typeface="Cambria" pitchFamily="34" charset="-122"/>
                <a:cs typeface="Cambria" pitchFamily="34" charset="-120"/>
              </a:rPr>
              <a:t>EfPartRepository</a:t>
            </a:r>
            <a:endParaRPr lang="en-US" sz="1350" dirty="0"/>
          </a:p>
          <a:p>
            <a:pPr algn="ctr" indent="0" marL="0">
              <a:buNone/>
            </a:pPr>
            <a:r>
              <a:rPr lang="en-US" sz="1050" dirty="0">
                <a:solidFill>
                  <a:srgbClr val="3E3E5A"/>
                </a:solidFill>
                <a:latin typeface="Cambria" pitchFamily="34" charset="0"/>
                <a:ea typeface="Cambria" pitchFamily="34" charset="-122"/>
                <a:cs typeface="Cambria" pitchFamily="34" charset="-120"/>
              </a:rPr>
              <a:t>EF Core implementation</a:t>
            </a:r>
            <a:endParaRPr lang="en-US" sz="1350" dirty="0"/>
          </a:p>
        </p:txBody>
      </p:sp>
      <p:sp>
        <p:nvSpPr>
          <p:cNvPr id="14" name="Shape 12"/>
          <p:cNvSpPr/>
          <p:nvPr/>
        </p:nvSpPr>
        <p:spPr>
          <a:xfrm>
            <a:off x="8823731" y="2016252"/>
            <a:ext cx="201168" cy="182880"/>
          </a:xfrm>
          <a:prstGeom prst="chevron">
            <a:avLst/>
          </a:prstGeom>
          <a:solidFill>
            <a:srgbClr val="3333B3"/>
          </a:solidFill>
          <a:ln w="12700">
            <a:solidFill>
              <a:srgbClr val="3333B3"/>
            </a:solidFill>
            <a:prstDash val="solid"/>
          </a:ln>
        </p:spPr>
      </p:sp>
      <p:sp>
        <p:nvSpPr>
          <p:cNvPr id="15" name="Shape 13"/>
          <p:cNvSpPr/>
          <p:nvPr/>
        </p:nvSpPr>
        <p:spPr>
          <a:xfrm>
            <a:off x="9079763" y="1627632"/>
            <a:ext cx="2517572" cy="960120"/>
          </a:xfrm>
          <a:prstGeom prst="rect">
            <a:avLst/>
          </a:prstGeom>
          <a:solidFill>
            <a:srgbClr val="EDEDF7"/>
          </a:solidFill>
          <a:ln w="9525">
            <a:solidFill>
              <a:srgbClr val="C9C9EA"/>
            </a:solidFill>
            <a:prstDash val="solid"/>
          </a:ln>
        </p:spPr>
      </p:sp>
      <p:sp>
        <p:nvSpPr>
          <p:cNvPr id="16" name="Text 14"/>
          <p:cNvSpPr txBox="1"/>
          <p:nvPr/>
        </p:nvSpPr>
        <p:spPr>
          <a:xfrm>
            <a:off x="9189491" y="1627632"/>
            <a:ext cx="2298116" cy="960120"/>
          </a:xfrm>
          <a:prstGeom prst="rect">
            <a:avLst/>
          </a:prstGeom>
          <a:noFill/>
          <a:ln/>
        </p:spPr>
        <p:txBody>
          <a:bodyPr wrap="square" lIns="0" tIns="0" rIns="0" bIns="0" rtlCol="0" anchor="ctr"/>
          <a:lstStyle/>
          <a:p>
            <a:pPr algn="ctr" indent="0" marL="0">
              <a:buNone/>
            </a:pPr>
            <a:r>
              <a:rPr lang="en-US" sz="1350" b="1" dirty="0">
                <a:solidFill>
                  <a:srgbClr val="22226B"/>
                </a:solidFill>
                <a:latin typeface="Cambria" pitchFamily="34" charset="0"/>
                <a:ea typeface="Cambria" pitchFamily="34" charset="-122"/>
                <a:cs typeface="Cambria" pitchFamily="34" charset="-120"/>
              </a:rPr>
              <a:t>Database</a:t>
            </a:r>
            <a:endParaRPr lang="en-US" sz="1350" dirty="0"/>
          </a:p>
          <a:p>
            <a:pPr algn="ctr" indent="0" marL="0">
              <a:buNone/>
            </a:pPr>
            <a:r>
              <a:rPr lang="en-US" sz="1050" dirty="0">
                <a:solidFill>
                  <a:srgbClr val="3E3E5A"/>
                </a:solidFill>
                <a:latin typeface="Cambria" pitchFamily="34" charset="0"/>
                <a:ea typeface="Cambria" pitchFamily="34" charset="-122"/>
                <a:cs typeface="Cambria" pitchFamily="34" charset="-120"/>
              </a:rPr>
              <a:t>SQL Server</a:t>
            </a:r>
            <a:endParaRPr lang="en-US" sz="1350" dirty="0"/>
          </a:p>
        </p:txBody>
      </p:sp>
      <p:sp>
        <p:nvSpPr>
          <p:cNvPr id="17" name="Shape 15"/>
          <p:cNvSpPr/>
          <p:nvPr/>
        </p:nvSpPr>
        <p:spPr>
          <a:xfrm>
            <a:off x="594360" y="2788920"/>
            <a:ext cx="5806440" cy="3282696"/>
          </a:xfrm>
          <a:prstGeom prst="rect">
            <a:avLst/>
          </a:prstGeom>
          <a:solidFill>
            <a:srgbClr val="F4F4FA"/>
          </a:solidFill>
          <a:ln w="9525">
            <a:solidFill>
              <a:srgbClr val="C9C9EA"/>
            </a:solidFill>
            <a:prstDash val="solid"/>
          </a:ln>
        </p:spPr>
      </p:sp>
      <p:sp>
        <p:nvSpPr>
          <p:cNvPr id="18" name="Text 16"/>
          <p:cNvSpPr txBox="1"/>
          <p:nvPr/>
        </p:nvSpPr>
        <p:spPr>
          <a:xfrm>
            <a:off x="813816" y="2944368"/>
            <a:ext cx="5367528" cy="219456"/>
          </a:xfrm>
          <a:prstGeom prst="rect">
            <a:avLst/>
          </a:prstGeom>
          <a:noFill/>
          <a:ln/>
        </p:spPr>
        <p:txBody>
          <a:bodyPr wrap="square" lIns="0" tIns="0" rIns="0" bIns="0" rtlCol="0" anchor="ctr"/>
          <a:lstStyle/>
          <a:p>
            <a:pPr indent="0" marL="0">
              <a:buNone/>
            </a:pPr>
            <a:r>
              <a:rPr lang="en-US" sz="950" b="1" spc="140" kern="0" dirty="0">
                <a:solidFill>
                  <a:srgbClr val="3333B3"/>
                </a:solidFill>
                <a:latin typeface="Cambria" pitchFamily="34" charset="0"/>
                <a:ea typeface="Cambria" pitchFamily="34" charset="-122"/>
                <a:cs typeface="Cambria" pitchFamily="34" charset="-120"/>
              </a:rPr>
              <a:t>DATA/EFPARTREPOSITORY.CS</a:t>
            </a:r>
            <a:endParaRPr lang="en-US" sz="950" dirty="0"/>
          </a:p>
        </p:txBody>
      </p:sp>
      <p:sp>
        <p:nvSpPr>
          <p:cNvPr id="19" name="Text 17"/>
          <p:cNvSpPr txBox="1"/>
          <p:nvPr/>
        </p:nvSpPr>
        <p:spPr>
          <a:xfrm>
            <a:off x="813816" y="3236976"/>
            <a:ext cx="5367528" cy="2706624"/>
          </a:xfrm>
          <a:prstGeom prst="rect">
            <a:avLst/>
          </a:prstGeom>
          <a:noFill/>
          <a:ln/>
        </p:spPr>
        <p:txBody>
          <a:bodyPr wrap="square" lIns="0" tIns="0" rIns="0" bIns="0" rtlCol="0" anchor="t"/>
          <a:lstStyle/>
          <a:p>
            <a:pPr indent="0" marL="0">
              <a:lnSpc>
                <a:spcPts val="1418"/>
              </a:lnSpc>
              <a:buNone/>
            </a:pPr>
            <a:r>
              <a:rPr lang="en-US" sz="1050" dirty="0">
                <a:solidFill>
                  <a:srgbClr val="1A1A33"/>
                </a:solidFill>
                <a:latin typeface="Courier New" pitchFamily="34" charset="0"/>
                <a:ea typeface="Courier New" pitchFamily="34" charset="-122"/>
                <a:cs typeface="Courier New" pitchFamily="34" charset="-120"/>
              </a:rPr>
              <a:t>public class EfPartRepository : IPartRepository</a:t>
            </a:r>
            <a:endParaRPr lang="en-US" sz="1050" dirty="0"/>
          </a:p>
          <a:p>
            <a:pPr indent="0" marL="0">
              <a:lnSpc>
                <a:spcPts val="1418"/>
              </a:lnSpc>
              <a:buNone/>
            </a:pPr>
            <a:r>
              <a:rPr lang="en-US" sz="1050" dirty="0">
                <a:solidFill>
                  <a:srgbClr val="1A1A33"/>
                </a:solidFill>
                <a:latin typeface="Courier New" pitchFamily="34" charset="0"/>
                <a:ea typeface="Courier New" pitchFamily="34" charset="-122"/>
                <a:cs typeface="Courier New" pitchFamily="34" charset="-120"/>
              </a:rPr>
              <a:t>{</a:t>
            </a:r>
            <a:endParaRPr lang="en-US" sz="1050" dirty="0"/>
          </a:p>
          <a:p>
            <a:pPr indent="0" marL="0">
              <a:lnSpc>
                <a:spcPts val="1418"/>
              </a:lnSpc>
              <a:buNone/>
            </a:pPr>
            <a:r>
              <a:rPr lang="en-US" sz="1050" dirty="0">
                <a:solidFill>
                  <a:srgbClr val="1A1A33"/>
                </a:solidFill>
                <a:latin typeface="Courier New" pitchFamily="34" charset="0"/>
                <a:ea typeface="Courier New" pitchFamily="34" charset="-122"/>
                <a:cs typeface="Courier New" pitchFamily="34" charset="-120"/>
              </a:rPr>
              <a:t>  private readonly AppDbContext _db;</a:t>
            </a:r>
            <a:endParaRPr lang="en-US" sz="1050" dirty="0"/>
          </a:p>
          <a:p>
            <a:pPr indent="0" marL="0">
              <a:lnSpc>
                <a:spcPts val="1418"/>
              </a:lnSpc>
              <a:buNone/>
            </a:pPr>
            <a:r>
              <a:rPr lang="en-US" sz="1050" dirty="0">
                <a:solidFill>
                  <a:srgbClr val="1A1A33"/>
                </a:solidFill>
                <a:latin typeface="Courier New" pitchFamily="34" charset="0"/>
                <a:ea typeface="Courier New" pitchFamily="34" charset="-122"/>
                <a:cs typeface="Courier New" pitchFamily="34" charset="-120"/>
              </a:rPr>
              <a:t>  public EfPartRepository(AppDbContext db)</a:t>
            </a:r>
            <a:endParaRPr lang="en-US" sz="1050" dirty="0"/>
          </a:p>
          <a:p>
            <a:pPr indent="0" marL="0">
              <a:lnSpc>
                <a:spcPts val="1418"/>
              </a:lnSpc>
              <a:buNone/>
            </a:pPr>
            <a:r>
              <a:rPr lang="en-US" sz="1050" dirty="0">
                <a:solidFill>
                  <a:srgbClr val="1A1A33"/>
                </a:solidFill>
                <a:latin typeface="Courier New" pitchFamily="34" charset="0"/>
                <a:ea typeface="Courier New" pitchFamily="34" charset="-122"/>
                <a:cs typeface="Courier New" pitchFamily="34" charset="-120"/>
              </a:rPr>
              <a:t>      =&gt; _db = db;</a:t>
            </a:r>
            <a:endParaRPr lang="en-US" sz="1050" dirty="0"/>
          </a:p>
          <a:p>
            <a:pPr indent="0" marL="0">
              <a:lnSpc>
                <a:spcPts val="1418"/>
              </a:lnSpc>
              <a:buNone/>
            </a:pPr>
            <a:r>
              <a:rPr lang="en-US" sz="1050" dirty="0">
                <a:solidFill>
                  <a:srgbClr val="1A1A33"/>
                </a:solidFill>
                <a:latin typeface="Courier New" pitchFamily="34" charset="0"/>
                <a:ea typeface="Courier New" pitchFamily="34" charset="-122"/>
                <a:cs typeface="Courier New" pitchFamily="34" charset="-120"/>
              </a:rPr>
              <a:t> </a:t>
            </a:r>
            <a:endParaRPr lang="en-US" sz="1050" dirty="0"/>
          </a:p>
          <a:p>
            <a:pPr indent="0" marL="0">
              <a:lnSpc>
                <a:spcPts val="1418"/>
              </a:lnSpc>
              <a:buNone/>
            </a:pPr>
            <a:r>
              <a:rPr lang="en-US" sz="1050" dirty="0">
                <a:solidFill>
                  <a:srgbClr val="1A1A33"/>
                </a:solidFill>
                <a:latin typeface="Courier New" pitchFamily="34" charset="0"/>
                <a:ea typeface="Courier New" pitchFamily="34" charset="-122"/>
                <a:cs typeface="Courier New" pitchFamily="34" charset="-120"/>
              </a:rPr>
              <a:t>  public SparePart GetByPartNo(string partNo)</a:t>
            </a:r>
            <a:endParaRPr lang="en-US" sz="1050" dirty="0"/>
          </a:p>
          <a:p>
            <a:pPr indent="0" marL="0">
              <a:lnSpc>
                <a:spcPts val="1418"/>
              </a:lnSpc>
              <a:buNone/>
            </a:pPr>
            <a:r>
              <a:rPr lang="en-US" sz="1050" dirty="0">
                <a:solidFill>
                  <a:srgbClr val="1A1A33"/>
                </a:solidFill>
                <a:latin typeface="Courier New" pitchFamily="34" charset="0"/>
                <a:ea typeface="Courier New" pitchFamily="34" charset="-122"/>
                <a:cs typeface="Courier New" pitchFamily="34" charset="-120"/>
              </a:rPr>
              <a:t>      =&gt; _db.Parts.FirstOrDefault(</a:t>
            </a:r>
            <a:endParaRPr lang="en-US" sz="1050" dirty="0"/>
          </a:p>
          <a:p>
            <a:pPr indent="0" marL="0">
              <a:lnSpc>
                <a:spcPts val="1418"/>
              </a:lnSpc>
              <a:buNone/>
            </a:pPr>
            <a:r>
              <a:rPr lang="en-US" sz="1050" dirty="0">
                <a:solidFill>
                  <a:srgbClr val="1A1A33"/>
                </a:solidFill>
                <a:latin typeface="Courier New" pitchFamily="34" charset="0"/>
                <a:ea typeface="Courier New" pitchFamily="34" charset="-122"/>
                <a:cs typeface="Courier New" pitchFamily="34" charset="-120"/>
              </a:rPr>
              <a:t>             p =&gt; p.PartNo == partNo);</a:t>
            </a:r>
            <a:endParaRPr lang="en-US" sz="1050" dirty="0"/>
          </a:p>
          <a:p>
            <a:pPr indent="0" marL="0">
              <a:lnSpc>
                <a:spcPts val="1418"/>
              </a:lnSpc>
              <a:buNone/>
            </a:pPr>
            <a:r>
              <a:rPr lang="en-US" sz="1050" dirty="0">
                <a:solidFill>
                  <a:srgbClr val="1A1A33"/>
                </a:solidFill>
                <a:latin typeface="Courier New" pitchFamily="34" charset="0"/>
                <a:ea typeface="Courier New" pitchFamily="34" charset="-122"/>
                <a:cs typeface="Courier New" pitchFamily="34" charset="-120"/>
              </a:rPr>
              <a:t>}</a:t>
            </a:r>
            <a:endParaRPr lang="en-US" sz="1050" dirty="0"/>
          </a:p>
          <a:p>
            <a:pPr indent="0" marL="0">
              <a:lnSpc>
                <a:spcPts val="1418"/>
              </a:lnSpc>
              <a:buNone/>
            </a:pPr>
            <a:r>
              <a:rPr lang="en-US" sz="1050" dirty="0">
                <a:solidFill>
                  <a:srgbClr val="1A1A33"/>
                </a:solidFill>
                <a:latin typeface="Courier New" pitchFamily="34" charset="0"/>
                <a:ea typeface="Courier New" pitchFamily="34" charset="-122"/>
                <a:cs typeface="Courier New" pitchFamily="34" charset="-120"/>
              </a:rPr>
              <a:t> </a:t>
            </a:r>
            <a:endParaRPr lang="en-US" sz="1050" dirty="0"/>
          </a:p>
          <a:p>
            <a:pPr indent="0" marL="0">
              <a:lnSpc>
                <a:spcPts val="1418"/>
              </a:lnSpc>
              <a:buNone/>
            </a:pPr>
            <a:r>
              <a:rPr lang="en-US" sz="1050" dirty="0">
                <a:solidFill>
                  <a:srgbClr val="1A1A33"/>
                </a:solidFill>
                <a:latin typeface="Courier New" pitchFamily="34" charset="0"/>
                <a:ea typeface="Courier New" pitchFamily="34" charset="-122"/>
                <a:cs typeface="Courier New" pitchFamily="34" charset="-120"/>
              </a:rPr>
              <a:t>// Program.cs</a:t>
            </a:r>
            <a:endParaRPr lang="en-US" sz="1050" dirty="0"/>
          </a:p>
          <a:p>
            <a:pPr indent="0" marL="0">
              <a:lnSpc>
                <a:spcPts val="1418"/>
              </a:lnSpc>
              <a:buNone/>
            </a:pPr>
            <a:r>
              <a:rPr lang="en-US" sz="1050" dirty="0">
                <a:solidFill>
                  <a:srgbClr val="1A1A33"/>
                </a:solidFill>
                <a:latin typeface="Courier New" pitchFamily="34" charset="0"/>
                <a:ea typeface="Courier New" pitchFamily="34" charset="-122"/>
                <a:cs typeface="Courier New" pitchFamily="34" charset="-120"/>
              </a:rPr>
              <a:t>builder.Services.AddScoped&lt;IPartRepository,</a:t>
            </a:r>
            <a:endParaRPr lang="en-US" sz="1050" dirty="0"/>
          </a:p>
          <a:p>
            <a:pPr indent="0" marL="0">
              <a:lnSpc>
                <a:spcPts val="1418"/>
              </a:lnSpc>
              <a:buNone/>
            </a:pPr>
            <a:r>
              <a:rPr lang="en-US" sz="1050" dirty="0">
                <a:solidFill>
                  <a:srgbClr val="1A1A33"/>
                </a:solidFill>
                <a:latin typeface="Courier New" pitchFamily="34" charset="0"/>
                <a:ea typeface="Courier New" pitchFamily="34" charset="-122"/>
                <a:cs typeface="Courier New" pitchFamily="34" charset="-120"/>
              </a:rPr>
              <a:t>                           EfPartRepository&gt;();</a:t>
            </a:r>
            <a:endParaRPr lang="en-US" sz="1050" dirty="0"/>
          </a:p>
        </p:txBody>
      </p:sp>
      <p:sp>
        <p:nvSpPr>
          <p:cNvPr id="20" name="Shape 18"/>
          <p:cNvSpPr/>
          <p:nvPr/>
        </p:nvSpPr>
        <p:spPr>
          <a:xfrm>
            <a:off x="6629400" y="2788920"/>
            <a:ext cx="4965192" cy="402336"/>
          </a:xfrm>
          <a:prstGeom prst="rect">
            <a:avLst/>
          </a:prstGeom>
          <a:solidFill>
            <a:srgbClr val="3333B3"/>
          </a:solidFill>
          <a:ln w="12700">
            <a:solidFill>
              <a:srgbClr val="3333B3"/>
            </a:solidFill>
            <a:prstDash val="solid"/>
          </a:ln>
        </p:spPr>
      </p:sp>
      <p:sp>
        <p:nvSpPr>
          <p:cNvPr id="21" name="Text 19"/>
          <p:cNvSpPr txBox="1"/>
          <p:nvPr/>
        </p:nvSpPr>
        <p:spPr>
          <a:xfrm>
            <a:off x="6812280" y="2788920"/>
            <a:ext cx="4599432" cy="402336"/>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Why bother</a:t>
            </a:r>
            <a:endParaRPr lang="en-US" sz="1500" dirty="0"/>
          </a:p>
        </p:txBody>
      </p:sp>
      <p:sp>
        <p:nvSpPr>
          <p:cNvPr id="22" name="Shape 20"/>
          <p:cNvSpPr/>
          <p:nvPr/>
        </p:nvSpPr>
        <p:spPr>
          <a:xfrm>
            <a:off x="6629400" y="3191256"/>
            <a:ext cx="4965192" cy="1289304"/>
          </a:xfrm>
          <a:prstGeom prst="rect">
            <a:avLst/>
          </a:prstGeom>
          <a:solidFill>
            <a:srgbClr val="F4F4FA"/>
          </a:solidFill>
          <a:ln w="9525">
            <a:solidFill>
              <a:srgbClr val="C9C9EA"/>
            </a:solidFill>
            <a:prstDash val="solid"/>
          </a:ln>
        </p:spPr>
      </p:sp>
      <p:sp>
        <p:nvSpPr>
          <p:cNvPr id="23" name="Text 21"/>
          <p:cNvSpPr txBox="1"/>
          <p:nvPr/>
        </p:nvSpPr>
        <p:spPr>
          <a:xfrm>
            <a:off x="6848856" y="3337560"/>
            <a:ext cx="4526280" cy="1014984"/>
          </a:xfrm>
          <a:prstGeom prst="rect">
            <a:avLst/>
          </a:prstGeom>
          <a:noFill/>
          <a:ln/>
        </p:spPr>
        <p:txBody>
          <a:bodyPr wrap="square" lIns="0" tIns="0" rIns="0" bIns="0" rtlCol="0" anchor="t"/>
          <a:lstStyle/>
          <a:p>
            <a:pPr marL="177800" indent="-177800">
              <a:spcAft>
                <a:spcPts val="700"/>
              </a:spcAft>
              <a:buSzPct val="100000"/>
              <a:buChar char="▸"/>
            </a:pPr>
            <a:r>
              <a:rPr lang="en-US" sz="1200" dirty="0">
                <a:solidFill>
                  <a:srgbClr val="3E3E5A"/>
                </a:solidFill>
                <a:latin typeface="Cambria" pitchFamily="34" charset="0"/>
                <a:ea typeface="Cambria" pitchFamily="34" charset="-122"/>
                <a:cs typeface="Cambria" pitchFamily="34" charset="-120"/>
              </a:rPr>
              <a:t>The controller depends on an interface, so it can be tested without a database</a:t>
            </a:r>
            <a:endParaRPr lang="en-US" sz="1200" dirty="0"/>
          </a:p>
          <a:p>
            <a:pPr marL="177800" indent="-177800">
              <a:spcAft>
                <a:spcPts val="700"/>
              </a:spcAft>
              <a:buSzPct val="100000"/>
              <a:buChar char="▸"/>
            </a:pPr>
            <a:r>
              <a:rPr lang="en-US" sz="1200" dirty="0">
                <a:solidFill>
                  <a:srgbClr val="3E3E5A"/>
                </a:solidFill>
                <a:latin typeface="Cambria" pitchFamily="34" charset="0"/>
                <a:ea typeface="Cambria" pitchFamily="34" charset="-122"/>
                <a:cs typeface="Cambria" pitchFamily="34" charset="-120"/>
              </a:rPr>
              <a:t>Data access lives in one place instead of being scattered</a:t>
            </a:r>
            <a:endParaRPr lang="en-US" sz="1200" dirty="0"/>
          </a:p>
          <a:p>
            <a:pPr marL="177800" indent="-177800">
              <a:spcAft>
                <a:spcPts val="700"/>
              </a:spcAft>
              <a:buSzPct val="100000"/>
              <a:buChar char="▸"/>
            </a:pPr>
            <a:r>
              <a:rPr lang="en-US" sz="1200" dirty="0">
                <a:solidFill>
                  <a:srgbClr val="3E3E5A"/>
                </a:solidFill>
                <a:latin typeface="Cambria" pitchFamily="34" charset="0"/>
                <a:ea typeface="Cambria" pitchFamily="34" charset="-122"/>
                <a:cs typeface="Cambria" pitchFamily="34" charset="-120"/>
              </a:rPr>
              <a:t>Swapping the implementation touches one registration line</a:t>
            </a:r>
            <a:endParaRPr lang="en-US" sz="1200" dirty="0"/>
          </a:p>
        </p:txBody>
      </p:sp>
      <p:sp>
        <p:nvSpPr>
          <p:cNvPr id="24" name="Shape 22"/>
          <p:cNvSpPr/>
          <p:nvPr/>
        </p:nvSpPr>
        <p:spPr>
          <a:xfrm>
            <a:off x="6629400" y="4617720"/>
            <a:ext cx="4965192" cy="402336"/>
          </a:xfrm>
          <a:prstGeom prst="rect">
            <a:avLst/>
          </a:prstGeom>
          <a:solidFill>
            <a:srgbClr val="3333B3"/>
          </a:solidFill>
          <a:ln w="12700">
            <a:solidFill>
              <a:srgbClr val="3333B3"/>
            </a:solidFill>
            <a:prstDash val="solid"/>
          </a:ln>
        </p:spPr>
      </p:sp>
      <p:sp>
        <p:nvSpPr>
          <p:cNvPr id="25" name="Text 23"/>
          <p:cNvSpPr txBox="1"/>
          <p:nvPr/>
        </p:nvSpPr>
        <p:spPr>
          <a:xfrm>
            <a:off x="6812280" y="4617720"/>
            <a:ext cx="4599432" cy="402336"/>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Service lifetimes</a:t>
            </a:r>
            <a:endParaRPr lang="en-US" sz="1500" dirty="0"/>
          </a:p>
        </p:txBody>
      </p:sp>
      <p:sp>
        <p:nvSpPr>
          <p:cNvPr id="26" name="Shape 24"/>
          <p:cNvSpPr/>
          <p:nvPr/>
        </p:nvSpPr>
        <p:spPr>
          <a:xfrm>
            <a:off x="6629400" y="5020056"/>
            <a:ext cx="4965192" cy="923544"/>
          </a:xfrm>
          <a:prstGeom prst="rect">
            <a:avLst/>
          </a:prstGeom>
          <a:solidFill>
            <a:srgbClr val="F4F4FA"/>
          </a:solidFill>
          <a:ln w="9525">
            <a:solidFill>
              <a:srgbClr val="C9C9EA"/>
            </a:solidFill>
            <a:prstDash val="solid"/>
          </a:ln>
        </p:spPr>
      </p:sp>
      <p:sp>
        <p:nvSpPr>
          <p:cNvPr id="27" name="Text 25"/>
          <p:cNvSpPr txBox="1"/>
          <p:nvPr/>
        </p:nvSpPr>
        <p:spPr>
          <a:xfrm>
            <a:off x="6848856" y="5166360"/>
            <a:ext cx="4526280" cy="649224"/>
          </a:xfrm>
          <a:prstGeom prst="rect">
            <a:avLst/>
          </a:prstGeom>
          <a:noFill/>
          <a:ln/>
        </p:spPr>
        <p:txBody>
          <a:bodyPr wrap="square" lIns="0" tIns="0" rIns="0" bIns="0" rtlCol="0" anchor="t"/>
          <a:lstStyle/>
          <a:p>
            <a:pPr marL="177800" indent="-177800">
              <a:spcAft>
                <a:spcPts val="400"/>
              </a:spcAft>
              <a:buSzPct val="100000"/>
              <a:buChar char="▸"/>
            </a:pPr>
            <a:r>
              <a:rPr lang="en-US" sz="1150" dirty="0">
                <a:solidFill>
                  <a:srgbClr val="3E3E5A"/>
                </a:solidFill>
                <a:latin typeface="Cambria" pitchFamily="34" charset="0"/>
                <a:ea typeface="Cambria" pitchFamily="34" charset="-122"/>
                <a:cs typeface="Cambria" pitchFamily="34" charset="-120"/>
              </a:rPr>
              <a:t>Scoped — one per request. The usual choice</a:t>
            </a:r>
            <a:endParaRPr lang="en-US" sz="1150" dirty="0"/>
          </a:p>
          <a:p>
            <a:pPr marL="177800" indent="-177800">
              <a:spcAft>
                <a:spcPts val="400"/>
              </a:spcAft>
              <a:buSzPct val="100000"/>
              <a:buChar char="▸"/>
            </a:pPr>
            <a:r>
              <a:rPr lang="en-US" sz="1150" dirty="0">
                <a:solidFill>
                  <a:srgbClr val="3E3E5A"/>
                </a:solidFill>
                <a:latin typeface="Cambria" pitchFamily="34" charset="0"/>
                <a:ea typeface="Cambria" pitchFamily="34" charset="-122"/>
                <a:cs typeface="Cambria" pitchFamily="34" charset="-120"/>
              </a:rPr>
              <a:t>Transient — a new one every time it is asked for</a:t>
            </a:r>
            <a:endParaRPr lang="en-US" sz="1150" dirty="0"/>
          </a:p>
          <a:p>
            <a:pPr marL="177800" indent="-177800">
              <a:spcAft>
                <a:spcPts val="400"/>
              </a:spcAft>
              <a:buSzPct val="100000"/>
              <a:buChar char="▸"/>
            </a:pPr>
            <a:r>
              <a:rPr lang="en-US" sz="1150" dirty="0">
                <a:solidFill>
                  <a:srgbClr val="3E3E5A"/>
                </a:solidFill>
                <a:latin typeface="Cambria" pitchFamily="34" charset="0"/>
                <a:ea typeface="Cambria" pitchFamily="34" charset="-122"/>
                <a:cs typeface="Cambria" pitchFamily="34" charset="-120"/>
              </a:rPr>
              <a:t>Singleton — one for the whole application</a:t>
            </a:r>
            <a:endParaRPr lang="en-US" sz="1150" dirty="0"/>
          </a:p>
        </p:txBody>
      </p:sp>
      <p:sp>
        <p:nvSpPr>
          <p:cNvPr id="28" name="Shape 26"/>
          <p:cNvSpPr/>
          <p:nvPr/>
        </p:nvSpPr>
        <p:spPr>
          <a:xfrm>
            <a:off x="0" y="6400800"/>
            <a:ext cx="3840480" cy="457200"/>
          </a:xfrm>
          <a:prstGeom prst="rect">
            <a:avLst/>
          </a:prstGeom>
          <a:solidFill>
            <a:srgbClr val="22226B"/>
          </a:solidFill>
          <a:ln w="12700">
            <a:solidFill>
              <a:srgbClr val="22226B"/>
            </a:solidFill>
            <a:prstDash val="solid"/>
          </a:ln>
        </p:spPr>
      </p:sp>
      <p:sp>
        <p:nvSpPr>
          <p:cNvPr id="29" name="Text 27"/>
          <p:cNvSpPr txBox="1"/>
          <p:nvPr/>
        </p:nvSpPr>
        <p:spPr>
          <a:xfrm>
            <a:off x="164592" y="6400800"/>
            <a:ext cx="3511296" cy="457200"/>
          </a:xfrm>
          <a:prstGeom prst="rect">
            <a:avLst/>
          </a:prstGeom>
          <a:noFill/>
          <a:ln/>
        </p:spPr>
        <p:txBody>
          <a:bodyPr wrap="square" lIns="0" tIns="0" rIns="0" bIns="0" rtlCol="0" anchor="ctr"/>
          <a:lstStyle/>
          <a:p>
            <a:pPr algn="l" indent="0" marL="0">
              <a:buNone/>
            </a:pPr>
            <a:r>
              <a:rPr lang="en-US" sz="950" dirty="0">
                <a:solidFill>
                  <a:srgbClr val="FFFFFF"/>
                </a:solidFill>
                <a:latin typeface="Cambria" pitchFamily="34" charset="0"/>
                <a:ea typeface="Cambria" pitchFamily="34" charset="-122"/>
                <a:cs typeface="Cambria" pitchFamily="34" charset="-120"/>
              </a:rPr>
              <a:t>HAL  ·  .NET, React &amp; SQL Programme</a:t>
            </a:r>
            <a:endParaRPr lang="en-US" sz="950" dirty="0"/>
          </a:p>
        </p:txBody>
      </p:sp>
      <p:sp>
        <p:nvSpPr>
          <p:cNvPr id="30" name="Shape 28"/>
          <p:cNvSpPr/>
          <p:nvPr/>
        </p:nvSpPr>
        <p:spPr>
          <a:xfrm>
            <a:off x="3840480" y="6400800"/>
            <a:ext cx="6675120" cy="457200"/>
          </a:xfrm>
          <a:prstGeom prst="rect">
            <a:avLst/>
          </a:prstGeom>
          <a:solidFill>
            <a:srgbClr val="3333B3"/>
          </a:solidFill>
          <a:ln w="12700">
            <a:solidFill>
              <a:srgbClr val="3333B3"/>
            </a:solidFill>
            <a:prstDash val="solid"/>
          </a:ln>
        </p:spPr>
      </p:sp>
      <p:sp>
        <p:nvSpPr>
          <p:cNvPr id="31" name="Text 29"/>
          <p:cNvSpPr txBox="1"/>
          <p:nvPr/>
        </p:nvSpPr>
        <p:spPr>
          <a:xfrm>
            <a:off x="4005072" y="6400800"/>
            <a:ext cx="6345936" cy="457200"/>
          </a:xfrm>
          <a:prstGeom prst="rect">
            <a:avLst/>
          </a:prstGeom>
          <a:noFill/>
          <a:ln/>
        </p:spPr>
        <p:txBody>
          <a:bodyPr wrap="square" lIns="0" tIns="0" rIns="0" bIns="0" rtlCol="0" anchor="ctr"/>
          <a:lstStyle/>
          <a:p>
            <a:pPr algn="l" indent="0" marL="0">
              <a:buNone/>
            </a:pPr>
            <a:r>
              <a:rPr lang="en-US" sz="950" dirty="0">
                <a:solidFill>
                  <a:srgbClr val="FFFFFF"/>
                </a:solidFill>
                <a:latin typeface="Cambria" pitchFamily="34" charset="0"/>
                <a:ea typeface="Cambria" pitchFamily="34" charset="-122"/>
                <a:cs typeface="Cambria" pitchFamily="34" charset="-120"/>
              </a:rPr>
              <a:t>Day 2 · Session 2 — Connecting the API to Data</a:t>
            </a:r>
            <a:endParaRPr lang="en-US" sz="950" dirty="0"/>
          </a:p>
        </p:txBody>
      </p:sp>
      <p:sp>
        <p:nvSpPr>
          <p:cNvPr id="32" name="Shape 30"/>
          <p:cNvSpPr/>
          <p:nvPr/>
        </p:nvSpPr>
        <p:spPr>
          <a:xfrm>
            <a:off x="10515600" y="6400800"/>
            <a:ext cx="1676095" cy="457200"/>
          </a:xfrm>
          <a:prstGeom prst="rect">
            <a:avLst/>
          </a:prstGeom>
          <a:solidFill>
            <a:srgbClr val="22226B"/>
          </a:solidFill>
          <a:ln w="12700">
            <a:solidFill>
              <a:srgbClr val="22226B"/>
            </a:solidFill>
            <a:prstDash val="solid"/>
          </a:ln>
        </p:spPr>
      </p:sp>
      <p:sp>
        <p:nvSpPr>
          <p:cNvPr id="33" name="Text 31"/>
          <p:cNvSpPr txBox="1"/>
          <p:nvPr/>
        </p:nvSpPr>
        <p:spPr>
          <a:xfrm>
            <a:off x="10680192" y="6400800"/>
            <a:ext cx="1346911" cy="457200"/>
          </a:xfrm>
          <a:prstGeom prst="rect">
            <a:avLst/>
          </a:prstGeom>
          <a:noFill/>
          <a:ln/>
        </p:spPr>
        <p:txBody>
          <a:bodyPr wrap="square" lIns="0" tIns="0" rIns="0" bIns="0" rtlCol="0" anchor="ctr"/>
          <a:lstStyle/>
          <a:p>
            <a:pPr algn="ctr" indent="0" marL="0">
              <a:buNone/>
            </a:pPr>
            <a:r>
              <a:rPr lang="en-US" sz="950" dirty="0">
                <a:solidFill>
                  <a:srgbClr val="FFFFFF"/>
                </a:solidFill>
                <a:latin typeface="Cambria" pitchFamily="34" charset="0"/>
                <a:ea typeface="Cambria" pitchFamily="34" charset="-122"/>
                <a:cs typeface="Cambria" pitchFamily="34" charset="-120"/>
              </a:rPr>
              <a:t>9</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365760"/>
          </a:xfrm>
          <a:prstGeom prst="rect">
            <a:avLst/>
          </a:prstGeom>
          <a:solidFill>
            <a:srgbClr val="22226B"/>
          </a:solidFill>
          <a:ln w="12700">
            <a:solidFill>
              <a:srgbClr val="22226B"/>
            </a:solidFill>
            <a:prstDash val="solid"/>
          </a:ln>
        </p:spPr>
      </p:sp>
      <p:sp>
        <p:nvSpPr>
          <p:cNvPr id="3" name="Text 1"/>
          <p:cNvSpPr txBox="1"/>
          <p:nvPr/>
        </p:nvSpPr>
        <p:spPr>
          <a:xfrm>
            <a:off x="594360" y="0"/>
            <a:ext cx="11002975" cy="365760"/>
          </a:xfrm>
          <a:prstGeom prst="rect">
            <a:avLst/>
          </a:prstGeom>
          <a:noFill/>
          <a:ln/>
        </p:spPr>
        <p:txBody>
          <a:bodyPr wrap="square" lIns="0" tIns="0" rIns="0" bIns="0" rtlCol="0" anchor="ctr"/>
          <a:lstStyle/>
          <a:p>
            <a:pPr indent="0" marL="0">
              <a:buNone/>
            </a:pPr>
            <a:r>
              <a:rPr lang="en-US" sz="1000" b="1" spc="180" kern="0" dirty="0">
                <a:solidFill>
                  <a:srgbClr val="C9C9EA"/>
                </a:solidFill>
                <a:latin typeface="Cambria" pitchFamily="34" charset="0"/>
                <a:ea typeface="Cambria" pitchFamily="34" charset="-122"/>
                <a:cs typeface="Cambria" pitchFamily="34" charset="-120"/>
              </a:rPr>
              <a:t>WHEN THE DATABASE ALREADY EXISTS</a:t>
            </a:r>
            <a:endParaRPr lang="en-US" sz="1000" dirty="0"/>
          </a:p>
        </p:txBody>
      </p:sp>
      <p:sp>
        <p:nvSpPr>
          <p:cNvPr id="4" name="Shape 2"/>
          <p:cNvSpPr/>
          <p:nvPr/>
        </p:nvSpPr>
        <p:spPr>
          <a:xfrm>
            <a:off x="0" y="365760"/>
            <a:ext cx="12191695" cy="841248"/>
          </a:xfrm>
          <a:prstGeom prst="rect">
            <a:avLst/>
          </a:prstGeom>
          <a:solidFill>
            <a:srgbClr val="3333B3"/>
          </a:solidFill>
          <a:ln w="12700">
            <a:solidFill>
              <a:srgbClr val="3333B3"/>
            </a:solidFill>
            <a:prstDash val="solid"/>
          </a:ln>
        </p:spPr>
      </p:sp>
      <p:sp>
        <p:nvSpPr>
          <p:cNvPr id="5" name="Text 3"/>
          <p:cNvSpPr txBox="1"/>
          <p:nvPr/>
        </p:nvSpPr>
        <p:spPr>
          <a:xfrm>
            <a:off x="594360" y="365760"/>
            <a:ext cx="11002975" cy="841248"/>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Which is nearly always, here</a:t>
            </a:r>
            <a:endParaRPr lang="en-US" sz="2600" dirty="0"/>
          </a:p>
        </p:txBody>
      </p:sp>
      <p:sp>
        <p:nvSpPr>
          <p:cNvPr id="6" name="Shape 4"/>
          <p:cNvSpPr/>
          <p:nvPr/>
        </p:nvSpPr>
        <p:spPr>
          <a:xfrm>
            <a:off x="594360" y="1627632"/>
            <a:ext cx="5806440" cy="1783080"/>
          </a:xfrm>
          <a:prstGeom prst="rect">
            <a:avLst/>
          </a:prstGeom>
          <a:solidFill>
            <a:srgbClr val="F4F4FA"/>
          </a:solidFill>
          <a:ln w="9525">
            <a:solidFill>
              <a:srgbClr val="C9C9EA"/>
            </a:solidFill>
            <a:prstDash val="solid"/>
          </a:ln>
        </p:spPr>
      </p:sp>
      <p:sp>
        <p:nvSpPr>
          <p:cNvPr id="7" name="Text 5"/>
          <p:cNvSpPr txBox="1"/>
          <p:nvPr/>
        </p:nvSpPr>
        <p:spPr>
          <a:xfrm>
            <a:off x="813816" y="1783080"/>
            <a:ext cx="5367528" cy="219456"/>
          </a:xfrm>
          <a:prstGeom prst="rect">
            <a:avLst/>
          </a:prstGeom>
          <a:noFill/>
          <a:ln/>
        </p:spPr>
        <p:txBody>
          <a:bodyPr wrap="square" lIns="0" tIns="0" rIns="0" bIns="0" rtlCol="0" anchor="ctr"/>
          <a:lstStyle/>
          <a:p>
            <a:pPr indent="0" marL="0">
              <a:buNone/>
            </a:pPr>
            <a:r>
              <a:rPr lang="en-US" sz="950" b="1" spc="140" kern="0" dirty="0">
                <a:solidFill>
                  <a:srgbClr val="3333B3"/>
                </a:solidFill>
                <a:latin typeface="Cambria" pitchFamily="34" charset="0"/>
                <a:ea typeface="Cambria" pitchFamily="34" charset="-122"/>
                <a:cs typeface="Cambria" pitchFamily="34" charset="-120"/>
              </a:rPr>
              <a:t>GENERATE THE MODEL FROM THE DATABASE</a:t>
            </a:r>
            <a:endParaRPr lang="en-US" sz="950" dirty="0"/>
          </a:p>
        </p:txBody>
      </p:sp>
      <p:sp>
        <p:nvSpPr>
          <p:cNvPr id="8" name="Text 6"/>
          <p:cNvSpPr txBox="1"/>
          <p:nvPr/>
        </p:nvSpPr>
        <p:spPr>
          <a:xfrm>
            <a:off x="813816" y="2075688"/>
            <a:ext cx="5367528" cy="1207008"/>
          </a:xfrm>
          <a:prstGeom prst="rect">
            <a:avLst/>
          </a:prstGeom>
          <a:noFill/>
          <a:ln/>
        </p:spPr>
        <p:txBody>
          <a:bodyPr wrap="square" lIns="0" tIns="0" rIns="0" bIns="0" rtlCol="0" anchor="t"/>
          <a:lstStyle/>
          <a:p>
            <a:pPr indent="0" marL="0">
              <a:lnSpc>
                <a:spcPts val="1418"/>
              </a:lnSpc>
              <a:buNone/>
            </a:pPr>
            <a:r>
              <a:rPr lang="en-US" sz="1050" dirty="0">
                <a:solidFill>
                  <a:srgbClr val="1A1A33"/>
                </a:solidFill>
                <a:latin typeface="Courier New" pitchFamily="34" charset="0"/>
                <a:ea typeface="Courier New" pitchFamily="34" charset="-122"/>
                <a:cs typeface="Courier New" pitchFamily="34" charset="-120"/>
              </a:rPr>
              <a:t>Scaffold-DbContext</a:t>
            </a:r>
            <a:endParaRPr lang="en-US" sz="1050" dirty="0"/>
          </a:p>
          <a:p>
            <a:pPr indent="0" marL="0">
              <a:lnSpc>
                <a:spcPts val="1418"/>
              </a:lnSpc>
              <a:buNone/>
            </a:pPr>
            <a:r>
              <a:rPr lang="en-US" sz="1050" dirty="0">
                <a:solidFill>
                  <a:srgbClr val="1A1A33"/>
                </a:solidFill>
                <a:latin typeface="Courier New" pitchFamily="34" charset="0"/>
                <a:ea typeface="Courier New" pitchFamily="34" charset="-122"/>
                <a:cs typeface="Courier New" pitchFamily="34" charset="-120"/>
              </a:rPr>
              <a:t>  "Server=.;Database=Spares;</a:t>
            </a:r>
            <a:endParaRPr lang="en-US" sz="1050" dirty="0"/>
          </a:p>
          <a:p>
            <a:pPr indent="0" marL="0">
              <a:lnSpc>
                <a:spcPts val="1418"/>
              </a:lnSpc>
              <a:buNone/>
            </a:pPr>
            <a:r>
              <a:rPr lang="en-US" sz="1050" dirty="0">
                <a:solidFill>
                  <a:srgbClr val="1A1A33"/>
                </a:solidFill>
                <a:latin typeface="Courier New" pitchFamily="34" charset="0"/>
                <a:ea typeface="Courier New" pitchFamily="34" charset="-122"/>
                <a:cs typeface="Courier New" pitchFamily="34" charset="-120"/>
              </a:rPr>
              <a:t>   Trusted_Connection=True;"</a:t>
            </a:r>
            <a:endParaRPr lang="en-US" sz="1050" dirty="0"/>
          </a:p>
          <a:p>
            <a:pPr indent="0" marL="0">
              <a:lnSpc>
                <a:spcPts val="1418"/>
              </a:lnSpc>
              <a:buNone/>
            </a:pPr>
            <a:r>
              <a:rPr lang="en-US" sz="1050" dirty="0">
                <a:solidFill>
                  <a:srgbClr val="1A1A33"/>
                </a:solidFill>
                <a:latin typeface="Courier New" pitchFamily="34" charset="0"/>
                <a:ea typeface="Courier New" pitchFamily="34" charset="-122"/>
                <a:cs typeface="Courier New" pitchFamily="34" charset="-120"/>
              </a:rPr>
              <a:t>  Microsoft.EntityFrameworkCore.SqlServer</a:t>
            </a:r>
            <a:endParaRPr lang="en-US" sz="1050" dirty="0"/>
          </a:p>
          <a:p>
            <a:pPr indent="0" marL="0">
              <a:lnSpc>
                <a:spcPts val="1418"/>
              </a:lnSpc>
              <a:buNone/>
            </a:pPr>
            <a:r>
              <a:rPr lang="en-US" sz="1050" dirty="0">
                <a:solidFill>
                  <a:srgbClr val="1A1A33"/>
                </a:solidFill>
                <a:latin typeface="Courier New" pitchFamily="34" charset="0"/>
                <a:ea typeface="Courier New" pitchFamily="34" charset="-122"/>
                <a:cs typeface="Courier New" pitchFamily="34" charset="-120"/>
              </a:rPr>
              <a:t>  -OutputDir Models</a:t>
            </a:r>
            <a:endParaRPr lang="en-US" sz="1050" dirty="0"/>
          </a:p>
          <a:p>
            <a:pPr indent="0" marL="0">
              <a:lnSpc>
                <a:spcPts val="1418"/>
              </a:lnSpc>
              <a:buNone/>
            </a:pPr>
            <a:r>
              <a:rPr lang="en-US" sz="1050" dirty="0">
                <a:solidFill>
                  <a:srgbClr val="1A1A33"/>
                </a:solidFill>
                <a:latin typeface="Courier New" pitchFamily="34" charset="0"/>
                <a:ea typeface="Courier New" pitchFamily="34" charset="-122"/>
                <a:cs typeface="Courier New" pitchFamily="34" charset="-120"/>
              </a:rPr>
              <a:t>  -Tables Parts,WorkOrders</a:t>
            </a:r>
            <a:endParaRPr lang="en-US" sz="1050" dirty="0"/>
          </a:p>
        </p:txBody>
      </p:sp>
      <p:sp>
        <p:nvSpPr>
          <p:cNvPr id="9" name="Shape 7"/>
          <p:cNvSpPr/>
          <p:nvPr/>
        </p:nvSpPr>
        <p:spPr>
          <a:xfrm>
            <a:off x="594360" y="3913632"/>
            <a:ext cx="5806440" cy="402336"/>
          </a:xfrm>
          <a:prstGeom prst="rect">
            <a:avLst/>
          </a:prstGeom>
          <a:solidFill>
            <a:srgbClr val="3333B3"/>
          </a:solidFill>
          <a:ln w="12700">
            <a:solidFill>
              <a:srgbClr val="3333B3"/>
            </a:solidFill>
            <a:prstDash val="solid"/>
          </a:ln>
        </p:spPr>
      </p:sp>
      <p:sp>
        <p:nvSpPr>
          <p:cNvPr id="10" name="Text 8"/>
          <p:cNvSpPr txBox="1"/>
          <p:nvPr/>
        </p:nvSpPr>
        <p:spPr>
          <a:xfrm>
            <a:off x="777240" y="3913632"/>
            <a:ext cx="5440680" cy="402336"/>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Database-first is a legitimate choice</a:t>
            </a:r>
            <a:endParaRPr lang="en-US" sz="1500" dirty="0"/>
          </a:p>
        </p:txBody>
      </p:sp>
      <p:sp>
        <p:nvSpPr>
          <p:cNvPr id="11" name="Shape 9"/>
          <p:cNvSpPr/>
          <p:nvPr/>
        </p:nvSpPr>
        <p:spPr>
          <a:xfrm>
            <a:off x="594360" y="4315968"/>
            <a:ext cx="5806440" cy="1627632"/>
          </a:xfrm>
          <a:prstGeom prst="rect">
            <a:avLst/>
          </a:prstGeom>
          <a:solidFill>
            <a:srgbClr val="F4F4FA"/>
          </a:solidFill>
          <a:ln w="9525">
            <a:solidFill>
              <a:srgbClr val="C9C9EA"/>
            </a:solidFill>
            <a:prstDash val="solid"/>
          </a:ln>
        </p:spPr>
      </p:sp>
      <p:sp>
        <p:nvSpPr>
          <p:cNvPr id="12" name="Text 10"/>
          <p:cNvSpPr txBox="1"/>
          <p:nvPr/>
        </p:nvSpPr>
        <p:spPr>
          <a:xfrm>
            <a:off x="813816" y="4462272"/>
            <a:ext cx="5367528" cy="1353312"/>
          </a:xfrm>
          <a:prstGeom prst="rect">
            <a:avLst/>
          </a:prstGeom>
          <a:noFill/>
          <a:ln/>
        </p:spPr>
        <p:txBody>
          <a:bodyPr wrap="square" lIns="0" tIns="0" rIns="0" bIns="0" rtlCol="0" anchor="t"/>
          <a:lstStyle/>
          <a:p>
            <a:pPr indent="0" marL="0">
              <a:lnSpc>
                <a:spcPts val="1620"/>
              </a:lnSpc>
              <a:buNone/>
            </a:pPr>
            <a:r>
              <a:rPr lang="en-US" sz="1200" dirty="0">
                <a:solidFill>
                  <a:srgbClr val="3E3E5A"/>
                </a:solidFill>
                <a:latin typeface="Cambria" pitchFamily="34" charset="0"/>
                <a:ea typeface="Cambria" pitchFamily="34" charset="-122"/>
                <a:cs typeface="Cambria" pitchFamily="34" charset="-120"/>
              </a:rPr>
              <a:t>When the schema is shared, controlled by a DBA, or older than the application, generating the model from it is correct. Code-first migrations suit a database your application alone owns.</a:t>
            </a:r>
            <a:endParaRPr lang="en-US" sz="1200" dirty="0"/>
          </a:p>
        </p:txBody>
      </p:sp>
      <p:sp>
        <p:nvSpPr>
          <p:cNvPr id="13" name="Shape 11"/>
          <p:cNvSpPr/>
          <p:nvPr/>
        </p:nvSpPr>
        <p:spPr>
          <a:xfrm>
            <a:off x="6629400" y="1627632"/>
            <a:ext cx="4965192" cy="1024128"/>
          </a:xfrm>
          <a:prstGeom prst="rect">
            <a:avLst/>
          </a:prstGeom>
          <a:solidFill>
            <a:srgbClr val="EDEDF7"/>
          </a:solidFill>
          <a:ln w="9525">
            <a:solidFill>
              <a:srgbClr val="C9C9EA"/>
            </a:solidFill>
            <a:prstDash val="solid"/>
          </a:ln>
        </p:spPr>
      </p:sp>
      <p:sp>
        <p:nvSpPr>
          <p:cNvPr id="14" name="Shape 12"/>
          <p:cNvSpPr/>
          <p:nvPr/>
        </p:nvSpPr>
        <p:spPr>
          <a:xfrm>
            <a:off x="6629400" y="1627632"/>
            <a:ext cx="50292" cy="1024128"/>
          </a:xfrm>
          <a:prstGeom prst="rect">
            <a:avLst/>
          </a:prstGeom>
          <a:solidFill>
            <a:srgbClr val="3333B3"/>
          </a:solidFill>
          <a:ln w="12700">
            <a:solidFill>
              <a:srgbClr val="3333B3"/>
            </a:solidFill>
            <a:prstDash val="solid"/>
          </a:ln>
        </p:spPr>
      </p:sp>
      <p:sp>
        <p:nvSpPr>
          <p:cNvPr id="15" name="Shape 13"/>
          <p:cNvSpPr/>
          <p:nvPr/>
        </p:nvSpPr>
        <p:spPr>
          <a:xfrm>
            <a:off x="6830568" y="1956816"/>
            <a:ext cx="365760" cy="365760"/>
          </a:xfrm>
          <a:prstGeom prst="ellipse">
            <a:avLst/>
          </a:prstGeom>
          <a:solidFill>
            <a:srgbClr val="3333B3"/>
          </a:solidFill>
          <a:ln w="12700">
            <a:solidFill>
              <a:srgbClr val="3333B3"/>
            </a:solidFill>
            <a:prstDash val="solid"/>
          </a:ln>
        </p:spPr>
      </p:sp>
      <p:sp>
        <p:nvSpPr>
          <p:cNvPr id="16" name="Text 14"/>
          <p:cNvSpPr txBox="1"/>
          <p:nvPr/>
        </p:nvSpPr>
        <p:spPr>
          <a:xfrm>
            <a:off x="6830568" y="195681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17" name="Text 15"/>
          <p:cNvSpPr txBox="1"/>
          <p:nvPr/>
        </p:nvSpPr>
        <p:spPr>
          <a:xfrm>
            <a:off x="7360920" y="1627632"/>
            <a:ext cx="4014216" cy="1024128"/>
          </a:xfrm>
          <a:prstGeom prst="rect">
            <a:avLst/>
          </a:prstGeom>
          <a:noFill/>
          <a:ln/>
        </p:spPr>
        <p:txBody>
          <a:bodyPr wrap="square" lIns="0" tIns="0" rIns="0" bIns="0" rtlCol="0" anchor="ctr"/>
          <a:lstStyle/>
          <a:p>
            <a:pPr indent="0" marL="0">
              <a:buNone/>
            </a:pPr>
            <a:r>
              <a:rPr lang="en-US" sz="1350" b="1" dirty="0">
                <a:solidFill>
                  <a:srgbClr val="22226B"/>
                </a:solidFill>
                <a:latin typeface="Cambria" pitchFamily="34" charset="0"/>
                <a:ea typeface="Cambria" pitchFamily="34" charset="-122"/>
                <a:cs typeface="Cambria" pitchFamily="34" charset="-120"/>
              </a:rPr>
              <a:t>Scaffold what you need</a:t>
            </a:r>
            <a:endParaRPr lang="en-US" sz="1350" dirty="0"/>
          </a:p>
          <a:p>
            <a:pPr indent="0" marL="0">
              <a:buNone/>
            </a:pPr>
            <a:r>
              <a:rPr lang="en-US" sz="1100" dirty="0">
                <a:solidFill>
                  <a:srgbClr val="3E3E5A"/>
                </a:solidFill>
                <a:latin typeface="Cambria" pitchFamily="34" charset="0"/>
                <a:ea typeface="Cambria" pitchFamily="34" charset="-122"/>
                <a:cs typeface="Cambria" pitchFamily="34" charset="-120"/>
              </a:rPr>
              <a:t>Use -Tables. Generating four hundred tables you will never touch helps nobody.</a:t>
            </a:r>
            <a:endParaRPr lang="en-US" sz="1350" dirty="0"/>
          </a:p>
        </p:txBody>
      </p:sp>
      <p:sp>
        <p:nvSpPr>
          <p:cNvPr id="18" name="Shape 16"/>
          <p:cNvSpPr/>
          <p:nvPr/>
        </p:nvSpPr>
        <p:spPr>
          <a:xfrm>
            <a:off x="6629400" y="2779776"/>
            <a:ext cx="4965192" cy="1024128"/>
          </a:xfrm>
          <a:prstGeom prst="rect">
            <a:avLst/>
          </a:prstGeom>
          <a:solidFill>
            <a:srgbClr val="EDEDF7"/>
          </a:solidFill>
          <a:ln w="9525">
            <a:solidFill>
              <a:srgbClr val="C9C9EA"/>
            </a:solidFill>
            <a:prstDash val="solid"/>
          </a:ln>
        </p:spPr>
      </p:sp>
      <p:sp>
        <p:nvSpPr>
          <p:cNvPr id="19" name="Shape 17"/>
          <p:cNvSpPr/>
          <p:nvPr/>
        </p:nvSpPr>
        <p:spPr>
          <a:xfrm>
            <a:off x="6629400" y="2779776"/>
            <a:ext cx="50292" cy="1024128"/>
          </a:xfrm>
          <a:prstGeom prst="rect">
            <a:avLst/>
          </a:prstGeom>
          <a:solidFill>
            <a:srgbClr val="3333B3"/>
          </a:solidFill>
          <a:ln w="12700">
            <a:solidFill>
              <a:srgbClr val="3333B3"/>
            </a:solidFill>
            <a:prstDash val="solid"/>
          </a:ln>
        </p:spPr>
      </p:sp>
      <p:sp>
        <p:nvSpPr>
          <p:cNvPr id="20" name="Shape 18"/>
          <p:cNvSpPr/>
          <p:nvPr/>
        </p:nvSpPr>
        <p:spPr>
          <a:xfrm>
            <a:off x="6830568" y="3108960"/>
            <a:ext cx="365760" cy="365760"/>
          </a:xfrm>
          <a:prstGeom prst="ellipse">
            <a:avLst/>
          </a:prstGeom>
          <a:solidFill>
            <a:srgbClr val="3333B3"/>
          </a:solidFill>
          <a:ln w="12700">
            <a:solidFill>
              <a:srgbClr val="3333B3"/>
            </a:solidFill>
            <a:prstDash val="solid"/>
          </a:ln>
        </p:spPr>
      </p:sp>
      <p:sp>
        <p:nvSpPr>
          <p:cNvPr id="21" name="Text 19"/>
          <p:cNvSpPr txBox="1"/>
          <p:nvPr/>
        </p:nvSpPr>
        <p:spPr>
          <a:xfrm>
            <a:off x="6830568" y="310896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22" name="Text 20"/>
          <p:cNvSpPr txBox="1"/>
          <p:nvPr/>
        </p:nvSpPr>
        <p:spPr>
          <a:xfrm>
            <a:off x="7360920" y="2779776"/>
            <a:ext cx="4014216" cy="1024128"/>
          </a:xfrm>
          <a:prstGeom prst="rect">
            <a:avLst/>
          </a:prstGeom>
          <a:noFill/>
          <a:ln/>
        </p:spPr>
        <p:txBody>
          <a:bodyPr wrap="square" lIns="0" tIns="0" rIns="0" bIns="0" rtlCol="0" anchor="ctr"/>
          <a:lstStyle/>
          <a:p>
            <a:pPr indent="0" marL="0">
              <a:buNone/>
            </a:pPr>
            <a:r>
              <a:rPr lang="en-US" sz="1350" b="1" dirty="0">
                <a:solidFill>
                  <a:srgbClr val="22226B"/>
                </a:solidFill>
                <a:latin typeface="Cambria" pitchFamily="34" charset="0"/>
                <a:ea typeface="Cambria" pitchFamily="34" charset="-122"/>
                <a:cs typeface="Cambria" pitchFamily="34" charset="-120"/>
              </a:rPr>
              <a:t>Do not edit generated files</a:t>
            </a:r>
            <a:endParaRPr lang="en-US" sz="1350" dirty="0"/>
          </a:p>
          <a:p>
            <a:pPr indent="0" marL="0">
              <a:buNone/>
            </a:pPr>
            <a:r>
              <a:rPr lang="en-US" sz="1100" dirty="0">
                <a:solidFill>
                  <a:srgbClr val="3E3E5A"/>
                </a:solidFill>
                <a:latin typeface="Cambria" pitchFamily="34" charset="0"/>
                <a:ea typeface="Cambria" pitchFamily="34" charset="-122"/>
                <a:cs typeface="Cambria" pitchFamily="34" charset="-120"/>
              </a:rPr>
              <a:t>Re-scaffolding overwrites them. Put customisations in a partial class.</a:t>
            </a:r>
            <a:endParaRPr lang="en-US" sz="1350" dirty="0"/>
          </a:p>
        </p:txBody>
      </p:sp>
      <p:sp>
        <p:nvSpPr>
          <p:cNvPr id="23" name="Shape 21"/>
          <p:cNvSpPr/>
          <p:nvPr/>
        </p:nvSpPr>
        <p:spPr>
          <a:xfrm>
            <a:off x="6629400" y="3931920"/>
            <a:ext cx="4965192" cy="1024128"/>
          </a:xfrm>
          <a:prstGeom prst="rect">
            <a:avLst/>
          </a:prstGeom>
          <a:solidFill>
            <a:srgbClr val="EDEDF7"/>
          </a:solidFill>
          <a:ln w="9525">
            <a:solidFill>
              <a:srgbClr val="C9C9EA"/>
            </a:solidFill>
            <a:prstDash val="solid"/>
          </a:ln>
        </p:spPr>
      </p:sp>
      <p:sp>
        <p:nvSpPr>
          <p:cNvPr id="24" name="Shape 22"/>
          <p:cNvSpPr/>
          <p:nvPr/>
        </p:nvSpPr>
        <p:spPr>
          <a:xfrm>
            <a:off x="6629400" y="3931920"/>
            <a:ext cx="50292" cy="1024128"/>
          </a:xfrm>
          <a:prstGeom prst="rect">
            <a:avLst/>
          </a:prstGeom>
          <a:solidFill>
            <a:srgbClr val="3333B3"/>
          </a:solidFill>
          <a:ln w="12700">
            <a:solidFill>
              <a:srgbClr val="3333B3"/>
            </a:solidFill>
            <a:prstDash val="solid"/>
          </a:ln>
        </p:spPr>
      </p:sp>
      <p:sp>
        <p:nvSpPr>
          <p:cNvPr id="25" name="Shape 23"/>
          <p:cNvSpPr/>
          <p:nvPr/>
        </p:nvSpPr>
        <p:spPr>
          <a:xfrm>
            <a:off x="6830568" y="4261104"/>
            <a:ext cx="365760" cy="365760"/>
          </a:xfrm>
          <a:prstGeom prst="ellipse">
            <a:avLst/>
          </a:prstGeom>
          <a:solidFill>
            <a:srgbClr val="3333B3"/>
          </a:solidFill>
          <a:ln w="12700">
            <a:solidFill>
              <a:srgbClr val="3333B3"/>
            </a:solidFill>
            <a:prstDash val="solid"/>
          </a:ln>
        </p:spPr>
      </p:sp>
      <p:sp>
        <p:nvSpPr>
          <p:cNvPr id="26" name="Text 24"/>
          <p:cNvSpPr txBox="1"/>
          <p:nvPr/>
        </p:nvSpPr>
        <p:spPr>
          <a:xfrm>
            <a:off x="6830568" y="4261104"/>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27" name="Text 25"/>
          <p:cNvSpPr txBox="1"/>
          <p:nvPr/>
        </p:nvSpPr>
        <p:spPr>
          <a:xfrm>
            <a:off x="7360920" y="3931920"/>
            <a:ext cx="4014216" cy="1024128"/>
          </a:xfrm>
          <a:prstGeom prst="rect">
            <a:avLst/>
          </a:prstGeom>
          <a:noFill/>
          <a:ln/>
        </p:spPr>
        <p:txBody>
          <a:bodyPr wrap="square" lIns="0" tIns="0" rIns="0" bIns="0" rtlCol="0" anchor="ctr"/>
          <a:lstStyle/>
          <a:p>
            <a:pPr indent="0" marL="0">
              <a:buNone/>
            </a:pPr>
            <a:r>
              <a:rPr lang="en-US" sz="1350" b="1" dirty="0">
                <a:solidFill>
                  <a:srgbClr val="22226B"/>
                </a:solidFill>
                <a:latin typeface="Cambria" pitchFamily="34" charset="0"/>
                <a:ea typeface="Cambria" pitchFamily="34" charset="-122"/>
                <a:cs typeface="Cambria" pitchFamily="34" charset="-120"/>
              </a:rPr>
              <a:t>Legacy names stay legacy</a:t>
            </a:r>
            <a:endParaRPr lang="en-US" sz="1350" dirty="0"/>
          </a:p>
          <a:p>
            <a:pPr indent="0" marL="0">
              <a:buNone/>
            </a:pPr>
            <a:r>
              <a:rPr lang="en-US" sz="1100" dirty="0">
                <a:solidFill>
                  <a:srgbClr val="3E3E5A"/>
                </a:solidFill>
                <a:latin typeface="Cambria" pitchFamily="34" charset="0"/>
                <a:ea typeface="Cambria" pitchFamily="34" charset="-122"/>
                <a:cs typeface="Cambria" pitchFamily="34" charset="-120"/>
              </a:rPr>
              <a:t>A column called QTY_ON_HND maps to a property called QuantityOnHand. The ugliness stops at the boundary.</a:t>
            </a:r>
            <a:endParaRPr lang="en-US" sz="1350" dirty="0"/>
          </a:p>
        </p:txBody>
      </p:sp>
      <p:sp>
        <p:nvSpPr>
          <p:cNvPr id="28" name="Shape 26"/>
          <p:cNvSpPr/>
          <p:nvPr/>
        </p:nvSpPr>
        <p:spPr>
          <a:xfrm>
            <a:off x="6629400" y="5084064"/>
            <a:ext cx="4965192" cy="1024128"/>
          </a:xfrm>
          <a:prstGeom prst="rect">
            <a:avLst/>
          </a:prstGeom>
          <a:solidFill>
            <a:srgbClr val="EDEDF7"/>
          </a:solidFill>
          <a:ln w="9525">
            <a:solidFill>
              <a:srgbClr val="C9C9EA"/>
            </a:solidFill>
            <a:prstDash val="solid"/>
          </a:ln>
        </p:spPr>
      </p:sp>
      <p:sp>
        <p:nvSpPr>
          <p:cNvPr id="29" name="Shape 27"/>
          <p:cNvSpPr/>
          <p:nvPr/>
        </p:nvSpPr>
        <p:spPr>
          <a:xfrm>
            <a:off x="6629400" y="5084064"/>
            <a:ext cx="50292" cy="1024128"/>
          </a:xfrm>
          <a:prstGeom prst="rect">
            <a:avLst/>
          </a:prstGeom>
          <a:solidFill>
            <a:srgbClr val="3333B3"/>
          </a:solidFill>
          <a:ln w="12700">
            <a:solidFill>
              <a:srgbClr val="3333B3"/>
            </a:solidFill>
            <a:prstDash val="solid"/>
          </a:ln>
        </p:spPr>
      </p:sp>
      <p:sp>
        <p:nvSpPr>
          <p:cNvPr id="30" name="Shape 28"/>
          <p:cNvSpPr/>
          <p:nvPr/>
        </p:nvSpPr>
        <p:spPr>
          <a:xfrm>
            <a:off x="6830568" y="5413248"/>
            <a:ext cx="365760" cy="365760"/>
          </a:xfrm>
          <a:prstGeom prst="ellipse">
            <a:avLst/>
          </a:prstGeom>
          <a:solidFill>
            <a:srgbClr val="3333B3"/>
          </a:solidFill>
          <a:ln w="12700">
            <a:solidFill>
              <a:srgbClr val="3333B3"/>
            </a:solidFill>
            <a:prstDash val="solid"/>
          </a:ln>
        </p:spPr>
      </p:sp>
      <p:sp>
        <p:nvSpPr>
          <p:cNvPr id="31" name="Text 29"/>
          <p:cNvSpPr txBox="1"/>
          <p:nvPr/>
        </p:nvSpPr>
        <p:spPr>
          <a:xfrm>
            <a:off x="6830568" y="541324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4</a:t>
            </a:r>
            <a:endParaRPr lang="en-US" sz="1300" dirty="0"/>
          </a:p>
        </p:txBody>
      </p:sp>
      <p:sp>
        <p:nvSpPr>
          <p:cNvPr id="32" name="Text 30"/>
          <p:cNvSpPr txBox="1"/>
          <p:nvPr/>
        </p:nvSpPr>
        <p:spPr>
          <a:xfrm>
            <a:off x="7360920" y="5084064"/>
            <a:ext cx="4014216" cy="1024128"/>
          </a:xfrm>
          <a:prstGeom prst="rect">
            <a:avLst/>
          </a:prstGeom>
          <a:noFill/>
          <a:ln/>
        </p:spPr>
        <p:txBody>
          <a:bodyPr wrap="square" lIns="0" tIns="0" rIns="0" bIns="0" rtlCol="0" anchor="ctr"/>
          <a:lstStyle/>
          <a:p>
            <a:pPr indent="0" marL="0">
              <a:buNone/>
            </a:pPr>
            <a:r>
              <a:rPr lang="en-US" sz="1350" b="1" dirty="0">
                <a:solidFill>
                  <a:srgbClr val="22226B"/>
                </a:solidFill>
                <a:latin typeface="Cambria" pitchFamily="34" charset="0"/>
                <a:ea typeface="Cambria" pitchFamily="34" charset="-122"/>
                <a:cs typeface="Cambria" pitchFamily="34" charset="-120"/>
              </a:rPr>
              <a:t>Agree who owns the schema</a:t>
            </a:r>
            <a:endParaRPr lang="en-US" sz="1350" dirty="0"/>
          </a:p>
          <a:p>
            <a:pPr indent="0" marL="0">
              <a:buNone/>
            </a:pPr>
            <a:r>
              <a:rPr lang="en-US" sz="1100" dirty="0">
                <a:solidFill>
                  <a:srgbClr val="3E3E5A"/>
                </a:solidFill>
                <a:latin typeface="Cambria" pitchFamily="34" charset="0"/>
                <a:ea typeface="Cambria" pitchFamily="34" charset="-122"/>
                <a:cs typeface="Cambria" pitchFamily="34" charset="-120"/>
              </a:rPr>
              <a:t>Two teams both running migrations on one database ends badly. Decide before you start.</a:t>
            </a:r>
            <a:endParaRPr lang="en-US" sz="1350" dirty="0"/>
          </a:p>
        </p:txBody>
      </p:sp>
      <p:sp>
        <p:nvSpPr>
          <p:cNvPr id="33" name="Shape 31"/>
          <p:cNvSpPr/>
          <p:nvPr/>
        </p:nvSpPr>
        <p:spPr>
          <a:xfrm>
            <a:off x="0" y="6400800"/>
            <a:ext cx="3840480" cy="457200"/>
          </a:xfrm>
          <a:prstGeom prst="rect">
            <a:avLst/>
          </a:prstGeom>
          <a:solidFill>
            <a:srgbClr val="22226B"/>
          </a:solidFill>
          <a:ln w="12700">
            <a:solidFill>
              <a:srgbClr val="22226B"/>
            </a:solidFill>
            <a:prstDash val="solid"/>
          </a:ln>
        </p:spPr>
      </p:sp>
      <p:sp>
        <p:nvSpPr>
          <p:cNvPr id="34" name="Text 32"/>
          <p:cNvSpPr txBox="1"/>
          <p:nvPr/>
        </p:nvSpPr>
        <p:spPr>
          <a:xfrm>
            <a:off x="164592" y="6400800"/>
            <a:ext cx="3511296" cy="457200"/>
          </a:xfrm>
          <a:prstGeom prst="rect">
            <a:avLst/>
          </a:prstGeom>
          <a:noFill/>
          <a:ln/>
        </p:spPr>
        <p:txBody>
          <a:bodyPr wrap="square" lIns="0" tIns="0" rIns="0" bIns="0" rtlCol="0" anchor="ctr"/>
          <a:lstStyle/>
          <a:p>
            <a:pPr algn="l" indent="0" marL="0">
              <a:buNone/>
            </a:pPr>
            <a:r>
              <a:rPr lang="en-US" sz="950" dirty="0">
                <a:solidFill>
                  <a:srgbClr val="FFFFFF"/>
                </a:solidFill>
                <a:latin typeface="Cambria" pitchFamily="34" charset="0"/>
                <a:ea typeface="Cambria" pitchFamily="34" charset="-122"/>
                <a:cs typeface="Cambria" pitchFamily="34" charset="-120"/>
              </a:rPr>
              <a:t>HAL  ·  .NET, React &amp; SQL Programme</a:t>
            </a:r>
            <a:endParaRPr lang="en-US" sz="950" dirty="0"/>
          </a:p>
        </p:txBody>
      </p:sp>
      <p:sp>
        <p:nvSpPr>
          <p:cNvPr id="35" name="Shape 33"/>
          <p:cNvSpPr/>
          <p:nvPr/>
        </p:nvSpPr>
        <p:spPr>
          <a:xfrm>
            <a:off x="3840480" y="6400800"/>
            <a:ext cx="6675120" cy="457200"/>
          </a:xfrm>
          <a:prstGeom prst="rect">
            <a:avLst/>
          </a:prstGeom>
          <a:solidFill>
            <a:srgbClr val="3333B3"/>
          </a:solidFill>
          <a:ln w="12700">
            <a:solidFill>
              <a:srgbClr val="3333B3"/>
            </a:solidFill>
            <a:prstDash val="solid"/>
          </a:ln>
        </p:spPr>
      </p:sp>
      <p:sp>
        <p:nvSpPr>
          <p:cNvPr id="36" name="Text 34"/>
          <p:cNvSpPr txBox="1"/>
          <p:nvPr/>
        </p:nvSpPr>
        <p:spPr>
          <a:xfrm>
            <a:off x="4005072" y="6400800"/>
            <a:ext cx="6345936" cy="457200"/>
          </a:xfrm>
          <a:prstGeom prst="rect">
            <a:avLst/>
          </a:prstGeom>
          <a:noFill/>
          <a:ln/>
        </p:spPr>
        <p:txBody>
          <a:bodyPr wrap="square" lIns="0" tIns="0" rIns="0" bIns="0" rtlCol="0" anchor="ctr"/>
          <a:lstStyle/>
          <a:p>
            <a:pPr algn="l" indent="0" marL="0">
              <a:buNone/>
            </a:pPr>
            <a:r>
              <a:rPr lang="en-US" sz="950" dirty="0">
                <a:solidFill>
                  <a:srgbClr val="FFFFFF"/>
                </a:solidFill>
                <a:latin typeface="Cambria" pitchFamily="34" charset="0"/>
                <a:ea typeface="Cambria" pitchFamily="34" charset="-122"/>
                <a:cs typeface="Cambria" pitchFamily="34" charset="-120"/>
              </a:rPr>
              <a:t>Day 2 · Session 2 — Connecting the API to Data</a:t>
            </a:r>
            <a:endParaRPr lang="en-US" sz="950" dirty="0"/>
          </a:p>
        </p:txBody>
      </p:sp>
      <p:sp>
        <p:nvSpPr>
          <p:cNvPr id="37" name="Shape 35"/>
          <p:cNvSpPr/>
          <p:nvPr/>
        </p:nvSpPr>
        <p:spPr>
          <a:xfrm>
            <a:off x="10515600" y="6400800"/>
            <a:ext cx="1676095" cy="457200"/>
          </a:xfrm>
          <a:prstGeom prst="rect">
            <a:avLst/>
          </a:prstGeom>
          <a:solidFill>
            <a:srgbClr val="22226B"/>
          </a:solidFill>
          <a:ln w="12700">
            <a:solidFill>
              <a:srgbClr val="22226B"/>
            </a:solidFill>
            <a:prstDash val="solid"/>
          </a:ln>
        </p:spPr>
      </p:sp>
      <p:sp>
        <p:nvSpPr>
          <p:cNvPr id="38" name="Text 36"/>
          <p:cNvSpPr txBox="1"/>
          <p:nvPr/>
        </p:nvSpPr>
        <p:spPr>
          <a:xfrm>
            <a:off x="10680192" y="6400800"/>
            <a:ext cx="1346911" cy="457200"/>
          </a:xfrm>
          <a:prstGeom prst="rect">
            <a:avLst/>
          </a:prstGeom>
          <a:noFill/>
          <a:ln/>
        </p:spPr>
        <p:txBody>
          <a:bodyPr wrap="square" lIns="0" tIns="0" rIns="0" bIns="0" rtlCol="0" anchor="ctr"/>
          <a:lstStyle/>
          <a:p>
            <a:pPr algn="ctr" indent="0" marL="0">
              <a:buNone/>
            </a:pPr>
            <a:r>
              <a:rPr lang="en-US" sz="950" dirty="0">
                <a:solidFill>
                  <a:srgbClr val="FFFFFF"/>
                </a:solidFill>
                <a:latin typeface="Cambria" pitchFamily="34" charset="0"/>
                <a:ea typeface="Cambria" pitchFamily="34" charset="-122"/>
                <a:cs typeface="Cambria" pitchFamily="34" charset="-120"/>
              </a:rPr>
              <a:t>10</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2B2B7F"/>
        </a:solidFill>
      </p:bgPr>
    </p:bg>
    <p:spTree>
      <p:nvGrpSpPr>
        <p:cNvPr id="1" name=""/>
        <p:cNvGrpSpPr/>
        <p:nvPr/>
      </p:nvGrpSpPr>
      <p:grpSpPr>
        <a:xfrm>
          <a:off x="0" y="0"/>
          <a:ext cx="0" cy="0"/>
          <a:chOff x="0" y="0"/>
          <a:chExt cx="0" cy="0"/>
        </a:xfrm>
      </p:grpSpPr>
      <p:sp>
        <p:nvSpPr>
          <p:cNvPr id="2" name="Shape 0"/>
          <p:cNvSpPr/>
          <p:nvPr/>
        </p:nvSpPr>
        <p:spPr>
          <a:xfrm>
            <a:off x="0" y="0"/>
            <a:ext cx="12191695" cy="365760"/>
          </a:xfrm>
          <a:prstGeom prst="rect">
            <a:avLst/>
          </a:prstGeom>
          <a:solidFill>
            <a:srgbClr val="5050A8"/>
          </a:solidFill>
          <a:ln w="12700">
            <a:solidFill>
              <a:srgbClr val="5050A8"/>
            </a:solidFill>
            <a:prstDash val="solid"/>
          </a:ln>
        </p:spPr>
      </p:sp>
      <p:sp>
        <p:nvSpPr>
          <p:cNvPr id="3" name="Text 1"/>
          <p:cNvSpPr txBox="1"/>
          <p:nvPr/>
        </p:nvSpPr>
        <p:spPr>
          <a:xfrm>
            <a:off x="594360" y="0"/>
            <a:ext cx="11002975" cy="365760"/>
          </a:xfrm>
          <a:prstGeom prst="rect">
            <a:avLst/>
          </a:prstGeom>
          <a:noFill/>
          <a:ln/>
        </p:spPr>
        <p:txBody>
          <a:bodyPr wrap="square" lIns="0" tIns="0" rIns="0" bIns="0" rtlCol="0" anchor="ctr"/>
          <a:lstStyle/>
          <a:p>
            <a:pPr indent="0" marL="0">
              <a:buNone/>
            </a:pPr>
            <a:r>
              <a:rPr lang="en-US" sz="1000" b="1" spc="180" kern="0" dirty="0">
                <a:solidFill>
                  <a:srgbClr val="C9C9EA"/>
                </a:solidFill>
                <a:latin typeface="Cambria" pitchFamily="34" charset="0"/>
                <a:ea typeface="Cambria" pitchFamily="34" charset="-122"/>
                <a:cs typeface="Cambria" pitchFamily="34" charset="-120"/>
              </a:rPr>
              <a:t>CHECKPOINT · 10 MINUTES</a:t>
            </a:r>
            <a:endParaRPr lang="en-US" sz="1000" dirty="0"/>
          </a:p>
        </p:txBody>
      </p:sp>
      <p:sp>
        <p:nvSpPr>
          <p:cNvPr id="4" name="Shape 2"/>
          <p:cNvSpPr/>
          <p:nvPr/>
        </p:nvSpPr>
        <p:spPr>
          <a:xfrm>
            <a:off x="0" y="365760"/>
            <a:ext cx="12191695" cy="841248"/>
          </a:xfrm>
          <a:prstGeom prst="rect">
            <a:avLst/>
          </a:prstGeom>
          <a:solidFill>
            <a:srgbClr val="3B3B96"/>
          </a:solidFill>
          <a:ln w="12700">
            <a:solidFill>
              <a:srgbClr val="3B3B96"/>
            </a:solidFill>
            <a:prstDash val="solid"/>
          </a:ln>
        </p:spPr>
      </p:sp>
      <p:sp>
        <p:nvSpPr>
          <p:cNvPr id="5" name="Text 3"/>
          <p:cNvSpPr txBox="1"/>
          <p:nvPr/>
        </p:nvSpPr>
        <p:spPr>
          <a:xfrm>
            <a:off x="594360" y="365760"/>
            <a:ext cx="11002975" cy="841248"/>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Your data, as it stands</a:t>
            </a:r>
            <a:endParaRPr lang="en-US" sz="2600" dirty="0"/>
          </a:p>
        </p:txBody>
      </p:sp>
      <p:sp>
        <p:nvSpPr>
          <p:cNvPr id="6" name="Shape 4"/>
          <p:cNvSpPr/>
          <p:nvPr/>
        </p:nvSpPr>
        <p:spPr>
          <a:xfrm>
            <a:off x="594360" y="1664208"/>
            <a:ext cx="6949440" cy="960120"/>
          </a:xfrm>
          <a:prstGeom prst="rect">
            <a:avLst/>
          </a:prstGeom>
          <a:solidFill>
            <a:srgbClr val="3B3B96"/>
          </a:solidFill>
          <a:ln w="9525">
            <a:solidFill>
              <a:srgbClr val="5050A8"/>
            </a:solidFill>
            <a:prstDash val="solid"/>
          </a:ln>
        </p:spPr>
      </p:sp>
      <p:sp>
        <p:nvSpPr>
          <p:cNvPr id="7" name="Shape 5"/>
          <p:cNvSpPr/>
          <p:nvPr/>
        </p:nvSpPr>
        <p:spPr>
          <a:xfrm>
            <a:off x="594360" y="1664208"/>
            <a:ext cx="50292" cy="960120"/>
          </a:xfrm>
          <a:prstGeom prst="rect">
            <a:avLst/>
          </a:prstGeom>
          <a:solidFill>
            <a:srgbClr val="8A8AC4"/>
          </a:solidFill>
          <a:ln w="12700">
            <a:solidFill>
              <a:srgbClr val="8A8AC4"/>
            </a:solidFill>
            <a:prstDash val="solid"/>
          </a:ln>
        </p:spPr>
      </p:sp>
      <p:sp>
        <p:nvSpPr>
          <p:cNvPr id="8" name="Shape 6"/>
          <p:cNvSpPr/>
          <p:nvPr/>
        </p:nvSpPr>
        <p:spPr>
          <a:xfrm>
            <a:off x="795528" y="1961388"/>
            <a:ext cx="365760" cy="365760"/>
          </a:xfrm>
          <a:prstGeom prst="ellipse">
            <a:avLst/>
          </a:prstGeom>
          <a:solidFill>
            <a:srgbClr val="3333B3"/>
          </a:solidFill>
          <a:ln w="12700">
            <a:solidFill>
              <a:srgbClr val="3333B3"/>
            </a:solidFill>
            <a:prstDash val="solid"/>
          </a:ln>
        </p:spPr>
      </p:sp>
      <p:sp>
        <p:nvSpPr>
          <p:cNvPr id="9" name="Text 7"/>
          <p:cNvSpPr txBox="1"/>
          <p:nvPr/>
        </p:nvSpPr>
        <p:spPr>
          <a:xfrm>
            <a:off x="795528" y="196138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10" name="Text 8"/>
          <p:cNvSpPr txBox="1"/>
          <p:nvPr/>
        </p:nvSpPr>
        <p:spPr>
          <a:xfrm>
            <a:off x="1325880" y="1664208"/>
            <a:ext cx="5998464" cy="960120"/>
          </a:xfrm>
          <a:prstGeom prst="rect">
            <a:avLst/>
          </a:prstGeom>
          <a:noFill/>
          <a:ln/>
        </p:spPr>
        <p:txBody>
          <a:bodyPr wrap="square" lIns="0" tIns="0" rIns="0" bIns="0" rtlCol="0" anchor="ctr"/>
          <a:lstStyle/>
          <a:p>
            <a:pPr indent="0" marL="0">
              <a:buNone/>
            </a:pPr>
            <a:r>
              <a:rPr lang="en-US" sz="1350" b="1" dirty="0">
                <a:solidFill>
                  <a:srgbClr val="FFFFFF"/>
                </a:solidFill>
                <a:latin typeface="Cambria" pitchFamily="34" charset="0"/>
                <a:ea typeface="Cambria" pitchFamily="34" charset="-122"/>
                <a:cs typeface="Cambria" pitchFamily="34" charset="-120"/>
              </a:rPr>
              <a:t>Who owns your database schema?</a:t>
            </a:r>
            <a:endParaRPr lang="en-US" sz="1350" dirty="0"/>
          </a:p>
          <a:p>
            <a:pPr indent="0" marL="0">
              <a:buNone/>
            </a:pPr>
            <a:r>
              <a:rPr lang="en-US" sz="1100" dirty="0">
                <a:solidFill>
                  <a:srgbClr val="D9D9EF"/>
                </a:solidFill>
                <a:latin typeface="Cambria" pitchFamily="34" charset="0"/>
                <a:ea typeface="Cambria" pitchFamily="34" charset="-122"/>
                <a:cs typeface="Cambria" pitchFamily="34" charset="-120"/>
              </a:rPr>
              <a:t>A DBA, a vendor, the team, or nobody in particular?</a:t>
            </a:r>
            <a:endParaRPr lang="en-US" sz="1350" dirty="0"/>
          </a:p>
        </p:txBody>
      </p:sp>
      <p:sp>
        <p:nvSpPr>
          <p:cNvPr id="11" name="Shape 9"/>
          <p:cNvSpPr/>
          <p:nvPr/>
        </p:nvSpPr>
        <p:spPr>
          <a:xfrm>
            <a:off x="594360" y="2752344"/>
            <a:ext cx="6949440" cy="960120"/>
          </a:xfrm>
          <a:prstGeom prst="rect">
            <a:avLst/>
          </a:prstGeom>
          <a:solidFill>
            <a:srgbClr val="3B3B96"/>
          </a:solidFill>
          <a:ln w="9525">
            <a:solidFill>
              <a:srgbClr val="5050A8"/>
            </a:solidFill>
            <a:prstDash val="solid"/>
          </a:ln>
        </p:spPr>
      </p:sp>
      <p:sp>
        <p:nvSpPr>
          <p:cNvPr id="12" name="Shape 10"/>
          <p:cNvSpPr/>
          <p:nvPr/>
        </p:nvSpPr>
        <p:spPr>
          <a:xfrm>
            <a:off x="594360" y="2752344"/>
            <a:ext cx="50292" cy="960120"/>
          </a:xfrm>
          <a:prstGeom prst="rect">
            <a:avLst/>
          </a:prstGeom>
          <a:solidFill>
            <a:srgbClr val="8A8AC4"/>
          </a:solidFill>
          <a:ln w="12700">
            <a:solidFill>
              <a:srgbClr val="8A8AC4"/>
            </a:solidFill>
            <a:prstDash val="solid"/>
          </a:ln>
        </p:spPr>
      </p:sp>
      <p:sp>
        <p:nvSpPr>
          <p:cNvPr id="13" name="Shape 11"/>
          <p:cNvSpPr/>
          <p:nvPr/>
        </p:nvSpPr>
        <p:spPr>
          <a:xfrm>
            <a:off x="795528" y="3049524"/>
            <a:ext cx="365760" cy="365760"/>
          </a:xfrm>
          <a:prstGeom prst="ellipse">
            <a:avLst/>
          </a:prstGeom>
          <a:solidFill>
            <a:srgbClr val="3333B3"/>
          </a:solidFill>
          <a:ln w="12700">
            <a:solidFill>
              <a:srgbClr val="3333B3"/>
            </a:solidFill>
            <a:prstDash val="solid"/>
          </a:ln>
        </p:spPr>
      </p:sp>
      <p:sp>
        <p:nvSpPr>
          <p:cNvPr id="14" name="Text 12"/>
          <p:cNvSpPr txBox="1"/>
          <p:nvPr/>
        </p:nvSpPr>
        <p:spPr>
          <a:xfrm>
            <a:off x="795528" y="3049524"/>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15" name="Text 13"/>
          <p:cNvSpPr txBox="1"/>
          <p:nvPr/>
        </p:nvSpPr>
        <p:spPr>
          <a:xfrm>
            <a:off x="1325880" y="2752344"/>
            <a:ext cx="5998464" cy="960120"/>
          </a:xfrm>
          <a:prstGeom prst="rect">
            <a:avLst/>
          </a:prstGeom>
          <a:noFill/>
          <a:ln/>
        </p:spPr>
        <p:txBody>
          <a:bodyPr wrap="square" lIns="0" tIns="0" rIns="0" bIns="0" rtlCol="0" anchor="ctr"/>
          <a:lstStyle/>
          <a:p>
            <a:pPr indent="0" marL="0">
              <a:buNone/>
            </a:pPr>
            <a:r>
              <a:rPr lang="en-US" sz="1350" b="1" dirty="0">
                <a:solidFill>
                  <a:srgbClr val="FFFFFF"/>
                </a:solidFill>
                <a:latin typeface="Cambria" pitchFamily="34" charset="0"/>
                <a:ea typeface="Cambria" pitchFamily="34" charset="-122"/>
                <a:cs typeface="Cambria" pitchFamily="34" charset="-120"/>
              </a:rPr>
              <a:t>How does the schema change today?</a:t>
            </a:r>
            <a:endParaRPr lang="en-US" sz="1350" dirty="0"/>
          </a:p>
          <a:p>
            <a:pPr indent="0" marL="0">
              <a:buNone/>
            </a:pPr>
            <a:r>
              <a:rPr lang="en-US" sz="1100" dirty="0">
                <a:solidFill>
                  <a:srgbClr val="D9D9EF"/>
                </a:solidFill>
                <a:latin typeface="Cambria" pitchFamily="34" charset="0"/>
                <a:ea typeface="Cambria" pitchFamily="34" charset="-122"/>
                <a:cs typeface="Cambria" pitchFamily="34" charset="-120"/>
              </a:rPr>
              <a:t>A script emailed round, or something version controlled?</a:t>
            </a:r>
            <a:endParaRPr lang="en-US" sz="1350" dirty="0"/>
          </a:p>
        </p:txBody>
      </p:sp>
      <p:sp>
        <p:nvSpPr>
          <p:cNvPr id="16" name="Shape 14"/>
          <p:cNvSpPr/>
          <p:nvPr/>
        </p:nvSpPr>
        <p:spPr>
          <a:xfrm>
            <a:off x="594360" y="3840480"/>
            <a:ext cx="6949440" cy="960120"/>
          </a:xfrm>
          <a:prstGeom prst="rect">
            <a:avLst/>
          </a:prstGeom>
          <a:solidFill>
            <a:srgbClr val="3B3B96"/>
          </a:solidFill>
          <a:ln w="9525">
            <a:solidFill>
              <a:srgbClr val="5050A8"/>
            </a:solidFill>
            <a:prstDash val="solid"/>
          </a:ln>
        </p:spPr>
      </p:sp>
      <p:sp>
        <p:nvSpPr>
          <p:cNvPr id="17" name="Shape 15"/>
          <p:cNvSpPr/>
          <p:nvPr/>
        </p:nvSpPr>
        <p:spPr>
          <a:xfrm>
            <a:off x="594360" y="3840480"/>
            <a:ext cx="50292" cy="960120"/>
          </a:xfrm>
          <a:prstGeom prst="rect">
            <a:avLst/>
          </a:prstGeom>
          <a:solidFill>
            <a:srgbClr val="8A8AC4"/>
          </a:solidFill>
          <a:ln w="12700">
            <a:solidFill>
              <a:srgbClr val="8A8AC4"/>
            </a:solidFill>
            <a:prstDash val="solid"/>
          </a:ln>
        </p:spPr>
      </p:sp>
      <p:sp>
        <p:nvSpPr>
          <p:cNvPr id="18" name="Shape 16"/>
          <p:cNvSpPr/>
          <p:nvPr/>
        </p:nvSpPr>
        <p:spPr>
          <a:xfrm>
            <a:off x="795528" y="4137660"/>
            <a:ext cx="365760" cy="365760"/>
          </a:xfrm>
          <a:prstGeom prst="ellipse">
            <a:avLst/>
          </a:prstGeom>
          <a:solidFill>
            <a:srgbClr val="3333B3"/>
          </a:solidFill>
          <a:ln w="12700">
            <a:solidFill>
              <a:srgbClr val="3333B3"/>
            </a:solidFill>
            <a:prstDash val="solid"/>
          </a:ln>
        </p:spPr>
      </p:sp>
      <p:sp>
        <p:nvSpPr>
          <p:cNvPr id="19" name="Text 17"/>
          <p:cNvSpPr txBox="1"/>
          <p:nvPr/>
        </p:nvSpPr>
        <p:spPr>
          <a:xfrm>
            <a:off x="795528" y="413766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20" name="Text 18"/>
          <p:cNvSpPr txBox="1"/>
          <p:nvPr/>
        </p:nvSpPr>
        <p:spPr>
          <a:xfrm>
            <a:off x="1325880" y="3840480"/>
            <a:ext cx="5998464" cy="960120"/>
          </a:xfrm>
          <a:prstGeom prst="rect">
            <a:avLst/>
          </a:prstGeom>
          <a:noFill/>
          <a:ln/>
        </p:spPr>
        <p:txBody>
          <a:bodyPr wrap="square" lIns="0" tIns="0" rIns="0" bIns="0" rtlCol="0" anchor="ctr"/>
          <a:lstStyle/>
          <a:p>
            <a:pPr indent="0" marL="0">
              <a:buNone/>
            </a:pPr>
            <a:r>
              <a:rPr lang="en-US" sz="1350" b="1" dirty="0">
                <a:solidFill>
                  <a:srgbClr val="FFFFFF"/>
                </a:solidFill>
                <a:latin typeface="Cambria" pitchFamily="34" charset="0"/>
                <a:ea typeface="Cambria" pitchFamily="34" charset="-122"/>
                <a:cs typeface="Cambria" pitchFamily="34" charset="-120"/>
              </a:rPr>
              <a:t>Where would code-first not work?</a:t>
            </a:r>
            <a:endParaRPr lang="en-US" sz="1350" dirty="0"/>
          </a:p>
          <a:p>
            <a:pPr indent="0" marL="0">
              <a:buNone/>
            </a:pPr>
            <a:r>
              <a:rPr lang="en-US" sz="1100" dirty="0">
                <a:solidFill>
                  <a:srgbClr val="D9D9EF"/>
                </a:solidFill>
                <a:latin typeface="Cambria" pitchFamily="34" charset="0"/>
                <a:ea typeface="Cambria" pitchFamily="34" charset="-122"/>
                <a:cs typeface="Cambria" pitchFamily="34" charset="-120"/>
              </a:rPr>
              <a:t>Shared databases and vendor schemas are the usual answers.</a:t>
            </a:r>
            <a:endParaRPr lang="en-US" sz="1350" dirty="0"/>
          </a:p>
        </p:txBody>
      </p:sp>
      <p:sp>
        <p:nvSpPr>
          <p:cNvPr id="21" name="Shape 19"/>
          <p:cNvSpPr/>
          <p:nvPr/>
        </p:nvSpPr>
        <p:spPr>
          <a:xfrm>
            <a:off x="594360" y="4928616"/>
            <a:ext cx="6949440" cy="960120"/>
          </a:xfrm>
          <a:prstGeom prst="rect">
            <a:avLst/>
          </a:prstGeom>
          <a:solidFill>
            <a:srgbClr val="3B3B96"/>
          </a:solidFill>
          <a:ln w="9525">
            <a:solidFill>
              <a:srgbClr val="5050A8"/>
            </a:solidFill>
            <a:prstDash val="solid"/>
          </a:ln>
        </p:spPr>
      </p:sp>
      <p:sp>
        <p:nvSpPr>
          <p:cNvPr id="22" name="Shape 20"/>
          <p:cNvSpPr/>
          <p:nvPr/>
        </p:nvSpPr>
        <p:spPr>
          <a:xfrm>
            <a:off x="594360" y="4928616"/>
            <a:ext cx="50292" cy="960120"/>
          </a:xfrm>
          <a:prstGeom prst="rect">
            <a:avLst/>
          </a:prstGeom>
          <a:solidFill>
            <a:srgbClr val="8A8AC4"/>
          </a:solidFill>
          <a:ln w="12700">
            <a:solidFill>
              <a:srgbClr val="8A8AC4"/>
            </a:solidFill>
            <a:prstDash val="solid"/>
          </a:ln>
        </p:spPr>
      </p:sp>
      <p:sp>
        <p:nvSpPr>
          <p:cNvPr id="23" name="Shape 21"/>
          <p:cNvSpPr/>
          <p:nvPr/>
        </p:nvSpPr>
        <p:spPr>
          <a:xfrm>
            <a:off x="795528" y="5225796"/>
            <a:ext cx="365760" cy="365760"/>
          </a:xfrm>
          <a:prstGeom prst="ellipse">
            <a:avLst/>
          </a:prstGeom>
          <a:solidFill>
            <a:srgbClr val="3333B3"/>
          </a:solidFill>
          <a:ln w="12700">
            <a:solidFill>
              <a:srgbClr val="3333B3"/>
            </a:solidFill>
            <a:prstDash val="solid"/>
          </a:ln>
        </p:spPr>
      </p:sp>
      <p:sp>
        <p:nvSpPr>
          <p:cNvPr id="24" name="Text 22"/>
          <p:cNvSpPr txBox="1"/>
          <p:nvPr/>
        </p:nvSpPr>
        <p:spPr>
          <a:xfrm>
            <a:off x="795528" y="522579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4</a:t>
            </a:r>
            <a:endParaRPr lang="en-US" sz="1300" dirty="0"/>
          </a:p>
        </p:txBody>
      </p:sp>
      <p:sp>
        <p:nvSpPr>
          <p:cNvPr id="25" name="Text 23"/>
          <p:cNvSpPr txBox="1"/>
          <p:nvPr/>
        </p:nvSpPr>
        <p:spPr>
          <a:xfrm>
            <a:off x="1325880" y="4928616"/>
            <a:ext cx="5998464" cy="960120"/>
          </a:xfrm>
          <a:prstGeom prst="rect">
            <a:avLst/>
          </a:prstGeom>
          <a:noFill/>
          <a:ln/>
        </p:spPr>
        <p:txBody>
          <a:bodyPr wrap="square" lIns="0" tIns="0" rIns="0" bIns="0" rtlCol="0" anchor="ctr"/>
          <a:lstStyle/>
          <a:p>
            <a:pPr indent="0" marL="0">
              <a:buNone/>
            </a:pPr>
            <a:r>
              <a:rPr lang="en-US" sz="1350" b="1" dirty="0">
                <a:solidFill>
                  <a:srgbClr val="FFFFFF"/>
                </a:solidFill>
                <a:latin typeface="Cambria" pitchFamily="34" charset="0"/>
                <a:ea typeface="Cambria" pitchFamily="34" charset="-122"/>
                <a:cs typeface="Cambria" pitchFamily="34" charset="-120"/>
              </a:rPr>
              <a:t>What is your slowest query?</a:t>
            </a:r>
            <a:endParaRPr lang="en-US" sz="1350" dirty="0"/>
          </a:p>
          <a:p>
            <a:pPr indent="0" marL="0">
              <a:buNone/>
            </a:pPr>
            <a:r>
              <a:rPr lang="en-US" sz="1100" dirty="0">
                <a:solidFill>
                  <a:srgbClr val="D9D9EF"/>
                </a:solidFill>
                <a:latin typeface="Cambria" pitchFamily="34" charset="0"/>
                <a:ea typeface="Cambria" pitchFamily="34" charset="-122"/>
                <a:cs typeface="Cambria" pitchFamily="34" charset="-120"/>
              </a:rPr>
              <a:t>Bring it on Day 5 and we will tune it together.</a:t>
            </a:r>
            <a:endParaRPr lang="en-US" sz="1350" dirty="0"/>
          </a:p>
        </p:txBody>
      </p:sp>
      <p:sp>
        <p:nvSpPr>
          <p:cNvPr id="26" name="Shape 24"/>
          <p:cNvSpPr/>
          <p:nvPr/>
        </p:nvSpPr>
        <p:spPr>
          <a:xfrm>
            <a:off x="7635240" y="1664208"/>
            <a:ext cx="3959352" cy="402336"/>
          </a:xfrm>
          <a:prstGeom prst="rect">
            <a:avLst/>
          </a:prstGeom>
          <a:solidFill>
            <a:srgbClr val="5050A8"/>
          </a:solidFill>
          <a:ln w="12700">
            <a:solidFill>
              <a:srgbClr val="5050A8"/>
            </a:solidFill>
            <a:prstDash val="solid"/>
          </a:ln>
        </p:spPr>
      </p:sp>
      <p:sp>
        <p:nvSpPr>
          <p:cNvPr id="27" name="Text 25"/>
          <p:cNvSpPr txBox="1"/>
          <p:nvPr/>
        </p:nvSpPr>
        <p:spPr>
          <a:xfrm>
            <a:off x="7818120" y="1664208"/>
            <a:ext cx="3593592" cy="402336"/>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Running it</a:t>
            </a:r>
            <a:endParaRPr lang="en-US" sz="1500" dirty="0"/>
          </a:p>
        </p:txBody>
      </p:sp>
      <p:sp>
        <p:nvSpPr>
          <p:cNvPr id="28" name="Shape 26"/>
          <p:cNvSpPr/>
          <p:nvPr/>
        </p:nvSpPr>
        <p:spPr>
          <a:xfrm>
            <a:off x="7635240" y="2066544"/>
            <a:ext cx="3959352" cy="3803904"/>
          </a:xfrm>
          <a:prstGeom prst="rect">
            <a:avLst/>
          </a:prstGeom>
          <a:solidFill>
            <a:srgbClr val="3B3B96"/>
          </a:solidFill>
          <a:ln w="9525">
            <a:solidFill>
              <a:srgbClr val="5050A8"/>
            </a:solidFill>
            <a:prstDash val="solid"/>
          </a:ln>
        </p:spPr>
      </p:sp>
      <p:sp>
        <p:nvSpPr>
          <p:cNvPr id="29" name="Text 27"/>
          <p:cNvSpPr txBox="1"/>
          <p:nvPr/>
        </p:nvSpPr>
        <p:spPr>
          <a:xfrm>
            <a:off x="7854696" y="2212848"/>
            <a:ext cx="3520440" cy="3529584"/>
          </a:xfrm>
          <a:prstGeom prst="rect">
            <a:avLst/>
          </a:prstGeom>
          <a:noFill/>
          <a:ln/>
        </p:spPr>
        <p:txBody>
          <a:bodyPr wrap="square" lIns="0" tIns="0" rIns="0" bIns="0" rtlCol="0" anchor="t"/>
          <a:lstStyle/>
          <a:p>
            <a:pPr marL="177800" indent="-177800">
              <a:spcAft>
                <a:spcPts val="700"/>
              </a:spcAft>
              <a:buSzPct val="100000"/>
              <a:buChar char="▸"/>
            </a:pPr>
            <a:r>
              <a:rPr lang="en-US" sz="1200" dirty="0">
                <a:solidFill>
                  <a:srgbClr val="D9D9EF"/>
                </a:solidFill>
                <a:latin typeface="Cambria" pitchFamily="34" charset="0"/>
                <a:ea typeface="Cambria" pitchFamily="34" charset="-122"/>
                <a:cs typeface="Cambria" pitchFamily="34" charset="-120"/>
              </a:rPr>
              <a:t>Two minutes in pairs, then three answers</a:t>
            </a:r>
            <a:endParaRPr lang="en-US" sz="1200" dirty="0"/>
          </a:p>
          <a:p>
            <a:pPr marL="177800" indent="-177800">
              <a:spcAft>
                <a:spcPts val="700"/>
              </a:spcAft>
              <a:buSzPct val="100000"/>
              <a:buChar char="▸"/>
            </a:pPr>
            <a:r>
              <a:rPr lang="en-US" sz="1200" dirty="0">
                <a:solidFill>
                  <a:srgbClr val="D9D9EF"/>
                </a:solidFill>
                <a:latin typeface="Cambria" pitchFamily="34" charset="0"/>
                <a:ea typeface="Cambria" pitchFamily="34" charset="-122"/>
                <a:cs typeface="Cambria" pitchFamily="34" charset="-120"/>
              </a:rPr>
              <a:t>Collect the slow queries — they become the Day 5 material</a:t>
            </a:r>
            <a:endParaRPr lang="en-US" sz="1200" dirty="0"/>
          </a:p>
          <a:p>
            <a:pPr marL="177800" indent="-177800">
              <a:spcAft>
                <a:spcPts val="700"/>
              </a:spcAft>
              <a:buSzPct val="100000"/>
              <a:buChar char="▸"/>
            </a:pPr>
            <a:r>
              <a:rPr lang="en-US" sz="1200" dirty="0">
                <a:solidFill>
                  <a:srgbClr val="D9D9EF"/>
                </a:solidFill>
                <a:latin typeface="Cambria" pitchFamily="34" charset="0"/>
                <a:ea typeface="Cambria" pitchFamily="34" charset="-122"/>
                <a:cs typeface="Cambria" pitchFamily="34" charset="-120"/>
              </a:rPr>
              <a:t>If nobody owns the schema, that is worth saying out loud</a:t>
            </a:r>
            <a:endParaRPr lang="en-US" sz="1200" dirty="0"/>
          </a:p>
        </p:txBody>
      </p:sp>
      <p:sp>
        <p:nvSpPr>
          <p:cNvPr id="30" name="Shape 28"/>
          <p:cNvSpPr/>
          <p:nvPr/>
        </p:nvSpPr>
        <p:spPr>
          <a:xfrm>
            <a:off x="0" y="6400800"/>
            <a:ext cx="3840480" cy="457200"/>
          </a:xfrm>
          <a:prstGeom prst="rect">
            <a:avLst/>
          </a:prstGeom>
          <a:solidFill>
            <a:srgbClr val="5050A8"/>
          </a:solidFill>
          <a:ln w="12700">
            <a:solidFill>
              <a:srgbClr val="5050A8"/>
            </a:solidFill>
            <a:prstDash val="solid"/>
          </a:ln>
        </p:spPr>
      </p:sp>
      <p:sp>
        <p:nvSpPr>
          <p:cNvPr id="31" name="Text 29"/>
          <p:cNvSpPr txBox="1"/>
          <p:nvPr/>
        </p:nvSpPr>
        <p:spPr>
          <a:xfrm>
            <a:off x="164592" y="6400800"/>
            <a:ext cx="3511296" cy="457200"/>
          </a:xfrm>
          <a:prstGeom prst="rect">
            <a:avLst/>
          </a:prstGeom>
          <a:noFill/>
          <a:ln/>
        </p:spPr>
        <p:txBody>
          <a:bodyPr wrap="square" lIns="0" tIns="0" rIns="0" bIns="0" rtlCol="0" anchor="ctr"/>
          <a:lstStyle/>
          <a:p>
            <a:pPr algn="l" indent="0" marL="0">
              <a:buNone/>
            </a:pPr>
            <a:r>
              <a:rPr lang="en-US" sz="950" dirty="0">
                <a:solidFill>
                  <a:srgbClr val="FFFFFF"/>
                </a:solidFill>
                <a:latin typeface="Cambria" pitchFamily="34" charset="0"/>
                <a:ea typeface="Cambria" pitchFamily="34" charset="-122"/>
                <a:cs typeface="Cambria" pitchFamily="34" charset="-120"/>
              </a:rPr>
              <a:t>HAL  ·  .NET, React &amp; SQL Programme</a:t>
            </a:r>
            <a:endParaRPr lang="en-US" sz="950" dirty="0"/>
          </a:p>
        </p:txBody>
      </p:sp>
      <p:sp>
        <p:nvSpPr>
          <p:cNvPr id="32" name="Shape 30"/>
          <p:cNvSpPr/>
          <p:nvPr/>
        </p:nvSpPr>
        <p:spPr>
          <a:xfrm>
            <a:off x="3840480" y="6400800"/>
            <a:ext cx="6675120" cy="457200"/>
          </a:xfrm>
          <a:prstGeom prst="rect">
            <a:avLst/>
          </a:prstGeom>
          <a:solidFill>
            <a:srgbClr val="3B3B96"/>
          </a:solidFill>
          <a:ln w="12700">
            <a:solidFill>
              <a:srgbClr val="3B3B96"/>
            </a:solidFill>
            <a:prstDash val="solid"/>
          </a:ln>
        </p:spPr>
      </p:sp>
      <p:sp>
        <p:nvSpPr>
          <p:cNvPr id="33" name="Text 31"/>
          <p:cNvSpPr txBox="1"/>
          <p:nvPr/>
        </p:nvSpPr>
        <p:spPr>
          <a:xfrm>
            <a:off x="4005072" y="6400800"/>
            <a:ext cx="6345936" cy="457200"/>
          </a:xfrm>
          <a:prstGeom prst="rect">
            <a:avLst/>
          </a:prstGeom>
          <a:noFill/>
          <a:ln/>
        </p:spPr>
        <p:txBody>
          <a:bodyPr wrap="square" lIns="0" tIns="0" rIns="0" bIns="0" rtlCol="0" anchor="ctr"/>
          <a:lstStyle/>
          <a:p>
            <a:pPr algn="l" indent="0" marL="0">
              <a:buNone/>
            </a:pPr>
            <a:r>
              <a:rPr lang="en-US" sz="950" dirty="0">
                <a:solidFill>
                  <a:srgbClr val="FFFFFF"/>
                </a:solidFill>
                <a:latin typeface="Cambria" pitchFamily="34" charset="0"/>
                <a:ea typeface="Cambria" pitchFamily="34" charset="-122"/>
                <a:cs typeface="Cambria" pitchFamily="34" charset="-120"/>
              </a:rPr>
              <a:t>Day 2 · Session 2 — Connecting the API to Data</a:t>
            </a:r>
            <a:endParaRPr lang="en-US" sz="950" dirty="0"/>
          </a:p>
        </p:txBody>
      </p:sp>
      <p:sp>
        <p:nvSpPr>
          <p:cNvPr id="34" name="Shape 32"/>
          <p:cNvSpPr/>
          <p:nvPr/>
        </p:nvSpPr>
        <p:spPr>
          <a:xfrm>
            <a:off x="10515600" y="6400800"/>
            <a:ext cx="1676095" cy="457200"/>
          </a:xfrm>
          <a:prstGeom prst="rect">
            <a:avLst/>
          </a:prstGeom>
          <a:solidFill>
            <a:srgbClr val="5050A8"/>
          </a:solidFill>
          <a:ln w="12700">
            <a:solidFill>
              <a:srgbClr val="5050A8"/>
            </a:solidFill>
            <a:prstDash val="solid"/>
          </a:ln>
        </p:spPr>
      </p:sp>
      <p:sp>
        <p:nvSpPr>
          <p:cNvPr id="35" name="Text 33"/>
          <p:cNvSpPr txBox="1"/>
          <p:nvPr/>
        </p:nvSpPr>
        <p:spPr>
          <a:xfrm>
            <a:off x="10680192" y="6400800"/>
            <a:ext cx="1346911" cy="457200"/>
          </a:xfrm>
          <a:prstGeom prst="rect">
            <a:avLst/>
          </a:prstGeom>
          <a:noFill/>
          <a:ln/>
        </p:spPr>
        <p:txBody>
          <a:bodyPr wrap="square" lIns="0" tIns="0" rIns="0" bIns="0" rtlCol="0" anchor="ctr"/>
          <a:lstStyle/>
          <a:p>
            <a:pPr algn="ctr" indent="0" marL="0">
              <a:buNone/>
            </a:pPr>
            <a:r>
              <a:rPr lang="en-US" sz="950" dirty="0">
                <a:solidFill>
                  <a:srgbClr val="FFFFFF"/>
                </a:solidFill>
                <a:latin typeface="Cambria" pitchFamily="34" charset="0"/>
                <a:ea typeface="Cambria" pitchFamily="34" charset="-122"/>
                <a:cs typeface="Cambria" pitchFamily="34" charset="-120"/>
              </a:rPr>
              <a:t>11</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2B2B7F"/>
        </a:solidFill>
      </p:bgPr>
    </p:bg>
    <p:spTree>
      <p:nvGrpSpPr>
        <p:cNvPr id="1" name=""/>
        <p:cNvGrpSpPr/>
        <p:nvPr/>
      </p:nvGrpSpPr>
      <p:grpSpPr>
        <a:xfrm>
          <a:off x="0" y="0"/>
          <a:ext cx="0" cy="0"/>
          <a:chOff x="0" y="0"/>
          <a:chExt cx="0" cy="0"/>
        </a:xfrm>
      </p:grpSpPr>
      <p:sp>
        <p:nvSpPr>
          <p:cNvPr id="2" name="Shape 0"/>
          <p:cNvSpPr/>
          <p:nvPr/>
        </p:nvSpPr>
        <p:spPr>
          <a:xfrm>
            <a:off x="0" y="0"/>
            <a:ext cx="12191695" cy="365760"/>
          </a:xfrm>
          <a:prstGeom prst="rect">
            <a:avLst/>
          </a:prstGeom>
          <a:solidFill>
            <a:srgbClr val="5050A8"/>
          </a:solidFill>
          <a:ln w="12700">
            <a:solidFill>
              <a:srgbClr val="5050A8"/>
            </a:solidFill>
            <a:prstDash val="solid"/>
          </a:ln>
        </p:spPr>
      </p:sp>
      <p:sp>
        <p:nvSpPr>
          <p:cNvPr id="3" name="Text 1"/>
          <p:cNvSpPr txBox="1"/>
          <p:nvPr/>
        </p:nvSpPr>
        <p:spPr>
          <a:xfrm>
            <a:off x="594360" y="0"/>
            <a:ext cx="11002975" cy="365760"/>
          </a:xfrm>
          <a:prstGeom prst="rect">
            <a:avLst/>
          </a:prstGeom>
          <a:noFill/>
          <a:ln/>
        </p:spPr>
        <p:txBody>
          <a:bodyPr wrap="square" lIns="0" tIns="0" rIns="0" bIns="0" rtlCol="0" anchor="ctr"/>
          <a:lstStyle/>
          <a:p>
            <a:pPr indent="0" marL="0">
              <a:buNone/>
            </a:pPr>
            <a:r>
              <a:rPr lang="en-US" sz="1000" b="1" spc="180" kern="0" dirty="0">
                <a:solidFill>
                  <a:srgbClr val="C9C9EA"/>
                </a:solidFill>
                <a:latin typeface="Cambria" pitchFamily="34" charset="0"/>
                <a:ea typeface="Cambria" pitchFamily="34" charset="-122"/>
                <a:cs typeface="Cambria" pitchFamily="34" charset="-120"/>
              </a:rPr>
              <a:t>HANDS-ON · 40 MINUTES</a:t>
            </a:r>
            <a:endParaRPr lang="en-US" sz="1000" dirty="0"/>
          </a:p>
        </p:txBody>
      </p:sp>
      <p:sp>
        <p:nvSpPr>
          <p:cNvPr id="4" name="Shape 2"/>
          <p:cNvSpPr/>
          <p:nvPr/>
        </p:nvSpPr>
        <p:spPr>
          <a:xfrm>
            <a:off x="0" y="365760"/>
            <a:ext cx="12191695" cy="841248"/>
          </a:xfrm>
          <a:prstGeom prst="rect">
            <a:avLst/>
          </a:prstGeom>
          <a:solidFill>
            <a:srgbClr val="3B3B96"/>
          </a:solidFill>
          <a:ln w="12700">
            <a:solidFill>
              <a:srgbClr val="3B3B96"/>
            </a:solidFill>
            <a:prstDash val="solid"/>
          </a:ln>
        </p:spPr>
      </p:sp>
      <p:sp>
        <p:nvSpPr>
          <p:cNvPr id="5" name="Text 3"/>
          <p:cNvSpPr txBox="1"/>
          <p:nvPr/>
        </p:nvSpPr>
        <p:spPr>
          <a:xfrm>
            <a:off x="594360" y="365760"/>
            <a:ext cx="10607040" cy="841248"/>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An API for the Parts table</a:t>
            </a:r>
            <a:endParaRPr lang="en-US" sz="2600" dirty="0"/>
          </a:p>
        </p:txBody>
      </p:sp>
      <p:sp>
        <p:nvSpPr>
          <p:cNvPr id="6" name="Text 4"/>
          <p:cNvSpPr txBox="1"/>
          <p:nvPr/>
        </p:nvSpPr>
        <p:spPr>
          <a:xfrm>
            <a:off x="594360" y="1298448"/>
            <a:ext cx="10607040" cy="292608"/>
          </a:xfrm>
          <a:prstGeom prst="rect">
            <a:avLst/>
          </a:prstGeom>
          <a:noFill/>
          <a:ln/>
        </p:spPr>
        <p:txBody>
          <a:bodyPr wrap="square" lIns="0" tIns="0" rIns="0" bIns="0" rtlCol="0" anchor="ctr"/>
          <a:lstStyle/>
          <a:p>
            <a:pPr indent="0" marL="0">
              <a:buNone/>
            </a:pPr>
            <a:r>
              <a:rPr lang="en-US" sz="1350" i="1" dirty="0">
                <a:solidFill>
                  <a:srgbClr val="D9D9EF"/>
                </a:solidFill>
                <a:latin typeface="Cambria" pitchFamily="34" charset="0"/>
                <a:ea typeface="Cambria" pitchFamily="34" charset="-122"/>
                <a:cs typeface="Cambria" pitchFamily="34" charset="-120"/>
              </a:rPr>
              <a:t>Replace the in-memory list with SQL Server, without changing the controller.</a:t>
            </a:r>
            <a:endParaRPr lang="en-US" sz="1350" dirty="0"/>
          </a:p>
        </p:txBody>
      </p:sp>
      <p:sp>
        <p:nvSpPr>
          <p:cNvPr id="7" name="Text 5"/>
          <p:cNvSpPr txBox="1"/>
          <p:nvPr/>
        </p:nvSpPr>
        <p:spPr>
          <a:xfrm>
            <a:off x="594360" y="1828800"/>
            <a:ext cx="3657600" cy="237744"/>
          </a:xfrm>
          <a:prstGeom prst="rect">
            <a:avLst/>
          </a:prstGeom>
          <a:noFill/>
          <a:ln/>
        </p:spPr>
        <p:txBody>
          <a:bodyPr wrap="square" lIns="0" tIns="0" rIns="0" bIns="0" rtlCol="0" anchor="ctr"/>
          <a:lstStyle/>
          <a:p>
            <a:pPr indent="0" marL="0">
              <a:buNone/>
            </a:pPr>
            <a:r>
              <a:rPr lang="en-US" sz="1050" b="1" spc="140" kern="0" dirty="0">
                <a:solidFill>
                  <a:srgbClr val="C9C9EA"/>
                </a:solidFill>
                <a:latin typeface="Cambria" pitchFamily="34" charset="0"/>
                <a:ea typeface="Cambria" pitchFamily="34" charset="-122"/>
                <a:cs typeface="Cambria" pitchFamily="34" charset="-120"/>
              </a:rPr>
              <a:t>YOUR TASKS</a:t>
            </a:r>
            <a:endParaRPr lang="en-US" sz="1050" dirty="0"/>
          </a:p>
        </p:txBody>
      </p:sp>
      <p:sp>
        <p:nvSpPr>
          <p:cNvPr id="8" name="Shape 6"/>
          <p:cNvSpPr/>
          <p:nvPr/>
        </p:nvSpPr>
        <p:spPr>
          <a:xfrm>
            <a:off x="594360" y="2176272"/>
            <a:ext cx="6035040" cy="502920"/>
          </a:xfrm>
          <a:prstGeom prst="rect">
            <a:avLst/>
          </a:prstGeom>
          <a:solidFill>
            <a:srgbClr val="3B3B96"/>
          </a:solidFill>
          <a:ln w="9525">
            <a:solidFill>
              <a:srgbClr val="5050A8"/>
            </a:solidFill>
            <a:prstDash val="solid"/>
          </a:ln>
        </p:spPr>
      </p:sp>
      <p:sp>
        <p:nvSpPr>
          <p:cNvPr id="9" name="Shape 7"/>
          <p:cNvSpPr/>
          <p:nvPr/>
        </p:nvSpPr>
        <p:spPr>
          <a:xfrm>
            <a:off x="594360" y="2176272"/>
            <a:ext cx="50292" cy="502920"/>
          </a:xfrm>
          <a:prstGeom prst="rect">
            <a:avLst/>
          </a:prstGeom>
          <a:solidFill>
            <a:srgbClr val="8A8AC4"/>
          </a:solidFill>
          <a:ln w="12700">
            <a:solidFill>
              <a:srgbClr val="8A8AC4"/>
            </a:solidFill>
            <a:prstDash val="solid"/>
          </a:ln>
        </p:spPr>
      </p:sp>
      <p:sp>
        <p:nvSpPr>
          <p:cNvPr id="10" name="Shape 8"/>
          <p:cNvSpPr/>
          <p:nvPr/>
        </p:nvSpPr>
        <p:spPr>
          <a:xfrm>
            <a:off x="795528" y="2244852"/>
            <a:ext cx="365760" cy="365760"/>
          </a:xfrm>
          <a:prstGeom prst="ellipse">
            <a:avLst/>
          </a:prstGeom>
          <a:solidFill>
            <a:srgbClr val="3333B3"/>
          </a:solidFill>
          <a:ln w="12700">
            <a:solidFill>
              <a:srgbClr val="3333B3"/>
            </a:solidFill>
            <a:prstDash val="solid"/>
          </a:ln>
        </p:spPr>
      </p:sp>
      <p:sp>
        <p:nvSpPr>
          <p:cNvPr id="11" name="Text 9"/>
          <p:cNvSpPr txBox="1"/>
          <p:nvPr/>
        </p:nvSpPr>
        <p:spPr>
          <a:xfrm>
            <a:off x="795528" y="224485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12" name="Text 10"/>
          <p:cNvSpPr txBox="1"/>
          <p:nvPr/>
        </p:nvSpPr>
        <p:spPr>
          <a:xfrm>
            <a:off x="1325880" y="2176272"/>
            <a:ext cx="5084064" cy="502920"/>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Install the EF Core packages</a:t>
            </a:r>
            <a:endParaRPr lang="en-US" sz="1300" dirty="0"/>
          </a:p>
          <a:p>
            <a:pPr indent="0" marL="0">
              <a:buNone/>
            </a:pPr>
            <a:r>
              <a:rPr lang="en-US" sz="1100" dirty="0">
                <a:solidFill>
                  <a:srgbClr val="D9D9EF"/>
                </a:solidFill>
                <a:latin typeface="Cambria" pitchFamily="34" charset="0"/>
                <a:ea typeface="Cambria" pitchFamily="34" charset="-122"/>
                <a:cs typeface="Cambria" pitchFamily="34" charset="-120"/>
              </a:rPr>
              <a:t>SqlServer and Tools</a:t>
            </a:r>
            <a:endParaRPr lang="en-US" sz="1300" dirty="0"/>
          </a:p>
        </p:txBody>
      </p:sp>
      <p:sp>
        <p:nvSpPr>
          <p:cNvPr id="13" name="Shape 11"/>
          <p:cNvSpPr/>
          <p:nvPr/>
        </p:nvSpPr>
        <p:spPr>
          <a:xfrm>
            <a:off x="594360" y="2788920"/>
            <a:ext cx="6035040" cy="502920"/>
          </a:xfrm>
          <a:prstGeom prst="rect">
            <a:avLst/>
          </a:prstGeom>
          <a:solidFill>
            <a:srgbClr val="3B3B96"/>
          </a:solidFill>
          <a:ln w="9525">
            <a:solidFill>
              <a:srgbClr val="5050A8"/>
            </a:solidFill>
            <a:prstDash val="solid"/>
          </a:ln>
        </p:spPr>
      </p:sp>
      <p:sp>
        <p:nvSpPr>
          <p:cNvPr id="14" name="Shape 12"/>
          <p:cNvSpPr/>
          <p:nvPr/>
        </p:nvSpPr>
        <p:spPr>
          <a:xfrm>
            <a:off x="594360" y="2788920"/>
            <a:ext cx="50292" cy="502920"/>
          </a:xfrm>
          <a:prstGeom prst="rect">
            <a:avLst/>
          </a:prstGeom>
          <a:solidFill>
            <a:srgbClr val="8A8AC4"/>
          </a:solidFill>
          <a:ln w="12700">
            <a:solidFill>
              <a:srgbClr val="8A8AC4"/>
            </a:solidFill>
            <a:prstDash val="solid"/>
          </a:ln>
        </p:spPr>
      </p:sp>
      <p:sp>
        <p:nvSpPr>
          <p:cNvPr id="15" name="Shape 13"/>
          <p:cNvSpPr/>
          <p:nvPr/>
        </p:nvSpPr>
        <p:spPr>
          <a:xfrm>
            <a:off x="795528" y="2857500"/>
            <a:ext cx="365760" cy="365760"/>
          </a:xfrm>
          <a:prstGeom prst="ellipse">
            <a:avLst/>
          </a:prstGeom>
          <a:solidFill>
            <a:srgbClr val="3333B3"/>
          </a:solidFill>
          <a:ln w="12700">
            <a:solidFill>
              <a:srgbClr val="3333B3"/>
            </a:solidFill>
            <a:prstDash val="solid"/>
          </a:ln>
        </p:spPr>
      </p:sp>
      <p:sp>
        <p:nvSpPr>
          <p:cNvPr id="16" name="Text 14"/>
          <p:cNvSpPr txBox="1"/>
          <p:nvPr/>
        </p:nvSpPr>
        <p:spPr>
          <a:xfrm>
            <a:off x="795528" y="285750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17" name="Text 15"/>
          <p:cNvSpPr txBox="1"/>
          <p:nvPr/>
        </p:nvSpPr>
        <p:spPr>
          <a:xfrm>
            <a:off x="1325880" y="2788920"/>
            <a:ext cx="5084064" cy="502920"/>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Create AppDbContext</a:t>
            </a:r>
            <a:endParaRPr lang="en-US" sz="1300" dirty="0"/>
          </a:p>
          <a:p>
            <a:pPr indent="0" marL="0">
              <a:buNone/>
            </a:pPr>
            <a:r>
              <a:rPr lang="en-US" sz="1100" dirty="0">
                <a:solidFill>
                  <a:srgbClr val="D9D9EF"/>
                </a:solidFill>
                <a:latin typeface="Cambria" pitchFamily="34" charset="0"/>
                <a:ea typeface="Cambria" pitchFamily="34" charset="-122"/>
                <a:cs typeface="Cambria" pitchFamily="34" charset="-120"/>
              </a:rPr>
              <a:t>With a DbSet&lt;SparePart&gt;</a:t>
            </a:r>
            <a:endParaRPr lang="en-US" sz="1300" dirty="0"/>
          </a:p>
        </p:txBody>
      </p:sp>
      <p:sp>
        <p:nvSpPr>
          <p:cNvPr id="18" name="Shape 16"/>
          <p:cNvSpPr/>
          <p:nvPr/>
        </p:nvSpPr>
        <p:spPr>
          <a:xfrm>
            <a:off x="594360" y="3401568"/>
            <a:ext cx="6035040" cy="502920"/>
          </a:xfrm>
          <a:prstGeom prst="rect">
            <a:avLst/>
          </a:prstGeom>
          <a:solidFill>
            <a:srgbClr val="3B3B96"/>
          </a:solidFill>
          <a:ln w="9525">
            <a:solidFill>
              <a:srgbClr val="5050A8"/>
            </a:solidFill>
            <a:prstDash val="solid"/>
          </a:ln>
        </p:spPr>
      </p:sp>
      <p:sp>
        <p:nvSpPr>
          <p:cNvPr id="19" name="Shape 17"/>
          <p:cNvSpPr/>
          <p:nvPr/>
        </p:nvSpPr>
        <p:spPr>
          <a:xfrm>
            <a:off x="594360" y="3401568"/>
            <a:ext cx="50292" cy="502920"/>
          </a:xfrm>
          <a:prstGeom prst="rect">
            <a:avLst/>
          </a:prstGeom>
          <a:solidFill>
            <a:srgbClr val="8A8AC4"/>
          </a:solidFill>
          <a:ln w="12700">
            <a:solidFill>
              <a:srgbClr val="8A8AC4"/>
            </a:solidFill>
            <a:prstDash val="solid"/>
          </a:ln>
        </p:spPr>
      </p:sp>
      <p:sp>
        <p:nvSpPr>
          <p:cNvPr id="20" name="Shape 18"/>
          <p:cNvSpPr/>
          <p:nvPr/>
        </p:nvSpPr>
        <p:spPr>
          <a:xfrm>
            <a:off x="795528" y="3470148"/>
            <a:ext cx="365760" cy="365760"/>
          </a:xfrm>
          <a:prstGeom prst="ellipse">
            <a:avLst/>
          </a:prstGeom>
          <a:solidFill>
            <a:srgbClr val="3333B3"/>
          </a:solidFill>
          <a:ln w="12700">
            <a:solidFill>
              <a:srgbClr val="3333B3"/>
            </a:solidFill>
            <a:prstDash val="solid"/>
          </a:ln>
        </p:spPr>
      </p:sp>
      <p:sp>
        <p:nvSpPr>
          <p:cNvPr id="21" name="Text 19"/>
          <p:cNvSpPr txBox="1"/>
          <p:nvPr/>
        </p:nvSpPr>
        <p:spPr>
          <a:xfrm>
            <a:off x="795528" y="347014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22" name="Text 20"/>
          <p:cNvSpPr txBox="1"/>
          <p:nvPr/>
        </p:nvSpPr>
        <p:spPr>
          <a:xfrm>
            <a:off x="1325880" y="3401568"/>
            <a:ext cx="5084064" cy="502920"/>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Add the connection string</a:t>
            </a:r>
            <a:endParaRPr lang="en-US" sz="1300" dirty="0"/>
          </a:p>
          <a:p>
            <a:pPr indent="0" marL="0">
              <a:buNone/>
            </a:pPr>
            <a:r>
              <a:rPr lang="en-US" sz="1100" dirty="0">
                <a:solidFill>
                  <a:srgbClr val="D9D9EF"/>
                </a:solidFill>
                <a:latin typeface="Cambria" pitchFamily="34" charset="0"/>
                <a:ea typeface="Cambria" pitchFamily="34" charset="-122"/>
                <a:cs typeface="Cambria" pitchFamily="34" charset="-120"/>
              </a:rPr>
              <a:t>appsettings.json, not source code</a:t>
            </a:r>
            <a:endParaRPr lang="en-US" sz="1300" dirty="0"/>
          </a:p>
        </p:txBody>
      </p:sp>
      <p:sp>
        <p:nvSpPr>
          <p:cNvPr id="23" name="Shape 21"/>
          <p:cNvSpPr/>
          <p:nvPr/>
        </p:nvSpPr>
        <p:spPr>
          <a:xfrm>
            <a:off x="594360" y="4014216"/>
            <a:ext cx="6035040" cy="502920"/>
          </a:xfrm>
          <a:prstGeom prst="rect">
            <a:avLst/>
          </a:prstGeom>
          <a:solidFill>
            <a:srgbClr val="3B3B96"/>
          </a:solidFill>
          <a:ln w="9525">
            <a:solidFill>
              <a:srgbClr val="5050A8"/>
            </a:solidFill>
            <a:prstDash val="solid"/>
          </a:ln>
        </p:spPr>
      </p:sp>
      <p:sp>
        <p:nvSpPr>
          <p:cNvPr id="24" name="Shape 22"/>
          <p:cNvSpPr/>
          <p:nvPr/>
        </p:nvSpPr>
        <p:spPr>
          <a:xfrm>
            <a:off x="594360" y="4014216"/>
            <a:ext cx="50292" cy="502920"/>
          </a:xfrm>
          <a:prstGeom prst="rect">
            <a:avLst/>
          </a:prstGeom>
          <a:solidFill>
            <a:srgbClr val="8A8AC4"/>
          </a:solidFill>
          <a:ln w="12700">
            <a:solidFill>
              <a:srgbClr val="8A8AC4"/>
            </a:solidFill>
            <a:prstDash val="solid"/>
          </a:ln>
        </p:spPr>
      </p:sp>
      <p:sp>
        <p:nvSpPr>
          <p:cNvPr id="25" name="Shape 23"/>
          <p:cNvSpPr/>
          <p:nvPr/>
        </p:nvSpPr>
        <p:spPr>
          <a:xfrm>
            <a:off x="795528" y="4082796"/>
            <a:ext cx="365760" cy="365760"/>
          </a:xfrm>
          <a:prstGeom prst="ellipse">
            <a:avLst/>
          </a:prstGeom>
          <a:solidFill>
            <a:srgbClr val="3333B3"/>
          </a:solidFill>
          <a:ln w="12700">
            <a:solidFill>
              <a:srgbClr val="3333B3"/>
            </a:solidFill>
            <a:prstDash val="solid"/>
          </a:ln>
        </p:spPr>
      </p:sp>
      <p:sp>
        <p:nvSpPr>
          <p:cNvPr id="26" name="Text 24"/>
          <p:cNvSpPr txBox="1"/>
          <p:nvPr/>
        </p:nvSpPr>
        <p:spPr>
          <a:xfrm>
            <a:off x="795528" y="408279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4</a:t>
            </a:r>
            <a:endParaRPr lang="en-US" sz="1300" dirty="0"/>
          </a:p>
        </p:txBody>
      </p:sp>
      <p:sp>
        <p:nvSpPr>
          <p:cNvPr id="27" name="Text 25"/>
          <p:cNvSpPr txBox="1"/>
          <p:nvPr/>
        </p:nvSpPr>
        <p:spPr>
          <a:xfrm>
            <a:off x="1325880" y="4014216"/>
            <a:ext cx="5084064" cy="502920"/>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Add and apply a migration</a:t>
            </a:r>
            <a:endParaRPr lang="en-US" sz="1300" dirty="0"/>
          </a:p>
          <a:p>
            <a:pPr indent="0" marL="0">
              <a:buNone/>
            </a:pPr>
            <a:r>
              <a:rPr lang="en-US" sz="1100" dirty="0">
                <a:solidFill>
                  <a:srgbClr val="D9D9EF"/>
                </a:solidFill>
                <a:latin typeface="Cambria" pitchFamily="34" charset="0"/>
                <a:ea typeface="Cambria" pitchFamily="34" charset="-122"/>
                <a:cs typeface="Cambria" pitchFamily="34" charset="-120"/>
              </a:rPr>
              <a:t>Confirm the table appears in SSMS</a:t>
            </a:r>
            <a:endParaRPr lang="en-US" sz="1300" dirty="0"/>
          </a:p>
        </p:txBody>
      </p:sp>
      <p:sp>
        <p:nvSpPr>
          <p:cNvPr id="28" name="Shape 26"/>
          <p:cNvSpPr/>
          <p:nvPr/>
        </p:nvSpPr>
        <p:spPr>
          <a:xfrm>
            <a:off x="594360" y="4626864"/>
            <a:ext cx="6035040" cy="502920"/>
          </a:xfrm>
          <a:prstGeom prst="rect">
            <a:avLst/>
          </a:prstGeom>
          <a:solidFill>
            <a:srgbClr val="3B3B96"/>
          </a:solidFill>
          <a:ln w="9525">
            <a:solidFill>
              <a:srgbClr val="5050A8"/>
            </a:solidFill>
            <a:prstDash val="solid"/>
          </a:ln>
        </p:spPr>
      </p:sp>
      <p:sp>
        <p:nvSpPr>
          <p:cNvPr id="29" name="Shape 27"/>
          <p:cNvSpPr/>
          <p:nvPr/>
        </p:nvSpPr>
        <p:spPr>
          <a:xfrm>
            <a:off x="594360" y="4626864"/>
            <a:ext cx="50292" cy="502920"/>
          </a:xfrm>
          <a:prstGeom prst="rect">
            <a:avLst/>
          </a:prstGeom>
          <a:solidFill>
            <a:srgbClr val="8A8AC4"/>
          </a:solidFill>
          <a:ln w="12700">
            <a:solidFill>
              <a:srgbClr val="8A8AC4"/>
            </a:solidFill>
            <a:prstDash val="solid"/>
          </a:ln>
        </p:spPr>
      </p:sp>
      <p:sp>
        <p:nvSpPr>
          <p:cNvPr id="30" name="Shape 28"/>
          <p:cNvSpPr/>
          <p:nvPr/>
        </p:nvSpPr>
        <p:spPr>
          <a:xfrm>
            <a:off x="795528" y="4695444"/>
            <a:ext cx="365760" cy="365760"/>
          </a:xfrm>
          <a:prstGeom prst="ellipse">
            <a:avLst/>
          </a:prstGeom>
          <a:solidFill>
            <a:srgbClr val="3333B3"/>
          </a:solidFill>
          <a:ln w="12700">
            <a:solidFill>
              <a:srgbClr val="3333B3"/>
            </a:solidFill>
            <a:prstDash val="solid"/>
          </a:ln>
        </p:spPr>
      </p:sp>
      <p:sp>
        <p:nvSpPr>
          <p:cNvPr id="31" name="Text 29"/>
          <p:cNvSpPr txBox="1"/>
          <p:nvPr/>
        </p:nvSpPr>
        <p:spPr>
          <a:xfrm>
            <a:off x="795528" y="4695444"/>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5</a:t>
            </a:r>
            <a:endParaRPr lang="en-US" sz="1300" dirty="0"/>
          </a:p>
        </p:txBody>
      </p:sp>
      <p:sp>
        <p:nvSpPr>
          <p:cNvPr id="32" name="Text 30"/>
          <p:cNvSpPr txBox="1"/>
          <p:nvPr/>
        </p:nvSpPr>
        <p:spPr>
          <a:xfrm>
            <a:off x="1325880" y="4626864"/>
            <a:ext cx="5084064" cy="502920"/>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Implement EfPartRepository</a:t>
            </a:r>
            <a:endParaRPr lang="en-US" sz="1300" dirty="0"/>
          </a:p>
          <a:p>
            <a:pPr indent="0" marL="0">
              <a:buNone/>
            </a:pPr>
            <a:r>
              <a:rPr lang="en-US" sz="1100" dirty="0">
                <a:solidFill>
                  <a:srgbClr val="D9D9EF"/>
                </a:solidFill>
                <a:latin typeface="Cambria" pitchFamily="34" charset="0"/>
                <a:ea typeface="Cambria" pitchFamily="34" charset="-122"/>
                <a:cs typeface="Cambria" pitchFamily="34" charset="-120"/>
              </a:rPr>
              <a:t>Behind the same IPartRepository interface</a:t>
            </a:r>
            <a:endParaRPr lang="en-US" sz="1300" dirty="0"/>
          </a:p>
        </p:txBody>
      </p:sp>
      <p:sp>
        <p:nvSpPr>
          <p:cNvPr id="33" name="Shape 31"/>
          <p:cNvSpPr/>
          <p:nvPr/>
        </p:nvSpPr>
        <p:spPr>
          <a:xfrm>
            <a:off x="594360" y="5239512"/>
            <a:ext cx="6035040" cy="502920"/>
          </a:xfrm>
          <a:prstGeom prst="rect">
            <a:avLst/>
          </a:prstGeom>
          <a:solidFill>
            <a:srgbClr val="3B3B96"/>
          </a:solidFill>
          <a:ln w="9525">
            <a:solidFill>
              <a:srgbClr val="5050A8"/>
            </a:solidFill>
            <a:prstDash val="solid"/>
          </a:ln>
        </p:spPr>
      </p:sp>
      <p:sp>
        <p:nvSpPr>
          <p:cNvPr id="34" name="Shape 32"/>
          <p:cNvSpPr/>
          <p:nvPr/>
        </p:nvSpPr>
        <p:spPr>
          <a:xfrm>
            <a:off x="594360" y="5239512"/>
            <a:ext cx="50292" cy="502920"/>
          </a:xfrm>
          <a:prstGeom prst="rect">
            <a:avLst/>
          </a:prstGeom>
          <a:solidFill>
            <a:srgbClr val="8A8AC4"/>
          </a:solidFill>
          <a:ln w="12700">
            <a:solidFill>
              <a:srgbClr val="8A8AC4"/>
            </a:solidFill>
            <a:prstDash val="solid"/>
          </a:ln>
        </p:spPr>
      </p:sp>
      <p:sp>
        <p:nvSpPr>
          <p:cNvPr id="35" name="Shape 33"/>
          <p:cNvSpPr/>
          <p:nvPr/>
        </p:nvSpPr>
        <p:spPr>
          <a:xfrm>
            <a:off x="795528" y="5308092"/>
            <a:ext cx="365760" cy="365760"/>
          </a:xfrm>
          <a:prstGeom prst="ellipse">
            <a:avLst/>
          </a:prstGeom>
          <a:solidFill>
            <a:srgbClr val="3333B3"/>
          </a:solidFill>
          <a:ln w="12700">
            <a:solidFill>
              <a:srgbClr val="3333B3"/>
            </a:solidFill>
            <a:prstDash val="solid"/>
          </a:ln>
        </p:spPr>
      </p:sp>
      <p:sp>
        <p:nvSpPr>
          <p:cNvPr id="36" name="Text 34"/>
          <p:cNvSpPr txBox="1"/>
          <p:nvPr/>
        </p:nvSpPr>
        <p:spPr>
          <a:xfrm>
            <a:off x="795528" y="530809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6</a:t>
            </a:r>
            <a:endParaRPr lang="en-US" sz="1300" dirty="0"/>
          </a:p>
        </p:txBody>
      </p:sp>
      <p:sp>
        <p:nvSpPr>
          <p:cNvPr id="37" name="Text 35"/>
          <p:cNvSpPr txBox="1"/>
          <p:nvPr/>
        </p:nvSpPr>
        <p:spPr>
          <a:xfrm>
            <a:off x="1325880" y="5239512"/>
            <a:ext cx="5084064" cy="502920"/>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Register it and re-test</a:t>
            </a:r>
            <a:endParaRPr lang="en-US" sz="1300" dirty="0"/>
          </a:p>
          <a:p>
            <a:pPr indent="0" marL="0">
              <a:buNone/>
            </a:pPr>
            <a:r>
              <a:rPr lang="en-US" sz="1100" dirty="0">
                <a:solidFill>
                  <a:srgbClr val="D9D9EF"/>
                </a:solidFill>
                <a:latin typeface="Cambria" pitchFamily="34" charset="0"/>
                <a:ea typeface="Cambria" pitchFamily="34" charset="-122"/>
                <a:cs typeface="Cambria" pitchFamily="34" charset="-120"/>
              </a:rPr>
              <a:t>The API code should not need to change</a:t>
            </a:r>
            <a:endParaRPr lang="en-US" sz="1300" dirty="0"/>
          </a:p>
        </p:txBody>
      </p:sp>
      <p:sp>
        <p:nvSpPr>
          <p:cNvPr id="38" name="Shape 36"/>
          <p:cNvSpPr/>
          <p:nvPr/>
        </p:nvSpPr>
        <p:spPr>
          <a:xfrm>
            <a:off x="6949440" y="1600200"/>
            <a:ext cx="4645152" cy="402336"/>
          </a:xfrm>
          <a:prstGeom prst="rect">
            <a:avLst/>
          </a:prstGeom>
          <a:solidFill>
            <a:srgbClr val="5050A8"/>
          </a:solidFill>
          <a:ln w="12700">
            <a:solidFill>
              <a:srgbClr val="5050A8"/>
            </a:solidFill>
            <a:prstDash val="solid"/>
          </a:ln>
        </p:spPr>
      </p:sp>
      <p:sp>
        <p:nvSpPr>
          <p:cNvPr id="39" name="Text 37"/>
          <p:cNvSpPr txBox="1"/>
          <p:nvPr/>
        </p:nvSpPr>
        <p:spPr>
          <a:xfrm>
            <a:off x="7132320" y="1600200"/>
            <a:ext cx="4279392" cy="402336"/>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Done when</a:t>
            </a:r>
            <a:endParaRPr lang="en-US" sz="1400" dirty="0"/>
          </a:p>
        </p:txBody>
      </p:sp>
      <p:sp>
        <p:nvSpPr>
          <p:cNvPr id="40" name="Shape 38"/>
          <p:cNvSpPr/>
          <p:nvPr/>
        </p:nvSpPr>
        <p:spPr>
          <a:xfrm>
            <a:off x="6949440" y="2002536"/>
            <a:ext cx="4645152" cy="1335024"/>
          </a:xfrm>
          <a:prstGeom prst="rect">
            <a:avLst/>
          </a:prstGeom>
          <a:solidFill>
            <a:srgbClr val="3B3B96"/>
          </a:solidFill>
          <a:ln w="9525">
            <a:solidFill>
              <a:srgbClr val="5050A8"/>
            </a:solidFill>
            <a:prstDash val="solid"/>
          </a:ln>
        </p:spPr>
      </p:sp>
      <p:sp>
        <p:nvSpPr>
          <p:cNvPr id="41" name="Text 39"/>
          <p:cNvSpPr txBox="1"/>
          <p:nvPr/>
        </p:nvSpPr>
        <p:spPr>
          <a:xfrm>
            <a:off x="7168896" y="2148840"/>
            <a:ext cx="4206240" cy="1060704"/>
          </a:xfrm>
          <a:prstGeom prst="rect">
            <a:avLst/>
          </a:prstGeom>
          <a:noFill/>
          <a:ln/>
        </p:spPr>
        <p:txBody>
          <a:bodyPr wrap="square" lIns="0" tIns="0" rIns="0" bIns="0" rtlCol="0" anchor="t"/>
          <a:lstStyle/>
          <a:p>
            <a:pPr marL="177800" indent="-177800">
              <a:spcAft>
                <a:spcPts val="700"/>
              </a:spcAft>
              <a:buSzPct val="100000"/>
              <a:buChar char="▸"/>
            </a:pPr>
            <a:r>
              <a:rPr lang="en-US" sz="1150" dirty="0">
                <a:solidFill>
                  <a:srgbClr val="D9D9EF"/>
                </a:solidFill>
                <a:latin typeface="Cambria" pitchFamily="34" charset="0"/>
                <a:ea typeface="Cambria" pitchFamily="34" charset="-122"/>
                <a:cs typeface="Cambria" pitchFamily="34" charset="-120"/>
              </a:rPr>
              <a:t>GET /api/parts returns rows that came from SQL Server</a:t>
            </a:r>
            <a:endParaRPr lang="en-US" sz="1150" dirty="0"/>
          </a:p>
          <a:p>
            <a:pPr marL="177800" indent="-177800">
              <a:spcAft>
                <a:spcPts val="700"/>
              </a:spcAft>
              <a:buSzPct val="100000"/>
              <a:buChar char="▸"/>
            </a:pPr>
            <a:r>
              <a:rPr lang="en-US" sz="1150" dirty="0">
                <a:solidFill>
                  <a:srgbClr val="D9D9EF"/>
                </a:solidFill>
                <a:latin typeface="Cambria" pitchFamily="34" charset="0"/>
                <a:ea typeface="Cambria" pitchFamily="34" charset="-122"/>
                <a:cs typeface="Cambria" pitchFamily="34" charset="-120"/>
              </a:rPr>
              <a:t>A row added through POST survives an application restart</a:t>
            </a:r>
            <a:endParaRPr lang="en-US" sz="1150" dirty="0"/>
          </a:p>
          <a:p>
            <a:pPr marL="177800" indent="-177800">
              <a:spcAft>
                <a:spcPts val="700"/>
              </a:spcAft>
              <a:buSzPct val="100000"/>
              <a:buChar char="▸"/>
            </a:pPr>
            <a:r>
              <a:rPr lang="en-US" sz="1150" dirty="0">
                <a:solidFill>
                  <a:srgbClr val="D9D9EF"/>
                </a:solidFill>
                <a:latin typeface="Cambria" pitchFamily="34" charset="0"/>
                <a:ea typeface="Cambria" pitchFamily="34" charset="-122"/>
                <a:cs typeface="Cambria" pitchFamily="34" charset="-120"/>
              </a:rPr>
              <a:t>The controller has no reference to AppDbContext anywhere</a:t>
            </a:r>
            <a:endParaRPr lang="en-US" sz="1150" dirty="0"/>
          </a:p>
        </p:txBody>
      </p:sp>
      <p:sp>
        <p:nvSpPr>
          <p:cNvPr id="42" name="Text 40"/>
          <p:cNvSpPr txBox="1"/>
          <p:nvPr/>
        </p:nvSpPr>
        <p:spPr>
          <a:xfrm>
            <a:off x="594360" y="5943600"/>
            <a:ext cx="10607040" cy="310896"/>
          </a:xfrm>
          <a:prstGeom prst="rect">
            <a:avLst/>
          </a:prstGeom>
          <a:noFill/>
          <a:ln/>
        </p:spPr>
        <p:txBody>
          <a:bodyPr wrap="square" lIns="0" tIns="0" rIns="0" bIns="0" rtlCol="0" anchor="ctr"/>
          <a:lstStyle/>
          <a:p>
            <a:pPr indent="0" marL="0">
              <a:buNone/>
            </a:pPr>
            <a:r>
              <a:rPr lang="en-US" sz="1100" i="1" dirty="0">
                <a:solidFill>
                  <a:srgbClr val="D9D9EF"/>
                </a:solidFill>
                <a:latin typeface="Cambria" pitchFamily="34" charset="0"/>
                <a:ea typeface="Cambria" pitchFamily="34" charset="-122"/>
                <a:cs typeface="Cambria" pitchFamily="34" charset="-120"/>
              </a:rPr>
              <a:t>The last check is the point of the exercise: the abstraction held, so the swap cost you nothing.</a:t>
            </a:r>
            <a:endParaRPr lang="en-US" sz="1100" dirty="0"/>
          </a:p>
        </p:txBody>
      </p:sp>
      <p:sp>
        <p:nvSpPr>
          <p:cNvPr id="43" name="Shape 41"/>
          <p:cNvSpPr/>
          <p:nvPr/>
        </p:nvSpPr>
        <p:spPr>
          <a:xfrm>
            <a:off x="0" y="6400800"/>
            <a:ext cx="3840480" cy="457200"/>
          </a:xfrm>
          <a:prstGeom prst="rect">
            <a:avLst/>
          </a:prstGeom>
          <a:solidFill>
            <a:srgbClr val="5050A8"/>
          </a:solidFill>
          <a:ln w="12700">
            <a:solidFill>
              <a:srgbClr val="5050A8"/>
            </a:solidFill>
            <a:prstDash val="solid"/>
          </a:ln>
        </p:spPr>
      </p:sp>
      <p:sp>
        <p:nvSpPr>
          <p:cNvPr id="44" name="Text 42"/>
          <p:cNvSpPr txBox="1"/>
          <p:nvPr/>
        </p:nvSpPr>
        <p:spPr>
          <a:xfrm>
            <a:off x="164592" y="6400800"/>
            <a:ext cx="3511296" cy="457200"/>
          </a:xfrm>
          <a:prstGeom prst="rect">
            <a:avLst/>
          </a:prstGeom>
          <a:noFill/>
          <a:ln/>
        </p:spPr>
        <p:txBody>
          <a:bodyPr wrap="square" lIns="0" tIns="0" rIns="0" bIns="0" rtlCol="0" anchor="ctr"/>
          <a:lstStyle/>
          <a:p>
            <a:pPr algn="l" indent="0" marL="0">
              <a:buNone/>
            </a:pPr>
            <a:r>
              <a:rPr lang="en-US" sz="950" dirty="0">
                <a:solidFill>
                  <a:srgbClr val="FFFFFF"/>
                </a:solidFill>
                <a:latin typeface="Cambria" pitchFamily="34" charset="0"/>
                <a:ea typeface="Cambria" pitchFamily="34" charset="-122"/>
                <a:cs typeface="Cambria" pitchFamily="34" charset="-120"/>
              </a:rPr>
              <a:t>HAL  ·  .NET, React &amp; SQL Programme</a:t>
            </a:r>
            <a:endParaRPr lang="en-US" sz="950" dirty="0"/>
          </a:p>
        </p:txBody>
      </p:sp>
      <p:sp>
        <p:nvSpPr>
          <p:cNvPr id="45" name="Shape 43"/>
          <p:cNvSpPr/>
          <p:nvPr/>
        </p:nvSpPr>
        <p:spPr>
          <a:xfrm>
            <a:off x="3840480" y="6400800"/>
            <a:ext cx="6675120" cy="457200"/>
          </a:xfrm>
          <a:prstGeom prst="rect">
            <a:avLst/>
          </a:prstGeom>
          <a:solidFill>
            <a:srgbClr val="3B3B96"/>
          </a:solidFill>
          <a:ln w="12700">
            <a:solidFill>
              <a:srgbClr val="3B3B96"/>
            </a:solidFill>
            <a:prstDash val="solid"/>
          </a:ln>
        </p:spPr>
      </p:sp>
      <p:sp>
        <p:nvSpPr>
          <p:cNvPr id="46" name="Text 44"/>
          <p:cNvSpPr txBox="1"/>
          <p:nvPr/>
        </p:nvSpPr>
        <p:spPr>
          <a:xfrm>
            <a:off x="4005072" y="6400800"/>
            <a:ext cx="6345936" cy="457200"/>
          </a:xfrm>
          <a:prstGeom prst="rect">
            <a:avLst/>
          </a:prstGeom>
          <a:noFill/>
          <a:ln/>
        </p:spPr>
        <p:txBody>
          <a:bodyPr wrap="square" lIns="0" tIns="0" rIns="0" bIns="0" rtlCol="0" anchor="ctr"/>
          <a:lstStyle/>
          <a:p>
            <a:pPr algn="l" indent="0" marL="0">
              <a:buNone/>
            </a:pPr>
            <a:r>
              <a:rPr lang="en-US" sz="950" dirty="0">
                <a:solidFill>
                  <a:srgbClr val="FFFFFF"/>
                </a:solidFill>
                <a:latin typeface="Cambria" pitchFamily="34" charset="0"/>
                <a:ea typeface="Cambria" pitchFamily="34" charset="-122"/>
                <a:cs typeface="Cambria" pitchFamily="34" charset="-120"/>
              </a:rPr>
              <a:t>Day 2 · Session 2 — Connecting the API to Data</a:t>
            </a:r>
            <a:endParaRPr lang="en-US" sz="950" dirty="0"/>
          </a:p>
        </p:txBody>
      </p:sp>
      <p:sp>
        <p:nvSpPr>
          <p:cNvPr id="47" name="Shape 45"/>
          <p:cNvSpPr/>
          <p:nvPr/>
        </p:nvSpPr>
        <p:spPr>
          <a:xfrm>
            <a:off x="10515600" y="6400800"/>
            <a:ext cx="1676095" cy="457200"/>
          </a:xfrm>
          <a:prstGeom prst="rect">
            <a:avLst/>
          </a:prstGeom>
          <a:solidFill>
            <a:srgbClr val="5050A8"/>
          </a:solidFill>
          <a:ln w="12700">
            <a:solidFill>
              <a:srgbClr val="5050A8"/>
            </a:solidFill>
            <a:prstDash val="solid"/>
          </a:ln>
        </p:spPr>
      </p:sp>
      <p:sp>
        <p:nvSpPr>
          <p:cNvPr id="48" name="Text 46"/>
          <p:cNvSpPr txBox="1"/>
          <p:nvPr/>
        </p:nvSpPr>
        <p:spPr>
          <a:xfrm>
            <a:off x="10680192" y="6400800"/>
            <a:ext cx="1346911" cy="457200"/>
          </a:xfrm>
          <a:prstGeom prst="rect">
            <a:avLst/>
          </a:prstGeom>
          <a:noFill/>
          <a:ln/>
        </p:spPr>
        <p:txBody>
          <a:bodyPr wrap="square" lIns="0" tIns="0" rIns="0" bIns="0" rtlCol="0" anchor="ctr"/>
          <a:lstStyle/>
          <a:p>
            <a:pPr algn="ctr" indent="0" marL="0">
              <a:buNone/>
            </a:pPr>
            <a:r>
              <a:rPr lang="en-US" sz="950" dirty="0">
                <a:solidFill>
                  <a:srgbClr val="FFFFFF"/>
                </a:solidFill>
                <a:latin typeface="Cambria" pitchFamily="34" charset="0"/>
                <a:ea typeface="Cambria" pitchFamily="34" charset="-122"/>
                <a:cs typeface="Cambria" pitchFamily="34" charset="-120"/>
              </a:rPr>
              <a:t>12</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2B2B7F"/>
        </a:solidFill>
      </p:bgPr>
    </p:bg>
    <p:spTree>
      <p:nvGrpSpPr>
        <p:cNvPr id="1" name=""/>
        <p:cNvGrpSpPr/>
        <p:nvPr/>
      </p:nvGrpSpPr>
      <p:grpSpPr>
        <a:xfrm>
          <a:off x="0" y="0"/>
          <a:ext cx="0" cy="0"/>
          <a:chOff x="0" y="0"/>
          <a:chExt cx="0" cy="0"/>
        </a:xfrm>
      </p:grpSpPr>
      <p:sp>
        <p:nvSpPr>
          <p:cNvPr id="2" name="Shape 0"/>
          <p:cNvSpPr/>
          <p:nvPr/>
        </p:nvSpPr>
        <p:spPr>
          <a:xfrm>
            <a:off x="0" y="0"/>
            <a:ext cx="12191695" cy="365760"/>
          </a:xfrm>
          <a:prstGeom prst="rect">
            <a:avLst/>
          </a:prstGeom>
          <a:solidFill>
            <a:srgbClr val="5050A8"/>
          </a:solidFill>
          <a:ln w="12700">
            <a:solidFill>
              <a:srgbClr val="5050A8"/>
            </a:solidFill>
            <a:prstDash val="solid"/>
          </a:ln>
        </p:spPr>
      </p:sp>
      <p:sp>
        <p:nvSpPr>
          <p:cNvPr id="3" name="Text 1"/>
          <p:cNvSpPr txBox="1"/>
          <p:nvPr/>
        </p:nvSpPr>
        <p:spPr>
          <a:xfrm>
            <a:off x="594360" y="0"/>
            <a:ext cx="11002975" cy="365760"/>
          </a:xfrm>
          <a:prstGeom prst="rect">
            <a:avLst/>
          </a:prstGeom>
          <a:noFill/>
          <a:ln/>
        </p:spPr>
        <p:txBody>
          <a:bodyPr wrap="square" lIns="0" tIns="0" rIns="0" bIns="0" rtlCol="0" anchor="ctr"/>
          <a:lstStyle/>
          <a:p>
            <a:pPr indent="0" marL="0">
              <a:buNone/>
            </a:pPr>
            <a:r>
              <a:rPr lang="en-US" sz="1000" b="1" spc="180" kern="0" dirty="0">
                <a:solidFill>
                  <a:srgbClr val="C9C9EA"/>
                </a:solidFill>
                <a:latin typeface="Cambria" pitchFamily="34" charset="0"/>
                <a:ea typeface="Cambria" pitchFamily="34" charset="-122"/>
                <a:cs typeface="Cambria" pitchFamily="34" charset="-120"/>
              </a:rPr>
              <a:t>SESSION 2 RECAP</a:t>
            </a:r>
            <a:endParaRPr lang="en-US" sz="1000" dirty="0"/>
          </a:p>
        </p:txBody>
      </p:sp>
      <p:sp>
        <p:nvSpPr>
          <p:cNvPr id="4" name="Shape 2"/>
          <p:cNvSpPr/>
          <p:nvPr/>
        </p:nvSpPr>
        <p:spPr>
          <a:xfrm>
            <a:off x="0" y="365760"/>
            <a:ext cx="12191695" cy="841248"/>
          </a:xfrm>
          <a:prstGeom prst="rect">
            <a:avLst/>
          </a:prstGeom>
          <a:solidFill>
            <a:srgbClr val="3B3B96"/>
          </a:solidFill>
          <a:ln w="12700">
            <a:solidFill>
              <a:srgbClr val="3B3B96"/>
            </a:solidFill>
            <a:prstDash val="solid"/>
          </a:ln>
        </p:spPr>
      </p:sp>
      <p:sp>
        <p:nvSpPr>
          <p:cNvPr id="5" name="Text 3"/>
          <p:cNvSpPr txBox="1"/>
          <p:nvPr/>
        </p:nvSpPr>
        <p:spPr>
          <a:xfrm>
            <a:off x="594360" y="365760"/>
            <a:ext cx="11002975" cy="841248"/>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Your API now has a real database</a:t>
            </a:r>
            <a:endParaRPr lang="en-US" sz="2600" dirty="0"/>
          </a:p>
        </p:txBody>
      </p:sp>
      <p:sp>
        <p:nvSpPr>
          <p:cNvPr id="6" name="Shape 4"/>
          <p:cNvSpPr/>
          <p:nvPr/>
        </p:nvSpPr>
        <p:spPr>
          <a:xfrm>
            <a:off x="594360" y="1664208"/>
            <a:ext cx="6400800" cy="621792"/>
          </a:xfrm>
          <a:prstGeom prst="rect">
            <a:avLst/>
          </a:prstGeom>
          <a:solidFill>
            <a:srgbClr val="3B3B96"/>
          </a:solidFill>
          <a:ln w="9525">
            <a:solidFill>
              <a:srgbClr val="5050A8"/>
            </a:solidFill>
            <a:prstDash val="solid"/>
          </a:ln>
        </p:spPr>
      </p:sp>
      <p:sp>
        <p:nvSpPr>
          <p:cNvPr id="7" name="Shape 5"/>
          <p:cNvSpPr/>
          <p:nvPr/>
        </p:nvSpPr>
        <p:spPr>
          <a:xfrm>
            <a:off x="594360" y="1664208"/>
            <a:ext cx="50292" cy="621792"/>
          </a:xfrm>
          <a:prstGeom prst="rect">
            <a:avLst/>
          </a:prstGeom>
          <a:solidFill>
            <a:srgbClr val="8A8AC4"/>
          </a:solidFill>
          <a:ln w="12700">
            <a:solidFill>
              <a:srgbClr val="8A8AC4"/>
            </a:solidFill>
            <a:prstDash val="solid"/>
          </a:ln>
        </p:spPr>
      </p:sp>
      <p:sp>
        <p:nvSpPr>
          <p:cNvPr id="8" name="Shape 6"/>
          <p:cNvSpPr/>
          <p:nvPr/>
        </p:nvSpPr>
        <p:spPr>
          <a:xfrm>
            <a:off x="795528" y="1792224"/>
            <a:ext cx="365760" cy="365760"/>
          </a:xfrm>
          <a:prstGeom prst="ellipse">
            <a:avLst/>
          </a:prstGeom>
          <a:solidFill>
            <a:srgbClr val="3333B3"/>
          </a:solidFill>
          <a:ln w="12700">
            <a:solidFill>
              <a:srgbClr val="3333B3"/>
            </a:solidFill>
            <a:prstDash val="solid"/>
          </a:ln>
        </p:spPr>
      </p:sp>
      <p:sp>
        <p:nvSpPr>
          <p:cNvPr id="9" name="Text 7"/>
          <p:cNvSpPr txBox="1"/>
          <p:nvPr/>
        </p:nvSpPr>
        <p:spPr>
          <a:xfrm>
            <a:off x="795528" y="1792224"/>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10" name="Text 8"/>
          <p:cNvSpPr txBox="1"/>
          <p:nvPr/>
        </p:nvSpPr>
        <p:spPr>
          <a:xfrm>
            <a:off x="1325880" y="1664208"/>
            <a:ext cx="5449824" cy="621792"/>
          </a:xfrm>
          <a:prstGeom prst="rect">
            <a:avLst/>
          </a:prstGeom>
          <a:noFill/>
          <a:ln/>
        </p:spPr>
        <p:txBody>
          <a:bodyPr wrap="square" lIns="0" tIns="0" rIns="0" bIns="0" rtlCol="0" anchor="ctr"/>
          <a:lstStyle/>
          <a:p>
            <a:pPr indent="0" marL="0">
              <a:buNone/>
            </a:pPr>
            <a:r>
              <a:rPr lang="en-US" sz="1350" b="1" dirty="0">
                <a:solidFill>
                  <a:srgbClr val="FFFFFF"/>
                </a:solidFill>
                <a:latin typeface="Cambria" pitchFamily="34" charset="0"/>
                <a:ea typeface="Cambria" pitchFamily="34" charset="-122"/>
                <a:cs typeface="Cambria" pitchFamily="34" charset="-120"/>
              </a:rPr>
              <a:t>Entities map to tables; conventions do most of it</a:t>
            </a:r>
            <a:endParaRPr lang="en-US" sz="1350" dirty="0"/>
          </a:p>
        </p:txBody>
      </p:sp>
      <p:sp>
        <p:nvSpPr>
          <p:cNvPr id="11" name="Shape 9"/>
          <p:cNvSpPr/>
          <p:nvPr/>
        </p:nvSpPr>
        <p:spPr>
          <a:xfrm>
            <a:off x="594360" y="2377440"/>
            <a:ext cx="6400800" cy="621792"/>
          </a:xfrm>
          <a:prstGeom prst="rect">
            <a:avLst/>
          </a:prstGeom>
          <a:solidFill>
            <a:srgbClr val="3B3B96"/>
          </a:solidFill>
          <a:ln w="9525">
            <a:solidFill>
              <a:srgbClr val="5050A8"/>
            </a:solidFill>
            <a:prstDash val="solid"/>
          </a:ln>
        </p:spPr>
      </p:sp>
      <p:sp>
        <p:nvSpPr>
          <p:cNvPr id="12" name="Shape 10"/>
          <p:cNvSpPr/>
          <p:nvPr/>
        </p:nvSpPr>
        <p:spPr>
          <a:xfrm>
            <a:off x="594360" y="2377440"/>
            <a:ext cx="50292" cy="621792"/>
          </a:xfrm>
          <a:prstGeom prst="rect">
            <a:avLst/>
          </a:prstGeom>
          <a:solidFill>
            <a:srgbClr val="8A8AC4"/>
          </a:solidFill>
          <a:ln w="12700">
            <a:solidFill>
              <a:srgbClr val="8A8AC4"/>
            </a:solidFill>
            <a:prstDash val="solid"/>
          </a:ln>
        </p:spPr>
      </p:sp>
      <p:sp>
        <p:nvSpPr>
          <p:cNvPr id="13" name="Shape 11"/>
          <p:cNvSpPr/>
          <p:nvPr/>
        </p:nvSpPr>
        <p:spPr>
          <a:xfrm>
            <a:off x="795528" y="2505456"/>
            <a:ext cx="365760" cy="365760"/>
          </a:xfrm>
          <a:prstGeom prst="ellipse">
            <a:avLst/>
          </a:prstGeom>
          <a:solidFill>
            <a:srgbClr val="3333B3"/>
          </a:solidFill>
          <a:ln w="12700">
            <a:solidFill>
              <a:srgbClr val="3333B3"/>
            </a:solidFill>
            <a:prstDash val="solid"/>
          </a:ln>
        </p:spPr>
      </p:sp>
      <p:sp>
        <p:nvSpPr>
          <p:cNvPr id="14" name="Text 12"/>
          <p:cNvSpPr txBox="1"/>
          <p:nvPr/>
        </p:nvSpPr>
        <p:spPr>
          <a:xfrm>
            <a:off x="795528" y="250545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15" name="Text 13"/>
          <p:cNvSpPr txBox="1"/>
          <p:nvPr/>
        </p:nvSpPr>
        <p:spPr>
          <a:xfrm>
            <a:off x="1325880" y="2377440"/>
            <a:ext cx="5449824" cy="621792"/>
          </a:xfrm>
          <a:prstGeom prst="rect">
            <a:avLst/>
          </a:prstGeom>
          <a:noFill/>
          <a:ln/>
        </p:spPr>
        <p:txBody>
          <a:bodyPr wrap="square" lIns="0" tIns="0" rIns="0" bIns="0" rtlCol="0" anchor="ctr"/>
          <a:lstStyle/>
          <a:p>
            <a:pPr indent="0" marL="0">
              <a:buNone/>
            </a:pPr>
            <a:r>
              <a:rPr lang="en-US" sz="1350" b="1" dirty="0">
                <a:solidFill>
                  <a:srgbClr val="FFFFFF"/>
                </a:solidFill>
                <a:latin typeface="Cambria" pitchFamily="34" charset="0"/>
                <a:ea typeface="Cambria" pitchFamily="34" charset="-122"/>
                <a:cs typeface="Cambria" pitchFamily="34" charset="-120"/>
              </a:rPr>
              <a:t>LINQ becomes SQL — watch the SQL while you learn</a:t>
            </a:r>
            <a:endParaRPr lang="en-US" sz="1350" dirty="0"/>
          </a:p>
        </p:txBody>
      </p:sp>
      <p:sp>
        <p:nvSpPr>
          <p:cNvPr id="16" name="Shape 14"/>
          <p:cNvSpPr/>
          <p:nvPr/>
        </p:nvSpPr>
        <p:spPr>
          <a:xfrm>
            <a:off x="594360" y="3090672"/>
            <a:ext cx="6400800" cy="621792"/>
          </a:xfrm>
          <a:prstGeom prst="rect">
            <a:avLst/>
          </a:prstGeom>
          <a:solidFill>
            <a:srgbClr val="3B3B96"/>
          </a:solidFill>
          <a:ln w="9525">
            <a:solidFill>
              <a:srgbClr val="5050A8"/>
            </a:solidFill>
            <a:prstDash val="solid"/>
          </a:ln>
        </p:spPr>
      </p:sp>
      <p:sp>
        <p:nvSpPr>
          <p:cNvPr id="17" name="Shape 15"/>
          <p:cNvSpPr/>
          <p:nvPr/>
        </p:nvSpPr>
        <p:spPr>
          <a:xfrm>
            <a:off x="594360" y="3090672"/>
            <a:ext cx="50292" cy="621792"/>
          </a:xfrm>
          <a:prstGeom prst="rect">
            <a:avLst/>
          </a:prstGeom>
          <a:solidFill>
            <a:srgbClr val="8A8AC4"/>
          </a:solidFill>
          <a:ln w="12700">
            <a:solidFill>
              <a:srgbClr val="8A8AC4"/>
            </a:solidFill>
            <a:prstDash val="solid"/>
          </a:ln>
        </p:spPr>
      </p:sp>
      <p:sp>
        <p:nvSpPr>
          <p:cNvPr id="18" name="Shape 16"/>
          <p:cNvSpPr/>
          <p:nvPr/>
        </p:nvSpPr>
        <p:spPr>
          <a:xfrm>
            <a:off x="795528" y="3218688"/>
            <a:ext cx="365760" cy="365760"/>
          </a:xfrm>
          <a:prstGeom prst="ellipse">
            <a:avLst/>
          </a:prstGeom>
          <a:solidFill>
            <a:srgbClr val="3333B3"/>
          </a:solidFill>
          <a:ln w="12700">
            <a:solidFill>
              <a:srgbClr val="3333B3"/>
            </a:solidFill>
            <a:prstDash val="solid"/>
          </a:ln>
        </p:spPr>
      </p:sp>
      <p:sp>
        <p:nvSpPr>
          <p:cNvPr id="19" name="Text 17"/>
          <p:cNvSpPr txBox="1"/>
          <p:nvPr/>
        </p:nvSpPr>
        <p:spPr>
          <a:xfrm>
            <a:off x="795528" y="321868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20" name="Text 18"/>
          <p:cNvSpPr txBox="1"/>
          <p:nvPr/>
        </p:nvSpPr>
        <p:spPr>
          <a:xfrm>
            <a:off x="1325880" y="3090672"/>
            <a:ext cx="5449824" cy="621792"/>
          </a:xfrm>
          <a:prstGeom prst="rect">
            <a:avLst/>
          </a:prstGeom>
          <a:noFill/>
          <a:ln/>
        </p:spPr>
        <p:txBody>
          <a:bodyPr wrap="square" lIns="0" tIns="0" rIns="0" bIns="0" rtlCol="0" anchor="ctr"/>
          <a:lstStyle/>
          <a:p>
            <a:pPr indent="0" marL="0">
              <a:buNone/>
            </a:pPr>
            <a:r>
              <a:rPr lang="en-US" sz="1350" b="1" dirty="0">
                <a:solidFill>
                  <a:srgbClr val="FFFFFF"/>
                </a:solidFill>
                <a:latin typeface="Cambria" pitchFamily="34" charset="0"/>
                <a:ea typeface="Cambria" pitchFamily="34" charset="-122"/>
                <a:cs typeface="Cambria" pitchFamily="34" charset="-120"/>
              </a:rPr>
              <a:t>Project with Select before you materialise</a:t>
            </a:r>
            <a:endParaRPr lang="en-US" sz="1350" dirty="0"/>
          </a:p>
        </p:txBody>
      </p:sp>
      <p:sp>
        <p:nvSpPr>
          <p:cNvPr id="21" name="Shape 19"/>
          <p:cNvSpPr/>
          <p:nvPr/>
        </p:nvSpPr>
        <p:spPr>
          <a:xfrm>
            <a:off x="594360" y="3803904"/>
            <a:ext cx="6400800" cy="621792"/>
          </a:xfrm>
          <a:prstGeom prst="rect">
            <a:avLst/>
          </a:prstGeom>
          <a:solidFill>
            <a:srgbClr val="3B3B96"/>
          </a:solidFill>
          <a:ln w="9525">
            <a:solidFill>
              <a:srgbClr val="5050A8"/>
            </a:solidFill>
            <a:prstDash val="solid"/>
          </a:ln>
        </p:spPr>
      </p:sp>
      <p:sp>
        <p:nvSpPr>
          <p:cNvPr id="22" name="Shape 20"/>
          <p:cNvSpPr/>
          <p:nvPr/>
        </p:nvSpPr>
        <p:spPr>
          <a:xfrm>
            <a:off x="594360" y="3803904"/>
            <a:ext cx="50292" cy="621792"/>
          </a:xfrm>
          <a:prstGeom prst="rect">
            <a:avLst/>
          </a:prstGeom>
          <a:solidFill>
            <a:srgbClr val="8A8AC4"/>
          </a:solidFill>
          <a:ln w="12700">
            <a:solidFill>
              <a:srgbClr val="8A8AC4"/>
            </a:solidFill>
            <a:prstDash val="solid"/>
          </a:ln>
        </p:spPr>
      </p:sp>
      <p:sp>
        <p:nvSpPr>
          <p:cNvPr id="23" name="Shape 21"/>
          <p:cNvSpPr/>
          <p:nvPr/>
        </p:nvSpPr>
        <p:spPr>
          <a:xfrm>
            <a:off x="795528" y="3931920"/>
            <a:ext cx="365760" cy="365760"/>
          </a:xfrm>
          <a:prstGeom prst="ellipse">
            <a:avLst/>
          </a:prstGeom>
          <a:solidFill>
            <a:srgbClr val="3333B3"/>
          </a:solidFill>
          <a:ln w="12700">
            <a:solidFill>
              <a:srgbClr val="3333B3"/>
            </a:solidFill>
            <a:prstDash val="solid"/>
          </a:ln>
        </p:spPr>
      </p:sp>
      <p:sp>
        <p:nvSpPr>
          <p:cNvPr id="24" name="Text 22"/>
          <p:cNvSpPr txBox="1"/>
          <p:nvPr/>
        </p:nvSpPr>
        <p:spPr>
          <a:xfrm>
            <a:off x="795528" y="393192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4</a:t>
            </a:r>
            <a:endParaRPr lang="en-US" sz="1300" dirty="0"/>
          </a:p>
        </p:txBody>
      </p:sp>
      <p:sp>
        <p:nvSpPr>
          <p:cNvPr id="25" name="Text 23"/>
          <p:cNvSpPr txBox="1"/>
          <p:nvPr/>
        </p:nvSpPr>
        <p:spPr>
          <a:xfrm>
            <a:off x="1325880" y="3803904"/>
            <a:ext cx="5449824" cy="621792"/>
          </a:xfrm>
          <a:prstGeom prst="rect">
            <a:avLst/>
          </a:prstGeom>
          <a:noFill/>
          <a:ln/>
        </p:spPr>
        <p:txBody>
          <a:bodyPr wrap="square" lIns="0" tIns="0" rIns="0" bIns="0" rtlCol="0" anchor="ctr"/>
          <a:lstStyle/>
          <a:p>
            <a:pPr indent="0" marL="0">
              <a:buNone/>
            </a:pPr>
            <a:r>
              <a:rPr lang="en-US" sz="1350" b="1" dirty="0">
                <a:solidFill>
                  <a:srgbClr val="FFFFFF"/>
                </a:solidFill>
                <a:latin typeface="Cambria" pitchFamily="34" charset="0"/>
                <a:ea typeface="Cambria" pitchFamily="34" charset="-122"/>
                <a:cs typeface="Cambria" pitchFamily="34" charset="-120"/>
              </a:rPr>
              <a:t>One SaveChanges is one transaction</a:t>
            </a:r>
            <a:endParaRPr lang="en-US" sz="1350" dirty="0"/>
          </a:p>
        </p:txBody>
      </p:sp>
      <p:sp>
        <p:nvSpPr>
          <p:cNvPr id="26" name="Shape 24"/>
          <p:cNvSpPr/>
          <p:nvPr/>
        </p:nvSpPr>
        <p:spPr>
          <a:xfrm>
            <a:off x="594360" y="4517136"/>
            <a:ext cx="6400800" cy="621792"/>
          </a:xfrm>
          <a:prstGeom prst="rect">
            <a:avLst/>
          </a:prstGeom>
          <a:solidFill>
            <a:srgbClr val="3B3B96"/>
          </a:solidFill>
          <a:ln w="9525">
            <a:solidFill>
              <a:srgbClr val="5050A8"/>
            </a:solidFill>
            <a:prstDash val="solid"/>
          </a:ln>
        </p:spPr>
      </p:sp>
      <p:sp>
        <p:nvSpPr>
          <p:cNvPr id="27" name="Shape 25"/>
          <p:cNvSpPr/>
          <p:nvPr/>
        </p:nvSpPr>
        <p:spPr>
          <a:xfrm>
            <a:off x="594360" y="4517136"/>
            <a:ext cx="50292" cy="621792"/>
          </a:xfrm>
          <a:prstGeom prst="rect">
            <a:avLst/>
          </a:prstGeom>
          <a:solidFill>
            <a:srgbClr val="8A8AC4"/>
          </a:solidFill>
          <a:ln w="12700">
            <a:solidFill>
              <a:srgbClr val="8A8AC4"/>
            </a:solidFill>
            <a:prstDash val="solid"/>
          </a:ln>
        </p:spPr>
      </p:sp>
      <p:sp>
        <p:nvSpPr>
          <p:cNvPr id="28" name="Shape 26"/>
          <p:cNvSpPr/>
          <p:nvPr/>
        </p:nvSpPr>
        <p:spPr>
          <a:xfrm>
            <a:off x="795528" y="4645152"/>
            <a:ext cx="365760" cy="365760"/>
          </a:xfrm>
          <a:prstGeom prst="ellipse">
            <a:avLst/>
          </a:prstGeom>
          <a:solidFill>
            <a:srgbClr val="3333B3"/>
          </a:solidFill>
          <a:ln w="12700">
            <a:solidFill>
              <a:srgbClr val="3333B3"/>
            </a:solidFill>
            <a:prstDash val="solid"/>
          </a:ln>
        </p:spPr>
      </p:sp>
      <p:sp>
        <p:nvSpPr>
          <p:cNvPr id="29" name="Text 27"/>
          <p:cNvSpPr txBox="1"/>
          <p:nvPr/>
        </p:nvSpPr>
        <p:spPr>
          <a:xfrm>
            <a:off x="795528" y="464515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5</a:t>
            </a:r>
            <a:endParaRPr lang="en-US" sz="1300" dirty="0"/>
          </a:p>
        </p:txBody>
      </p:sp>
      <p:sp>
        <p:nvSpPr>
          <p:cNvPr id="30" name="Text 28"/>
          <p:cNvSpPr txBox="1"/>
          <p:nvPr/>
        </p:nvSpPr>
        <p:spPr>
          <a:xfrm>
            <a:off x="1325880" y="4517136"/>
            <a:ext cx="5449824" cy="621792"/>
          </a:xfrm>
          <a:prstGeom prst="rect">
            <a:avLst/>
          </a:prstGeom>
          <a:noFill/>
          <a:ln/>
        </p:spPr>
        <p:txBody>
          <a:bodyPr wrap="square" lIns="0" tIns="0" rIns="0" bIns="0" rtlCol="0" anchor="ctr"/>
          <a:lstStyle/>
          <a:p>
            <a:pPr indent="0" marL="0">
              <a:buNone/>
            </a:pPr>
            <a:r>
              <a:rPr lang="en-US" sz="1350" b="1" dirty="0">
                <a:solidFill>
                  <a:srgbClr val="FFFFFF"/>
                </a:solidFill>
                <a:latin typeface="Cambria" pitchFamily="34" charset="0"/>
                <a:ea typeface="Cambria" pitchFamily="34" charset="-122"/>
                <a:cs typeface="Cambria" pitchFamily="34" charset="-120"/>
              </a:rPr>
              <a:t>Include to avoid N+1; page every list</a:t>
            </a:r>
            <a:endParaRPr lang="en-US" sz="1350" dirty="0"/>
          </a:p>
        </p:txBody>
      </p:sp>
      <p:sp>
        <p:nvSpPr>
          <p:cNvPr id="31" name="Shape 29"/>
          <p:cNvSpPr/>
          <p:nvPr/>
        </p:nvSpPr>
        <p:spPr>
          <a:xfrm>
            <a:off x="594360" y="5230368"/>
            <a:ext cx="6400800" cy="621792"/>
          </a:xfrm>
          <a:prstGeom prst="rect">
            <a:avLst/>
          </a:prstGeom>
          <a:solidFill>
            <a:srgbClr val="3B3B96"/>
          </a:solidFill>
          <a:ln w="9525">
            <a:solidFill>
              <a:srgbClr val="5050A8"/>
            </a:solidFill>
            <a:prstDash val="solid"/>
          </a:ln>
        </p:spPr>
      </p:sp>
      <p:sp>
        <p:nvSpPr>
          <p:cNvPr id="32" name="Shape 30"/>
          <p:cNvSpPr/>
          <p:nvPr/>
        </p:nvSpPr>
        <p:spPr>
          <a:xfrm>
            <a:off x="594360" y="5230368"/>
            <a:ext cx="50292" cy="621792"/>
          </a:xfrm>
          <a:prstGeom prst="rect">
            <a:avLst/>
          </a:prstGeom>
          <a:solidFill>
            <a:srgbClr val="8A8AC4"/>
          </a:solidFill>
          <a:ln w="12700">
            <a:solidFill>
              <a:srgbClr val="8A8AC4"/>
            </a:solidFill>
            <a:prstDash val="solid"/>
          </a:ln>
        </p:spPr>
      </p:sp>
      <p:sp>
        <p:nvSpPr>
          <p:cNvPr id="33" name="Shape 31"/>
          <p:cNvSpPr/>
          <p:nvPr/>
        </p:nvSpPr>
        <p:spPr>
          <a:xfrm>
            <a:off x="795528" y="5358384"/>
            <a:ext cx="365760" cy="365760"/>
          </a:xfrm>
          <a:prstGeom prst="ellipse">
            <a:avLst/>
          </a:prstGeom>
          <a:solidFill>
            <a:srgbClr val="3333B3"/>
          </a:solidFill>
          <a:ln w="12700">
            <a:solidFill>
              <a:srgbClr val="3333B3"/>
            </a:solidFill>
            <a:prstDash val="solid"/>
          </a:ln>
        </p:spPr>
      </p:sp>
      <p:sp>
        <p:nvSpPr>
          <p:cNvPr id="34" name="Text 32"/>
          <p:cNvSpPr txBox="1"/>
          <p:nvPr/>
        </p:nvSpPr>
        <p:spPr>
          <a:xfrm>
            <a:off x="795528" y="5358384"/>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6</a:t>
            </a:r>
            <a:endParaRPr lang="en-US" sz="1300" dirty="0"/>
          </a:p>
        </p:txBody>
      </p:sp>
      <p:sp>
        <p:nvSpPr>
          <p:cNvPr id="35" name="Text 33"/>
          <p:cNvSpPr txBox="1"/>
          <p:nvPr/>
        </p:nvSpPr>
        <p:spPr>
          <a:xfrm>
            <a:off x="1325880" y="5230368"/>
            <a:ext cx="5449824" cy="621792"/>
          </a:xfrm>
          <a:prstGeom prst="rect">
            <a:avLst/>
          </a:prstGeom>
          <a:noFill/>
          <a:ln/>
        </p:spPr>
        <p:txBody>
          <a:bodyPr wrap="square" lIns="0" tIns="0" rIns="0" bIns="0" rtlCol="0" anchor="ctr"/>
          <a:lstStyle/>
          <a:p>
            <a:pPr indent="0" marL="0">
              <a:buNone/>
            </a:pPr>
            <a:r>
              <a:rPr lang="en-US" sz="1350" b="1" dirty="0">
                <a:solidFill>
                  <a:srgbClr val="FFFFFF"/>
                </a:solidFill>
                <a:latin typeface="Cambria" pitchFamily="34" charset="0"/>
                <a:ea typeface="Cambria" pitchFamily="34" charset="-122"/>
                <a:cs typeface="Cambria" pitchFamily="34" charset="-120"/>
              </a:rPr>
              <a:t>Scaffold from a database that already exists</a:t>
            </a:r>
            <a:endParaRPr lang="en-US" sz="1350" dirty="0"/>
          </a:p>
        </p:txBody>
      </p:sp>
      <p:sp>
        <p:nvSpPr>
          <p:cNvPr id="36" name="Shape 34"/>
          <p:cNvSpPr/>
          <p:nvPr/>
        </p:nvSpPr>
        <p:spPr>
          <a:xfrm>
            <a:off x="7086600" y="1664208"/>
            <a:ext cx="4507992" cy="402336"/>
          </a:xfrm>
          <a:prstGeom prst="rect">
            <a:avLst/>
          </a:prstGeom>
          <a:solidFill>
            <a:srgbClr val="5050A8"/>
          </a:solidFill>
          <a:ln w="12700">
            <a:solidFill>
              <a:srgbClr val="5050A8"/>
            </a:solidFill>
            <a:prstDash val="solid"/>
          </a:ln>
        </p:spPr>
      </p:sp>
      <p:sp>
        <p:nvSpPr>
          <p:cNvPr id="37" name="Text 35"/>
          <p:cNvSpPr txBox="1"/>
          <p:nvPr/>
        </p:nvSpPr>
        <p:spPr>
          <a:xfrm>
            <a:off x="7269480" y="1664208"/>
            <a:ext cx="4142232" cy="402336"/>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Practise</a:t>
            </a:r>
            <a:endParaRPr lang="en-US" sz="1500" dirty="0"/>
          </a:p>
        </p:txBody>
      </p:sp>
      <p:sp>
        <p:nvSpPr>
          <p:cNvPr id="38" name="Shape 36"/>
          <p:cNvSpPr/>
          <p:nvPr/>
        </p:nvSpPr>
        <p:spPr>
          <a:xfrm>
            <a:off x="7086600" y="2066544"/>
            <a:ext cx="4507992" cy="3785616"/>
          </a:xfrm>
          <a:prstGeom prst="rect">
            <a:avLst/>
          </a:prstGeom>
          <a:solidFill>
            <a:srgbClr val="3B3B96"/>
          </a:solidFill>
          <a:ln w="9525">
            <a:solidFill>
              <a:srgbClr val="5050A8"/>
            </a:solidFill>
            <a:prstDash val="solid"/>
          </a:ln>
        </p:spPr>
      </p:sp>
      <p:sp>
        <p:nvSpPr>
          <p:cNvPr id="39" name="Text 37"/>
          <p:cNvSpPr txBox="1"/>
          <p:nvPr/>
        </p:nvSpPr>
        <p:spPr>
          <a:xfrm>
            <a:off x="7306056" y="2212848"/>
            <a:ext cx="4069080" cy="3511296"/>
          </a:xfrm>
          <a:prstGeom prst="rect">
            <a:avLst/>
          </a:prstGeom>
          <a:noFill/>
          <a:ln/>
        </p:spPr>
        <p:txBody>
          <a:bodyPr wrap="square" lIns="0" tIns="0" rIns="0" bIns="0" rtlCol="0" anchor="t"/>
          <a:lstStyle/>
          <a:p>
            <a:pPr marL="177800" indent="-177800">
              <a:spcAft>
                <a:spcPts val="700"/>
              </a:spcAft>
              <a:buSzPct val="100000"/>
              <a:buChar char="▸"/>
            </a:pPr>
            <a:r>
              <a:rPr lang="en-US" sz="1200" dirty="0">
                <a:solidFill>
                  <a:srgbClr val="D9D9EF"/>
                </a:solidFill>
                <a:latin typeface="Cambria" pitchFamily="34" charset="0"/>
                <a:ea typeface="Cambria" pitchFamily="34" charset="-122"/>
                <a:cs typeface="Cambria" pitchFamily="34" charset="-120"/>
              </a:rPr>
              <a:t>Turn on SQL logging and read what your queries become</a:t>
            </a:r>
            <a:endParaRPr lang="en-US" sz="1200" dirty="0"/>
          </a:p>
          <a:p>
            <a:pPr marL="177800" indent="-177800">
              <a:spcAft>
                <a:spcPts val="700"/>
              </a:spcAft>
              <a:buSzPct val="100000"/>
              <a:buChar char="▸"/>
            </a:pPr>
            <a:r>
              <a:rPr lang="en-US" sz="1200" dirty="0">
                <a:solidFill>
                  <a:srgbClr val="D9D9EF"/>
                </a:solidFill>
                <a:latin typeface="Cambria" pitchFamily="34" charset="0"/>
                <a:ea typeface="Cambria" pitchFamily="34" charset="-122"/>
                <a:cs typeface="Cambria" pitchFamily="34" charset="-120"/>
              </a:rPr>
              <a:t>Add AsNoTracking to one read-only endpoint</a:t>
            </a:r>
            <a:endParaRPr lang="en-US" sz="1200" dirty="0"/>
          </a:p>
          <a:p>
            <a:pPr marL="177800" indent="-177800">
              <a:spcAft>
                <a:spcPts val="700"/>
              </a:spcAft>
              <a:buSzPct val="100000"/>
              <a:buChar char="▸"/>
            </a:pPr>
            <a:r>
              <a:rPr lang="en-US" sz="1200" dirty="0">
                <a:solidFill>
                  <a:srgbClr val="D9D9EF"/>
                </a:solidFill>
                <a:latin typeface="Cambria" pitchFamily="34" charset="0"/>
                <a:ea typeface="Cambria" pitchFamily="34" charset="-122"/>
                <a:cs typeface="Cambria" pitchFamily="34" charset="-120"/>
              </a:rPr>
              <a:t>Add paging to your list endpoint and test the last page</a:t>
            </a:r>
            <a:endParaRPr lang="en-US" sz="1200" dirty="0"/>
          </a:p>
        </p:txBody>
      </p:sp>
      <p:sp>
        <p:nvSpPr>
          <p:cNvPr id="40" name="Text 38"/>
          <p:cNvSpPr txBox="1"/>
          <p:nvPr/>
        </p:nvSpPr>
        <p:spPr>
          <a:xfrm>
            <a:off x="594360" y="5989320"/>
            <a:ext cx="10607040" cy="310896"/>
          </a:xfrm>
          <a:prstGeom prst="rect">
            <a:avLst/>
          </a:prstGeom>
          <a:noFill/>
          <a:ln/>
        </p:spPr>
        <p:txBody>
          <a:bodyPr wrap="square" lIns="0" tIns="0" rIns="0" bIns="0" rtlCol="0" anchor="ctr"/>
          <a:lstStyle/>
          <a:p>
            <a:pPr indent="0" marL="0">
              <a:buNone/>
            </a:pPr>
            <a:r>
              <a:rPr lang="en-US" sz="1200" i="1" dirty="0">
                <a:solidFill>
                  <a:srgbClr val="D9D9EF"/>
                </a:solidFill>
                <a:latin typeface="Cambria" pitchFamily="34" charset="0"/>
                <a:ea typeface="Cambria" pitchFamily="34" charset="-122"/>
                <a:cs typeface="Cambria" pitchFamily="34" charset="-120"/>
              </a:rPr>
              <a:t>Next: React — the front end that will consume all of this.</a:t>
            </a:r>
            <a:endParaRPr lang="en-US" sz="1200" dirty="0"/>
          </a:p>
        </p:txBody>
      </p:sp>
      <p:sp>
        <p:nvSpPr>
          <p:cNvPr id="41" name="Shape 39"/>
          <p:cNvSpPr/>
          <p:nvPr/>
        </p:nvSpPr>
        <p:spPr>
          <a:xfrm>
            <a:off x="0" y="6400800"/>
            <a:ext cx="3840480" cy="457200"/>
          </a:xfrm>
          <a:prstGeom prst="rect">
            <a:avLst/>
          </a:prstGeom>
          <a:solidFill>
            <a:srgbClr val="5050A8"/>
          </a:solidFill>
          <a:ln w="12700">
            <a:solidFill>
              <a:srgbClr val="5050A8"/>
            </a:solidFill>
            <a:prstDash val="solid"/>
          </a:ln>
        </p:spPr>
      </p:sp>
      <p:sp>
        <p:nvSpPr>
          <p:cNvPr id="42" name="Text 40"/>
          <p:cNvSpPr txBox="1"/>
          <p:nvPr/>
        </p:nvSpPr>
        <p:spPr>
          <a:xfrm>
            <a:off x="164592" y="6400800"/>
            <a:ext cx="3511296" cy="457200"/>
          </a:xfrm>
          <a:prstGeom prst="rect">
            <a:avLst/>
          </a:prstGeom>
          <a:noFill/>
          <a:ln/>
        </p:spPr>
        <p:txBody>
          <a:bodyPr wrap="square" lIns="0" tIns="0" rIns="0" bIns="0" rtlCol="0" anchor="ctr"/>
          <a:lstStyle/>
          <a:p>
            <a:pPr algn="l" indent="0" marL="0">
              <a:buNone/>
            </a:pPr>
            <a:r>
              <a:rPr lang="en-US" sz="950" dirty="0">
                <a:solidFill>
                  <a:srgbClr val="FFFFFF"/>
                </a:solidFill>
                <a:latin typeface="Cambria" pitchFamily="34" charset="0"/>
                <a:ea typeface="Cambria" pitchFamily="34" charset="-122"/>
                <a:cs typeface="Cambria" pitchFamily="34" charset="-120"/>
              </a:rPr>
              <a:t>HAL  ·  .NET, React &amp; SQL Programme</a:t>
            </a:r>
            <a:endParaRPr lang="en-US" sz="950" dirty="0"/>
          </a:p>
        </p:txBody>
      </p:sp>
      <p:sp>
        <p:nvSpPr>
          <p:cNvPr id="43" name="Shape 41"/>
          <p:cNvSpPr/>
          <p:nvPr/>
        </p:nvSpPr>
        <p:spPr>
          <a:xfrm>
            <a:off x="3840480" y="6400800"/>
            <a:ext cx="6675120" cy="457200"/>
          </a:xfrm>
          <a:prstGeom prst="rect">
            <a:avLst/>
          </a:prstGeom>
          <a:solidFill>
            <a:srgbClr val="3B3B96"/>
          </a:solidFill>
          <a:ln w="12700">
            <a:solidFill>
              <a:srgbClr val="3B3B96"/>
            </a:solidFill>
            <a:prstDash val="solid"/>
          </a:ln>
        </p:spPr>
      </p:sp>
      <p:sp>
        <p:nvSpPr>
          <p:cNvPr id="44" name="Text 42"/>
          <p:cNvSpPr txBox="1"/>
          <p:nvPr/>
        </p:nvSpPr>
        <p:spPr>
          <a:xfrm>
            <a:off x="4005072" y="6400800"/>
            <a:ext cx="6345936" cy="457200"/>
          </a:xfrm>
          <a:prstGeom prst="rect">
            <a:avLst/>
          </a:prstGeom>
          <a:noFill/>
          <a:ln/>
        </p:spPr>
        <p:txBody>
          <a:bodyPr wrap="square" lIns="0" tIns="0" rIns="0" bIns="0" rtlCol="0" anchor="ctr"/>
          <a:lstStyle/>
          <a:p>
            <a:pPr algn="l" indent="0" marL="0">
              <a:buNone/>
            </a:pPr>
            <a:r>
              <a:rPr lang="en-US" sz="950" dirty="0">
                <a:solidFill>
                  <a:srgbClr val="FFFFFF"/>
                </a:solidFill>
                <a:latin typeface="Cambria" pitchFamily="34" charset="0"/>
                <a:ea typeface="Cambria" pitchFamily="34" charset="-122"/>
                <a:cs typeface="Cambria" pitchFamily="34" charset="-120"/>
              </a:rPr>
              <a:t>Day 2 · Session 2 — Connecting the API to Data</a:t>
            </a:r>
            <a:endParaRPr lang="en-US" sz="950" dirty="0"/>
          </a:p>
        </p:txBody>
      </p:sp>
      <p:sp>
        <p:nvSpPr>
          <p:cNvPr id="45" name="Shape 43"/>
          <p:cNvSpPr/>
          <p:nvPr/>
        </p:nvSpPr>
        <p:spPr>
          <a:xfrm>
            <a:off x="10515600" y="6400800"/>
            <a:ext cx="1676095" cy="457200"/>
          </a:xfrm>
          <a:prstGeom prst="rect">
            <a:avLst/>
          </a:prstGeom>
          <a:solidFill>
            <a:srgbClr val="5050A8"/>
          </a:solidFill>
          <a:ln w="12700">
            <a:solidFill>
              <a:srgbClr val="5050A8"/>
            </a:solidFill>
            <a:prstDash val="solid"/>
          </a:ln>
        </p:spPr>
      </p:sp>
      <p:sp>
        <p:nvSpPr>
          <p:cNvPr id="46" name="Text 44"/>
          <p:cNvSpPr txBox="1"/>
          <p:nvPr/>
        </p:nvSpPr>
        <p:spPr>
          <a:xfrm>
            <a:off x="10680192" y="6400800"/>
            <a:ext cx="1346911" cy="457200"/>
          </a:xfrm>
          <a:prstGeom prst="rect">
            <a:avLst/>
          </a:prstGeom>
          <a:noFill/>
          <a:ln/>
        </p:spPr>
        <p:txBody>
          <a:bodyPr wrap="square" lIns="0" tIns="0" rIns="0" bIns="0" rtlCol="0" anchor="ctr"/>
          <a:lstStyle/>
          <a:p>
            <a:pPr algn="ctr" indent="0" marL="0">
              <a:buNone/>
            </a:pPr>
            <a:r>
              <a:rPr lang="en-US" sz="950" dirty="0">
                <a:solidFill>
                  <a:srgbClr val="FFFFFF"/>
                </a:solidFill>
                <a:latin typeface="Cambria" pitchFamily="34" charset="0"/>
                <a:ea typeface="Cambria" pitchFamily="34" charset="-122"/>
                <a:cs typeface="Cambria" pitchFamily="34" charset="-120"/>
              </a:rPr>
              <a:t>13</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Day 2, Session 2 - Connecting the API to Data</dc:title>
  <dc:subject>PptxGenJS Presentation</dc:subject>
  <dc:creator>HAL .NET, React &amp; SQL Transition Program</dc:creator>
  <cp:lastModifiedBy>HAL .NET, React &amp; SQL Transition Program</cp:lastModifiedBy>
  <cp:revision>1</cp:revision>
  <dcterms:created xsi:type="dcterms:W3CDTF">2026-09-16T16:44:51Z</dcterms:created>
  <dcterms:modified xsi:type="dcterms:W3CDTF">2026-09-16T16:44:51Z</dcterms:modified>
</cp:coreProperties>
</file>