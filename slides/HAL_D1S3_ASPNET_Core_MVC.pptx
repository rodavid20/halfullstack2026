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18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76774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MVC is the vocabulary for the rest of the course. Spend the time here — Day 2 assumes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separation is what makes the code testable and lets two people work on the same feature at once. Ask them for the equivalent split in a design office — analysis, drawing, release.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Middleware order causes bugs that look inexplicable. Reorder two lines live and show authentication silently failing.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the folder convention — most "my view is not found" problems are a misnamed folder. Show what happens when you rename the folder and reload.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double-submit problem is worth demonstrating: post a form, press F5, and watch a second record appear.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back explicitly to the XSS slide from Session 1. This is where the protection actually lives.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_ViewStart.cshtml sets the default layout, and _ViewImports.cshtml holds the shared using statements and tag helper registration. Mention both — people hunt for them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ViewBag point matters: it is convenient, silently fragile, and everywhere in older code. Make the case for view models now, before they build habits.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Over-posting is the security point of this slide — connect it back to the DTO discussion. A user setting IsApproved on a form you never rendered is the classic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habit that separates code that ages well from code that does not. It costs one small class per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this straight back to the D in SOLID from Session 1. Here is where the principle becomes a line of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view-not-found checklist saves genuine time in the hands-on that follows. Put it on the screen while they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Expect Web Forms to come up. Be respectful about it: it was the right tool in its day, and a lot of it still runs.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Circulate. The two common stumbles are the view folder name and forgetting @model at the top of the 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recap is the one to photograph. Everything on Day 2 assumes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 · SESSION 3 · 90 MINUTES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365760"/>
            <a:ext cx="10607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ASP.NET Core MVC Architecture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572768"/>
            <a:ext cx="3977640" cy="4233672"/>
          </a:xfrm>
          <a:prstGeom prst="roundRect">
            <a:avLst>
              <a:gd name="adj" fmla="val 1149"/>
            </a:avLst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68680" y="184708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YOU CAN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231136"/>
            <a:ext cx="3429000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 a request from the browser to a rendered page</a:t>
            </a:r>
            <a:endParaRPr lang="en-US" sz="13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Say what belongs in a controller, a model and a view</a:t>
            </a:r>
            <a:endParaRPr lang="en-US" sz="13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a controller action and the view it returns</a:t>
            </a:r>
            <a:endParaRPr lang="en-US" sz="13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a route and predict which action will run</a:t>
            </a:r>
            <a:endParaRPr lang="en-US" sz="13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 data to a view without guessing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68680" y="5138928"/>
            <a:ext cx="3429000" cy="0"/>
          </a:xfrm>
          <a:prstGeom prst="line">
            <a:avLst/>
          </a:prstGeom>
          <a:noFill/>
          <a:ln w="12700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868680" y="5266944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45 minutes of concept and demonstration, then 45 minutes at the keyboard.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160934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40" dirty="0">
                <a:solidFill>
                  <a:srgbClr val="3333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COVER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937760" y="1956816"/>
            <a:ext cx="6656832" cy="713232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937760" y="1956816"/>
            <a:ext cx="50292" cy="713232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138928" y="2130552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5138928" y="2130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0" y="1956816"/>
            <a:ext cx="57058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MVC pattern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three parts are kept separate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937760" y="2798064"/>
            <a:ext cx="6656832" cy="713232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937760" y="2798064"/>
            <a:ext cx="50292" cy="713232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138928" y="2971800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5138928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0" y="2798064"/>
            <a:ext cx="57058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request pipeline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between the URL and the HTML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937760" y="3639312"/>
            <a:ext cx="6656832" cy="713232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937760" y="3639312"/>
            <a:ext cx="50292" cy="713232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138928" y="3813048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5138928" y="3813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0" y="3639312"/>
            <a:ext cx="57058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Controllers, models, views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with the code that defines it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937760" y="4480560"/>
            <a:ext cx="6656832" cy="713232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937760" y="4480560"/>
            <a:ext cx="50292" cy="713232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138928" y="4654296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5138928" y="4654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5669280" y="4480560"/>
            <a:ext cx="57058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Routing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Conventional and attribute routes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937760" y="5321808"/>
            <a:ext cx="6656832" cy="713232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937760" y="5321808"/>
            <a:ext cx="50292" cy="713232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138928" y="549554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5138928" y="54955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5669280" y="5321808"/>
            <a:ext cx="57058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Passing data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 models, and why ViewBag is a last resort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 · Session 3 — ASP.NET Core MVC Architecture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MVC PATTERN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request, four handovers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91640"/>
            <a:ext cx="1951878" cy="118872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04088" y="1691640"/>
            <a:ext cx="173242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Browser</a:t>
            </a:r>
            <a:endParaRPr lang="en-US" sz="13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/parts/details/4471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2601102" y="2194560"/>
            <a:ext cx="201168" cy="182880"/>
          </a:xfrm>
          <a:prstGeom prst="chevron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857134" y="1691640"/>
            <a:ext cx="1951878" cy="118872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2966862" y="1691640"/>
            <a:ext cx="173242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Routing</a:t>
            </a:r>
            <a:endParaRPr lang="en-US" sz="13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controller? Which action?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863876" y="2194560"/>
            <a:ext cx="201168" cy="182880"/>
          </a:xfrm>
          <a:prstGeom prst="chevron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119908" y="1691640"/>
            <a:ext cx="1951878" cy="1188720"/>
          </a:xfrm>
          <a:prstGeom prst="rect">
            <a:avLst/>
          </a:prstGeom>
          <a:solidFill>
            <a:srgbClr val="3333B3"/>
          </a:solidFill>
          <a:ln w="9525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229636" y="1691640"/>
            <a:ext cx="173242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Controller</a:t>
            </a:r>
            <a:endParaRPr lang="en-US" sz="13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Decides what to do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126651" y="2194560"/>
            <a:ext cx="201168" cy="182880"/>
          </a:xfrm>
          <a:prstGeom prst="chevron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382683" y="1691640"/>
            <a:ext cx="1951878" cy="118872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7492411" y="1691640"/>
            <a:ext cx="173242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3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and business rules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9389425" y="2194560"/>
            <a:ext cx="201168" cy="182880"/>
          </a:xfrm>
          <a:prstGeom prst="chevron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645457" y="1691640"/>
            <a:ext cx="1951878" cy="118872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9755185" y="1691640"/>
            <a:ext cx="173242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</a:t>
            </a:r>
            <a:endParaRPr lang="en-US" sz="13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Renders HTML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594360" y="3035808"/>
            <a:ext cx="110029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controller is the only part that talks to everything else. Models do not know about views; views do not fetch their own data.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" y="3584448"/>
            <a:ext cx="3529584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777240" y="3584448"/>
            <a:ext cx="31638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94360" y="3986784"/>
            <a:ext cx="3529584" cy="1883664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813816" y="4133088"/>
            <a:ext cx="3090672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and the rules about it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Knows nothing about HTTP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Reusable outside the web app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SparePart, StockLevel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325112" y="3584448"/>
            <a:ext cx="3529584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4507992" y="3584448"/>
            <a:ext cx="31638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325112" y="3986784"/>
            <a:ext cx="3529584" cy="1883664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4544568" y="4133088"/>
            <a:ext cx="3090672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Razor markup: HTML plus C#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Displays what it is </a:t>
            </a:r>
            <a:r>
              <a:rPr lang="en-US" sz="1200" u="sng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handed</a:t>
            </a:r>
            <a:endParaRPr lang="en-US" sz="1200" u="sng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database calls, ever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Views/Parts/Index.cshtml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55864" y="3584448"/>
            <a:ext cx="3529584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8238744" y="3584448"/>
            <a:ext cx="31638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Controller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8055864" y="3986784"/>
            <a:ext cx="3529584" cy="1883664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8275320" y="4133088"/>
            <a:ext cx="3090672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Receives the request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Calls the model or a service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Chooses the view or the redirect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Stays thin — no business logic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 · Session 3 — ASP.NET Core MVC Architecture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 animBg="1"/>
      <p:bldP spid="16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REQUEST PIPELINE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Middleware runs in the order you register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64208"/>
            <a:ext cx="1951878" cy="105156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04088" y="1664208"/>
            <a:ext cx="173242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HTTPS</a:t>
            </a:r>
            <a:endParaRPr lang="en-US" sz="13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Redirect and headers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2601102" y="2098548"/>
            <a:ext cx="201168" cy="182880"/>
          </a:xfrm>
          <a:prstGeom prst="chevron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857134" y="1664208"/>
            <a:ext cx="1951878" cy="105156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2966862" y="1664208"/>
            <a:ext cx="173242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files</a:t>
            </a:r>
            <a:endParaRPr lang="en-US" sz="13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Served and stopped here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863876" y="2098548"/>
            <a:ext cx="201168" cy="182880"/>
          </a:xfrm>
          <a:prstGeom prst="chevron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119908" y="1664208"/>
            <a:ext cx="1951878" cy="1051560"/>
          </a:xfrm>
          <a:prstGeom prst="rect">
            <a:avLst/>
          </a:prstGeom>
          <a:solidFill>
            <a:srgbClr val="3333B3"/>
          </a:solidFill>
          <a:ln w="9525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229636" y="1664208"/>
            <a:ext cx="173242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Routing</a:t>
            </a:r>
            <a:endParaRPr lang="en-US" sz="13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endpoint?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126651" y="2098548"/>
            <a:ext cx="201168" cy="182880"/>
          </a:xfrm>
          <a:prstGeom prst="chevron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382683" y="1664208"/>
            <a:ext cx="1951878" cy="105156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7492411" y="1664208"/>
            <a:ext cx="173242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</a:t>
            </a:r>
            <a:endParaRPr lang="en-US" sz="13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Who, and may they?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9389425" y="2098548"/>
            <a:ext cx="201168" cy="182880"/>
          </a:xfrm>
          <a:prstGeom prst="chevron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645457" y="1664208"/>
            <a:ext cx="1951878" cy="105156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9755185" y="1664208"/>
            <a:ext cx="173242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Endpoint</a:t>
            </a:r>
            <a:endParaRPr lang="en-US" sz="13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controller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94360" y="2971800"/>
            <a:ext cx="5806440" cy="1783080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813816" y="3127248"/>
            <a:ext cx="5367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3333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PROGRAM.CS — ORDER IS BEHAVIOUR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813816" y="3419856"/>
            <a:ext cx="536752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app.UseHttpsRedirection();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app.UseStaticFiles();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app.UseRouting();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app.UseAuthentication();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app.UseAuthorization();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app.MapControllerRoute( ... );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629400" y="2971800"/>
            <a:ext cx="4965192" cy="96012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629400" y="2971800"/>
            <a:ext cx="50292" cy="96012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830568" y="3268980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6830568" y="32689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360920" y="2971800"/>
            <a:ext cx="4014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piece can stop the request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files never reach your controller — that is the point, and it is why they are fast.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629400" y="4059936"/>
            <a:ext cx="4965192" cy="96012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629400" y="4059936"/>
            <a:ext cx="50292" cy="96012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830568" y="4357116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6830568" y="43571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360920" y="4059936"/>
            <a:ext cx="4014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 before authorisation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Reverse them and nobody is ever recognised. This is a real and common bug.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6629400" y="5148072"/>
            <a:ext cx="4965192" cy="96012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629400" y="5148072"/>
            <a:ext cx="50292" cy="96012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830568" y="5445252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6830568" y="54452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7360920" y="5148072"/>
            <a:ext cx="4014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is a pipe, not a list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response travels back out through the same middleware in reverse.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 · Session 3 — ASP.NET Core MVC Architecture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THREE PARTS IN CODE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feature, three files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57276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40" dirty="0">
                <a:solidFill>
                  <a:srgbClr val="3333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MODELS/SPAREPART.CS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94360" y="1847088"/>
            <a:ext cx="3529584" cy="2071116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13816" y="2002536"/>
            <a:ext cx="3090672" cy="1787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00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SparePart</a:t>
            </a:r>
            <a:endParaRPr lang="en-US" sz="100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0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0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string PartNo</a:t>
            </a:r>
            <a:endParaRPr lang="en-US" sz="100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0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 get; set; }</a:t>
            </a:r>
            <a:endParaRPr lang="en-US" sz="100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0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string Nomenclature</a:t>
            </a:r>
            <a:endParaRPr lang="en-US" sz="100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0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 get; set; }</a:t>
            </a:r>
            <a:endParaRPr lang="en-US" sz="100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0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int Quantity</a:t>
            </a:r>
            <a:endParaRPr lang="en-US" sz="100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0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 get; set; }</a:t>
            </a:r>
            <a:endParaRPr lang="en-US" sz="100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0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325112" y="157276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40" dirty="0">
                <a:solidFill>
                  <a:srgbClr val="3333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CONTROLLERS/PARTSCONTROLLER.CS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25112" y="1847088"/>
            <a:ext cx="3529584" cy="2071116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544568" y="2002536"/>
            <a:ext cx="3090672" cy="1787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00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PartsController</a:t>
            </a:r>
            <a:endParaRPr lang="en-US" sz="100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0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: Controller</a:t>
            </a:r>
            <a:endParaRPr lang="en-US" sz="100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0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0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IActionResult Index()</a:t>
            </a:r>
            <a:endParaRPr lang="en-US" sz="100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0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</a:t>
            </a:r>
            <a:endParaRPr lang="en-US" sz="100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0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parts = _repo.GetAll();</a:t>
            </a:r>
            <a:endParaRPr lang="en-US" sz="100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0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View(parts);</a:t>
            </a:r>
            <a:endParaRPr lang="en-US" sz="100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0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0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055864" y="157276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40" dirty="0">
                <a:solidFill>
                  <a:srgbClr val="3333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VIEWS/PARTS/INDEX.CSHTML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55864" y="1847088"/>
            <a:ext cx="3529584" cy="2071116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8275320" y="2002536"/>
            <a:ext cx="3090672" cy="1787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00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@model List&lt;SparePart&gt;</a:t>
            </a:r>
            <a:endParaRPr lang="en-US" sz="100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0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0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&lt;table class="table"&gt;</a:t>
            </a:r>
            <a:endParaRPr lang="en-US" sz="100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0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@foreach (var p in Model)</a:t>
            </a:r>
            <a:endParaRPr lang="en-US" sz="100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0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0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&lt;tr&gt;&lt;td&gt;@p.PartNo&lt;/td&gt;</a:t>
            </a:r>
            <a:endParaRPr lang="en-US" sz="100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0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&lt;td&gt;@p.Quantity&lt;/td&gt;&lt;/tr&gt;</a:t>
            </a:r>
            <a:endParaRPr lang="en-US" sz="100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0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0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&lt;/table&gt;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" y="4224528"/>
            <a:ext cx="11002975" cy="786384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94360" y="4224528"/>
            <a:ext cx="50292" cy="786384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832104" y="4224528"/>
            <a:ext cx="1054577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Convention over configuration</a:t>
            </a:r>
            <a:endParaRPr lang="en-US" sz="1450" dirty="0"/>
          </a:p>
          <a:p>
            <a:pPr marL="0" indent="0">
              <a:buNone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PartsController.Index() looks for Views/Parts/Index.cshtml automatically. Follow the naming and nothing needs wiring up.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94360" y="5157216"/>
            <a:ext cx="11002975" cy="786384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94360" y="5157216"/>
            <a:ext cx="50292" cy="786384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832104" y="5157216"/>
            <a:ext cx="1054577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@model declares the contract</a:t>
            </a:r>
            <a:endParaRPr lang="en-US" sz="1450" dirty="0"/>
          </a:p>
          <a:p>
            <a:pPr marL="0" indent="0">
              <a:buNone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view states what type it expects, and the editor then checks every property you use against it.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 · Session 3 — ASP.NET Core MVC Architecture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AN ACTION CAN RETURN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 the result that says what happened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64208"/>
          <a:ext cx="11000232" cy="32004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09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Return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Sends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Use it when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View(model)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Rendered HTML, 200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The normal case for a page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RedirectToAction(...)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302 to another action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After a successful POST, always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NotFound()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404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The thing asked for does not exist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BadRequest()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The input was invalid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File(stream, type)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download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PDF or Excel — you will use this on Day 3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Content("...")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Plain text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Rarely. Usually a sign something is missing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94360" y="4937760"/>
            <a:ext cx="5394960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777240" y="4937760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IActionResult is the flexible return type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94360" y="5340096"/>
            <a:ext cx="5394960" cy="603504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813816" y="5486400"/>
            <a:ext cx="4956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53"/>
              </a:lnSpc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lets one action return a view on success and NotFound on failure.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199632" y="4937760"/>
            <a:ext cx="5394960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6382512" y="4937760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Post-Redirect-Get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199632" y="5340096"/>
            <a:ext cx="5394960" cy="603504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6419088" y="5486400"/>
            <a:ext cx="4956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53"/>
              </a:lnSpc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Redirect after a successful POST, or refreshing the page submits the form again.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 · Session 3 — ASP.NET Core MVC Architecture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RAZOR SYNTAX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 with C# where you need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27632"/>
            <a:ext cx="5806440" cy="1970532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13816" y="1783080"/>
            <a:ext cx="5367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3333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FIVE THINGS YOU WILL USE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13816" y="2075688"/>
            <a:ext cx="5367528" cy="1394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@model List&lt;SparePart&gt;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&lt;h2&gt;@Model.Count parts&lt;/h2&gt;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@foreach (var p in Model) {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&lt;tr&gt;&lt;td&gt;@p.PartNo&lt;/td&gt;&lt;/tr&gt;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3364992"/>
            <a:ext cx="5806440" cy="1595628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813816" y="3520440"/>
            <a:ext cx="5367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3333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CONDITIONALS AND BLOCKS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813816" y="3813048"/>
            <a:ext cx="5367528" cy="1019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@if (p.Quantity &lt; 5) {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&lt;span class="text-danger"&gt;Reorder&lt;/span&gt;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@{ var total = Model.Sum(x =&gt; x.Quantity); }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629400" y="1627632"/>
            <a:ext cx="4965192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629400" y="1627632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830568" y="1956816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6830568" y="1956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360920" y="1627632"/>
            <a:ext cx="40142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@ switches into C#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Razor works out where the code ends and the markup resumes. Use @{ } when it needs help.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629400" y="2779776"/>
            <a:ext cx="4965192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629400" y="2779776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830568" y="3108960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830568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360920" y="2779776"/>
            <a:ext cx="40142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is HTML-encoded by default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is what closes the XSS hole from Session 1. Html.Raw opens it again — use it deliberately or not at all.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629400" y="3931920"/>
            <a:ext cx="4965192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629400" y="3931920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830568" y="426110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6830568" y="4261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360920" y="3931920"/>
            <a:ext cx="40142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logic out of the view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calculation in a view cannot be tested. Do it in the controller or the view model.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629400" y="5084064"/>
            <a:ext cx="4965192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629400" y="5084064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830568" y="5413248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6830568" y="5413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360920" y="5084064"/>
            <a:ext cx="40142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view is compiled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typo in @p.PartNumbr is a build error, not a silent blank on the page.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 · Session 3 — ASP.NET Core MVC Architecture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LAYOUTS, PARTIALS AND SECTIONS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the frame once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27632"/>
            <a:ext cx="5394960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77240" y="1627632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_Layout.cshtml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2029968"/>
            <a:ext cx="5394960" cy="1700784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813816" y="2176272"/>
            <a:ext cx="495604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page frame: header, navigation, footer, and the CSS and script tags. Every view is dropped into its @RenderBody() call.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99632" y="1627632"/>
            <a:ext cx="5394960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382512" y="1627632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Partial views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99632" y="2029968"/>
            <a:ext cx="5394960" cy="1700784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419088" y="2176272"/>
            <a:ext cx="495604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fragment reused across pages — a parts table, an address block. Rendered with a partial tag helper, and it takes its own model.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3913632"/>
            <a:ext cx="11002975" cy="1408176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813816" y="4069080"/>
            <a:ext cx="105640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3333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THEY FIT TOGETHER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813816" y="4361688"/>
            <a:ext cx="10564063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85"/>
              </a:lnSpc>
              <a:buNone/>
            </a:pPr>
            <a:r>
              <a:rPr lang="en-US" sz="110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@* _Layout.cshtml *@   &lt;body&gt; @RenderBody() @await RenderSectionAsync("Scripts", false) &lt;/body&gt;</a:t>
            </a:r>
            <a:endParaRPr lang="en-US" sz="1100" dirty="0"/>
          </a:p>
          <a:p>
            <a:pPr marL="0" indent="0">
              <a:lnSpc>
                <a:spcPts val="1485"/>
              </a:lnSpc>
              <a:buNone/>
            </a:pPr>
            <a:r>
              <a:rPr lang="en-US" sz="110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ts val="1485"/>
              </a:lnSpc>
              <a:buNone/>
            </a:pPr>
            <a:r>
              <a:rPr lang="en-US" sz="110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@* a view *@           &lt;partial name="_PartsTable" model="Model.Parts" /&gt;</a:t>
            </a:r>
            <a:endParaRPr lang="en-US" sz="1100" dirty="0"/>
          </a:p>
          <a:p>
            <a:pPr marL="0" indent="0">
              <a:lnSpc>
                <a:spcPts val="1485"/>
              </a:lnSpc>
              <a:buNone/>
            </a:pPr>
            <a:r>
              <a:rPr lang="en-US" sz="110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@section Scripts { &lt;script src="~/js/parts.js"&gt;&lt;/script&gt; }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 · Session 3 — ASP.NET Core MVC Architecture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ROUTING AND PASSING DATA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action runs, and what it hands over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57276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40" dirty="0">
                <a:solidFill>
                  <a:srgbClr val="3333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CONVENTIONAL ROUTING (PROGRAM.CS)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94360" y="1847088"/>
            <a:ext cx="5577840" cy="1133856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13816" y="2002536"/>
            <a:ext cx="513892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app.MapControllerRoute(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"default",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pattern: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"{controller=Home}/{action=Index}/{id?}");</a:t>
            </a:r>
            <a:endParaRPr lang="en-US" sz="10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3063240"/>
          <a:ext cx="5577840" cy="1609344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URL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Runs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HomeController.Index()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/parts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PartsController.Index()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/parts/details/4471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PartsController.Details(id: "4471")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94360" y="5074920"/>
            <a:ext cx="5577840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777240" y="5074920"/>
            <a:ext cx="5212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Attribute routing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94360" y="5477256"/>
            <a:ext cx="5577840" cy="466344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813816" y="5623560"/>
            <a:ext cx="51389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53"/>
              </a:lnSpc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[Route("parts/{partNo}")] on the action itself — explicit, and the norm for Web APIs tomorrow.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6565392" y="157276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40" dirty="0">
                <a:solidFill>
                  <a:srgbClr val="3333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PASSING DATA TO THE VIEW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565392" y="1847088"/>
            <a:ext cx="5029200" cy="1408176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6784848" y="2002536"/>
            <a:ext cx="4590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PREFERRED — A TYPED MODEL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6784848" y="2295144"/>
            <a:ext cx="459028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View(parts);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 the view: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@model List&lt;SparePart&gt;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565392" y="3383280"/>
            <a:ext cx="5029200" cy="1408176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6784848" y="3538728"/>
            <a:ext cx="4590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A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LAST RESORT — VIEWBAG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6784848" y="3831336"/>
            <a:ext cx="459028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ViewBag.Title = "Spares";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 compile-time checking: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 typo fails silently at runtime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565392" y="4919472"/>
            <a:ext cx="5029200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6748272" y="4919472"/>
            <a:ext cx="4663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 models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565392" y="5321808"/>
            <a:ext cx="5029200" cy="621792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 txBox="1"/>
          <p:nvPr/>
        </p:nvSpPr>
        <p:spPr>
          <a:xfrm>
            <a:off x="6784848" y="5468112"/>
            <a:ext cx="4590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53"/>
              </a:lnSpc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a page needs data from more than one source, create a class for exactly that page — PartsDashboardViewModel — rather than stuffing extras into ViewBag.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 · Session 3 — ASP.NET Core MVC Architecture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BINDING AND VALIDATION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form fields to a typed object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27632"/>
            <a:ext cx="5806440" cy="3282696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13816" y="1783080"/>
            <a:ext cx="5367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3333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NAMES MATCH, SO BINDING JUST HAPPENS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13816" y="2075688"/>
            <a:ext cx="5367528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SparePart {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[Required, StringLength(20)]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string PartNo { get; set; }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[Range(0, 100000)]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int Quantity { get; set; }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[HttpPost]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IActionResult Create(SparePart part)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(!ModelState.IsValid) return View(part);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629400" y="1627632"/>
            <a:ext cx="4965192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629400" y="1627632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830568" y="1956816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830568" y="1956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360920" y="1627632"/>
            <a:ext cx="40142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binds from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 values, then query string, then the form body. Attributes let you be explicit.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629400" y="2779776"/>
            <a:ext cx="4965192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629400" y="2779776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830568" y="3108960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6830568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360920" y="2779776"/>
            <a:ext cx="40142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ModelState carries the verdict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IsValid before you trust anything, and return the view so the user sees the messages.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629400" y="3931920"/>
            <a:ext cx="4965192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629400" y="3931920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830568" y="426110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6830568" y="4261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360920" y="3931920"/>
            <a:ext cx="40142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Client-side validation is a courtesy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attributes generate it, but the server check is the control. Never remove it.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629400" y="5084064"/>
            <a:ext cx="4965192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629400" y="5084064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830568" y="5413248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6830568" y="5413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360920" y="5084064"/>
            <a:ext cx="40142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Over-posting is a real risk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Binding straight onto an entity lets a caller set fields you never put on the form. Bind to a view model.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594360" y="4983480"/>
            <a:ext cx="5806440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777240" y="4983480"/>
            <a:ext cx="5440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attribute, four places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94360" y="5385816"/>
            <a:ext cx="5806440" cy="557784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813816" y="5532120"/>
            <a:ext cx="53675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53"/>
              </a:lnSpc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shapes the column, the API contract and the browser message.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 · Session 3 — ASP.NET Core MVC Architecture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 MODELS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page needs its own type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27632"/>
            <a:ext cx="5394960" cy="384048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77240" y="162763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PASSING THE ENTITY STRAIGHT THROUGH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2139696"/>
            <a:ext cx="539496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813816" y="2286000"/>
            <a:ext cx="495604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Fine for a simple list, and tempting everywhere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view then depends on your database shape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schema change breaks pages for no good reason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Fields the user should never see travel to the browser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Anything extra ends up shoved into ViewBag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99632" y="1627632"/>
            <a:ext cx="5394960" cy="3840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382512" y="162763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TYPE BUILT FOR THIS PAGE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99632" y="2139696"/>
            <a:ext cx="539496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419088" y="2286000"/>
            <a:ext cx="495604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PartsDashboardViewModel: the list, the counts, the filter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Exactly what the page shows, and nothing else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compiler checks every property the view uses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changes stop at the controller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page is documented by its own type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4360" y="5193792"/>
            <a:ext cx="11002975" cy="640080"/>
          </a:xfrm>
          <a:prstGeom prst="rect">
            <a:avLst/>
          </a:prstGeom>
          <a:solidFill>
            <a:srgbClr val="FBECEC"/>
          </a:solidFill>
          <a:ln w="12700">
            <a:solidFill>
              <a:srgbClr val="A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832104" y="5193792"/>
            <a:ext cx="1052748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7A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moment you reach for ViewBag to add "just one more thing", the page has earned a view model.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 · Session 3 — ASP.NET Core MVC Architecture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DEPENDENCY INJECTION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framework hands you what you asked for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27632"/>
            <a:ext cx="5806440" cy="1970532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13816" y="1783080"/>
            <a:ext cx="5367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3333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REGISTER ONCE, USE ANYWHERE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13816" y="2075688"/>
            <a:ext cx="5367528" cy="1394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Program.cs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builder.Services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.AddScoped&lt;IPartService, PartService&gt;();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 controller simply asks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PartsController(IPartService parts)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=&gt; _parts = parts;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3749040"/>
            <a:ext cx="5806440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77240" y="3749040"/>
            <a:ext cx="5440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is not ceremony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94360" y="4151376"/>
            <a:ext cx="5806440" cy="1792224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813816" y="4297680"/>
            <a:ext cx="5367528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controller depends on an interface, so it can be tested with a stand-in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line changes the implementation for the whole application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Lifetimes are managed for you — no leaked connections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is how ASP.NET Core hands you logging, configuration and EF Core too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29400" y="1627632"/>
            <a:ext cx="4965192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629400" y="1627632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830568" y="1956816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830568" y="1956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360920" y="1627632"/>
            <a:ext cx="40142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Scoped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instance per request. The right default for services and DbContext.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629400" y="2779776"/>
            <a:ext cx="4965192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629400" y="2779776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830568" y="3108960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6830568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360920" y="2779776"/>
            <a:ext cx="40142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Transient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new one every time it is asked for. Cheap, stateless helpers.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629400" y="3931920"/>
            <a:ext cx="4965192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629400" y="3931920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830568" y="426110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6830568" y="4261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360920" y="3931920"/>
            <a:ext cx="40142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Singleton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for the whole application. Must be thread-safe — a common source of subtle bugs.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629400" y="5084064"/>
            <a:ext cx="4965192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629400" y="5084064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830568" y="5413248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6830568" y="5413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360920" y="5084064"/>
            <a:ext cx="40142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classic mistake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Injecting a scoped service into a singleton. The container will tell you; read the message.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 · Session 3 — ASP.NET Core MVC Architecture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MISTAKES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goes wrong in the first MVC application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64208"/>
            <a:ext cx="5806440" cy="73152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94360" y="1664208"/>
            <a:ext cx="50292" cy="73152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95528" y="1847088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95528" y="1847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1664208"/>
            <a:ext cx="48554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Fat controllers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rules and SQL inside the action. Move them to a service the moment there are more than a few lines.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" y="2514600"/>
            <a:ext cx="5806440" cy="73152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94360" y="2514600"/>
            <a:ext cx="50292" cy="73152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95528" y="2697480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795528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2514600"/>
            <a:ext cx="48554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calls in the view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works, and it makes the page impossible to test or reason about. The controller supplies everything.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94360" y="3364992"/>
            <a:ext cx="5806440" cy="73152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94360" y="3364992"/>
            <a:ext cx="50292" cy="73152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95528" y="3547872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795528" y="3547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3364992"/>
            <a:ext cx="48554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ViewBag everywhere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compile-time check, so a rename silently blanks the page.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94360" y="4215384"/>
            <a:ext cx="5806440" cy="73152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94360" y="4215384"/>
            <a:ext cx="50292" cy="73152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95528" y="439826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795528" y="43982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325880" y="4215384"/>
            <a:ext cx="48554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Wrong folder or file name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Views/Part/Index.cshtml for PartsController will not be found. Convention is not a suggestion.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94360" y="5065776"/>
            <a:ext cx="5806440" cy="73152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94360" y="5065776"/>
            <a:ext cx="50292" cy="73152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95528" y="5248656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795528" y="5248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325880" y="5065776"/>
            <a:ext cx="48554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actions that change data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delete link on an anchor tag will eventually be followed by a crawler.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629400" y="1664208"/>
            <a:ext cx="4965192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6812280" y="1664208"/>
            <a:ext cx="4599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test for the controller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6629400" y="2066544"/>
            <a:ext cx="4965192" cy="1609344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6848856" y="2212848"/>
            <a:ext cx="452628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the action aloud. If it takes more than one breath, or mentions a table name, it is doing work that belongs somewhere else.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629400" y="3840480"/>
            <a:ext cx="4965192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6812280" y="3840480"/>
            <a:ext cx="4599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the view is not found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6629400" y="4242816"/>
            <a:ext cx="4965192" cy="1554480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 txBox="1"/>
          <p:nvPr/>
        </p:nvSpPr>
        <p:spPr>
          <a:xfrm>
            <a:off x="6848856" y="4389120"/>
            <a:ext cx="4526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the folder is the controller name without "Controller"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the file name matches the action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the build actually copied it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 · Session 3 — ASP.NET Core MVC Architecture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3">
    <p:bg>
      <p:bgPr>
        <a:solidFill>
          <a:srgbClr val="2B2B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CHECKPOINT · 10 MINUTES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B3B96"/>
          </a:solidFill>
          <a:ln w="12700">
            <a:solidFill>
              <a:srgbClr val="3B3B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 it with what you have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64208"/>
            <a:ext cx="6949440" cy="960120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94360" y="1664208"/>
            <a:ext cx="50292" cy="960120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95528" y="1961388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95528" y="19613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1664208"/>
            <a:ext cx="59984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are your existing screens built?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Forms, MVC 5, something desktop? Where does the logic live?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4360" y="2752344"/>
            <a:ext cx="6949440" cy="960120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94360" y="2752344"/>
            <a:ext cx="50292" cy="960120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95528" y="304952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795528" y="30495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2752344"/>
            <a:ext cx="59984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does business logic sit today?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the page, in a stored procedure, in someone's head?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94360" y="3840480"/>
            <a:ext cx="6949440" cy="960120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94360" y="3840480"/>
            <a:ext cx="50292" cy="960120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95528" y="4137660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795528" y="41376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3840480"/>
            <a:ext cx="59984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would a view model change?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 one screen you know and describe the type it would need.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94360" y="4928616"/>
            <a:ext cx="6949440" cy="960120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94360" y="4928616"/>
            <a:ext cx="50292" cy="960120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95528" y="5225796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795528" y="52257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325880" y="4928616"/>
            <a:ext cx="59984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hardest to test?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Usually the answer points straight at what should be extracted.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7635240" y="1664208"/>
            <a:ext cx="3959352" cy="402336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7818120" y="1664208"/>
            <a:ext cx="3593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it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635240" y="2066544"/>
            <a:ext cx="3959352" cy="3803904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7854696" y="2212848"/>
            <a:ext cx="3520440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minutes in pairs, then three answers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people mention stored procedures holding logic, note it — Day 4 covers that ground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 one screen the group would rebuild; it is a good candidate for the final project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B3B96"/>
          </a:solidFill>
          <a:ln w="12700">
            <a:solidFill>
              <a:srgbClr val="3B3B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 · Session 3 — ASP.NET Core MVC Architecture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B2B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 · 40 MINUTES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B3B96"/>
          </a:solidFill>
          <a:ln w="12700">
            <a:solidFill>
              <a:srgbClr val="3B3B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365760"/>
            <a:ext cx="10607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small MVC component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29844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parts listing with a details page — the shape of nearly every screen you will ever build.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8288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4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TASKS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94360" y="2176272"/>
            <a:ext cx="6035040" cy="502920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94360" y="2176272"/>
            <a:ext cx="50292" cy="502920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95528" y="2244852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95528" y="22448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176272"/>
            <a:ext cx="5084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SparePart to Models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PartNo, Nomenclature, Quantity, Location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" y="2788920"/>
            <a:ext cx="6035040" cy="502920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94360" y="2788920"/>
            <a:ext cx="50292" cy="502920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95528" y="2857500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795528" y="28575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2788920"/>
            <a:ext cx="5084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PartsController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an Index action returning a hard-coded list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4360" y="3401568"/>
            <a:ext cx="6035040" cy="502920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94360" y="3401568"/>
            <a:ext cx="50292" cy="502920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95528" y="3470148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95528" y="34701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3401568"/>
            <a:ext cx="5084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Views/Parts/Index.cshtml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table, strongly typed with @model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94360" y="4014216"/>
            <a:ext cx="6035040" cy="502920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94360" y="4014216"/>
            <a:ext cx="50292" cy="502920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95528" y="4082796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795528" y="40827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325880" y="4014216"/>
            <a:ext cx="5084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a Details(string id) action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one part, return a view for it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94360" y="4626864"/>
            <a:ext cx="6035040" cy="502920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94360" y="4626864"/>
            <a:ext cx="50292" cy="502920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95528" y="469544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795528" y="46954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325880" y="4626864"/>
            <a:ext cx="5084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 the two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asp-action and asp-route-id on the anchor tag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94360" y="5239512"/>
            <a:ext cx="6035040" cy="502920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94360" y="5239512"/>
            <a:ext cx="50292" cy="502920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95528" y="5308092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795528" y="53080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1325880" y="5239512"/>
            <a:ext cx="5084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Handle the missing part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 NotFound() when the part number does not exist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949440" y="1828800"/>
            <a:ext cx="4645152" cy="3282696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 txBox="1"/>
          <p:nvPr/>
        </p:nvSpPr>
        <p:spPr>
          <a:xfrm>
            <a:off x="7168896" y="1984248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3333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7168896" y="2276856"/>
            <a:ext cx="4206240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Controllers/PartsController.cs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IActionResult Details(string id)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 part = _parts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.FirstOrDefault(p =&gt; p.PartNo == id);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(part is null) return NotFound();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View(part);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@* Views/Parts/Index.cshtml *@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asp-action="Details"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asp-route-id="@p.PartNo"&gt;View&lt;/a&gt;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594360" y="594360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this project open — Session 4 builds directly on it.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B3B96"/>
          </a:solidFill>
          <a:ln w="12700">
            <a:solidFill>
              <a:srgbClr val="3B3B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 · Session 3 — ASP.NET Core MVC Architecture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5">
    <p:bg>
      <p:bgPr>
        <a:solidFill>
          <a:srgbClr val="2B2B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3 RECAP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B3B96"/>
          </a:solidFill>
          <a:ln w="12700">
            <a:solidFill>
              <a:srgbClr val="3B3B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vocabulary for the rest of the week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64208"/>
            <a:ext cx="6400800" cy="621792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94360" y="1664208"/>
            <a:ext cx="50292" cy="621792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95528" y="179222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95528" y="17922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1664208"/>
            <a:ext cx="5449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Routing picks the controller and action from the URL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4360" y="2377440"/>
            <a:ext cx="6400800" cy="621792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94360" y="2377440"/>
            <a:ext cx="50292" cy="621792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95528" y="2505456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795528" y="2505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2377440"/>
            <a:ext cx="5449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Controllers stay thin; models hold the rules; views only display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94360" y="3090672"/>
            <a:ext cx="6400800" cy="621792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94360" y="3090672"/>
            <a:ext cx="50292" cy="621792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95528" y="3218688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795528" y="3218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3090672"/>
            <a:ext cx="5449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Middleware runs in the order you register it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94360" y="3803904"/>
            <a:ext cx="6400800" cy="621792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94360" y="3803904"/>
            <a:ext cx="50292" cy="621792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95528" y="3931920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795528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325880" y="3803904"/>
            <a:ext cx="5449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 the result that describes what happened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594360" y="4517136"/>
            <a:ext cx="6400800" cy="621792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94360" y="4517136"/>
            <a:ext cx="50292" cy="621792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95528" y="4645152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795528" y="4645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325880" y="4517136"/>
            <a:ext cx="5449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Bind to a view model, and always check ModelState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594360" y="5230368"/>
            <a:ext cx="6400800" cy="621792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94360" y="5230368"/>
            <a:ext cx="50292" cy="621792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95528" y="535838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795528" y="5358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1325880" y="5230368"/>
            <a:ext cx="5449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for dependencies in the constructor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7086600" y="1664208"/>
            <a:ext cx="4507992" cy="402336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 txBox="1"/>
          <p:nvPr/>
        </p:nvSpPr>
        <p:spPr>
          <a:xfrm>
            <a:off x="7269480" y="1664208"/>
            <a:ext cx="4142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these before tomorrow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7086600" y="2066544"/>
            <a:ext cx="4507992" cy="3785616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 txBox="1"/>
          <p:nvPr/>
        </p:nvSpPr>
        <p:spPr>
          <a:xfrm>
            <a:off x="7306056" y="2212848"/>
            <a:ext cx="4069080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a second controller and view to your project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Deliberately misname a view folder and read the error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Swap one ViewBag value for a view model property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594360" y="598932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Next: putting it together into a running application.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B3B96"/>
          </a:solidFill>
          <a:ln w="12700">
            <a:solidFill>
              <a:srgbClr val="3B3B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 · Session 3 — ASP.NET Core MVC Architecture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425</TotalTime>
  <Words>3119</Words>
  <Application>Microsoft Office PowerPoint</Application>
  <PresentationFormat>Widescreen</PresentationFormat>
  <Paragraphs>459</Paragraphs>
  <Slides>15</Slides>
  <Notes>15</Notes>
  <HiddenSlides>2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1, Session 3 - ASP.NET Core MVC</dc:title>
  <dc:subject>PptxGenJS Presentation</dc:subject>
  <dc:creator>HAL .NET, React &amp; SQL Transition Program</dc:creator>
  <cp:lastModifiedBy>Roshan David Jathanna [MAHE-MIT]</cp:lastModifiedBy>
  <cp:revision>3</cp:revision>
  <dcterms:created xsi:type="dcterms:W3CDTF">2026-09-16T16:44:51Z</dcterms:created>
  <dcterms:modified xsi:type="dcterms:W3CDTF">2026-09-22T08:07:09Z</dcterms:modified>
</cp:coreProperties>
</file>