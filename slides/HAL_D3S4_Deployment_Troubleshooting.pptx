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troubleshooting as a discipline: read the code, form one hypothesis, test it, change one thing at a time. Same as fault-finding on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Build-once-and-promote is a principle worth stating plainly. Rebuilding for production is one of the most common causes of "it worked in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who worked with classic ASP.NET, web.config meant everything. Be explicit that its role has narrowed.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runbook is the deliverable that makes deployment repeatable by someone other than the author. Push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them to photograph this table. It answers most first-deployment questions and saves a support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bullet is the transferable one. It is the same standard they already apply to a snag on a system — insist on it 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back to Day 1 Session 1 — same principle, now with somewhere real to write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DLL directly is the single most effective diagnostic move for a failing ASP.NET Core deployment. Demonstrate it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untested backup line usually gets a rueful laugh. Ask whether anyone has actually performed a 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something actionable. Writing one runbook for one system is a change every person in the room can make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full 45 minutes and expect to spend it. This is the most valuable hour of the three days because it is the one they cannot simulate at their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collecting the errors people hit today into a shared list — it becomes the troubleshooting guide for the next intake.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DAY 3 · SESSION 4 · 90 MINUTES</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0607040"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Deployment &amp; Troubleshooting</a:t>
            </a:r>
            <a:endParaRPr lang="en-US" sz="2600" dirty="0"/>
          </a:p>
        </p:txBody>
      </p:sp>
      <p:sp>
        <p:nvSpPr>
          <p:cNvPr id="6" name="Shape 4"/>
          <p:cNvSpPr/>
          <p:nvPr/>
        </p:nvSpPr>
        <p:spPr>
          <a:xfrm>
            <a:off x="594360" y="1572768"/>
            <a:ext cx="3977640" cy="4233672"/>
          </a:xfrm>
          <a:prstGeom prst="roundRect">
            <a:avLst>
              <a:gd name="adj" fmla="val 1149"/>
            </a:avLst>
          </a:prstGeom>
          <a:solidFill>
            <a:srgbClr val="22226B"/>
          </a:solidFill>
          <a:ln w="12700">
            <a:solidFill>
              <a:srgbClr val="22226B"/>
            </a:solidFill>
            <a:prstDash val="solid"/>
          </a:ln>
        </p:spPr>
      </p:sp>
      <p:sp>
        <p:nvSpPr>
          <p:cNvPr id="7" name="Text 5"/>
          <p:cNvSpPr txBox="1"/>
          <p:nvPr/>
        </p:nvSpPr>
        <p:spPr>
          <a:xfrm>
            <a:off x="868680" y="1847088"/>
            <a:ext cx="3429000" cy="256032"/>
          </a:xfrm>
          <a:prstGeom prst="rect">
            <a:avLst/>
          </a:prstGeom>
          <a:noFill/>
          <a:ln/>
        </p:spPr>
        <p:txBody>
          <a:bodyPr wrap="square" lIns="0" tIns="0" rIns="0" bIns="0" rtlCol="0" anchor="ctr"/>
          <a:lstStyle/>
          <a:p>
            <a:pPr indent="0" marL="0">
              <a:buNone/>
            </a:pPr>
            <a:r>
              <a:rPr lang="en-US" sz="1050" b="1" spc="200" kern="0" dirty="0">
                <a:solidFill>
                  <a:srgbClr val="C9C9EA"/>
                </a:solidFill>
                <a:latin typeface="Cambria" pitchFamily="34" charset="0"/>
                <a:ea typeface="Cambria" pitchFamily="34" charset="-122"/>
                <a:cs typeface="Cambria" pitchFamily="34" charset="-120"/>
              </a:rPr>
              <a:t>BY THE END YOU CAN</a:t>
            </a:r>
            <a:endParaRPr lang="en-US" sz="1050" dirty="0"/>
          </a:p>
        </p:txBody>
      </p:sp>
      <p:sp>
        <p:nvSpPr>
          <p:cNvPr id="8" name="Text 6"/>
          <p:cNvSpPr txBox="1"/>
          <p:nvPr/>
        </p:nvSpPr>
        <p:spPr>
          <a:xfrm>
            <a:off x="868680" y="2231136"/>
            <a:ext cx="3429000" cy="2862072"/>
          </a:xfrm>
          <a:prstGeom prst="rect">
            <a:avLst/>
          </a:prstGeom>
          <a:noFill/>
          <a:ln/>
        </p:spPr>
        <p:txBody>
          <a:bodyPr wrap="square" lIns="0" tIns="0" rIns="0" bIns="0" rtlCol="0" anchor="t"/>
          <a:lstStyle/>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Know which settings belong in code, in configuration and on the server</a:t>
            </a:r>
            <a:endParaRPr lang="en-US" sz="1350" dirty="0"/>
          </a:p>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Read an IIS error code and know where to look next</a:t>
            </a:r>
            <a:endParaRPr lang="en-US" sz="1350" dirty="0"/>
          </a:p>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Turn on the logs that tell you what actually failed</a:t>
            </a:r>
            <a:endParaRPr lang="en-US" sz="1350" dirty="0"/>
          </a:p>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Work through a deployment failure methodically</a:t>
            </a:r>
            <a:endParaRPr lang="en-US" sz="1350" dirty="0"/>
          </a:p>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Deploy the application you have built this week</a:t>
            </a:r>
            <a:endParaRPr lang="en-US" sz="1350" dirty="0"/>
          </a:p>
        </p:txBody>
      </p:sp>
      <p:sp>
        <p:nvSpPr>
          <p:cNvPr id="9" name="Shape 7"/>
          <p:cNvSpPr/>
          <p:nvPr/>
        </p:nvSpPr>
        <p:spPr>
          <a:xfrm>
            <a:off x="868680" y="5138928"/>
            <a:ext cx="3429000" cy="0"/>
          </a:xfrm>
          <a:prstGeom prst="line">
            <a:avLst/>
          </a:prstGeom>
          <a:noFill/>
          <a:ln w="12700">
            <a:solidFill>
              <a:srgbClr val="5050A8"/>
            </a:solidFill>
            <a:prstDash val="solid"/>
          </a:ln>
        </p:spPr>
      </p:sp>
      <p:sp>
        <p:nvSpPr>
          <p:cNvPr id="10" name="Text 8"/>
          <p:cNvSpPr txBox="1"/>
          <p:nvPr/>
        </p:nvSpPr>
        <p:spPr>
          <a:xfrm>
            <a:off x="868680" y="5266944"/>
            <a:ext cx="3429000" cy="457200"/>
          </a:xfrm>
          <a:prstGeom prst="rect">
            <a:avLst/>
          </a:prstGeom>
          <a:noFill/>
          <a:ln/>
        </p:spPr>
        <p:txBody>
          <a:bodyPr wrap="square" lIns="0" tIns="0" rIns="0" bIns="0" rtlCol="0" anchor="ctr"/>
          <a:lstStyle/>
          <a:p>
            <a:pPr indent="0" marL="0">
              <a:lnSpc>
                <a:spcPts val="1500"/>
              </a:lnSpc>
              <a:buNone/>
            </a:pPr>
            <a:r>
              <a:rPr lang="en-US" sz="1150" i="1" dirty="0">
                <a:solidFill>
                  <a:srgbClr val="D9D9EF"/>
                </a:solidFill>
                <a:latin typeface="Cambria" pitchFamily="34" charset="0"/>
                <a:ea typeface="Cambria" pitchFamily="34" charset="-122"/>
                <a:cs typeface="Cambria" pitchFamily="34" charset="-120"/>
              </a:rPr>
              <a:t>About 45 minutes of concept and demonstration, then 45 minutes at the keyboard.</a:t>
            </a:r>
            <a:endParaRPr lang="en-US" sz="1150" dirty="0"/>
          </a:p>
        </p:txBody>
      </p:sp>
      <p:sp>
        <p:nvSpPr>
          <p:cNvPr id="11" name="Text 9"/>
          <p:cNvSpPr txBox="1"/>
          <p:nvPr/>
        </p:nvSpPr>
        <p:spPr>
          <a:xfrm>
            <a:off x="4937760" y="1609344"/>
            <a:ext cx="3657600" cy="237744"/>
          </a:xfrm>
          <a:prstGeom prst="rect">
            <a:avLst/>
          </a:prstGeom>
          <a:noFill/>
          <a:ln/>
        </p:spPr>
        <p:txBody>
          <a:bodyPr wrap="square" lIns="0" tIns="0" rIns="0" bIns="0" rtlCol="0" anchor="ctr"/>
          <a:lstStyle/>
          <a:p>
            <a:pPr indent="0" marL="0">
              <a:buNone/>
            </a:pPr>
            <a:r>
              <a:rPr lang="en-US" sz="1050" b="1" spc="140" kern="0" dirty="0">
                <a:solidFill>
                  <a:srgbClr val="3333B3"/>
                </a:solidFill>
                <a:latin typeface="Cambria" pitchFamily="34" charset="0"/>
                <a:ea typeface="Cambria" pitchFamily="34" charset="-122"/>
                <a:cs typeface="Cambria" pitchFamily="34" charset="-120"/>
              </a:rPr>
              <a:t>WHAT WE COVER</a:t>
            </a:r>
            <a:endParaRPr lang="en-US" sz="1050" dirty="0"/>
          </a:p>
        </p:txBody>
      </p:sp>
      <p:sp>
        <p:nvSpPr>
          <p:cNvPr id="12" name="Shape 10"/>
          <p:cNvSpPr/>
          <p:nvPr/>
        </p:nvSpPr>
        <p:spPr>
          <a:xfrm>
            <a:off x="4937760" y="1956816"/>
            <a:ext cx="6656832" cy="713232"/>
          </a:xfrm>
          <a:prstGeom prst="rect">
            <a:avLst/>
          </a:prstGeom>
          <a:solidFill>
            <a:srgbClr val="EDEDF7"/>
          </a:solidFill>
          <a:ln w="9525">
            <a:solidFill>
              <a:srgbClr val="C9C9EA"/>
            </a:solidFill>
            <a:prstDash val="solid"/>
          </a:ln>
        </p:spPr>
      </p:sp>
      <p:sp>
        <p:nvSpPr>
          <p:cNvPr id="13" name="Shape 11"/>
          <p:cNvSpPr/>
          <p:nvPr/>
        </p:nvSpPr>
        <p:spPr>
          <a:xfrm>
            <a:off x="4937760" y="1956816"/>
            <a:ext cx="50292" cy="713232"/>
          </a:xfrm>
          <a:prstGeom prst="rect">
            <a:avLst/>
          </a:prstGeom>
          <a:solidFill>
            <a:srgbClr val="3333B3"/>
          </a:solidFill>
          <a:ln w="12700">
            <a:solidFill>
              <a:srgbClr val="3333B3"/>
            </a:solidFill>
            <a:prstDash val="solid"/>
          </a:ln>
        </p:spPr>
      </p:sp>
      <p:sp>
        <p:nvSpPr>
          <p:cNvPr id="14" name="Shape 12"/>
          <p:cNvSpPr/>
          <p:nvPr/>
        </p:nvSpPr>
        <p:spPr>
          <a:xfrm>
            <a:off x="5138928" y="2130552"/>
            <a:ext cx="365760" cy="365760"/>
          </a:xfrm>
          <a:prstGeom prst="ellipse">
            <a:avLst/>
          </a:prstGeom>
          <a:solidFill>
            <a:srgbClr val="3333B3"/>
          </a:solidFill>
          <a:ln w="12700">
            <a:solidFill>
              <a:srgbClr val="3333B3"/>
            </a:solidFill>
            <a:prstDash val="solid"/>
          </a:ln>
        </p:spPr>
      </p:sp>
      <p:sp>
        <p:nvSpPr>
          <p:cNvPr id="15" name="Text 13"/>
          <p:cNvSpPr txBox="1"/>
          <p:nvPr/>
        </p:nvSpPr>
        <p:spPr>
          <a:xfrm>
            <a:off x="5138928" y="21305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6" name="Text 14"/>
          <p:cNvSpPr txBox="1"/>
          <p:nvPr/>
        </p:nvSpPr>
        <p:spPr>
          <a:xfrm>
            <a:off x="5669280" y="1956816"/>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Configuration</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appsettings, environments, environment variables</a:t>
            </a:r>
            <a:endParaRPr lang="en-US" sz="1400" dirty="0"/>
          </a:p>
        </p:txBody>
      </p:sp>
      <p:sp>
        <p:nvSpPr>
          <p:cNvPr id="17" name="Shape 15"/>
          <p:cNvSpPr/>
          <p:nvPr/>
        </p:nvSpPr>
        <p:spPr>
          <a:xfrm>
            <a:off x="4937760" y="2798064"/>
            <a:ext cx="6656832" cy="713232"/>
          </a:xfrm>
          <a:prstGeom prst="rect">
            <a:avLst/>
          </a:prstGeom>
          <a:solidFill>
            <a:srgbClr val="EDEDF7"/>
          </a:solidFill>
          <a:ln w="9525">
            <a:solidFill>
              <a:srgbClr val="C9C9EA"/>
            </a:solidFill>
            <a:prstDash val="solid"/>
          </a:ln>
        </p:spPr>
      </p:sp>
      <p:sp>
        <p:nvSpPr>
          <p:cNvPr id="18" name="Shape 16"/>
          <p:cNvSpPr/>
          <p:nvPr/>
        </p:nvSpPr>
        <p:spPr>
          <a:xfrm>
            <a:off x="4937760" y="2798064"/>
            <a:ext cx="50292" cy="713232"/>
          </a:xfrm>
          <a:prstGeom prst="rect">
            <a:avLst/>
          </a:prstGeom>
          <a:solidFill>
            <a:srgbClr val="3333B3"/>
          </a:solidFill>
          <a:ln w="12700">
            <a:solidFill>
              <a:srgbClr val="3333B3"/>
            </a:solidFill>
            <a:prstDash val="solid"/>
          </a:ln>
        </p:spPr>
      </p:sp>
      <p:sp>
        <p:nvSpPr>
          <p:cNvPr id="19" name="Shape 17"/>
          <p:cNvSpPr/>
          <p:nvPr/>
        </p:nvSpPr>
        <p:spPr>
          <a:xfrm>
            <a:off x="5138928" y="2971800"/>
            <a:ext cx="365760" cy="365760"/>
          </a:xfrm>
          <a:prstGeom prst="ellipse">
            <a:avLst/>
          </a:prstGeom>
          <a:solidFill>
            <a:srgbClr val="3333B3"/>
          </a:solidFill>
          <a:ln w="12700">
            <a:solidFill>
              <a:srgbClr val="3333B3"/>
            </a:solidFill>
            <a:prstDash val="solid"/>
          </a:ln>
        </p:spPr>
      </p:sp>
      <p:sp>
        <p:nvSpPr>
          <p:cNvPr id="20" name="Text 18"/>
          <p:cNvSpPr txBox="1"/>
          <p:nvPr/>
        </p:nvSpPr>
        <p:spPr>
          <a:xfrm>
            <a:off x="5138928" y="2971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9"/>
          <p:cNvSpPr txBox="1"/>
          <p:nvPr/>
        </p:nvSpPr>
        <p:spPr>
          <a:xfrm>
            <a:off x="5669280" y="2798064"/>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web.config on IIS</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What it is for now, and what it is not</a:t>
            </a:r>
            <a:endParaRPr lang="en-US" sz="1400" dirty="0"/>
          </a:p>
        </p:txBody>
      </p:sp>
      <p:sp>
        <p:nvSpPr>
          <p:cNvPr id="22" name="Shape 20"/>
          <p:cNvSpPr/>
          <p:nvPr/>
        </p:nvSpPr>
        <p:spPr>
          <a:xfrm>
            <a:off x="4937760" y="3639312"/>
            <a:ext cx="6656832" cy="713232"/>
          </a:xfrm>
          <a:prstGeom prst="rect">
            <a:avLst/>
          </a:prstGeom>
          <a:solidFill>
            <a:srgbClr val="EDEDF7"/>
          </a:solidFill>
          <a:ln w="9525">
            <a:solidFill>
              <a:srgbClr val="C9C9EA"/>
            </a:solidFill>
            <a:prstDash val="solid"/>
          </a:ln>
        </p:spPr>
      </p:sp>
      <p:sp>
        <p:nvSpPr>
          <p:cNvPr id="23" name="Shape 21"/>
          <p:cNvSpPr/>
          <p:nvPr/>
        </p:nvSpPr>
        <p:spPr>
          <a:xfrm>
            <a:off x="4937760" y="3639312"/>
            <a:ext cx="50292" cy="713232"/>
          </a:xfrm>
          <a:prstGeom prst="rect">
            <a:avLst/>
          </a:prstGeom>
          <a:solidFill>
            <a:srgbClr val="3333B3"/>
          </a:solidFill>
          <a:ln w="12700">
            <a:solidFill>
              <a:srgbClr val="3333B3"/>
            </a:solidFill>
            <a:prstDash val="solid"/>
          </a:ln>
        </p:spPr>
      </p:sp>
      <p:sp>
        <p:nvSpPr>
          <p:cNvPr id="24" name="Shape 22"/>
          <p:cNvSpPr/>
          <p:nvPr/>
        </p:nvSpPr>
        <p:spPr>
          <a:xfrm>
            <a:off x="5138928" y="3813048"/>
            <a:ext cx="365760" cy="365760"/>
          </a:xfrm>
          <a:prstGeom prst="ellipse">
            <a:avLst/>
          </a:prstGeom>
          <a:solidFill>
            <a:srgbClr val="3333B3"/>
          </a:solidFill>
          <a:ln w="12700">
            <a:solidFill>
              <a:srgbClr val="3333B3"/>
            </a:solidFill>
            <a:prstDash val="solid"/>
          </a:ln>
        </p:spPr>
      </p:sp>
      <p:sp>
        <p:nvSpPr>
          <p:cNvPr id="25" name="Text 23"/>
          <p:cNvSpPr txBox="1"/>
          <p:nvPr/>
        </p:nvSpPr>
        <p:spPr>
          <a:xfrm>
            <a:off x="5138928" y="38130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6" name="Text 24"/>
          <p:cNvSpPr txBox="1"/>
          <p:nvPr/>
        </p:nvSpPr>
        <p:spPr>
          <a:xfrm>
            <a:off x="5669280" y="3639312"/>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The errors you will meet</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Cause and first move for each</a:t>
            </a:r>
            <a:endParaRPr lang="en-US" sz="1400" dirty="0"/>
          </a:p>
        </p:txBody>
      </p:sp>
      <p:sp>
        <p:nvSpPr>
          <p:cNvPr id="27" name="Shape 25"/>
          <p:cNvSpPr/>
          <p:nvPr/>
        </p:nvSpPr>
        <p:spPr>
          <a:xfrm>
            <a:off x="4937760" y="4480560"/>
            <a:ext cx="6656832" cy="713232"/>
          </a:xfrm>
          <a:prstGeom prst="rect">
            <a:avLst/>
          </a:prstGeom>
          <a:solidFill>
            <a:srgbClr val="EDEDF7"/>
          </a:solidFill>
          <a:ln w="9525">
            <a:solidFill>
              <a:srgbClr val="C9C9EA"/>
            </a:solidFill>
            <a:prstDash val="solid"/>
          </a:ln>
        </p:spPr>
      </p:sp>
      <p:sp>
        <p:nvSpPr>
          <p:cNvPr id="28" name="Shape 26"/>
          <p:cNvSpPr/>
          <p:nvPr/>
        </p:nvSpPr>
        <p:spPr>
          <a:xfrm>
            <a:off x="4937760" y="4480560"/>
            <a:ext cx="50292" cy="713232"/>
          </a:xfrm>
          <a:prstGeom prst="rect">
            <a:avLst/>
          </a:prstGeom>
          <a:solidFill>
            <a:srgbClr val="3333B3"/>
          </a:solidFill>
          <a:ln w="12700">
            <a:solidFill>
              <a:srgbClr val="3333B3"/>
            </a:solidFill>
            <a:prstDash val="solid"/>
          </a:ln>
        </p:spPr>
      </p:sp>
      <p:sp>
        <p:nvSpPr>
          <p:cNvPr id="29" name="Shape 27"/>
          <p:cNvSpPr/>
          <p:nvPr/>
        </p:nvSpPr>
        <p:spPr>
          <a:xfrm>
            <a:off x="5138928" y="4654296"/>
            <a:ext cx="365760" cy="365760"/>
          </a:xfrm>
          <a:prstGeom prst="ellipse">
            <a:avLst/>
          </a:prstGeom>
          <a:solidFill>
            <a:srgbClr val="3333B3"/>
          </a:solidFill>
          <a:ln w="12700">
            <a:solidFill>
              <a:srgbClr val="3333B3"/>
            </a:solidFill>
            <a:prstDash val="solid"/>
          </a:ln>
        </p:spPr>
      </p:sp>
      <p:sp>
        <p:nvSpPr>
          <p:cNvPr id="30" name="Text 28"/>
          <p:cNvSpPr txBox="1"/>
          <p:nvPr/>
        </p:nvSpPr>
        <p:spPr>
          <a:xfrm>
            <a:off x="5138928" y="46542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1" name="Text 29"/>
          <p:cNvSpPr txBox="1"/>
          <p:nvPr/>
        </p:nvSpPr>
        <p:spPr>
          <a:xfrm>
            <a:off x="5669280" y="4480560"/>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Getting the truth out of the server</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Logs, Event Viewer, stdout</a:t>
            </a:r>
            <a:endParaRPr lang="en-US" sz="1400" dirty="0"/>
          </a:p>
        </p:txBody>
      </p:sp>
      <p:sp>
        <p:nvSpPr>
          <p:cNvPr id="32" name="Shape 30"/>
          <p:cNvSpPr/>
          <p:nvPr/>
        </p:nvSpPr>
        <p:spPr>
          <a:xfrm>
            <a:off x="4937760" y="5321808"/>
            <a:ext cx="6656832" cy="713232"/>
          </a:xfrm>
          <a:prstGeom prst="rect">
            <a:avLst/>
          </a:prstGeom>
          <a:solidFill>
            <a:srgbClr val="EDEDF7"/>
          </a:solidFill>
          <a:ln w="9525">
            <a:solidFill>
              <a:srgbClr val="C9C9EA"/>
            </a:solidFill>
            <a:prstDash val="solid"/>
          </a:ln>
        </p:spPr>
      </p:sp>
      <p:sp>
        <p:nvSpPr>
          <p:cNvPr id="33" name="Shape 31"/>
          <p:cNvSpPr/>
          <p:nvPr/>
        </p:nvSpPr>
        <p:spPr>
          <a:xfrm>
            <a:off x="4937760" y="5321808"/>
            <a:ext cx="50292" cy="713232"/>
          </a:xfrm>
          <a:prstGeom prst="rect">
            <a:avLst/>
          </a:prstGeom>
          <a:solidFill>
            <a:srgbClr val="3333B3"/>
          </a:solidFill>
          <a:ln w="12700">
            <a:solidFill>
              <a:srgbClr val="3333B3"/>
            </a:solidFill>
            <a:prstDash val="solid"/>
          </a:ln>
        </p:spPr>
      </p:sp>
      <p:sp>
        <p:nvSpPr>
          <p:cNvPr id="34" name="Shape 32"/>
          <p:cNvSpPr/>
          <p:nvPr/>
        </p:nvSpPr>
        <p:spPr>
          <a:xfrm>
            <a:off x="5138928" y="5495544"/>
            <a:ext cx="365760" cy="365760"/>
          </a:xfrm>
          <a:prstGeom prst="ellipse">
            <a:avLst/>
          </a:prstGeom>
          <a:solidFill>
            <a:srgbClr val="3333B3"/>
          </a:solidFill>
          <a:ln w="12700">
            <a:solidFill>
              <a:srgbClr val="3333B3"/>
            </a:solidFill>
            <a:prstDash val="solid"/>
          </a:ln>
        </p:spPr>
      </p:sp>
      <p:sp>
        <p:nvSpPr>
          <p:cNvPr id="35" name="Text 33"/>
          <p:cNvSpPr txBox="1"/>
          <p:nvPr/>
        </p:nvSpPr>
        <p:spPr>
          <a:xfrm>
            <a:off x="5138928" y="5495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6" name="Text 34"/>
          <p:cNvSpPr txBox="1"/>
          <p:nvPr/>
        </p:nvSpPr>
        <p:spPr>
          <a:xfrm>
            <a:off x="5669280" y="5321808"/>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Hands-on</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Deploy the Spares Tracker</a:t>
            </a:r>
            <a:endParaRPr lang="en-US" sz="1400" dirty="0"/>
          </a:p>
        </p:txBody>
      </p:sp>
      <p:sp>
        <p:nvSpPr>
          <p:cNvPr id="37" name="Shape 35"/>
          <p:cNvSpPr/>
          <p:nvPr/>
        </p:nvSpPr>
        <p:spPr>
          <a:xfrm>
            <a:off x="0" y="6400800"/>
            <a:ext cx="3840480" cy="457200"/>
          </a:xfrm>
          <a:prstGeom prst="rect">
            <a:avLst/>
          </a:prstGeom>
          <a:solidFill>
            <a:srgbClr val="22226B"/>
          </a:solidFill>
          <a:ln w="12700">
            <a:solidFill>
              <a:srgbClr val="22226B"/>
            </a:solidFill>
            <a:prstDash val="solid"/>
          </a:ln>
        </p:spPr>
      </p:sp>
      <p:sp>
        <p:nvSpPr>
          <p:cNvPr id="38" name="Text 36"/>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9" name="Shape 37"/>
          <p:cNvSpPr/>
          <p:nvPr/>
        </p:nvSpPr>
        <p:spPr>
          <a:xfrm>
            <a:off x="3840480" y="6400800"/>
            <a:ext cx="6675120" cy="457200"/>
          </a:xfrm>
          <a:prstGeom prst="rect">
            <a:avLst/>
          </a:prstGeom>
          <a:solidFill>
            <a:srgbClr val="3333B3"/>
          </a:solidFill>
          <a:ln w="12700">
            <a:solidFill>
              <a:srgbClr val="3333B3"/>
            </a:solidFill>
            <a:prstDash val="solid"/>
          </a:ln>
        </p:spPr>
      </p:sp>
      <p:sp>
        <p:nvSpPr>
          <p:cNvPr id="40" name="Text 38"/>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4 — Deployment &amp; Troubleshooting</a:t>
            </a:r>
            <a:endParaRPr lang="en-US" sz="950" dirty="0"/>
          </a:p>
        </p:txBody>
      </p:sp>
      <p:sp>
        <p:nvSpPr>
          <p:cNvPr id="41" name="Shape 39"/>
          <p:cNvSpPr/>
          <p:nvPr/>
        </p:nvSpPr>
        <p:spPr>
          <a:xfrm>
            <a:off x="10515600" y="6400800"/>
            <a:ext cx="1676095" cy="457200"/>
          </a:xfrm>
          <a:prstGeom prst="rect">
            <a:avLst/>
          </a:prstGeom>
          <a:solidFill>
            <a:srgbClr val="22226B"/>
          </a:solidFill>
          <a:ln w="12700">
            <a:solidFill>
              <a:srgbClr val="22226B"/>
            </a:solidFill>
            <a:prstDash val="solid"/>
          </a:ln>
        </p:spPr>
      </p:sp>
      <p:sp>
        <p:nvSpPr>
          <p:cNvPr id="42" name="Text 40"/>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ENVIRONMENTS</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same build, three behaviours</a:t>
            </a:r>
            <a:endParaRPr lang="en-US" sz="2600" dirty="0"/>
          </a:p>
        </p:txBody>
      </p:sp>
      <p:sp>
        <p:nvSpPr>
          <p:cNvPr id="6" name="Shape 4"/>
          <p:cNvSpPr/>
          <p:nvPr/>
        </p:nvSpPr>
        <p:spPr>
          <a:xfrm>
            <a:off x="594360" y="1664208"/>
            <a:ext cx="3460394" cy="1051560"/>
          </a:xfrm>
          <a:prstGeom prst="rect">
            <a:avLst/>
          </a:prstGeom>
          <a:solidFill>
            <a:srgbClr val="EDEDF7"/>
          </a:solidFill>
          <a:ln w="9525">
            <a:solidFill>
              <a:srgbClr val="C9C9EA"/>
            </a:solidFill>
            <a:prstDash val="solid"/>
          </a:ln>
        </p:spPr>
      </p:sp>
      <p:sp>
        <p:nvSpPr>
          <p:cNvPr id="7" name="Text 5"/>
          <p:cNvSpPr txBox="1"/>
          <p:nvPr/>
        </p:nvSpPr>
        <p:spPr>
          <a:xfrm>
            <a:off x="704088" y="1664208"/>
            <a:ext cx="3240938" cy="1051560"/>
          </a:xfrm>
          <a:prstGeom prst="rect">
            <a:avLst/>
          </a:prstGeom>
          <a:noFill/>
          <a:ln/>
        </p:spPr>
        <p:txBody>
          <a:bodyPr wrap="square" lIns="0" tIns="0" rIns="0" bIns="0" rtlCol="0" anchor="ctr"/>
          <a:lstStyle/>
          <a:p>
            <a:pPr algn="ctr" indent="0" marL="0">
              <a:buNone/>
            </a:pPr>
            <a:r>
              <a:rPr lang="en-US" sz="1350" b="1" dirty="0">
                <a:solidFill>
                  <a:srgbClr val="22226B"/>
                </a:solidFill>
                <a:latin typeface="Cambria" pitchFamily="34" charset="0"/>
                <a:ea typeface="Cambria" pitchFamily="34" charset="-122"/>
                <a:cs typeface="Cambria" pitchFamily="34" charset="-120"/>
              </a:rPr>
              <a:t>Development</a:t>
            </a:r>
            <a:endParaRPr lang="en-US" sz="1350" dirty="0"/>
          </a:p>
          <a:p>
            <a:pPr algn="ctr" indent="0" marL="0">
              <a:buNone/>
            </a:pPr>
            <a:r>
              <a:rPr lang="en-US" sz="1050" dirty="0">
                <a:solidFill>
                  <a:srgbClr val="3E3E5A"/>
                </a:solidFill>
                <a:latin typeface="Cambria" pitchFamily="34" charset="0"/>
                <a:ea typeface="Cambria" pitchFamily="34" charset="-122"/>
                <a:cs typeface="Cambria" pitchFamily="34" charset="-120"/>
              </a:rPr>
              <a:t>Your machine, detailed errors</a:t>
            </a:r>
            <a:endParaRPr lang="en-US" sz="1350" dirty="0"/>
          </a:p>
        </p:txBody>
      </p:sp>
      <p:sp>
        <p:nvSpPr>
          <p:cNvPr id="8" name="Shape 6"/>
          <p:cNvSpPr/>
          <p:nvPr/>
        </p:nvSpPr>
        <p:spPr>
          <a:xfrm>
            <a:off x="4109618" y="2098548"/>
            <a:ext cx="201168" cy="182880"/>
          </a:xfrm>
          <a:prstGeom prst="chevron">
            <a:avLst/>
          </a:prstGeom>
          <a:solidFill>
            <a:srgbClr val="3333B3"/>
          </a:solidFill>
          <a:ln w="12700">
            <a:solidFill>
              <a:srgbClr val="3333B3"/>
            </a:solidFill>
            <a:prstDash val="solid"/>
          </a:ln>
        </p:spPr>
      </p:sp>
      <p:sp>
        <p:nvSpPr>
          <p:cNvPr id="9" name="Shape 7"/>
          <p:cNvSpPr/>
          <p:nvPr/>
        </p:nvSpPr>
        <p:spPr>
          <a:xfrm>
            <a:off x="4365650" y="1664208"/>
            <a:ext cx="3460394" cy="1051560"/>
          </a:xfrm>
          <a:prstGeom prst="rect">
            <a:avLst/>
          </a:prstGeom>
          <a:solidFill>
            <a:srgbClr val="EDEDF7"/>
          </a:solidFill>
          <a:ln w="9525">
            <a:solidFill>
              <a:srgbClr val="C9C9EA"/>
            </a:solidFill>
            <a:prstDash val="solid"/>
          </a:ln>
        </p:spPr>
      </p:sp>
      <p:sp>
        <p:nvSpPr>
          <p:cNvPr id="10" name="Text 8"/>
          <p:cNvSpPr txBox="1"/>
          <p:nvPr/>
        </p:nvSpPr>
        <p:spPr>
          <a:xfrm>
            <a:off x="4475378" y="1664208"/>
            <a:ext cx="3240938" cy="1051560"/>
          </a:xfrm>
          <a:prstGeom prst="rect">
            <a:avLst/>
          </a:prstGeom>
          <a:noFill/>
          <a:ln/>
        </p:spPr>
        <p:txBody>
          <a:bodyPr wrap="square" lIns="0" tIns="0" rIns="0" bIns="0" rtlCol="0" anchor="ctr"/>
          <a:lstStyle/>
          <a:p>
            <a:pPr algn="ctr" indent="0" marL="0">
              <a:buNone/>
            </a:pPr>
            <a:r>
              <a:rPr lang="en-US" sz="1350" b="1" dirty="0">
                <a:solidFill>
                  <a:srgbClr val="22226B"/>
                </a:solidFill>
                <a:latin typeface="Cambria" pitchFamily="34" charset="0"/>
                <a:ea typeface="Cambria" pitchFamily="34" charset="-122"/>
                <a:cs typeface="Cambria" pitchFamily="34" charset="-120"/>
              </a:rPr>
              <a:t>Staging</a:t>
            </a:r>
            <a:endParaRPr lang="en-US" sz="1350" dirty="0"/>
          </a:p>
          <a:p>
            <a:pPr algn="ctr" indent="0" marL="0">
              <a:buNone/>
            </a:pPr>
            <a:r>
              <a:rPr lang="en-US" sz="1050" dirty="0">
                <a:solidFill>
                  <a:srgbClr val="3E3E5A"/>
                </a:solidFill>
                <a:latin typeface="Cambria" pitchFamily="34" charset="0"/>
                <a:ea typeface="Cambria" pitchFamily="34" charset="-122"/>
                <a:cs typeface="Cambria" pitchFamily="34" charset="-120"/>
              </a:rPr>
              <a:t>Like production, safe to break</a:t>
            </a:r>
            <a:endParaRPr lang="en-US" sz="1350" dirty="0"/>
          </a:p>
        </p:txBody>
      </p:sp>
      <p:sp>
        <p:nvSpPr>
          <p:cNvPr id="11" name="Shape 9"/>
          <p:cNvSpPr/>
          <p:nvPr/>
        </p:nvSpPr>
        <p:spPr>
          <a:xfrm>
            <a:off x="7880909" y="2098548"/>
            <a:ext cx="201168" cy="182880"/>
          </a:xfrm>
          <a:prstGeom prst="chevron">
            <a:avLst/>
          </a:prstGeom>
          <a:solidFill>
            <a:srgbClr val="3333B3"/>
          </a:solidFill>
          <a:ln w="12700">
            <a:solidFill>
              <a:srgbClr val="3333B3"/>
            </a:solidFill>
            <a:prstDash val="solid"/>
          </a:ln>
        </p:spPr>
      </p:sp>
      <p:sp>
        <p:nvSpPr>
          <p:cNvPr id="12" name="Shape 10"/>
          <p:cNvSpPr/>
          <p:nvPr/>
        </p:nvSpPr>
        <p:spPr>
          <a:xfrm>
            <a:off x="8136941" y="1664208"/>
            <a:ext cx="3460394" cy="1051560"/>
          </a:xfrm>
          <a:prstGeom prst="rect">
            <a:avLst/>
          </a:prstGeom>
          <a:solidFill>
            <a:srgbClr val="3333B3"/>
          </a:solidFill>
          <a:ln w="9525">
            <a:solidFill>
              <a:srgbClr val="3333B3"/>
            </a:solidFill>
            <a:prstDash val="solid"/>
          </a:ln>
        </p:spPr>
      </p:sp>
      <p:sp>
        <p:nvSpPr>
          <p:cNvPr id="13" name="Text 11"/>
          <p:cNvSpPr txBox="1"/>
          <p:nvPr/>
        </p:nvSpPr>
        <p:spPr>
          <a:xfrm>
            <a:off x="8246669" y="1664208"/>
            <a:ext cx="3240938" cy="10515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Production</a:t>
            </a:r>
            <a:endParaRPr lang="en-US" sz="1350" dirty="0"/>
          </a:p>
          <a:p>
            <a:pPr algn="ctr" indent="0" marL="0">
              <a:buNone/>
            </a:pPr>
            <a:r>
              <a:rPr lang="en-US" sz="1050" dirty="0">
                <a:solidFill>
                  <a:srgbClr val="C9C9EA"/>
                </a:solidFill>
                <a:latin typeface="Cambria" pitchFamily="34" charset="0"/>
                <a:ea typeface="Cambria" pitchFamily="34" charset="-122"/>
                <a:cs typeface="Cambria" pitchFamily="34" charset="-120"/>
              </a:rPr>
              <a:t>Real data, friendly errors</a:t>
            </a:r>
            <a:endParaRPr lang="en-US" sz="1350" dirty="0"/>
          </a:p>
        </p:txBody>
      </p:sp>
      <p:sp>
        <p:nvSpPr>
          <p:cNvPr id="14" name="Shape 12"/>
          <p:cNvSpPr/>
          <p:nvPr/>
        </p:nvSpPr>
        <p:spPr>
          <a:xfrm>
            <a:off x="594360" y="3017520"/>
            <a:ext cx="5806440" cy="932688"/>
          </a:xfrm>
          <a:prstGeom prst="rect">
            <a:avLst/>
          </a:prstGeom>
          <a:solidFill>
            <a:srgbClr val="EDEDF7"/>
          </a:solidFill>
          <a:ln w="9525">
            <a:solidFill>
              <a:srgbClr val="C9C9EA"/>
            </a:solidFill>
            <a:prstDash val="solid"/>
          </a:ln>
        </p:spPr>
      </p:sp>
      <p:sp>
        <p:nvSpPr>
          <p:cNvPr id="15" name="Shape 13"/>
          <p:cNvSpPr/>
          <p:nvPr/>
        </p:nvSpPr>
        <p:spPr>
          <a:xfrm>
            <a:off x="594360" y="3017520"/>
            <a:ext cx="50292" cy="932688"/>
          </a:xfrm>
          <a:prstGeom prst="rect">
            <a:avLst/>
          </a:prstGeom>
          <a:solidFill>
            <a:srgbClr val="3333B3"/>
          </a:solidFill>
          <a:ln w="12700">
            <a:solidFill>
              <a:srgbClr val="3333B3"/>
            </a:solidFill>
            <a:prstDash val="solid"/>
          </a:ln>
        </p:spPr>
      </p:sp>
      <p:sp>
        <p:nvSpPr>
          <p:cNvPr id="16" name="Shape 14"/>
          <p:cNvSpPr/>
          <p:nvPr/>
        </p:nvSpPr>
        <p:spPr>
          <a:xfrm>
            <a:off x="795528" y="3300984"/>
            <a:ext cx="365760" cy="365760"/>
          </a:xfrm>
          <a:prstGeom prst="ellipse">
            <a:avLst/>
          </a:prstGeom>
          <a:solidFill>
            <a:srgbClr val="3333B3"/>
          </a:solidFill>
          <a:ln w="12700">
            <a:solidFill>
              <a:srgbClr val="3333B3"/>
            </a:solidFill>
            <a:prstDash val="solid"/>
          </a:ln>
        </p:spPr>
      </p:sp>
      <p:sp>
        <p:nvSpPr>
          <p:cNvPr id="17" name="Text 15"/>
          <p:cNvSpPr txBox="1"/>
          <p:nvPr/>
        </p:nvSpPr>
        <p:spPr>
          <a:xfrm>
            <a:off x="795528" y="33009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8" name="Text 16"/>
          <p:cNvSpPr txBox="1"/>
          <p:nvPr/>
        </p:nvSpPr>
        <p:spPr>
          <a:xfrm>
            <a:off x="1325880" y="3017520"/>
            <a:ext cx="4855464" cy="932688"/>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One build, promoted</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Build once, deploy the same files to each environment. Rebuilding per environment means you tested something else.</a:t>
            </a:r>
            <a:endParaRPr lang="en-US" sz="1400" dirty="0"/>
          </a:p>
        </p:txBody>
      </p:sp>
      <p:sp>
        <p:nvSpPr>
          <p:cNvPr id="19" name="Shape 17"/>
          <p:cNvSpPr/>
          <p:nvPr/>
        </p:nvSpPr>
        <p:spPr>
          <a:xfrm>
            <a:off x="594360" y="4078224"/>
            <a:ext cx="5806440" cy="932688"/>
          </a:xfrm>
          <a:prstGeom prst="rect">
            <a:avLst/>
          </a:prstGeom>
          <a:solidFill>
            <a:srgbClr val="EDEDF7"/>
          </a:solidFill>
          <a:ln w="9525">
            <a:solidFill>
              <a:srgbClr val="C9C9EA"/>
            </a:solidFill>
            <a:prstDash val="solid"/>
          </a:ln>
        </p:spPr>
      </p:sp>
      <p:sp>
        <p:nvSpPr>
          <p:cNvPr id="20" name="Shape 18"/>
          <p:cNvSpPr/>
          <p:nvPr/>
        </p:nvSpPr>
        <p:spPr>
          <a:xfrm>
            <a:off x="594360" y="4078224"/>
            <a:ext cx="50292" cy="932688"/>
          </a:xfrm>
          <a:prstGeom prst="rect">
            <a:avLst/>
          </a:prstGeom>
          <a:solidFill>
            <a:srgbClr val="3333B3"/>
          </a:solidFill>
          <a:ln w="12700">
            <a:solidFill>
              <a:srgbClr val="3333B3"/>
            </a:solidFill>
            <a:prstDash val="solid"/>
          </a:ln>
        </p:spPr>
      </p:sp>
      <p:sp>
        <p:nvSpPr>
          <p:cNvPr id="21" name="Shape 19"/>
          <p:cNvSpPr/>
          <p:nvPr/>
        </p:nvSpPr>
        <p:spPr>
          <a:xfrm>
            <a:off x="795528" y="4361688"/>
            <a:ext cx="365760" cy="365760"/>
          </a:xfrm>
          <a:prstGeom prst="ellipse">
            <a:avLst/>
          </a:prstGeom>
          <a:solidFill>
            <a:srgbClr val="3333B3"/>
          </a:solidFill>
          <a:ln w="12700">
            <a:solidFill>
              <a:srgbClr val="3333B3"/>
            </a:solidFill>
            <a:prstDash val="solid"/>
          </a:ln>
        </p:spPr>
      </p:sp>
      <p:sp>
        <p:nvSpPr>
          <p:cNvPr id="22" name="Text 20"/>
          <p:cNvSpPr txBox="1"/>
          <p:nvPr/>
        </p:nvSpPr>
        <p:spPr>
          <a:xfrm>
            <a:off x="795528" y="43616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3" name="Text 21"/>
          <p:cNvSpPr txBox="1"/>
          <p:nvPr/>
        </p:nvSpPr>
        <p:spPr>
          <a:xfrm>
            <a:off x="1325880" y="4078224"/>
            <a:ext cx="4855464" cy="932688"/>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Configuration is what differs</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Connection strings, API URLs, logging levels. Nothing in the compiled output changes.</a:t>
            </a:r>
            <a:endParaRPr lang="en-US" sz="1400" dirty="0"/>
          </a:p>
        </p:txBody>
      </p:sp>
      <p:sp>
        <p:nvSpPr>
          <p:cNvPr id="24" name="Shape 22"/>
          <p:cNvSpPr/>
          <p:nvPr/>
        </p:nvSpPr>
        <p:spPr>
          <a:xfrm>
            <a:off x="594360" y="5138928"/>
            <a:ext cx="5806440" cy="932688"/>
          </a:xfrm>
          <a:prstGeom prst="rect">
            <a:avLst/>
          </a:prstGeom>
          <a:solidFill>
            <a:srgbClr val="EDEDF7"/>
          </a:solidFill>
          <a:ln w="9525">
            <a:solidFill>
              <a:srgbClr val="C9C9EA"/>
            </a:solidFill>
            <a:prstDash val="solid"/>
          </a:ln>
        </p:spPr>
      </p:sp>
      <p:sp>
        <p:nvSpPr>
          <p:cNvPr id="25" name="Shape 23"/>
          <p:cNvSpPr/>
          <p:nvPr/>
        </p:nvSpPr>
        <p:spPr>
          <a:xfrm>
            <a:off x="594360" y="5138928"/>
            <a:ext cx="50292" cy="932688"/>
          </a:xfrm>
          <a:prstGeom prst="rect">
            <a:avLst/>
          </a:prstGeom>
          <a:solidFill>
            <a:srgbClr val="3333B3"/>
          </a:solidFill>
          <a:ln w="12700">
            <a:solidFill>
              <a:srgbClr val="3333B3"/>
            </a:solidFill>
            <a:prstDash val="solid"/>
          </a:ln>
        </p:spPr>
      </p:sp>
      <p:sp>
        <p:nvSpPr>
          <p:cNvPr id="26" name="Shape 24"/>
          <p:cNvSpPr/>
          <p:nvPr/>
        </p:nvSpPr>
        <p:spPr>
          <a:xfrm>
            <a:off x="795528" y="5422392"/>
            <a:ext cx="365760" cy="365760"/>
          </a:xfrm>
          <a:prstGeom prst="ellipse">
            <a:avLst/>
          </a:prstGeom>
          <a:solidFill>
            <a:srgbClr val="3333B3"/>
          </a:solidFill>
          <a:ln w="12700">
            <a:solidFill>
              <a:srgbClr val="3333B3"/>
            </a:solidFill>
            <a:prstDash val="solid"/>
          </a:ln>
        </p:spPr>
      </p:sp>
      <p:sp>
        <p:nvSpPr>
          <p:cNvPr id="27" name="Text 25"/>
          <p:cNvSpPr txBox="1"/>
          <p:nvPr/>
        </p:nvSpPr>
        <p:spPr>
          <a:xfrm>
            <a:off x="795528" y="54223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8" name="Text 26"/>
          <p:cNvSpPr txBox="1"/>
          <p:nvPr/>
        </p:nvSpPr>
        <p:spPr>
          <a:xfrm>
            <a:off x="1325880" y="5138928"/>
            <a:ext cx="4855464" cy="932688"/>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ASPNETCORE_ENVIRONMENT drives it</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Set it per site in IIS. Getting it wrong is how a stack trace ends up in front of a user.</a:t>
            </a:r>
            <a:endParaRPr lang="en-US" sz="1400" dirty="0"/>
          </a:p>
        </p:txBody>
      </p:sp>
      <p:sp>
        <p:nvSpPr>
          <p:cNvPr id="29" name="Shape 27"/>
          <p:cNvSpPr/>
          <p:nvPr/>
        </p:nvSpPr>
        <p:spPr>
          <a:xfrm>
            <a:off x="6629400" y="3017520"/>
            <a:ext cx="4965192" cy="402336"/>
          </a:xfrm>
          <a:prstGeom prst="rect">
            <a:avLst/>
          </a:prstGeom>
          <a:solidFill>
            <a:srgbClr val="3333B3"/>
          </a:solidFill>
          <a:ln w="12700">
            <a:solidFill>
              <a:srgbClr val="3333B3"/>
            </a:solidFill>
            <a:prstDash val="solid"/>
          </a:ln>
        </p:spPr>
      </p:sp>
      <p:sp>
        <p:nvSpPr>
          <p:cNvPr id="30" name="Text 28"/>
          <p:cNvSpPr txBox="1"/>
          <p:nvPr/>
        </p:nvSpPr>
        <p:spPr>
          <a:xfrm>
            <a:off x="6812280" y="3017520"/>
            <a:ext cx="459943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 staging environment earns its cost</a:t>
            </a:r>
            <a:endParaRPr lang="en-US" sz="1500" dirty="0"/>
          </a:p>
        </p:txBody>
      </p:sp>
      <p:sp>
        <p:nvSpPr>
          <p:cNvPr id="31" name="Shape 29"/>
          <p:cNvSpPr/>
          <p:nvPr/>
        </p:nvSpPr>
        <p:spPr>
          <a:xfrm>
            <a:off x="6629400" y="3419856"/>
            <a:ext cx="4965192" cy="2386584"/>
          </a:xfrm>
          <a:prstGeom prst="rect">
            <a:avLst/>
          </a:prstGeom>
          <a:solidFill>
            <a:srgbClr val="F4F4FA"/>
          </a:solidFill>
          <a:ln w="9525">
            <a:solidFill>
              <a:srgbClr val="C9C9EA"/>
            </a:solidFill>
            <a:prstDash val="solid"/>
          </a:ln>
        </p:spPr>
      </p:sp>
      <p:sp>
        <p:nvSpPr>
          <p:cNvPr id="32" name="Text 30"/>
          <p:cNvSpPr txBox="1"/>
          <p:nvPr/>
        </p:nvSpPr>
        <p:spPr>
          <a:xfrm>
            <a:off x="6848856" y="3566160"/>
            <a:ext cx="4526280" cy="211226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It is where you find the missing runtime, the wrong connection string and the permissions problem — with nobody watching. If you cannot have one, deploy to production out of hours with a rollback ready.</a:t>
            </a:r>
            <a:endParaRPr lang="en-US" sz="1200" dirty="0"/>
          </a:p>
        </p:txBody>
      </p:sp>
      <p:sp>
        <p:nvSpPr>
          <p:cNvPr id="33" name="Shape 31"/>
          <p:cNvSpPr/>
          <p:nvPr/>
        </p:nvSpPr>
        <p:spPr>
          <a:xfrm>
            <a:off x="0" y="6400800"/>
            <a:ext cx="3840480" cy="457200"/>
          </a:xfrm>
          <a:prstGeom prst="rect">
            <a:avLst/>
          </a:prstGeom>
          <a:solidFill>
            <a:srgbClr val="22226B"/>
          </a:solidFill>
          <a:ln w="12700">
            <a:solidFill>
              <a:srgbClr val="22226B"/>
            </a:solidFill>
            <a:prstDash val="solid"/>
          </a:ln>
        </p:spPr>
      </p:sp>
      <p:sp>
        <p:nvSpPr>
          <p:cNvPr id="34" name="Text 32"/>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5" name="Shape 33"/>
          <p:cNvSpPr/>
          <p:nvPr/>
        </p:nvSpPr>
        <p:spPr>
          <a:xfrm>
            <a:off x="3840480" y="6400800"/>
            <a:ext cx="6675120" cy="457200"/>
          </a:xfrm>
          <a:prstGeom prst="rect">
            <a:avLst/>
          </a:prstGeom>
          <a:solidFill>
            <a:srgbClr val="3333B3"/>
          </a:solidFill>
          <a:ln w="12700">
            <a:solidFill>
              <a:srgbClr val="3333B3"/>
            </a:solidFill>
            <a:prstDash val="solid"/>
          </a:ln>
        </p:spPr>
      </p:sp>
      <p:sp>
        <p:nvSpPr>
          <p:cNvPr id="36" name="Text 34"/>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4 — Deployment &amp; Troubleshooting</a:t>
            </a:r>
            <a:endParaRPr lang="en-US" sz="950" dirty="0"/>
          </a:p>
        </p:txBody>
      </p:sp>
      <p:sp>
        <p:nvSpPr>
          <p:cNvPr id="37" name="Shape 35"/>
          <p:cNvSpPr/>
          <p:nvPr/>
        </p:nvSpPr>
        <p:spPr>
          <a:xfrm>
            <a:off x="10515600" y="6400800"/>
            <a:ext cx="1676095" cy="457200"/>
          </a:xfrm>
          <a:prstGeom prst="rect">
            <a:avLst/>
          </a:prstGeom>
          <a:solidFill>
            <a:srgbClr val="22226B"/>
          </a:solidFill>
          <a:ln w="12700">
            <a:solidFill>
              <a:srgbClr val="22226B"/>
            </a:solidFill>
            <a:prstDash val="solid"/>
          </a:ln>
        </p:spPr>
      </p:sp>
      <p:sp>
        <p:nvSpPr>
          <p:cNvPr id="38" name="Text 36"/>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CONFIGURATION ON THE SERVER</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same build, different settings</a:t>
            </a:r>
            <a:endParaRPr lang="en-US" sz="2600" dirty="0"/>
          </a:p>
        </p:txBody>
      </p:sp>
      <p:sp>
        <p:nvSpPr>
          <p:cNvPr id="6" name="Shape 4"/>
          <p:cNvSpPr/>
          <p:nvPr/>
        </p:nvSpPr>
        <p:spPr>
          <a:xfrm>
            <a:off x="594360" y="1627632"/>
            <a:ext cx="5806440" cy="1970532"/>
          </a:xfrm>
          <a:prstGeom prst="rect">
            <a:avLst/>
          </a:prstGeom>
          <a:solidFill>
            <a:srgbClr val="F4F4FA"/>
          </a:solidFill>
          <a:ln w="9525">
            <a:solidFill>
              <a:srgbClr val="C9C9EA"/>
            </a:solidFill>
            <a:prstDash val="solid"/>
          </a:ln>
        </p:spPr>
      </p:sp>
      <p:sp>
        <p:nvSpPr>
          <p:cNvPr id="7" name="Text 5"/>
          <p:cNvSpPr txBox="1"/>
          <p:nvPr/>
        </p:nvSpPr>
        <p:spPr>
          <a:xfrm>
            <a:off x="813816" y="1783080"/>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LAYERED, LAST ONE WINS</a:t>
            </a:r>
            <a:endParaRPr lang="en-US" sz="950" dirty="0"/>
          </a:p>
        </p:txBody>
      </p:sp>
      <p:sp>
        <p:nvSpPr>
          <p:cNvPr id="8" name="Text 6"/>
          <p:cNvSpPr txBox="1"/>
          <p:nvPr/>
        </p:nvSpPr>
        <p:spPr>
          <a:xfrm>
            <a:off x="813816" y="2075688"/>
            <a:ext cx="5367528" cy="1394460"/>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appsettings.json               committed</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appsettings.Production.json    per environment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Environment variables          set on the server</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Command line arguments         highest priority</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ASPNETCORE_ENVIRONMENT=Production</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ConnectionStrings__Default=Server=SQLPRD;...</a:t>
            </a:r>
            <a:endParaRPr lang="en-US" sz="1050" dirty="0"/>
          </a:p>
        </p:txBody>
      </p:sp>
      <p:sp>
        <p:nvSpPr>
          <p:cNvPr id="9" name="Shape 7"/>
          <p:cNvSpPr/>
          <p:nvPr/>
        </p:nvSpPr>
        <p:spPr>
          <a:xfrm>
            <a:off x="594360" y="3703320"/>
            <a:ext cx="5806440" cy="402336"/>
          </a:xfrm>
          <a:prstGeom prst="rect">
            <a:avLst/>
          </a:prstGeom>
          <a:solidFill>
            <a:srgbClr val="3333B3"/>
          </a:solidFill>
          <a:ln w="12700">
            <a:solidFill>
              <a:srgbClr val="3333B3"/>
            </a:solidFill>
            <a:prstDash val="solid"/>
          </a:ln>
        </p:spPr>
      </p:sp>
      <p:sp>
        <p:nvSpPr>
          <p:cNvPr id="10" name="Text 8"/>
          <p:cNvSpPr txBox="1"/>
          <p:nvPr/>
        </p:nvSpPr>
        <p:spPr>
          <a:xfrm>
            <a:off x="777240" y="3703320"/>
            <a:ext cx="5440680" cy="402336"/>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The double underscore</a:t>
            </a:r>
            <a:endParaRPr lang="en-US" sz="1450" dirty="0"/>
          </a:p>
        </p:txBody>
      </p:sp>
      <p:sp>
        <p:nvSpPr>
          <p:cNvPr id="11" name="Shape 9"/>
          <p:cNvSpPr/>
          <p:nvPr/>
        </p:nvSpPr>
        <p:spPr>
          <a:xfrm>
            <a:off x="594360" y="4105656"/>
            <a:ext cx="5806440" cy="786384"/>
          </a:xfrm>
          <a:prstGeom prst="rect">
            <a:avLst/>
          </a:prstGeom>
          <a:solidFill>
            <a:srgbClr val="F4F4FA"/>
          </a:solidFill>
          <a:ln w="9525">
            <a:solidFill>
              <a:srgbClr val="C9C9EA"/>
            </a:solidFill>
            <a:prstDash val="solid"/>
          </a:ln>
        </p:spPr>
      </p:sp>
      <p:sp>
        <p:nvSpPr>
          <p:cNvPr id="12" name="Text 10"/>
          <p:cNvSpPr txBox="1"/>
          <p:nvPr/>
        </p:nvSpPr>
        <p:spPr>
          <a:xfrm>
            <a:off x="813816" y="4251960"/>
            <a:ext cx="5367528" cy="512064"/>
          </a:xfrm>
          <a:prstGeom prst="rect">
            <a:avLst/>
          </a:prstGeom>
          <a:noFill/>
          <a:ln/>
        </p:spPr>
        <p:txBody>
          <a:bodyPr wrap="square" lIns="0" tIns="0" rIns="0" bIns="0" rtlCol="0" anchor="t"/>
          <a:lstStyle/>
          <a:p>
            <a:pPr indent="0" marL="0">
              <a:lnSpc>
                <a:spcPts val="1553"/>
              </a:lnSpc>
              <a:buNone/>
            </a:pPr>
            <a:r>
              <a:rPr lang="en-US" sz="1150" dirty="0">
                <a:solidFill>
                  <a:srgbClr val="3E3E5A"/>
                </a:solidFill>
                <a:latin typeface="Cambria" pitchFamily="34" charset="0"/>
                <a:ea typeface="Cambria" pitchFamily="34" charset="-122"/>
                <a:cs typeface="Cambria" pitchFamily="34" charset="-120"/>
              </a:rPr>
              <a:t>In an environment variable it means the nesting in the JSON file. ConnectionStrings__Default overrides the Default entry inside ConnectionStrings.</a:t>
            </a:r>
            <a:endParaRPr lang="en-US" sz="1150" dirty="0"/>
          </a:p>
        </p:txBody>
      </p:sp>
      <p:sp>
        <p:nvSpPr>
          <p:cNvPr id="13" name="Shape 11"/>
          <p:cNvSpPr/>
          <p:nvPr/>
        </p:nvSpPr>
        <p:spPr>
          <a:xfrm>
            <a:off x="594360" y="4983480"/>
            <a:ext cx="5806440" cy="402336"/>
          </a:xfrm>
          <a:prstGeom prst="rect">
            <a:avLst/>
          </a:prstGeom>
          <a:solidFill>
            <a:srgbClr val="3333B3"/>
          </a:solidFill>
          <a:ln w="12700">
            <a:solidFill>
              <a:srgbClr val="3333B3"/>
            </a:solidFill>
            <a:prstDash val="solid"/>
          </a:ln>
        </p:spPr>
      </p:sp>
      <p:sp>
        <p:nvSpPr>
          <p:cNvPr id="14" name="Text 12"/>
          <p:cNvSpPr txBox="1"/>
          <p:nvPr/>
        </p:nvSpPr>
        <p:spPr>
          <a:xfrm>
            <a:off x="777240" y="4983480"/>
            <a:ext cx="5440680" cy="402336"/>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Secrets never go in the repository</a:t>
            </a:r>
            <a:endParaRPr lang="en-US" sz="1450" dirty="0"/>
          </a:p>
        </p:txBody>
      </p:sp>
      <p:sp>
        <p:nvSpPr>
          <p:cNvPr id="15" name="Shape 13"/>
          <p:cNvSpPr/>
          <p:nvPr/>
        </p:nvSpPr>
        <p:spPr>
          <a:xfrm>
            <a:off x="594360" y="5385816"/>
            <a:ext cx="5806440" cy="557784"/>
          </a:xfrm>
          <a:prstGeom prst="rect">
            <a:avLst/>
          </a:prstGeom>
          <a:solidFill>
            <a:srgbClr val="F4F4FA"/>
          </a:solidFill>
          <a:ln w="9525">
            <a:solidFill>
              <a:srgbClr val="C9C9EA"/>
            </a:solidFill>
            <a:prstDash val="solid"/>
          </a:ln>
        </p:spPr>
      </p:sp>
      <p:sp>
        <p:nvSpPr>
          <p:cNvPr id="16" name="Text 14"/>
          <p:cNvSpPr txBox="1"/>
          <p:nvPr/>
        </p:nvSpPr>
        <p:spPr>
          <a:xfrm>
            <a:off x="813816" y="5532120"/>
            <a:ext cx="5367528" cy="283464"/>
          </a:xfrm>
          <a:prstGeom prst="rect">
            <a:avLst/>
          </a:prstGeom>
          <a:noFill/>
          <a:ln/>
        </p:spPr>
        <p:txBody>
          <a:bodyPr wrap="square" lIns="0" tIns="0" rIns="0" bIns="0" rtlCol="0" anchor="t"/>
          <a:lstStyle/>
          <a:p>
            <a:pPr indent="0" marL="0">
              <a:lnSpc>
                <a:spcPts val="1553"/>
              </a:lnSpc>
              <a:buNone/>
            </a:pPr>
            <a:r>
              <a:rPr lang="en-US" sz="1150" dirty="0">
                <a:solidFill>
                  <a:srgbClr val="3E3E5A"/>
                </a:solidFill>
                <a:latin typeface="Cambria" pitchFamily="34" charset="0"/>
                <a:ea typeface="Cambria" pitchFamily="34" charset="-122"/>
                <a:cs typeface="Cambria" pitchFamily="34" charset="-120"/>
              </a:rPr>
              <a:t>User secrets while developing; environment variables or a secret store in production.</a:t>
            </a:r>
            <a:endParaRPr lang="en-US" sz="1150" dirty="0"/>
          </a:p>
        </p:txBody>
      </p:sp>
      <p:sp>
        <p:nvSpPr>
          <p:cNvPr id="17" name="Text 15"/>
          <p:cNvSpPr txBox="1"/>
          <p:nvPr/>
        </p:nvSpPr>
        <p:spPr>
          <a:xfrm>
            <a:off x="6629400" y="1572768"/>
            <a:ext cx="4572000" cy="237744"/>
          </a:xfrm>
          <a:prstGeom prst="rect">
            <a:avLst/>
          </a:prstGeom>
          <a:noFill/>
          <a:ln/>
        </p:spPr>
        <p:txBody>
          <a:bodyPr wrap="square" lIns="0" tIns="0" rIns="0" bIns="0" rtlCol="0" anchor="ctr"/>
          <a:lstStyle/>
          <a:p>
            <a:pPr indent="0" marL="0">
              <a:buNone/>
            </a:pPr>
            <a:r>
              <a:rPr lang="en-US" sz="1050" b="1" spc="140" kern="0" dirty="0">
                <a:solidFill>
                  <a:srgbClr val="3333B3"/>
                </a:solidFill>
                <a:latin typeface="Cambria" pitchFamily="34" charset="0"/>
                <a:ea typeface="Cambria" pitchFamily="34" charset="-122"/>
                <a:cs typeface="Cambria" pitchFamily="34" charset="-120"/>
              </a:rPr>
              <a:t>WEB.CONFIG, ON ASP.NET CORE</a:t>
            </a:r>
            <a:endParaRPr lang="en-US" sz="1050" dirty="0"/>
          </a:p>
        </p:txBody>
      </p:sp>
      <p:sp>
        <p:nvSpPr>
          <p:cNvPr id="18" name="Shape 16"/>
          <p:cNvSpPr/>
          <p:nvPr/>
        </p:nvSpPr>
        <p:spPr>
          <a:xfrm>
            <a:off x="6629400" y="1847088"/>
            <a:ext cx="4965192" cy="1005840"/>
          </a:xfrm>
          <a:prstGeom prst="rect">
            <a:avLst/>
          </a:prstGeom>
          <a:solidFill>
            <a:srgbClr val="EDEDF7"/>
          </a:solidFill>
          <a:ln w="9525">
            <a:solidFill>
              <a:srgbClr val="C9C9EA"/>
            </a:solidFill>
            <a:prstDash val="solid"/>
          </a:ln>
        </p:spPr>
      </p:sp>
      <p:sp>
        <p:nvSpPr>
          <p:cNvPr id="19" name="Shape 17"/>
          <p:cNvSpPr/>
          <p:nvPr/>
        </p:nvSpPr>
        <p:spPr>
          <a:xfrm>
            <a:off x="6629400" y="1847088"/>
            <a:ext cx="50292" cy="1005840"/>
          </a:xfrm>
          <a:prstGeom prst="rect">
            <a:avLst/>
          </a:prstGeom>
          <a:solidFill>
            <a:srgbClr val="3333B3"/>
          </a:solidFill>
          <a:ln w="12700">
            <a:solidFill>
              <a:srgbClr val="3333B3"/>
            </a:solidFill>
            <a:prstDash val="solid"/>
          </a:ln>
        </p:spPr>
      </p:sp>
      <p:sp>
        <p:nvSpPr>
          <p:cNvPr id="20" name="Shape 18"/>
          <p:cNvSpPr/>
          <p:nvPr/>
        </p:nvSpPr>
        <p:spPr>
          <a:xfrm>
            <a:off x="6830568" y="2167128"/>
            <a:ext cx="365760" cy="365760"/>
          </a:xfrm>
          <a:prstGeom prst="ellipse">
            <a:avLst/>
          </a:prstGeom>
          <a:solidFill>
            <a:srgbClr val="3333B3"/>
          </a:solidFill>
          <a:ln w="12700">
            <a:solidFill>
              <a:srgbClr val="3333B3"/>
            </a:solidFill>
            <a:prstDash val="solid"/>
          </a:ln>
        </p:spPr>
      </p:sp>
      <p:sp>
        <p:nvSpPr>
          <p:cNvPr id="21" name="Text 19"/>
          <p:cNvSpPr txBox="1"/>
          <p:nvPr/>
        </p:nvSpPr>
        <p:spPr>
          <a:xfrm>
            <a:off x="6830568" y="21671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2" name="Text 20"/>
          <p:cNvSpPr txBox="1"/>
          <p:nvPr/>
        </p:nvSpPr>
        <p:spPr>
          <a:xfrm>
            <a:off x="7360920" y="1847088"/>
            <a:ext cx="4014216" cy="100584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It is generated for you</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Publish writes it. It tells IIS which module to use and which DLL to launch.</a:t>
            </a:r>
            <a:endParaRPr lang="en-US" sz="1350" dirty="0"/>
          </a:p>
        </p:txBody>
      </p:sp>
      <p:sp>
        <p:nvSpPr>
          <p:cNvPr id="23" name="Shape 21"/>
          <p:cNvSpPr/>
          <p:nvPr/>
        </p:nvSpPr>
        <p:spPr>
          <a:xfrm>
            <a:off x="6629400" y="2980944"/>
            <a:ext cx="4965192" cy="1005840"/>
          </a:xfrm>
          <a:prstGeom prst="rect">
            <a:avLst/>
          </a:prstGeom>
          <a:solidFill>
            <a:srgbClr val="EDEDF7"/>
          </a:solidFill>
          <a:ln w="9525">
            <a:solidFill>
              <a:srgbClr val="C9C9EA"/>
            </a:solidFill>
            <a:prstDash val="solid"/>
          </a:ln>
        </p:spPr>
      </p:sp>
      <p:sp>
        <p:nvSpPr>
          <p:cNvPr id="24" name="Shape 22"/>
          <p:cNvSpPr/>
          <p:nvPr/>
        </p:nvSpPr>
        <p:spPr>
          <a:xfrm>
            <a:off x="6629400" y="2980944"/>
            <a:ext cx="50292" cy="1005840"/>
          </a:xfrm>
          <a:prstGeom prst="rect">
            <a:avLst/>
          </a:prstGeom>
          <a:solidFill>
            <a:srgbClr val="3333B3"/>
          </a:solidFill>
          <a:ln w="12700">
            <a:solidFill>
              <a:srgbClr val="3333B3"/>
            </a:solidFill>
            <a:prstDash val="solid"/>
          </a:ln>
        </p:spPr>
      </p:sp>
      <p:sp>
        <p:nvSpPr>
          <p:cNvPr id="25" name="Shape 23"/>
          <p:cNvSpPr/>
          <p:nvPr/>
        </p:nvSpPr>
        <p:spPr>
          <a:xfrm>
            <a:off x="6830568" y="3300984"/>
            <a:ext cx="365760" cy="365760"/>
          </a:xfrm>
          <a:prstGeom prst="ellipse">
            <a:avLst/>
          </a:prstGeom>
          <a:solidFill>
            <a:srgbClr val="3333B3"/>
          </a:solidFill>
          <a:ln w="12700">
            <a:solidFill>
              <a:srgbClr val="3333B3"/>
            </a:solidFill>
            <a:prstDash val="solid"/>
          </a:ln>
        </p:spPr>
      </p:sp>
      <p:sp>
        <p:nvSpPr>
          <p:cNvPr id="26" name="Text 24"/>
          <p:cNvSpPr txBox="1"/>
          <p:nvPr/>
        </p:nvSpPr>
        <p:spPr>
          <a:xfrm>
            <a:off x="6830568" y="33009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7" name="Text 25"/>
          <p:cNvSpPr txBox="1"/>
          <p:nvPr/>
        </p:nvSpPr>
        <p:spPr>
          <a:xfrm>
            <a:off x="7360920" y="2980944"/>
            <a:ext cx="4014216" cy="100584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It is not where your settings go</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Application settings live in appsettings and environment variables now.</a:t>
            </a:r>
            <a:endParaRPr lang="en-US" sz="1350" dirty="0"/>
          </a:p>
        </p:txBody>
      </p:sp>
      <p:sp>
        <p:nvSpPr>
          <p:cNvPr id="28" name="Shape 26"/>
          <p:cNvSpPr/>
          <p:nvPr/>
        </p:nvSpPr>
        <p:spPr>
          <a:xfrm>
            <a:off x="6629400" y="4114800"/>
            <a:ext cx="4965192" cy="1005840"/>
          </a:xfrm>
          <a:prstGeom prst="rect">
            <a:avLst/>
          </a:prstGeom>
          <a:solidFill>
            <a:srgbClr val="EDEDF7"/>
          </a:solidFill>
          <a:ln w="9525">
            <a:solidFill>
              <a:srgbClr val="C9C9EA"/>
            </a:solidFill>
            <a:prstDash val="solid"/>
          </a:ln>
        </p:spPr>
      </p:sp>
      <p:sp>
        <p:nvSpPr>
          <p:cNvPr id="29" name="Shape 27"/>
          <p:cNvSpPr/>
          <p:nvPr/>
        </p:nvSpPr>
        <p:spPr>
          <a:xfrm>
            <a:off x="6629400" y="4114800"/>
            <a:ext cx="50292" cy="1005840"/>
          </a:xfrm>
          <a:prstGeom prst="rect">
            <a:avLst/>
          </a:prstGeom>
          <a:solidFill>
            <a:srgbClr val="3333B3"/>
          </a:solidFill>
          <a:ln w="12700">
            <a:solidFill>
              <a:srgbClr val="3333B3"/>
            </a:solidFill>
            <a:prstDash val="solid"/>
          </a:ln>
        </p:spPr>
      </p:sp>
      <p:sp>
        <p:nvSpPr>
          <p:cNvPr id="30" name="Shape 28"/>
          <p:cNvSpPr/>
          <p:nvPr/>
        </p:nvSpPr>
        <p:spPr>
          <a:xfrm>
            <a:off x="6830568" y="4434840"/>
            <a:ext cx="365760" cy="365760"/>
          </a:xfrm>
          <a:prstGeom prst="ellipse">
            <a:avLst/>
          </a:prstGeom>
          <a:solidFill>
            <a:srgbClr val="3333B3"/>
          </a:solidFill>
          <a:ln w="12700">
            <a:solidFill>
              <a:srgbClr val="3333B3"/>
            </a:solidFill>
            <a:prstDash val="solid"/>
          </a:ln>
        </p:spPr>
      </p:sp>
      <p:sp>
        <p:nvSpPr>
          <p:cNvPr id="31" name="Text 29"/>
          <p:cNvSpPr txBox="1"/>
          <p:nvPr/>
        </p:nvSpPr>
        <p:spPr>
          <a:xfrm>
            <a:off x="6830568" y="4434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32" name="Text 30"/>
          <p:cNvSpPr txBox="1"/>
          <p:nvPr/>
        </p:nvSpPr>
        <p:spPr>
          <a:xfrm>
            <a:off x="7360920" y="4114800"/>
            <a:ext cx="4014216" cy="100584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It does control the module</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Hosting model, environment variables and stdout logging are set here.</a:t>
            </a:r>
            <a:endParaRPr lang="en-US" sz="1350" dirty="0"/>
          </a:p>
        </p:txBody>
      </p:sp>
      <p:sp>
        <p:nvSpPr>
          <p:cNvPr id="33" name="Shape 31"/>
          <p:cNvSpPr/>
          <p:nvPr/>
        </p:nvSpPr>
        <p:spPr>
          <a:xfrm>
            <a:off x="6629400" y="5248656"/>
            <a:ext cx="4965192" cy="1005840"/>
          </a:xfrm>
          <a:prstGeom prst="rect">
            <a:avLst/>
          </a:prstGeom>
          <a:solidFill>
            <a:srgbClr val="EDEDF7"/>
          </a:solidFill>
          <a:ln w="9525">
            <a:solidFill>
              <a:srgbClr val="C9C9EA"/>
            </a:solidFill>
            <a:prstDash val="solid"/>
          </a:ln>
        </p:spPr>
      </p:sp>
      <p:sp>
        <p:nvSpPr>
          <p:cNvPr id="34" name="Shape 32"/>
          <p:cNvSpPr/>
          <p:nvPr/>
        </p:nvSpPr>
        <p:spPr>
          <a:xfrm>
            <a:off x="6629400" y="5248656"/>
            <a:ext cx="50292" cy="1005840"/>
          </a:xfrm>
          <a:prstGeom prst="rect">
            <a:avLst/>
          </a:prstGeom>
          <a:solidFill>
            <a:srgbClr val="3333B3"/>
          </a:solidFill>
          <a:ln w="12700">
            <a:solidFill>
              <a:srgbClr val="3333B3"/>
            </a:solidFill>
            <a:prstDash val="solid"/>
          </a:ln>
        </p:spPr>
      </p:sp>
      <p:sp>
        <p:nvSpPr>
          <p:cNvPr id="35" name="Shape 33"/>
          <p:cNvSpPr/>
          <p:nvPr/>
        </p:nvSpPr>
        <p:spPr>
          <a:xfrm>
            <a:off x="6830568" y="5568696"/>
            <a:ext cx="365760" cy="365760"/>
          </a:xfrm>
          <a:prstGeom prst="ellipse">
            <a:avLst/>
          </a:prstGeom>
          <a:solidFill>
            <a:srgbClr val="3333B3"/>
          </a:solidFill>
          <a:ln w="12700">
            <a:solidFill>
              <a:srgbClr val="3333B3"/>
            </a:solidFill>
            <a:prstDash val="solid"/>
          </a:ln>
        </p:spPr>
      </p:sp>
      <p:sp>
        <p:nvSpPr>
          <p:cNvPr id="36" name="Text 34"/>
          <p:cNvSpPr txBox="1"/>
          <p:nvPr/>
        </p:nvSpPr>
        <p:spPr>
          <a:xfrm>
            <a:off x="6830568" y="55686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7" name="Text 35"/>
          <p:cNvSpPr txBox="1"/>
          <p:nvPr/>
        </p:nvSpPr>
        <p:spPr>
          <a:xfrm>
            <a:off x="7360920" y="5248656"/>
            <a:ext cx="4014216" cy="100584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Editing it restarts the app</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Which is occasionally the quickest way to recycle a site.</a:t>
            </a:r>
            <a:endParaRPr lang="en-US" sz="1350" dirty="0"/>
          </a:p>
        </p:txBody>
      </p:sp>
      <p:sp>
        <p:nvSpPr>
          <p:cNvPr id="38" name="Shape 36"/>
          <p:cNvSpPr/>
          <p:nvPr/>
        </p:nvSpPr>
        <p:spPr>
          <a:xfrm>
            <a:off x="0" y="6400800"/>
            <a:ext cx="3840480" cy="457200"/>
          </a:xfrm>
          <a:prstGeom prst="rect">
            <a:avLst/>
          </a:prstGeom>
          <a:solidFill>
            <a:srgbClr val="22226B"/>
          </a:solidFill>
          <a:ln w="12700">
            <a:solidFill>
              <a:srgbClr val="22226B"/>
            </a:solidFill>
            <a:prstDash val="solid"/>
          </a:ln>
        </p:spPr>
      </p:sp>
      <p:sp>
        <p:nvSpPr>
          <p:cNvPr id="39" name="Text 37"/>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40" name="Shape 38"/>
          <p:cNvSpPr/>
          <p:nvPr/>
        </p:nvSpPr>
        <p:spPr>
          <a:xfrm>
            <a:off x="3840480" y="6400800"/>
            <a:ext cx="6675120" cy="457200"/>
          </a:xfrm>
          <a:prstGeom prst="rect">
            <a:avLst/>
          </a:prstGeom>
          <a:solidFill>
            <a:srgbClr val="3333B3"/>
          </a:solidFill>
          <a:ln w="12700">
            <a:solidFill>
              <a:srgbClr val="3333B3"/>
            </a:solidFill>
            <a:prstDash val="solid"/>
          </a:ln>
        </p:spPr>
      </p:sp>
      <p:sp>
        <p:nvSpPr>
          <p:cNvPr id="41" name="Text 39"/>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4 — Deployment &amp; Troubleshooting</a:t>
            </a:r>
            <a:endParaRPr lang="en-US" sz="950" dirty="0"/>
          </a:p>
        </p:txBody>
      </p:sp>
      <p:sp>
        <p:nvSpPr>
          <p:cNvPr id="42" name="Shape 40"/>
          <p:cNvSpPr/>
          <p:nvPr/>
        </p:nvSpPr>
        <p:spPr>
          <a:xfrm>
            <a:off x="10515600" y="6400800"/>
            <a:ext cx="1676095" cy="457200"/>
          </a:xfrm>
          <a:prstGeom prst="rect">
            <a:avLst/>
          </a:prstGeom>
          <a:solidFill>
            <a:srgbClr val="22226B"/>
          </a:solidFill>
          <a:ln w="12700">
            <a:solidFill>
              <a:srgbClr val="22226B"/>
            </a:solidFill>
            <a:prstDash val="solid"/>
          </a:ln>
        </p:spPr>
      </p:sp>
      <p:sp>
        <p:nvSpPr>
          <p:cNvPr id="43" name="Text 41"/>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A DEPLOYMENT, STEP BY STEP</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Write it down and follow it every time</a:t>
            </a:r>
            <a:endParaRPr lang="en-US" sz="2600" dirty="0"/>
          </a:p>
        </p:txBody>
      </p:sp>
      <p:sp>
        <p:nvSpPr>
          <p:cNvPr id="6" name="Shape 4"/>
          <p:cNvSpPr/>
          <p:nvPr/>
        </p:nvSpPr>
        <p:spPr>
          <a:xfrm>
            <a:off x="594360" y="1664208"/>
            <a:ext cx="5806440" cy="621792"/>
          </a:xfrm>
          <a:prstGeom prst="rect">
            <a:avLst/>
          </a:prstGeom>
          <a:solidFill>
            <a:srgbClr val="EDEDF7"/>
          </a:solidFill>
          <a:ln w="9525">
            <a:solidFill>
              <a:srgbClr val="C9C9EA"/>
            </a:solidFill>
            <a:prstDash val="solid"/>
          </a:ln>
        </p:spPr>
      </p:sp>
      <p:sp>
        <p:nvSpPr>
          <p:cNvPr id="7" name="Shape 5"/>
          <p:cNvSpPr/>
          <p:nvPr/>
        </p:nvSpPr>
        <p:spPr>
          <a:xfrm>
            <a:off x="594360" y="1664208"/>
            <a:ext cx="50292" cy="621792"/>
          </a:xfrm>
          <a:prstGeom prst="rect">
            <a:avLst/>
          </a:prstGeom>
          <a:solidFill>
            <a:srgbClr val="3333B3"/>
          </a:solidFill>
          <a:ln w="12700">
            <a:solidFill>
              <a:srgbClr val="3333B3"/>
            </a:solidFill>
            <a:prstDash val="solid"/>
          </a:ln>
        </p:spPr>
      </p:sp>
      <p:sp>
        <p:nvSpPr>
          <p:cNvPr id="8" name="Shape 6"/>
          <p:cNvSpPr/>
          <p:nvPr/>
        </p:nvSpPr>
        <p:spPr>
          <a:xfrm>
            <a:off x="795528" y="1792224"/>
            <a:ext cx="365760" cy="365760"/>
          </a:xfrm>
          <a:prstGeom prst="ellipse">
            <a:avLst/>
          </a:prstGeom>
          <a:solidFill>
            <a:srgbClr val="3333B3"/>
          </a:solidFill>
          <a:ln w="12700">
            <a:solidFill>
              <a:srgbClr val="3333B3"/>
            </a:solidFill>
            <a:prstDash val="solid"/>
          </a:ln>
        </p:spPr>
      </p:sp>
      <p:sp>
        <p:nvSpPr>
          <p:cNvPr id="9" name="Text 7"/>
          <p:cNvSpPr txBox="1"/>
          <p:nvPr/>
        </p:nvSpPr>
        <p:spPr>
          <a:xfrm>
            <a:off x="795528" y="17922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1325880" y="1664208"/>
            <a:ext cx="4855464" cy="621792"/>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Publish in Release, to a clean folder</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Never over the top of a previous publish.</a:t>
            </a:r>
            <a:endParaRPr lang="en-US" sz="1350" dirty="0"/>
          </a:p>
        </p:txBody>
      </p:sp>
      <p:sp>
        <p:nvSpPr>
          <p:cNvPr id="11" name="Shape 9"/>
          <p:cNvSpPr/>
          <p:nvPr/>
        </p:nvSpPr>
        <p:spPr>
          <a:xfrm>
            <a:off x="594360" y="2386584"/>
            <a:ext cx="5806440" cy="621792"/>
          </a:xfrm>
          <a:prstGeom prst="rect">
            <a:avLst/>
          </a:prstGeom>
          <a:solidFill>
            <a:srgbClr val="EDEDF7"/>
          </a:solidFill>
          <a:ln w="9525">
            <a:solidFill>
              <a:srgbClr val="C9C9EA"/>
            </a:solidFill>
            <a:prstDash val="solid"/>
          </a:ln>
        </p:spPr>
      </p:sp>
      <p:sp>
        <p:nvSpPr>
          <p:cNvPr id="12" name="Shape 10"/>
          <p:cNvSpPr/>
          <p:nvPr/>
        </p:nvSpPr>
        <p:spPr>
          <a:xfrm>
            <a:off x="594360" y="2386584"/>
            <a:ext cx="50292" cy="621792"/>
          </a:xfrm>
          <a:prstGeom prst="rect">
            <a:avLst/>
          </a:prstGeom>
          <a:solidFill>
            <a:srgbClr val="3333B3"/>
          </a:solidFill>
          <a:ln w="12700">
            <a:solidFill>
              <a:srgbClr val="3333B3"/>
            </a:solidFill>
            <a:prstDash val="solid"/>
          </a:ln>
        </p:spPr>
      </p:sp>
      <p:sp>
        <p:nvSpPr>
          <p:cNvPr id="13" name="Shape 11"/>
          <p:cNvSpPr/>
          <p:nvPr/>
        </p:nvSpPr>
        <p:spPr>
          <a:xfrm>
            <a:off x="795528" y="2514600"/>
            <a:ext cx="365760" cy="365760"/>
          </a:xfrm>
          <a:prstGeom prst="ellipse">
            <a:avLst/>
          </a:prstGeom>
          <a:solidFill>
            <a:srgbClr val="3333B3"/>
          </a:solidFill>
          <a:ln w="12700">
            <a:solidFill>
              <a:srgbClr val="3333B3"/>
            </a:solidFill>
            <a:prstDash val="solid"/>
          </a:ln>
        </p:spPr>
      </p:sp>
      <p:sp>
        <p:nvSpPr>
          <p:cNvPr id="14" name="Text 12"/>
          <p:cNvSpPr txBox="1"/>
          <p:nvPr/>
        </p:nvSpPr>
        <p:spPr>
          <a:xfrm>
            <a:off x="795528" y="25146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325880" y="2386584"/>
            <a:ext cx="4855464" cy="621792"/>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Build the front end with production settings</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The API URL is baked in at build time.</a:t>
            </a:r>
            <a:endParaRPr lang="en-US" sz="1350" dirty="0"/>
          </a:p>
        </p:txBody>
      </p:sp>
      <p:sp>
        <p:nvSpPr>
          <p:cNvPr id="16" name="Shape 14"/>
          <p:cNvSpPr/>
          <p:nvPr/>
        </p:nvSpPr>
        <p:spPr>
          <a:xfrm>
            <a:off x="594360" y="3108960"/>
            <a:ext cx="5806440" cy="621792"/>
          </a:xfrm>
          <a:prstGeom prst="rect">
            <a:avLst/>
          </a:prstGeom>
          <a:solidFill>
            <a:srgbClr val="EDEDF7"/>
          </a:solidFill>
          <a:ln w="9525">
            <a:solidFill>
              <a:srgbClr val="C9C9EA"/>
            </a:solidFill>
            <a:prstDash val="solid"/>
          </a:ln>
        </p:spPr>
      </p:sp>
      <p:sp>
        <p:nvSpPr>
          <p:cNvPr id="17" name="Shape 15"/>
          <p:cNvSpPr/>
          <p:nvPr/>
        </p:nvSpPr>
        <p:spPr>
          <a:xfrm>
            <a:off x="594360" y="3108960"/>
            <a:ext cx="50292" cy="621792"/>
          </a:xfrm>
          <a:prstGeom prst="rect">
            <a:avLst/>
          </a:prstGeom>
          <a:solidFill>
            <a:srgbClr val="3333B3"/>
          </a:solidFill>
          <a:ln w="12700">
            <a:solidFill>
              <a:srgbClr val="3333B3"/>
            </a:solidFill>
            <a:prstDash val="solid"/>
          </a:ln>
        </p:spPr>
      </p:sp>
      <p:sp>
        <p:nvSpPr>
          <p:cNvPr id="18" name="Shape 16"/>
          <p:cNvSpPr/>
          <p:nvPr/>
        </p:nvSpPr>
        <p:spPr>
          <a:xfrm>
            <a:off x="795528" y="3236976"/>
            <a:ext cx="365760" cy="365760"/>
          </a:xfrm>
          <a:prstGeom prst="ellipse">
            <a:avLst/>
          </a:prstGeom>
          <a:solidFill>
            <a:srgbClr val="3333B3"/>
          </a:solidFill>
          <a:ln w="12700">
            <a:solidFill>
              <a:srgbClr val="3333B3"/>
            </a:solidFill>
            <a:prstDash val="solid"/>
          </a:ln>
        </p:spPr>
      </p:sp>
      <p:sp>
        <p:nvSpPr>
          <p:cNvPr id="19" name="Text 17"/>
          <p:cNvSpPr txBox="1"/>
          <p:nvPr/>
        </p:nvSpPr>
        <p:spPr>
          <a:xfrm>
            <a:off x="795528" y="32369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1325880" y="3108960"/>
            <a:ext cx="4855464" cy="621792"/>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Take a copy of what is currently deployed</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This is your rollback. It takes thirty seconds.</a:t>
            </a:r>
            <a:endParaRPr lang="en-US" sz="1350" dirty="0"/>
          </a:p>
        </p:txBody>
      </p:sp>
      <p:sp>
        <p:nvSpPr>
          <p:cNvPr id="21" name="Shape 19"/>
          <p:cNvSpPr/>
          <p:nvPr/>
        </p:nvSpPr>
        <p:spPr>
          <a:xfrm>
            <a:off x="594360" y="3831336"/>
            <a:ext cx="5806440" cy="621792"/>
          </a:xfrm>
          <a:prstGeom prst="rect">
            <a:avLst/>
          </a:prstGeom>
          <a:solidFill>
            <a:srgbClr val="EDEDF7"/>
          </a:solidFill>
          <a:ln w="9525">
            <a:solidFill>
              <a:srgbClr val="C9C9EA"/>
            </a:solidFill>
            <a:prstDash val="solid"/>
          </a:ln>
        </p:spPr>
      </p:sp>
      <p:sp>
        <p:nvSpPr>
          <p:cNvPr id="22" name="Shape 20"/>
          <p:cNvSpPr/>
          <p:nvPr/>
        </p:nvSpPr>
        <p:spPr>
          <a:xfrm>
            <a:off x="594360" y="3831336"/>
            <a:ext cx="50292" cy="621792"/>
          </a:xfrm>
          <a:prstGeom prst="rect">
            <a:avLst/>
          </a:prstGeom>
          <a:solidFill>
            <a:srgbClr val="3333B3"/>
          </a:solidFill>
          <a:ln w="12700">
            <a:solidFill>
              <a:srgbClr val="3333B3"/>
            </a:solidFill>
            <a:prstDash val="solid"/>
          </a:ln>
        </p:spPr>
      </p:sp>
      <p:sp>
        <p:nvSpPr>
          <p:cNvPr id="23" name="Shape 21"/>
          <p:cNvSpPr/>
          <p:nvPr/>
        </p:nvSpPr>
        <p:spPr>
          <a:xfrm>
            <a:off x="795528" y="3959352"/>
            <a:ext cx="365760" cy="365760"/>
          </a:xfrm>
          <a:prstGeom prst="ellipse">
            <a:avLst/>
          </a:prstGeom>
          <a:solidFill>
            <a:srgbClr val="3333B3"/>
          </a:solidFill>
          <a:ln w="12700">
            <a:solidFill>
              <a:srgbClr val="3333B3"/>
            </a:solidFill>
            <a:prstDash val="solid"/>
          </a:ln>
        </p:spPr>
      </p:sp>
      <p:sp>
        <p:nvSpPr>
          <p:cNvPr id="24" name="Text 22"/>
          <p:cNvSpPr txBox="1"/>
          <p:nvPr/>
        </p:nvSpPr>
        <p:spPr>
          <a:xfrm>
            <a:off x="795528" y="3959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1325880" y="3831336"/>
            <a:ext cx="4855464" cy="621792"/>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Stop the site or drop app_offline.htm</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Copying over running files fails, or worse, half succeeds.</a:t>
            </a:r>
            <a:endParaRPr lang="en-US" sz="1350" dirty="0"/>
          </a:p>
        </p:txBody>
      </p:sp>
      <p:sp>
        <p:nvSpPr>
          <p:cNvPr id="26" name="Shape 24"/>
          <p:cNvSpPr/>
          <p:nvPr/>
        </p:nvSpPr>
        <p:spPr>
          <a:xfrm>
            <a:off x="594360" y="4553712"/>
            <a:ext cx="5806440" cy="621792"/>
          </a:xfrm>
          <a:prstGeom prst="rect">
            <a:avLst/>
          </a:prstGeom>
          <a:solidFill>
            <a:srgbClr val="EDEDF7"/>
          </a:solidFill>
          <a:ln w="9525">
            <a:solidFill>
              <a:srgbClr val="C9C9EA"/>
            </a:solidFill>
            <a:prstDash val="solid"/>
          </a:ln>
        </p:spPr>
      </p:sp>
      <p:sp>
        <p:nvSpPr>
          <p:cNvPr id="27" name="Shape 25"/>
          <p:cNvSpPr/>
          <p:nvPr/>
        </p:nvSpPr>
        <p:spPr>
          <a:xfrm>
            <a:off x="594360" y="4553712"/>
            <a:ext cx="50292" cy="621792"/>
          </a:xfrm>
          <a:prstGeom prst="rect">
            <a:avLst/>
          </a:prstGeom>
          <a:solidFill>
            <a:srgbClr val="3333B3"/>
          </a:solidFill>
          <a:ln w="12700">
            <a:solidFill>
              <a:srgbClr val="3333B3"/>
            </a:solidFill>
            <a:prstDash val="solid"/>
          </a:ln>
        </p:spPr>
      </p:sp>
      <p:sp>
        <p:nvSpPr>
          <p:cNvPr id="28" name="Shape 26"/>
          <p:cNvSpPr/>
          <p:nvPr/>
        </p:nvSpPr>
        <p:spPr>
          <a:xfrm>
            <a:off x="795528" y="4681728"/>
            <a:ext cx="365760" cy="365760"/>
          </a:xfrm>
          <a:prstGeom prst="ellipse">
            <a:avLst/>
          </a:prstGeom>
          <a:solidFill>
            <a:srgbClr val="3333B3"/>
          </a:solidFill>
          <a:ln w="12700">
            <a:solidFill>
              <a:srgbClr val="3333B3"/>
            </a:solidFill>
            <a:prstDash val="solid"/>
          </a:ln>
        </p:spPr>
      </p:sp>
      <p:sp>
        <p:nvSpPr>
          <p:cNvPr id="29" name="Text 27"/>
          <p:cNvSpPr txBox="1"/>
          <p:nvPr/>
        </p:nvSpPr>
        <p:spPr>
          <a:xfrm>
            <a:off x="795528" y="4681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0" name="Text 28"/>
          <p:cNvSpPr txBox="1"/>
          <p:nvPr/>
        </p:nvSpPr>
        <p:spPr>
          <a:xfrm>
            <a:off x="1325880" y="4553712"/>
            <a:ext cx="4855464" cy="621792"/>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Copy, then set configuration</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Environment variables and connection strings on the server.</a:t>
            </a:r>
            <a:endParaRPr lang="en-US" sz="1350" dirty="0"/>
          </a:p>
        </p:txBody>
      </p:sp>
      <p:sp>
        <p:nvSpPr>
          <p:cNvPr id="31" name="Shape 29"/>
          <p:cNvSpPr/>
          <p:nvPr/>
        </p:nvSpPr>
        <p:spPr>
          <a:xfrm>
            <a:off x="594360" y="5276088"/>
            <a:ext cx="5806440" cy="621792"/>
          </a:xfrm>
          <a:prstGeom prst="rect">
            <a:avLst/>
          </a:prstGeom>
          <a:solidFill>
            <a:srgbClr val="EDEDF7"/>
          </a:solidFill>
          <a:ln w="9525">
            <a:solidFill>
              <a:srgbClr val="C9C9EA"/>
            </a:solidFill>
            <a:prstDash val="solid"/>
          </a:ln>
        </p:spPr>
      </p:sp>
      <p:sp>
        <p:nvSpPr>
          <p:cNvPr id="32" name="Shape 30"/>
          <p:cNvSpPr/>
          <p:nvPr/>
        </p:nvSpPr>
        <p:spPr>
          <a:xfrm>
            <a:off x="594360" y="5276088"/>
            <a:ext cx="50292" cy="621792"/>
          </a:xfrm>
          <a:prstGeom prst="rect">
            <a:avLst/>
          </a:prstGeom>
          <a:solidFill>
            <a:srgbClr val="3333B3"/>
          </a:solidFill>
          <a:ln w="12700">
            <a:solidFill>
              <a:srgbClr val="3333B3"/>
            </a:solidFill>
            <a:prstDash val="solid"/>
          </a:ln>
        </p:spPr>
      </p:sp>
      <p:sp>
        <p:nvSpPr>
          <p:cNvPr id="33" name="Shape 31"/>
          <p:cNvSpPr/>
          <p:nvPr/>
        </p:nvSpPr>
        <p:spPr>
          <a:xfrm>
            <a:off x="795528" y="5404104"/>
            <a:ext cx="365760" cy="365760"/>
          </a:xfrm>
          <a:prstGeom prst="ellipse">
            <a:avLst/>
          </a:prstGeom>
          <a:solidFill>
            <a:srgbClr val="3333B3"/>
          </a:solidFill>
          <a:ln w="12700">
            <a:solidFill>
              <a:srgbClr val="3333B3"/>
            </a:solidFill>
            <a:prstDash val="solid"/>
          </a:ln>
        </p:spPr>
      </p:sp>
      <p:sp>
        <p:nvSpPr>
          <p:cNvPr id="34" name="Text 32"/>
          <p:cNvSpPr txBox="1"/>
          <p:nvPr/>
        </p:nvSpPr>
        <p:spPr>
          <a:xfrm>
            <a:off x="795528" y="5404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5" name="Text 33"/>
          <p:cNvSpPr txBox="1"/>
          <p:nvPr/>
        </p:nvSpPr>
        <p:spPr>
          <a:xfrm>
            <a:off x="1325880" y="5276088"/>
            <a:ext cx="4855464" cy="621792"/>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Start, then verify deliberately</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Load a page, save a record, run the report. Not just the home page.</a:t>
            </a:r>
            <a:endParaRPr lang="en-US" sz="1350" dirty="0"/>
          </a:p>
        </p:txBody>
      </p:sp>
      <p:sp>
        <p:nvSpPr>
          <p:cNvPr id="36" name="Shape 34"/>
          <p:cNvSpPr/>
          <p:nvPr/>
        </p:nvSpPr>
        <p:spPr>
          <a:xfrm>
            <a:off x="6629400" y="1664208"/>
            <a:ext cx="4965192" cy="402336"/>
          </a:xfrm>
          <a:prstGeom prst="rect">
            <a:avLst/>
          </a:prstGeom>
          <a:solidFill>
            <a:srgbClr val="3333B3"/>
          </a:solidFill>
          <a:ln w="12700">
            <a:solidFill>
              <a:srgbClr val="3333B3"/>
            </a:solidFill>
            <a:prstDash val="solid"/>
          </a:ln>
        </p:spPr>
      </p:sp>
      <p:sp>
        <p:nvSpPr>
          <p:cNvPr id="37" name="Text 35"/>
          <p:cNvSpPr txBox="1"/>
          <p:nvPr/>
        </p:nvSpPr>
        <p:spPr>
          <a:xfrm>
            <a:off x="6812280" y="1664208"/>
            <a:ext cx="459943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app_offline.htm</a:t>
            </a:r>
            <a:endParaRPr lang="en-US" sz="1500" dirty="0"/>
          </a:p>
        </p:txBody>
      </p:sp>
      <p:sp>
        <p:nvSpPr>
          <p:cNvPr id="38" name="Shape 36"/>
          <p:cNvSpPr/>
          <p:nvPr/>
        </p:nvSpPr>
        <p:spPr>
          <a:xfrm>
            <a:off x="6629400" y="2066544"/>
            <a:ext cx="4965192" cy="1609344"/>
          </a:xfrm>
          <a:prstGeom prst="rect">
            <a:avLst/>
          </a:prstGeom>
          <a:solidFill>
            <a:srgbClr val="F4F4FA"/>
          </a:solidFill>
          <a:ln w="9525">
            <a:solidFill>
              <a:srgbClr val="C9C9EA"/>
            </a:solidFill>
            <a:prstDash val="solid"/>
          </a:ln>
        </p:spPr>
      </p:sp>
      <p:sp>
        <p:nvSpPr>
          <p:cNvPr id="39" name="Text 37"/>
          <p:cNvSpPr txBox="1"/>
          <p:nvPr/>
        </p:nvSpPr>
        <p:spPr>
          <a:xfrm>
            <a:off x="6848856" y="2212848"/>
            <a:ext cx="4526280" cy="133502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Drop a file with that name into the site root and ASP.NET Core shuts the application down and serves that page to everyone. Delete it to bring the site back. It is the simplest maintenance page there is.</a:t>
            </a:r>
            <a:endParaRPr lang="en-US" sz="1200" dirty="0"/>
          </a:p>
        </p:txBody>
      </p:sp>
      <p:sp>
        <p:nvSpPr>
          <p:cNvPr id="40" name="Shape 38"/>
          <p:cNvSpPr/>
          <p:nvPr/>
        </p:nvSpPr>
        <p:spPr>
          <a:xfrm>
            <a:off x="6629400" y="3840480"/>
            <a:ext cx="4965192" cy="402336"/>
          </a:xfrm>
          <a:prstGeom prst="rect">
            <a:avLst/>
          </a:prstGeom>
          <a:solidFill>
            <a:srgbClr val="3333B3"/>
          </a:solidFill>
          <a:ln w="12700">
            <a:solidFill>
              <a:srgbClr val="3333B3"/>
            </a:solidFill>
            <a:prstDash val="solid"/>
          </a:ln>
        </p:spPr>
      </p:sp>
      <p:sp>
        <p:nvSpPr>
          <p:cNvPr id="41" name="Text 39"/>
          <p:cNvSpPr txBox="1"/>
          <p:nvPr/>
        </p:nvSpPr>
        <p:spPr>
          <a:xfrm>
            <a:off x="6812280" y="3840480"/>
            <a:ext cx="459943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Write the runbook</a:t>
            </a:r>
            <a:endParaRPr lang="en-US" sz="1500" dirty="0"/>
          </a:p>
        </p:txBody>
      </p:sp>
      <p:sp>
        <p:nvSpPr>
          <p:cNvPr id="42" name="Shape 40"/>
          <p:cNvSpPr/>
          <p:nvPr/>
        </p:nvSpPr>
        <p:spPr>
          <a:xfrm>
            <a:off x="6629400" y="4242816"/>
            <a:ext cx="4965192" cy="1554480"/>
          </a:xfrm>
          <a:prstGeom prst="rect">
            <a:avLst/>
          </a:prstGeom>
          <a:solidFill>
            <a:srgbClr val="F4F4FA"/>
          </a:solidFill>
          <a:ln w="9525">
            <a:solidFill>
              <a:srgbClr val="C9C9EA"/>
            </a:solidFill>
            <a:prstDash val="solid"/>
          </a:ln>
        </p:spPr>
      </p:sp>
      <p:sp>
        <p:nvSpPr>
          <p:cNvPr id="43" name="Text 41"/>
          <p:cNvSpPr txBox="1"/>
          <p:nvPr/>
        </p:nvSpPr>
        <p:spPr>
          <a:xfrm>
            <a:off x="6848856" y="4389120"/>
            <a:ext cx="4526280" cy="12801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The steps, in order</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What to check afterwards</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How to roll back</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Who to tell</a:t>
            </a:r>
            <a:endParaRPr lang="en-US" sz="1200" dirty="0"/>
          </a:p>
        </p:txBody>
      </p:sp>
      <p:sp>
        <p:nvSpPr>
          <p:cNvPr id="44" name="Shape 42"/>
          <p:cNvSpPr/>
          <p:nvPr/>
        </p:nvSpPr>
        <p:spPr>
          <a:xfrm>
            <a:off x="0" y="6400800"/>
            <a:ext cx="3840480" cy="457200"/>
          </a:xfrm>
          <a:prstGeom prst="rect">
            <a:avLst/>
          </a:prstGeom>
          <a:solidFill>
            <a:srgbClr val="22226B"/>
          </a:solidFill>
          <a:ln w="12700">
            <a:solidFill>
              <a:srgbClr val="22226B"/>
            </a:solidFill>
            <a:prstDash val="solid"/>
          </a:ln>
        </p:spPr>
      </p:sp>
      <p:sp>
        <p:nvSpPr>
          <p:cNvPr id="45" name="Text 43"/>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46" name="Shape 44"/>
          <p:cNvSpPr/>
          <p:nvPr/>
        </p:nvSpPr>
        <p:spPr>
          <a:xfrm>
            <a:off x="3840480" y="6400800"/>
            <a:ext cx="6675120" cy="457200"/>
          </a:xfrm>
          <a:prstGeom prst="rect">
            <a:avLst/>
          </a:prstGeom>
          <a:solidFill>
            <a:srgbClr val="3333B3"/>
          </a:solidFill>
          <a:ln w="12700">
            <a:solidFill>
              <a:srgbClr val="3333B3"/>
            </a:solidFill>
            <a:prstDash val="solid"/>
          </a:ln>
        </p:spPr>
      </p:sp>
      <p:sp>
        <p:nvSpPr>
          <p:cNvPr id="47" name="Text 45"/>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4 — Deployment &amp; Troubleshooting</a:t>
            </a:r>
            <a:endParaRPr lang="en-US" sz="950" dirty="0"/>
          </a:p>
        </p:txBody>
      </p:sp>
      <p:sp>
        <p:nvSpPr>
          <p:cNvPr id="48" name="Shape 46"/>
          <p:cNvSpPr/>
          <p:nvPr/>
        </p:nvSpPr>
        <p:spPr>
          <a:xfrm>
            <a:off x="10515600" y="6400800"/>
            <a:ext cx="1676095" cy="457200"/>
          </a:xfrm>
          <a:prstGeom prst="rect">
            <a:avLst/>
          </a:prstGeom>
          <a:solidFill>
            <a:srgbClr val="22226B"/>
          </a:solidFill>
          <a:ln w="12700">
            <a:solidFill>
              <a:srgbClr val="22226B"/>
            </a:solidFill>
            <a:prstDash val="solid"/>
          </a:ln>
        </p:spPr>
      </p:sp>
      <p:sp>
        <p:nvSpPr>
          <p:cNvPr id="49" name="Text 47"/>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DEBUGGING DEPLOYMENT ERRORS</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Read the code before you change anything</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664208"/>
          <a:ext cx="11002975" cy="914400"/>
        </p:xfrm>
        <a:graphic>
          <a:graphicData uri="http://schemas.openxmlformats.org/drawingml/2006/table">
            <a:tbl>
              <a:tblPr/>
              <a:tblGrid>
                <a:gridCol w="1965960"/>
                <a:gridCol w="4160520"/>
                <a:gridCol w="4873752"/>
              </a:tblGrid>
              <a:tr h="411480">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What you see</a:t>
                      </a:r>
                      <a:endParaRPr lang="en-US" sz="115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22226B"/>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What it usually means</a:t>
                      </a:r>
                      <a:endParaRPr lang="en-US" sz="115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22226B"/>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First move</a:t>
                      </a:r>
                      <a:endParaRPr lang="en-US" sz="115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3333B3"/>
                    </a:solidFill>
                  </a:tcPr>
                </a:tc>
              </a:tr>
              <a:tr h="411480">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500.19</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IIS cannot read web.config, or the module is missing</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Install the .NET Hosting Bundle, then restart IIS</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500.30</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The application started and then crashed</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Enable stdout logging and read the startup exception</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500.31 / 500.32</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Wrong or missing runtime for this application</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Match the installed runtime to the target framework</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502.5</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The process failed to start (out-of-process)</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Run dotnet YourApp.dll on the server and read the console</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403.14</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IIS is listing a directory instead of running the app</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The site points at the wrong folder, or the app never started</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HTTP 404 on every page</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No default document, or the wrong physical path</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Check the physical path, then your routing</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Blank page, API calls fail</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CORS or a wrong API base URL in the built front end</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22226B"/>
                          </a:solidFill>
                          <a:latin typeface="Cambria" pitchFamily="34" charset="0"/>
                          <a:ea typeface="Cambria" pitchFamily="34" charset="-122"/>
                          <a:cs typeface="Cambria" pitchFamily="34" charset="-120"/>
                        </a:rPr>
                        <a:t>Open the browser console — the message is there</a:t>
                      </a:r>
                      <a:endParaRPr lang="en-US" sz="1100" dirty="0">
                        <a:latin typeface="Cambria" charset="0"/>
                        <a:ea typeface="Cambria" charset="0"/>
                        <a:cs typeface="Cambria" charset="0"/>
                      </a:endParaRPr>
                    </a:p>
                  </a:txBody>
                  <a:tcPr marL="139700" marR="139700" marT="76200" marB="76200" anchor="ctr">
                    <a:lnL w="12700" cap="flat" cmpd="sng" algn="ctr">
                      <a:solidFill>
                        <a:srgbClr val="DDE3E9"/>
                      </a:solidFill>
                      <a:prstDash val="solid"/>
                      <a:round/>
                      <a:headEnd type="none" w="med" len="med"/>
                      <a:tailEnd type="none" w="med" len="med"/>
                    </a:lnL>
                    <a:lnR w="12700" cap="flat" cmpd="sng" algn="ctr">
                      <a:solidFill>
                        <a:srgbClr val="DDE3E9"/>
                      </a:solidFill>
                      <a:prstDash val="solid"/>
                      <a:round/>
                      <a:headEnd type="none" w="med" len="med"/>
                      <a:tailEnd type="none" w="med" len="med"/>
                    </a:lnR>
                    <a:lnT w="12700" cap="flat" cmpd="sng" algn="ctr">
                      <a:solidFill>
                        <a:srgbClr val="DDE3E9"/>
                      </a:solidFill>
                      <a:prstDash val="solid"/>
                      <a:round/>
                      <a:headEnd type="none" w="med" len="med"/>
                      <a:tailEnd type="none" w="med" len="med"/>
                    </a:lnT>
                    <a:lnB w="12700" cap="flat" cmpd="sng" algn="ctr">
                      <a:solidFill>
                        <a:srgbClr val="DDE3E9"/>
                      </a:solidFill>
                      <a:prstDash val="solid"/>
                      <a:round/>
                      <a:headEnd type="none" w="med" len="med"/>
                      <a:tailEnd type="none" w="med" len="med"/>
                    </a:lnB>
                    <a:solidFill>
                      <a:srgbClr val="FFFFFF"/>
                    </a:solidFill>
                  </a:tcPr>
                </a:tc>
              </a:tr>
            </a:tbl>
          </a:graphicData>
        </a:graphic>
      </p:graphicFrame>
      <p:sp>
        <p:nvSpPr>
          <p:cNvPr id="7" name="Shape 4"/>
          <p:cNvSpPr/>
          <p:nvPr/>
        </p:nvSpPr>
        <p:spPr>
          <a:xfrm>
            <a:off x="594360" y="5376672"/>
            <a:ext cx="11002975" cy="566928"/>
          </a:xfrm>
          <a:prstGeom prst="rect">
            <a:avLst/>
          </a:prstGeom>
          <a:solidFill>
            <a:srgbClr val="FBECEC"/>
          </a:solidFill>
          <a:ln w="12700">
            <a:solidFill>
              <a:srgbClr val="A00000"/>
            </a:solidFill>
            <a:prstDash val="solid"/>
          </a:ln>
        </p:spPr>
      </p:sp>
      <p:sp>
        <p:nvSpPr>
          <p:cNvPr id="8" name="Text 5"/>
          <p:cNvSpPr txBox="1"/>
          <p:nvPr/>
        </p:nvSpPr>
        <p:spPr>
          <a:xfrm>
            <a:off x="832104" y="5376672"/>
            <a:ext cx="10527487" cy="566928"/>
          </a:xfrm>
          <a:prstGeom prst="rect">
            <a:avLst/>
          </a:prstGeom>
          <a:noFill/>
          <a:ln/>
        </p:spPr>
        <p:txBody>
          <a:bodyPr wrap="square" lIns="0" tIns="0" rIns="0" bIns="0" rtlCol="0" anchor="ctr"/>
          <a:lstStyle/>
          <a:p>
            <a:pPr indent="0" marL="0">
              <a:lnSpc>
                <a:spcPts val="1625"/>
              </a:lnSpc>
              <a:buNone/>
            </a:pPr>
            <a:r>
              <a:rPr lang="en-US" sz="1250" b="1" dirty="0">
                <a:solidFill>
                  <a:srgbClr val="7A0000"/>
                </a:solidFill>
                <a:latin typeface="Cambria" pitchFamily="34" charset="0"/>
                <a:ea typeface="Cambria" pitchFamily="34" charset="-122"/>
                <a:cs typeface="Cambria" pitchFamily="34" charset="-120"/>
              </a:rPr>
              <a:t>A generic 500 page is a setting, not a mystery. Turn on the detailed error and the log, and the server will tell you exactly what it could not do.</a:t>
            </a:r>
            <a:endParaRPr lang="en-US" sz="1250" dirty="0"/>
          </a:p>
        </p:txBody>
      </p:sp>
      <p:sp>
        <p:nvSpPr>
          <p:cNvPr id="9" name="Shape 6"/>
          <p:cNvSpPr/>
          <p:nvPr/>
        </p:nvSpPr>
        <p:spPr>
          <a:xfrm>
            <a:off x="0" y="6400800"/>
            <a:ext cx="3840480" cy="457200"/>
          </a:xfrm>
          <a:prstGeom prst="rect">
            <a:avLst/>
          </a:prstGeom>
          <a:solidFill>
            <a:srgbClr val="22226B"/>
          </a:solidFill>
          <a:ln w="12700">
            <a:solidFill>
              <a:srgbClr val="22226B"/>
            </a:solidFill>
            <a:prstDash val="solid"/>
          </a:ln>
        </p:spPr>
      </p:sp>
      <p:sp>
        <p:nvSpPr>
          <p:cNvPr id="10" name="Text 7"/>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11" name="Shape 8"/>
          <p:cNvSpPr/>
          <p:nvPr/>
        </p:nvSpPr>
        <p:spPr>
          <a:xfrm>
            <a:off x="3840480" y="6400800"/>
            <a:ext cx="6675120" cy="457200"/>
          </a:xfrm>
          <a:prstGeom prst="rect">
            <a:avLst/>
          </a:prstGeom>
          <a:solidFill>
            <a:srgbClr val="3333B3"/>
          </a:solidFill>
          <a:ln w="12700">
            <a:solidFill>
              <a:srgbClr val="3333B3"/>
            </a:solidFill>
            <a:prstDash val="solid"/>
          </a:ln>
        </p:spPr>
      </p:sp>
      <p:sp>
        <p:nvSpPr>
          <p:cNvPr id="12" name="Text 9"/>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4 — Deployment &amp; Troubleshooting</a:t>
            </a:r>
            <a:endParaRPr lang="en-US" sz="950" dirty="0"/>
          </a:p>
        </p:txBody>
      </p:sp>
      <p:sp>
        <p:nvSpPr>
          <p:cNvPr id="13" name="Shape 10"/>
          <p:cNvSpPr/>
          <p:nvPr/>
        </p:nvSpPr>
        <p:spPr>
          <a:xfrm>
            <a:off x="10515600" y="6400800"/>
            <a:ext cx="1676095" cy="457200"/>
          </a:xfrm>
          <a:prstGeom prst="rect">
            <a:avLst/>
          </a:prstGeom>
          <a:solidFill>
            <a:srgbClr val="22226B"/>
          </a:solidFill>
          <a:ln w="12700">
            <a:solidFill>
              <a:srgbClr val="22226B"/>
            </a:solidFill>
            <a:prstDash val="solid"/>
          </a:ln>
        </p:spPr>
      </p:sp>
      <p:sp>
        <p:nvSpPr>
          <p:cNvPr id="14" name="Text 11"/>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GETTING THE TRUTH OUT OF THE SERVER</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Four places to look, in this order</a:t>
            </a:r>
            <a:endParaRPr lang="en-US" sz="2600" dirty="0"/>
          </a:p>
        </p:txBody>
      </p:sp>
      <p:sp>
        <p:nvSpPr>
          <p:cNvPr id="6" name="Shape 4"/>
          <p:cNvSpPr/>
          <p:nvPr/>
        </p:nvSpPr>
        <p:spPr>
          <a:xfrm>
            <a:off x="594360" y="1664208"/>
            <a:ext cx="6035040" cy="960120"/>
          </a:xfrm>
          <a:prstGeom prst="rect">
            <a:avLst/>
          </a:prstGeom>
          <a:solidFill>
            <a:srgbClr val="EDEDF7"/>
          </a:solidFill>
          <a:ln w="9525">
            <a:solidFill>
              <a:srgbClr val="C9C9EA"/>
            </a:solidFill>
            <a:prstDash val="solid"/>
          </a:ln>
        </p:spPr>
      </p:sp>
      <p:sp>
        <p:nvSpPr>
          <p:cNvPr id="7" name="Shape 5"/>
          <p:cNvSpPr/>
          <p:nvPr/>
        </p:nvSpPr>
        <p:spPr>
          <a:xfrm>
            <a:off x="594360" y="1664208"/>
            <a:ext cx="50292" cy="960120"/>
          </a:xfrm>
          <a:prstGeom prst="rect">
            <a:avLst/>
          </a:prstGeom>
          <a:solidFill>
            <a:srgbClr val="3333B3"/>
          </a:solidFill>
          <a:ln w="12700">
            <a:solidFill>
              <a:srgbClr val="3333B3"/>
            </a:solidFill>
            <a:prstDash val="solid"/>
          </a:ln>
        </p:spPr>
      </p:sp>
      <p:sp>
        <p:nvSpPr>
          <p:cNvPr id="8" name="Shape 6"/>
          <p:cNvSpPr/>
          <p:nvPr/>
        </p:nvSpPr>
        <p:spPr>
          <a:xfrm>
            <a:off x="795528" y="1961388"/>
            <a:ext cx="365760" cy="365760"/>
          </a:xfrm>
          <a:prstGeom prst="ellipse">
            <a:avLst/>
          </a:prstGeom>
          <a:solidFill>
            <a:srgbClr val="3333B3"/>
          </a:solidFill>
          <a:ln w="12700">
            <a:solidFill>
              <a:srgbClr val="3333B3"/>
            </a:solidFill>
            <a:prstDash val="solid"/>
          </a:ln>
        </p:spPr>
      </p:sp>
      <p:sp>
        <p:nvSpPr>
          <p:cNvPr id="9" name="Text 7"/>
          <p:cNvSpPr txBox="1"/>
          <p:nvPr/>
        </p:nvSpPr>
        <p:spPr>
          <a:xfrm>
            <a:off x="795528" y="19613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1325880" y="1664208"/>
            <a:ext cx="5084064" cy="96012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The browser console and network tab</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Status code, response body, and whether the request left the browser at all</a:t>
            </a:r>
            <a:endParaRPr lang="en-US" sz="1350" dirty="0"/>
          </a:p>
        </p:txBody>
      </p:sp>
      <p:sp>
        <p:nvSpPr>
          <p:cNvPr id="11" name="Shape 9"/>
          <p:cNvSpPr/>
          <p:nvPr/>
        </p:nvSpPr>
        <p:spPr>
          <a:xfrm>
            <a:off x="594360" y="2761488"/>
            <a:ext cx="6035040" cy="960120"/>
          </a:xfrm>
          <a:prstGeom prst="rect">
            <a:avLst/>
          </a:prstGeom>
          <a:solidFill>
            <a:srgbClr val="EDEDF7"/>
          </a:solidFill>
          <a:ln w="9525">
            <a:solidFill>
              <a:srgbClr val="C9C9EA"/>
            </a:solidFill>
            <a:prstDash val="solid"/>
          </a:ln>
        </p:spPr>
      </p:sp>
      <p:sp>
        <p:nvSpPr>
          <p:cNvPr id="12" name="Shape 10"/>
          <p:cNvSpPr/>
          <p:nvPr/>
        </p:nvSpPr>
        <p:spPr>
          <a:xfrm>
            <a:off x="594360" y="2761488"/>
            <a:ext cx="50292" cy="960120"/>
          </a:xfrm>
          <a:prstGeom prst="rect">
            <a:avLst/>
          </a:prstGeom>
          <a:solidFill>
            <a:srgbClr val="3333B3"/>
          </a:solidFill>
          <a:ln w="12700">
            <a:solidFill>
              <a:srgbClr val="3333B3"/>
            </a:solidFill>
            <a:prstDash val="solid"/>
          </a:ln>
        </p:spPr>
      </p:sp>
      <p:sp>
        <p:nvSpPr>
          <p:cNvPr id="13" name="Shape 11"/>
          <p:cNvSpPr/>
          <p:nvPr/>
        </p:nvSpPr>
        <p:spPr>
          <a:xfrm>
            <a:off x="795528" y="3058668"/>
            <a:ext cx="365760" cy="365760"/>
          </a:xfrm>
          <a:prstGeom prst="ellipse">
            <a:avLst/>
          </a:prstGeom>
          <a:solidFill>
            <a:srgbClr val="3333B3"/>
          </a:solidFill>
          <a:ln w="12700">
            <a:solidFill>
              <a:srgbClr val="3333B3"/>
            </a:solidFill>
            <a:prstDash val="solid"/>
          </a:ln>
        </p:spPr>
      </p:sp>
      <p:sp>
        <p:nvSpPr>
          <p:cNvPr id="14" name="Text 12"/>
          <p:cNvSpPr txBox="1"/>
          <p:nvPr/>
        </p:nvSpPr>
        <p:spPr>
          <a:xfrm>
            <a:off x="795528" y="30586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325880" y="2761488"/>
            <a:ext cx="5084064" cy="96012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stdout log from the ASP.NET Core Module</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Set stdoutLogEnabled to true in web.config, reproduce, then turn it off again</a:t>
            </a:r>
            <a:endParaRPr lang="en-US" sz="1350" dirty="0"/>
          </a:p>
        </p:txBody>
      </p:sp>
      <p:sp>
        <p:nvSpPr>
          <p:cNvPr id="16" name="Shape 14"/>
          <p:cNvSpPr/>
          <p:nvPr/>
        </p:nvSpPr>
        <p:spPr>
          <a:xfrm>
            <a:off x="594360" y="3858768"/>
            <a:ext cx="6035040" cy="960120"/>
          </a:xfrm>
          <a:prstGeom prst="rect">
            <a:avLst/>
          </a:prstGeom>
          <a:solidFill>
            <a:srgbClr val="EDEDF7"/>
          </a:solidFill>
          <a:ln w="9525">
            <a:solidFill>
              <a:srgbClr val="C9C9EA"/>
            </a:solidFill>
            <a:prstDash val="solid"/>
          </a:ln>
        </p:spPr>
      </p:sp>
      <p:sp>
        <p:nvSpPr>
          <p:cNvPr id="17" name="Shape 15"/>
          <p:cNvSpPr/>
          <p:nvPr/>
        </p:nvSpPr>
        <p:spPr>
          <a:xfrm>
            <a:off x="594360" y="3858768"/>
            <a:ext cx="50292" cy="960120"/>
          </a:xfrm>
          <a:prstGeom prst="rect">
            <a:avLst/>
          </a:prstGeom>
          <a:solidFill>
            <a:srgbClr val="3333B3"/>
          </a:solidFill>
          <a:ln w="12700">
            <a:solidFill>
              <a:srgbClr val="3333B3"/>
            </a:solidFill>
            <a:prstDash val="solid"/>
          </a:ln>
        </p:spPr>
      </p:sp>
      <p:sp>
        <p:nvSpPr>
          <p:cNvPr id="18" name="Shape 16"/>
          <p:cNvSpPr/>
          <p:nvPr/>
        </p:nvSpPr>
        <p:spPr>
          <a:xfrm>
            <a:off x="795528" y="4155948"/>
            <a:ext cx="365760" cy="365760"/>
          </a:xfrm>
          <a:prstGeom prst="ellipse">
            <a:avLst/>
          </a:prstGeom>
          <a:solidFill>
            <a:srgbClr val="3333B3"/>
          </a:solidFill>
          <a:ln w="12700">
            <a:solidFill>
              <a:srgbClr val="3333B3"/>
            </a:solidFill>
            <a:prstDash val="solid"/>
          </a:ln>
        </p:spPr>
      </p:sp>
      <p:sp>
        <p:nvSpPr>
          <p:cNvPr id="19" name="Text 17"/>
          <p:cNvSpPr txBox="1"/>
          <p:nvPr/>
        </p:nvSpPr>
        <p:spPr>
          <a:xfrm>
            <a:off x="795528" y="41559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1325880" y="3858768"/>
            <a:ext cx="5084064" cy="96012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Windows Event Viewer</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Application log — startup crashes and unhandled exceptions land here</a:t>
            </a:r>
            <a:endParaRPr lang="en-US" sz="1350" dirty="0"/>
          </a:p>
        </p:txBody>
      </p:sp>
      <p:sp>
        <p:nvSpPr>
          <p:cNvPr id="21" name="Shape 19"/>
          <p:cNvSpPr/>
          <p:nvPr/>
        </p:nvSpPr>
        <p:spPr>
          <a:xfrm>
            <a:off x="594360" y="4956048"/>
            <a:ext cx="6035040" cy="960120"/>
          </a:xfrm>
          <a:prstGeom prst="rect">
            <a:avLst/>
          </a:prstGeom>
          <a:solidFill>
            <a:srgbClr val="EDEDF7"/>
          </a:solidFill>
          <a:ln w="9525">
            <a:solidFill>
              <a:srgbClr val="C9C9EA"/>
            </a:solidFill>
            <a:prstDash val="solid"/>
          </a:ln>
        </p:spPr>
      </p:sp>
      <p:sp>
        <p:nvSpPr>
          <p:cNvPr id="22" name="Shape 20"/>
          <p:cNvSpPr/>
          <p:nvPr/>
        </p:nvSpPr>
        <p:spPr>
          <a:xfrm>
            <a:off x="594360" y="4956048"/>
            <a:ext cx="50292" cy="960120"/>
          </a:xfrm>
          <a:prstGeom prst="rect">
            <a:avLst/>
          </a:prstGeom>
          <a:solidFill>
            <a:srgbClr val="3333B3"/>
          </a:solidFill>
          <a:ln w="12700">
            <a:solidFill>
              <a:srgbClr val="3333B3"/>
            </a:solidFill>
            <a:prstDash val="solid"/>
          </a:ln>
        </p:spPr>
      </p:sp>
      <p:sp>
        <p:nvSpPr>
          <p:cNvPr id="23" name="Shape 21"/>
          <p:cNvSpPr/>
          <p:nvPr/>
        </p:nvSpPr>
        <p:spPr>
          <a:xfrm>
            <a:off x="795528" y="5253228"/>
            <a:ext cx="365760" cy="365760"/>
          </a:xfrm>
          <a:prstGeom prst="ellipse">
            <a:avLst/>
          </a:prstGeom>
          <a:solidFill>
            <a:srgbClr val="3333B3"/>
          </a:solidFill>
          <a:ln w="12700">
            <a:solidFill>
              <a:srgbClr val="3333B3"/>
            </a:solidFill>
            <a:prstDash val="solid"/>
          </a:ln>
        </p:spPr>
      </p:sp>
      <p:sp>
        <p:nvSpPr>
          <p:cNvPr id="24" name="Text 22"/>
          <p:cNvSpPr txBox="1"/>
          <p:nvPr/>
        </p:nvSpPr>
        <p:spPr>
          <a:xfrm>
            <a:off x="795528" y="52532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1325880" y="4956048"/>
            <a:ext cx="5084064" cy="96012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Your own application logs</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Serilog or the built-in logger, writing to a file the operations team can reach</a:t>
            </a:r>
            <a:endParaRPr lang="en-US" sz="1350" dirty="0"/>
          </a:p>
        </p:txBody>
      </p:sp>
      <p:sp>
        <p:nvSpPr>
          <p:cNvPr id="26" name="Shape 24"/>
          <p:cNvSpPr/>
          <p:nvPr/>
        </p:nvSpPr>
        <p:spPr>
          <a:xfrm>
            <a:off x="6903720" y="1664208"/>
            <a:ext cx="4690872" cy="2345436"/>
          </a:xfrm>
          <a:prstGeom prst="rect">
            <a:avLst/>
          </a:prstGeom>
          <a:solidFill>
            <a:srgbClr val="F4F4FA"/>
          </a:solidFill>
          <a:ln w="9525">
            <a:solidFill>
              <a:srgbClr val="C9C9EA"/>
            </a:solidFill>
            <a:prstDash val="solid"/>
          </a:ln>
        </p:spPr>
      </p:sp>
      <p:sp>
        <p:nvSpPr>
          <p:cNvPr id="27" name="Text 25"/>
          <p:cNvSpPr txBox="1"/>
          <p:nvPr/>
        </p:nvSpPr>
        <p:spPr>
          <a:xfrm>
            <a:off x="7123176" y="1819656"/>
            <a:ext cx="4251960"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WEB.CONFIG — STDOUT LOGGING</a:t>
            </a:r>
            <a:endParaRPr lang="en-US" sz="950" dirty="0"/>
          </a:p>
        </p:txBody>
      </p:sp>
      <p:sp>
        <p:nvSpPr>
          <p:cNvPr id="28" name="Text 26"/>
          <p:cNvSpPr txBox="1"/>
          <p:nvPr/>
        </p:nvSpPr>
        <p:spPr>
          <a:xfrm>
            <a:off x="7123176" y="2112264"/>
            <a:ext cx="4251960" cy="1769364"/>
          </a:xfrm>
          <a:prstGeom prst="rect">
            <a:avLst/>
          </a:prstGeom>
          <a:noFill/>
          <a:ln/>
        </p:spPr>
        <p:txBody>
          <a:bodyPr wrap="square" lIns="0" tIns="0" rIns="0" bIns="0" rtlCol="0" anchor="t"/>
          <a:lstStyle/>
          <a:p>
            <a:pPr indent="0" marL="0">
              <a:lnSpc>
                <a:spcPts val="1350"/>
              </a:lnSpc>
              <a:buNone/>
            </a:pPr>
            <a:r>
              <a:rPr lang="en-US" sz="1000" dirty="0">
                <a:solidFill>
                  <a:srgbClr val="1A1A33"/>
                </a:solidFill>
                <a:latin typeface="Courier New" pitchFamily="34" charset="0"/>
                <a:ea typeface="Courier New" pitchFamily="34" charset="-122"/>
                <a:cs typeface="Courier New" pitchFamily="34" charset="-120"/>
              </a:rPr>
              <a:t>&lt;aspNetCore</a:t>
            </a:r>
            <a:endParaRPr lang="en-US" sz="1000" dirty="0"/>
          </a:p>
          <a:p>
            <a:pPr indent="0" marL="0">
              <a:lnSpc>
                <a:spcPts val="1350"/>
              </a:lnSpc>
              <a:buNone/>
            </a:pPr>
            <a:r>
              <a:rPr lang="en-US" sz="1000" dirty="0">
                <a:solidFill>
                  <a:srgbClr val="1A1A33"/>
                </a:solidFill>
                <a:latin typeface="Courier New" pitchFamily="34" charset="0"/>
                <a:ea typeface="Courier New" pitchFamily="34" charset="-122"/>
                <a:cs typeface="Courier New" pitchFamily="34" charset="-120"/>
              </a:rPr>
              <a:t>  processPath="dotnet"</a:t>
            </a:r>
            <a:endParaRPr lang="en-US" sz="1000" dirty="0"/>
          </a:p>
          <a:p>
            <a:pPr indent="0" marL="0">
              <a:lnSpc>
                <a:spcPts val="1350"/>
              </a:lnSpc>
              <a:buNone/>
            </a:pPr>
            <a:r>
              <a:rPr lang="en-US" sz="1000" dirty="0">
                <a:solidFill>
                  <a:srgbClr val="1A1A33"/>
                </a:solidFill>
                <a:latin typeface="Courier New" pitchFamily="34" charset="0"/>
                <a:ea typeface="Courier New" pitchFamily="34" charset="-122"/>
                <a:cs typeface="Courier New" pitchFamily="34" charset="-120"/>
              </a:rPr>
              <a:t>  arguments=".\HalSpares.dll"</a:t>
            </a:r>
            <a:endParaRPr lang="en-US" sz="1000" dirty="0"/>
          </a:p>
          <a:p>
            <a:pPr indent="0" marL="0">
              <a:lnSpc>
                <a:spcPts val="1350"/>
              </a:lnSpc>
              <a:buNone/>
            </a:pPr>
            <a:r>
              <a:rPr lang="en-US" sz="1000" dirty="0">
                <a:solidFill>
                  <a:srgbClr val="1A1A33"/>
                </a:solidFill>
                <a:latin typeface="Courier New" pitchFamily="34" charset="0"/>
                <a:ea typeface="Courier New" pitchFamily="34" charset="-122"/>
                <a:cs typeface="Courier New" pitchFamily="34" charset="-120"/>
              </a:rPr>
              <a:t>  stdoutLogEnabled="true"</a:t>
            </a:r>
            <a:endParaRPr lang="en-US" sz="1000" dirty="0"/>
          </a:p>
          <a:p>
            <a:pPr indent="0" marL="0">
              <a:lnSpc>
                <a:spcPts val="1350"/>
              </a:lnSpc>
              <a:buNone/>
            </a:pPr>
            <a:r>
              <a:rPr lang="en-US" sz="1000" dirty="0">
                <a:solidFill>
                  <a:srgbClr val="1A1A33"/>
                </a:solidFill>
                <a:latin typeface="Courier New" pitchFamily="34" charset="0"/>
                <a:ea typeface="Courier New" pitchFamily="34" charset="-122"/>
                <a:cs typeface="Courier New" pitchFamily="34" charset="-120"/>
              </a:rPr>
              <a:t>  stdoutLogFile=".\logs\stdout"</a:t>
            </a:r>
            <a:endParaRPr lang="en-US" sz="1000" dirty="0"/>
          </a:p>
          <a:p>
            <a:pPr indent="0" marL="0">
              <a:lnSpc>
                <a:spcPts val="1350"/>
              </a:lnSpc>
              <a:buNone/>
            </a:pPr>
            <a:r>
              <a:rPr lang="en-US" sz="1000" dirty="0">
                <a:solidFill>
                  <a:srgbClr val="1A1A33"/>
                </a:solidFill>
                <a:latin typeface="Courier New" pitchFamily="34" charset="0"/>
                <a:ea typeface="Courier New" pitchFamily="34" charset="-122"/>
                <a:cs typeface="Courier New" pitchFamily="34" charset="-120"/>
              </a:rPr>
              <a:t>  hostingModel="inprocess" /&gt;</a:t>
            </a:r>
            <a:endParaRPr lang="en-US" sz="1000" dirty="0"/>
          </a:p>
          <a:p>
            <a:pPr indent="0" marL="0">
              <a:lnSpc>
                <a:spcPts val="1350"/>
              </a:lnSpc>
              <a:buNone/>
            </a:pPr>
            <a:r>
              <a:rPr lang="en-US" sz="1000" dirty="0">
                <a:solidFill>
                  <a:srgbClr val="1A1A33"/>
                </a:solidFill>
                <a:latin typeface="Courier New" pitchFamily="34" charset="0"/>
                <a:ea typeface="Courier New" pitchFamily="34" charset="-122"/>
                <a:cs typeface="Courier New" pitchFamily="34" charset="-120"/>
              </a:rPr>
              <a:t> </a:t>
            </a:r>
            <a:endParaRPr lang="en-US" sz="1000" dirty="0"/>
          </a:p>
          <a:p>
            <a:pPr indent="0" marL="0">
              <a:lnSpc>
                <a:spcPts val="1350"/>
              </a:lnSpc>
              <a:buNone/>
            </a:pPr>
            <a:r>
              <a:rPr lang="en-US" sz="1000" dirty="0">
                <a:solidFill>
                  <a:srgbClr val="1A1A33"/>
                </a:solidFill>
                <a:latin typeface="Courier New" pitchFamily="34" charset="0"/>
                <a:ea typeface="Courier New" pitchFamily="34" charset="-122"/>
                <a:cs typeface="Courier New" pitchFamily="34" charset="-120"/>
              </a:rPr>
              <a:t>&lt;!-- create the logs folder first --&gt;</a:t>
            </a:r>
            <a:endParaRPr lang="en-US" sz="1000" dirty="0"/>
          </a:p>
          <a:p>
            <a:pPr indent="0" marL="0">
              <a:lnSpc>
                <a:spcPts val="1350"/>
              </a:lnSpc>
              <a:buNone/>
            </a:pPr>
            <a:r>
              <a:rPr lang="en-US" sz="1000" dirty="0">
                <a:solidFill>
                  <a:srgbClr val="1A1A33"/>
                </a:solidFill>
                <a:latin typeface="Courier New" pitchFamily="34" charset="0"/>
                <a:ea typeface="Courier New" pitchFamily="34" charset="-122"/>
                <a:cs typeface="Courier New" pitchFamily="34" charset="-120"/>
              </a:rPr>
              <a:t>&lt;!-- turn this off afterwards --&gt;</a:t>
            </a:r>
            <a:endParaRPr lang="en-US" sz="1000" dirty="0"/>
          </a:p>
        </p:txBody>
      </p:sp>
      <p:sp>
        <p:nvSpPr>
          <p:cNvPr id="29" name="Shape 27"/>
          <p:cNvSpPr/>
          <p:nvPr/>
        </p:nvSpPr>
        <p:spPr>
          <a:xfrm>
            <a:off x="6903720" y="4114800"/>
            <a:ext cx="4690872" cy="402336"/>
          </a:xfrm>
          <a:prstGeom prst="rect">
            <a:avLst/>
          </a:prstGeom>
          <a:solidFill>
            <a:srgbClr val="3333B3"/>
          </a:solidFill>
          <a:ln w="12700">
            <a:solidFill>
              <a:srgbClr val="3333B3"/>
            </a:solidFill>
            <a:prstDash val="solid"/>
          </a:ln>
        </p:spPr>
      </p:sp>
      <p:sp>
        <p:nvSpPr>
          <p:cNvPr id="30" name="Text 28"/>
          <p:cNvSpPr txBox="1"/>
          <p:nvPr/>
        </p:nvSpPr>
        <p:spPr>
          <a:xfrm>
            <a:off x="7086600" y="4114800"/>
            <a:ext cx="432511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Method beats guessing</a:t>
            </a:r>
            <a:endParaRPr lang="en-US" sz="1500" dirty="0"/>
          </a:p>
        </p:txBody>
      </p:sp>
      <p:sp>
        <p:nvSpPr>
          <p:cNvPr id="31" name="Shape 29"/>
          <p:cNvSpPr/>
          <p:nvPr/>
        </p:nvSpPr>
        <p:spPr>
          <a:xfrm>
            <a:off x="6903720" y="4517136"/>
            <a:ext cx="4690872" cy="1426464"/>
          </a:xfrm>
          <a:prstGeom prst="rect">
            <a:avLst/>
          </a:prstGeom>
          <a:solidFill>
            <a:srgbClr val="F4F4FA"/>
          </a:solidFill>
          <a:ln w="9525">
            <a:solidFill>
              <a:srgbClr val="C9C9EA"/>
            </a:solidFill>
            <a:prstDash val="solid"/>
          </a:ln>
        </p:spPr>
      </p:sp>
      <p:sp>
        <p:nvSpPr>
          <p:cNvPr id="32" name="Text 30"/>
          <p:cNvSpPr txBox="1"/>
          <p:nvPr/>
        </p:nvSpPr>
        <p:spPr>
          <a:xfrm>
            <a:off x="7123176" y="4663440"/>
            <a:ext cx="4251960" cy="1152144"/>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3E3E5A"/>
                </a:solidFill>
                <a:latin typeface="Cambria" pitchFamily="34" charset="0"/>
                <a:ea typeface="Cambria" pitchFamily="34" charset="-122"/>
                <a:cs typeface="Cambria" pitchFamily="34" charset="-120"/>
              </a:rPr>
              <a:t>Change one thing at a time</a:t>
            </a:r>
            <a:endParaRPr lang="en-US" sz="1150" dirty="0"/>
          </a:p>
          <a:p>
            <a:pPr marL="177800" indent="-177800">
              <a:spcAft>
                <a:spcPts val="700"/>
              </a:spcAft>
              <a:buSzPct val="100000"/>
              <a:buChar char="▸"/>
            </a:pPr>
            <a:r>
              <a:rPr lang="en-US" sz="1150" dirty="0">
                <a:solidFill>
                  <a:srgbClr val="3E3E5A"/>
                </a:solidFill>
                <a:latin typeface="Cambria" pitchFamily="34" charset="0"/>
                <a:ea typeface="Cambria" pitchFamily="34" charset="-122"/>
                <a:cs typeface="Cambria" pitchFamily="34" charset="-120"/>
              </a:rPr>
              <a:t>Write down what you changed</a:t>
            </a:r>
            <a:endParaRPr lang="en-US" sz="1150" dirty="0"/>
          </a:p>
          <a:p>
            <a:pPr marL="177800" indent="-177800">
              <a:spcAft>
                <a:spcPts val="700"/>
              </a:spcAft>
              <a:buSzPct val="100000"/>
              <a:buChar char="▸"/>
            </a:pPr>
            <a:r>
              <a:rPr lang="en-US" sz="1150" dirty="0">
                <a:solidFill>
                  <a:srgbClr val="3E3E5A"/>
                </a:solidFill>
                <a:latin typeface="Cambria" pitchFamily="34" charset="0"/>
                <a:ea typeface="Cambria" pitchFamily="34" charset="-122"/>
                <a:cs typeface="Cambria" pitchFamily="34" charset="-120"/>
              </a:rPr>
              <a:t>Reproduce before and after — twice</a:t>
            </a:r>
            <a:endParaRPr lang="en-US" sz="1150" dirty="0"/>
          </a:p>
          <a:p>
            <a:pPr marL="177800" indent="-177800">
              <a:spcAft>
                <a:spcPts val="700"/>
              </a:spcAft>
              <a:buSzPct val="100000"/>
              <a:buChar char="▸"/>
            </a:pPr>
            <a:r>
              <a:rPr lang="en-US" sz="1150" dirty="0">
                <a:solidFill>
                  <a:srgbClr val="3E3E5A"/>
                </a:solidFill>
                <a:latin typeface="Cambria" pitchFamily="34" charset="0"/>
                <a:ea typeface="Cambria" pitchFamily="34" charset="-122"/>
                <a:cs typeface="Cambria" pitchFamily="34" charset="-120"/>
              </a:rPr>
              <a:t>If a fix works and you do not know why, you have not finished</a:t>
            </a:r>
            <a:endParaRPr lang="en-US" sz="1150" dirty="0"/>
          </a:p>
        </p:txBody>
      </p:sp>
      <p:sp>
        <p:nvSpPr>
          <p:cNvPr id="33" name="Shape 31"/>
          <p:cNvSpPr/>
          <p:nvPr/>
        </p:nvSpPr>
        <p:spPr>
          <a:xfrm>
            <a:off x="0" y="6400800"/>
            <a:ext cx="3840480" cy="457200"/>
          </a:xfrm>
          <a:prstGeom prst="rect">
            <a:avLst/>
          </a:prstGeom>
          <a:solidFill>
            <a:srgbClr val="22226B"/>
          </a:solidFill>
          <a:ln w="12700">
            <a:solidFill>
              <a:srgbClr val="22226B"/>
            </a:solidFill>
            <a:prstDash val="solid"/>
          </a:ln>
        </p:spPr>
      </p:sp>
      <p:sp>
        <p:nvSpPr>
          <p:cNvPr id="34" name="Text 32"/>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5" name="Shape 33"/>
          <p:cNvSpPr/>
          <p:nvPr/>
        </p:nvSpPr>
        <p:spPr>
          <a:xfrm>
            <a:off x="3840480" y="6400800"/>
            <a:ext cx="6675120" cy="457200"/>
          </a:xfrm>
          <a:prstGeom prst="rect">
            <a:avLst/>
          </a:prstGeom>
          <a:solidFill>
            <a:srgbClr val="3333B3"/>
          </a:solidFill>
          <a:ln w="12700">
            <a:solidFill>
              <a:srgbClr val="3333B3"/>
            </a:solidFill>
            <a:prstDash val="solid"/>
          </a:ln>
        </p:spPr>
      </p:sp>
      <p:sp>
        <p:nvSpPr>
          <p:cNvPr id="36" name="Text 34"/>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4 — Deployment &amp; Troubleshooting</a:t>
            </a:r>
            <a:endParaRPr lang="en-US" sz="950" dirty="0"/>
          </a:p>
        </p:txBody>
      </p:sp>
      <p:sp>
        <p:nvSpPr>
          <p:cNvPr id="37" name="Shape 35"/>
          <p:cNvSpPr/>
          <p:nvPr/>
        </p:nvSpPr>
        <p:spPr>
          <a:xfrm>
            <a:off x="10515600" y="6400800"/>
            <a:ext cx="1676095" cy="457200"/>
          </a:xfrm>
          <a:prstGeom prst="rect">
            <a:avLst/>
          </a:prstGeom>
          <a:solidFill>
            <a:srgbClr val="22226B"/>
          </a:solidFill>
          <a:ln w="12700">
            <a:solidFill>
              <a:srgbClr val="22226B"/>
            </a:solidFill>
            <a:prstDash val="solid"/>
          </a:ln>
        </p:spPr>
      </p:sp>
      <p:sp>
        <p:nvSpPr>
          <p:cNvPr id="38" name="Text 36"/>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LOGGING THAT IS WORTH HAVING</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Written for the person diagnosing at 2 am</a:t>
            </a:r>
            <a:endParaRPr lang="en-US" sz="2600" dirty="0"/>
          </a:p>
        </p:txBody>
      </p:sp>
      <p:sp>
        <p:nvSpPr>
          <p:cNvPr id="6" name="Shape 4"/>
          <p:cNvSpPr/>
          <p:nvPr/>
        </p:nvSpPr>
        <p:spPr>
          <a:xfrm>
            <a:off x="594360" y="1627632"/>
            <a:ext cx="5806440" cy="2345436"/>
          </a:xfrm>
          <a:prstGeom prst="rect">
            <a:avLst/>
          </a:prstGeom>
          <a:solidFill>
            <a:srgbClr val="F4F4FA"/>
          </a:solidFill>
          <a:ln w="9525">
            <a:solidFill>
              <a:srgbClr val="C9C9EA"/>
            </a:solidFill>
            <a:prstDash val="solid"/>
          </a:ln>
        </p:spPr>
      </p:sp>
      <p:sp>
        <p:nvSpPr>
          <p:cNvPr id="7" name="Text 5"/>
          <p:cNvSpPr txBox="1"/>
          <p:nvPr/>
        </p:nvSpPr>
        <p:spPr>
          <a:xfrm>
            <a:off x="813816" y="1783080"/>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LEVELS, AND WHEN TO USE THEM</a:t>
            </a:r>
            <a:endParaRPr lang="en-US" sz="950" dirty="0"/>
          </a:p>
        </p:txBody>
      </p:sp>
      <p:sp>
        <p:nvSpPr>
          <p:cNvPr id="8" name="Text 6"/>
          <p:cNvSpPr txBox="1"/>
          <p:nvPr/>
        </p:nvSpPr>
        <p:spPr>
          <a:xfrm>
            <a:off x="813816" y="2075688"/>
            <a:ext cx="5367528" cy="1769364"/>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Trace / Debug   development only</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Information     something notable happened</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Warning         unexpected, but handled</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Error           the operation failed</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Critical        the application is in trouble</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_log.LogInformation(</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"Issued {Qty} of {PartNo} to {WorkOrder}",</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qty, partNo, workOrderId);</a:t>
            </a:r>
            <a:endParaRPr lang="en-US" sz="1050" dirty="0"/>
          </a:p>
        </p:txBody>
      </p:sp>
      <p:sp>
        <p:nvSpPr>
          <p:cNvPr id="9" name="Shape 7"/>
          <p:cNvSpPr/>
          <p:nvPr/>
        </p:nvSpPr>
        <p:spPr>
          <a:xfrm>
            <a:off x="594360" y="3913632"/>
            <a:ext cx="5806440" cy="402336"/>
          </a:xfrm>
          <a:prstGeom prst="rect">
            <a:avLst/>
          </a:prstGeom>
          <a:solidFill>
            <a:srgbClr val="3333B3"/>
          </a:solidFill>
          <a:ln w="12700">
            <a:solidFill>
              <a:srgbClr val="3333B3"/>
            </a:solidFill>
            <a:prstDash val="solid"/>
          </a:ln>
        </p:spPr>
      </p:sp>
      <p:sp>
        <p:nvSpPr>
          <p:cNvPr id="10" name="Text 8"/>
          <p:cNvSpPr txBox="1"/>
          <p:nvPr/>
        </p:nvSpPr>
        <p:spPr>
          <a:xfrm>
            <a:off x="777240" y="3913632"/>
            <a:ext cx="5440680"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Structured, not concatenated</a:t>
            </a:r>
            <a:endParaRPr lang="en-US" sz="1500" dirty="0"/>
          </a:p>
        </p:txBody>
      </p:sp>
      <p:sp>
        <p:nvSpPr>
          <p:cNvPr id="11" name="Shape 9"/>
          <p:cNvSpPr/>
          <p:nvPr/>
        </p:nvSpPr>
        <p:spPr>
          <a:xfrm>
            <a:off x="594360" y="4315968"/>
            <a:ext cx="5806440" cy="1627632"/>
          </a:xfrm>
          <a:prstGeom prst="rect">
            <a:avLst/>
          </a:prstGeom>
          <a:solidFill>
            <a:srgbClr val="F4F4FA"/>
          </a:solidFill>
          <a:ln w="9525">
            <a:solidFill>
              <a:srgbClr val="C9C9EA"/>
            </a:solidFill>
            <a:prstDash val="solid"/>
          </a:ln>
        </p:spPr>
      </p:sp>
      <p:sp>
        <p:nvSpPr>
          <p:cNvPr id="12" name="Text 10"/>
          <p:cNvSpPr txBox="1"/>
          <p:nvPr/>
        </p:nvSpPr>
        <p:spPr>
          <a:xfrm>
            <a:off x="813816" y="4462272"/>
            <a:ext cx="5367528" cy="1353312"/>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The placeholders keep the values as data, so the log can later be searched by part number rather than by scanning text. It costs nothing extra to write it this way.</a:t>
            </a:r>
            <a:endParaRPr lang="en-US" sz="1200" dirty="0"/>
          </a:p>
        </p:txBody>
      </p:sp>
      <p:sp>
        <p:nvSpPr>
          <p:cNvPr id="13" name="Shape 11"/>
          <p:cNvSpPr/>
          <p:nvPr/>
        </p:nvSpPr>
        <p:spPr>
          <a:xfrm>
            <a:off x="6629400" y="1627632"/>
            <a:ext cx="4965192" cy="1024128"/>
          </a:xfrm>
          <a:prstGeom prst="rect">
            <a:avLst/>
          </a:prstGeom>
          <a:solidFill>
            <a:srgbClr val="EDEDF7"/>
          </a:solidFill>
          <a:ln w="9525">
            <a:solidFill>
              <a:srgbClr val="C9C9EA"/>
            </a:solidFill>
            <a:prstDash val="solid"/>
          </a:ln>
        </p:spPr>
      </p:sp>
      <p:sp>
        <p:nvSpPr>
          <p:cNvPr id="14" name="Shape 12"/>
          <p:cNvSpPr/>
          <p:nvPr/>
        </p:nvSpPr>
        <p:spPr>
          <a:xfrm>
            <a:off x="6629400" y="1627632"/>
            <a:ext cx="50292" cy="1024128"/>
          </a:xfrm>
          <a:prstGeom prst="rect">
            <a:avLst/>
          </a:prstGeom>
          <a:solidFill>
            <a:srgbClr val="3333B3"/>
          </a:solidFill>
          <a:ln w="12700">
            <a:solidFill>
              <a:srgbClr val="3333B3"/>
            </a:solidFill>
            <a:prstDash val="solid"/>
          </a:ln>
        </p:spPr>
      </p:sp>
      <p:sp>
        <p:nvSpPr>
          <p:cNvPr id="15" name="Shape 13"/>
          <p:cNvSpPr/>
          <p:nvPr/>
        </p:nvSpPr>
        <p:spPr>
          <a:xfrm>
            <a:off x="6830568" y="1956816"/>
            <a:ext cx="365760" cy="365760"/>
          </a:xfrm>
          <a:prstGeom prst="ellipse">
            <a:avLst/>
          </a:prstGeom>
          <a:solidFill>
            <a:srgbClr val="3333B3"/>
          </a:solidFill>
          <a:ln w="12700">
            <a:solidFill>
              <a:srgbClr val="3333B3"/>
            </a:solidFill>
            <a:prstDash val="solid"/>
          </a:ln>
        </p:spPr>
      </p:sp>
      <p:sp>
        <p:nvSpPr>
          <p:cNvPr id="16" name="Text 14"/>
          <p:cNvSpPr txBox="1"/>
          <p:nvPr/>
        </p:nvSpPr>
        <p:spPr>
          <a:xfrm>
            <a:off x="6830568" y="1956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7" name="Text 15"/>
          <p:cNvSpPr txBox="1"/>
          <p:nvPr/>
        </p:nvSpPr>
        <p:spPr>
          <a:xfrm>
            <a:off x="7360920" y="1627632"/>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Log the boundaries</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Requests in, calls out, and anything that failed. Not every line of the method.</a:t>
            </a:r>
            <a:endParaRPr lang="en-US" sz="1350" dirty="0"/>
          </a:p>
        </p:txBody>
      </p:sp>
      <p:sp>
        <p:nvSpPr>
          <p:cNvPr id="18" name="Shape 16"/>
          <p:cNvSpPr/>
          <p:nvPr/>
        </p:nvSpPr>
        <p:spPr>
          <a:xfrm>
            <a:off x="6629400" y="2779776"/>
            <a:ext cx="4965192" cy="1024128"/>
          </a:xfrm>
          <a:prstGeom prst="rect">
            <a:avLst/>
          </a:prstGeom>
          <a:solidFill>
            <a:srgbClr val="EDEDF7"/>
          </a:solidFill>
          <a:ln w="9525">
            <a:solidFill>
              <a:srgbClr val="C9C9EA"/>
            </a:solidFill>
            <a:prstDash val="solid"/>
          </a:ln>
        </p:spPr>
      </p:sp>
      <p:sp>
        <p:nvSpPr>
          <p:cNvPr id="19" name="Shape 17"/>
          <p:cNvSpPr/>
          <p:nvPr/>
        </p:nvSpPr>
        <p:spPr>
          <a:xfrm>
            <a:off x="6629400" y="2779776"/>
            <a:ext cx="50292" cy="1024128"/>
          </a:xfrm>
          <a:prstGeom prst="rect">
            <a:avLst/>
          </a:prstGeom>
          <a:solidFill>
            <a:srgbClr val="3333B3"/>
          </a:solidFill>
          <a:ln w="12700">
            <a:solidFill>
              <a:srgbClr val="3333B3"/>
            </a:solidFill>
            <a:prstDash val="solid"/>
          </a:ln>
        </p:spPr>
      </p:sp>
      <p:sp>
        <p:nvSpPr>
          <p:cNvPr id="20" name="Shape 18"/>
          <p:cNvSpPr/>
          <p:nvPr/>
        </p:nvSpPr>
        <p:spPr>
          <a:xfrm>
            <a:off x="6830568" y="3108960"/>
            <a:ext cx="365760" cy="365760"/>
          </a:xfrm>
          <a:prstGeom prst="ellipse">
            <a:avLst/>
          </a:prstGeom>
          <a:solidFill>
            <a:srgbClr val="3333B3"/>
          </a:solidFill>
          <a:ln w="12700">
            <a:solidFill>
              <a:srgbClr val="3333B3"/>
            </a:solidFill>
            <a:prstDash val="solid"/>
          </a:ln>
        </p:spPr>
      </p:sp>
      <p:sp>
        <p:nvSpPr>
          <p:cNvPr id="21" name="Text 19"/>
          <p:cNvSpPr txBox="1"/>
          <p:nvPr/>
        </p:nvSpPr>
        <p:spPr>
          <a:xfrm>
            <a:off x="6830568" y="3108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2" name="Text 20"/>
          <p:cNvSpPr txBox="1"/>
          <p:nvPr/>
        </p:nvSpPr>
        <p:spPr>
          <a:xfrm>
            <a:off x="7360920" y="2779776"/>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Information in production</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Debug in production produces gigabytes nobody reads and hides the one line that mattered.</a:t>
            </a:r>
            <a:endParaRPr lang="en-US" sz="1350" dirty="0"/>
          </a:p>
        </p:txBody>
      </p:sp>
      <p:sp>
        <p:nvSpPr>
          <p:cNvPr id="23" name="Shape 21"/>
          <p:cNvSpPr/>
          <p:nvPr/>
        </p:nvSpPr>
        <p:spPr>
          <a:xfrm>
            <a:off x="6629400" y="3931920"/>
            <a:ext cx="4965192" cy="1024128"/>
          </a:xfrm>
          <a:prstGeom prst="rect">
            <a:avLst/>
          </a:prstGeom>
          <a:solidFill>
            <a:srgbClr val="EDEDF7"/>
          </a:solidFill>
          <a:ln w="9525">
            <a:solidFill>
              <a:srgbClr val="C9C9EA"/>
            </a:solidFill>
            <a:prstDash val="solid"/>
          </a:ln>
        </p:spPr>
      </p:sp>
      <p:sp>
        <p:nvSpPr>
          <p:cNvPr id="24" name="Shape 22"/>
          <p:cNvSpPr/>
          <p:nvPr/>
        </p:nvSpPr>
        <p:spPr>
          <a:xfrm>
            <a:off x="6629400" y="3931920"/>
            <a:ext cx="50292" cy="1024128"/>
          </a:xfrm>
          <a:prstGeom prst="rect">
            <a:avLst/>
          </a:prstGeom>
          <a:solidFill>
            <a:srgbClr val="3333B3"/>
          </a:solidFill>
          <a:ln w="12700">
            <a:solidFill>
              <a:srgbClr val="3333B3"/>
            </a:solidFill>
            <a:prstDash val="solid"/>
          </a:ln>
        </p:spPr>
      </p:sp>
      <p:sp>
        <p:nvSpPr>
          <p:cNvPr id="25" name="Shape 23"/>
          <p:cNvSpPr/>
          <p:nvPr/>
        </p:nvSpPr>
        <p:spPr>
          <a:xfrm>
            <a:off x="6830568" y="4261104"/>
            <a:ext cx="365760" cy="365760"/>
          </a:xfrm>
          <a:prstGeom prst="ellipse">
            <a:avLst/>
          </a:prstGeom>
          <a:solidFill>
            <a:srgbClr val="3333B3"/>
          </a:solidFill>
          <a:ln w="12700">
            <a:solidFill>
              <a:srgbClr val="3333B3"/>
            </a:solidFill>
            <a:prstDash val="solid"/>
          </a:ln>
        </p:spPr>
      </p:sp>
      <p:sp>
        <p:nvSpPr>
          <p:cNvPr id="26" name="Text 24"/>
          <p:cNvSpPr txBox="1"/>
          <p:nvPr/>
        </p:nvSpPr>
        <p:spPr>
          <a:xfrm>
            <a:off x="6830568" y="4261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7" name="Text 25"/>
          <p:cNvSpPr txBox="1"/>
          <p:nvPr/>
        </p:nvSpPr>
        <p:spPr>
          <a:xfrm>
            <a:off x="7360920" y="3931920"/>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Write somewhere reachable</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A file the operations team can open, or a central log system. Not a folder only you can see.</a:t>
            </a:r>
            <a:endParaRPr lang="en-US" sz="1350" dirty="0"/>
          </a:p>
        </p:txBody>
      </p:sp>
      <p:sp>
        <p:nvSpPr>
          <p:cNvPr id="28" name="Shape 26"/>
          <p:cNvSpPr/>
          <p:nvPr/>
        </p:nvSpPr>
        <p:spPr>
          <a:xfrm>
            <a:off x="6629400" y="5084064"/>
            <a:ext cx="4965192" cy="1024128"/>
          </a:xfrm>
          <a:prstGeom prst="rect">
            <a:avLst/>
          </a:prstGeom>
          <a:solidFill>
            <a:srgbClr val="EDEDF7"/>
          </a:solidFill>
          <a:ln w="9525">
            <a:solidFill>
              <a:srgbClr val="C9C9EA"/>
            </a:solidFill>
            <a:prstDash val="solid"/>
          </a:ln>
        </p:spPr>
      </p:sp>
      <p:sp>
        <p:nvSpPr>
          <p:cNvPr id="29" name="Shape 27"/>
          <p:cNvSpPr/>
          <p:nvPr/>
        </p:nvSpPr>
        <p:spPr>
          <a:xfrm>
            <a:off x="6629400" y="5084064"/>
            <a:ext cx="50292" cy="1024128"/>
          </a:xfrm>
          <a:prstGeom prst="rect">
            <a:avLst/>
          </a:prstGeom>
          <a:solidFill>
            <a:srgbClr val="3333B3"/>
          </a:solidFill>
          <a:ln w="12700">
            <a:solidFill>
              <a:srgbClr val="3333B3"/>
            </a:solidFill>
            <a:prstDash val="solid"/>
          </a:ln>
        </p:spPr>
      </p:sp>
      <p:sp>
        <p:nvSpPr>
          <p:cNvPr id="30" name="Shape 28"/>
          <p:cNvSpPr/>
          <p:nvPr/>
        </p:nvSpPr>
        <p:spPr>
          <a:xfrm>
            <a:off x="6830568" y="5413248"/>
            <a:ext cx="365760" cy="365760"/>
          </a:xfrm>
          <a:prstGeom prst="ellipse">
            <a:avLst/>
          </a:prstGeom>
          <a:solidFill>
            <a:srgbClr val="3333B3"/>
          </a:solidFill>
          <a:ln w="12700">
            <a:solidFill>
              <a:srgbClr val="3333B3"/>
            </a:solidFill>
            <a:prstDash val="solid"/>
          </a:ln>
        </p:spPr>
      </p:sp>
      <p:sp>
        <p:nvSpPr>
          <p:cNvPr id="31" name="Text 29"/>
          <p:cNvSpPr txBox="1"/>
          <p:nvPr/>
        </p:nvSpPr>
        <p:spPr>
          <a:xfrm>
            <a:off x="6830568" y="54132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2" name="Text 30"/>
          <p:cNvSpPr txBox="1"/>
          <p:nvPr/>
        </p:nvSpPr>
        <p:spPr>
          <a:xfrm>
            <a:off x="7360920" y="5084064"/>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Never log secrets or personal data</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Identifiers, not payloads. Assume the log will be read by someone who should not see it.</a:t>
            </a:r>
            <a:endParaRPr lang="en-US" sz="1350" dirty="0"/>
          </a:p>
        </p:txBody>
      </p:sp>
      <p:sp>
        <p:nvSpPr>
          <p:cNvPr id="33" name="Shape 31"/>
          <p:cNvSpPr/>
          <p:nvPr/>
        </p:nvSpPr>
        <p:spPr>
          <a:xfrm>
            <a:off x="0" y="6400800"/>
            <a:ext cx="3840480" cy="457200"/>
          </a:xfrm>
          <a:prstGeom prst="rect">
            <a:avLst/>
          </a:prstGeom>
          <a:solidFill>
            <a:srgbClr val="22226B"/>
          </a:solidFill>
          <a:ln w="12700">
            <a:solidFill>
              <a:srgbClr val="22226B"/>
            </a:solidFill>
            <a:prstDash val="solid"/>
          </a:ln>
        </p:spPr>
      </p:sp>
      <p:sp>
        <p:nvSpPr>
          <p:cNvPr id="34" name="Text 32"/>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5" name="Shape 33"/>
          <p:cNvSpPr/>
          <p:nvPr/>
        </p:nvSpPr>
        <p:spPr>
          <a:xfrm>
            <a:off x="3840480" y="6400800"/>
            <a:ext cx="6675120" cy="457200"/>
          </a:xfrm>
          <a:prstGeom prst="rect">
            <a:avLst/>
          </a:prstGeom>
          <a:solidFill>
            <a:srgbClr val="3333B3"/>
          </a:solidFill>
          <a:ln w="12700">
            <a:solidFill>
              <a:srgbClr val="3333B3"/>
            </a:solidFill>
            <a:prstDash val="solid"/>
          </a:ln>
        </p:spPr>
      </p:sp>
      <p:sp>
        <p:nvSpPr>
          <p:cNvPr id="36" name="Text 34"/>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4 — Deployment &amp; Troubleshooting</a:t>
            </a:r>
            <a:endParaRPr lang="en-US" sz="950" dirty="0"/>
          </a:p>
        </p:txBody>
      </p:sp>
      <p:sp>
        <p:nvSpPr>
          <p:cNvPr id="37" name="Shape 35"/>
          <p:cNvSpPr/>
          <p:nvPr/>
        </p:nvSpPr>
        <p:spPr>
          <a:xfrm>
            <a:off x="10515600" y="6400800"/>
            <a:ext cx="1676095" cy="457200"/>
          </a:xfrm>
          <a:prstGeom prst="rect">
            <a:avLst/>
          </a:prstGeom>
          <a:solidFill>
            <a:srgbClr val="22226B"/>
          </a:solidFill>
          <a:ln w="12700">
            <a:solidFill>
              <a:srgbClr val="22226B"/>
            </a:solidFill>
            <a:prstDash val="solid"/>
          </a:ln>
        </p:spPr>
      </p:sp>
      <p:sp>
        <p:nvSpPr>
          <p:cNvPr id="38" name="Text 36"/>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DIAGNOSING METHODICALLY</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same discipline as any fault-finding</a:t>
            </a:r>
            <a:endParaRPr lang="en-US" sz="2600" dirty="0"/>
          </a:p>
        </p:txBody>
      </p:sp>
      <p:sp>
        <p:nvSpPr>
          <p:cNvPr id="6" name="Shape 4"/>
          <p:cNvSpPr/>
          <p:nvPr/>
        </p:nvSpPr>
        <p:spPr>
          <a:xfrm>
            <a:off x="594360" y="1664208"/>
            <a:ext cx="5806440" cy="731520"/>
          </a:xfrm>
          <a:prstGeom prst="rect">
            <a:avLst/>
          </a:prstGeom>
          <a:solidFill>
            <a:srgbClr val="EDEDF7"/>
          </a:solidFill>
          <a:ln w="9525">
            <a:solidFill>
              <a:srgbClr val="C9C9EA"/>
            </a:solidFill>
            <a:prstDash val="solid"/>
          </a:ln>
        </p:spPr>
      </p:sp>
      <p:sp>
        <p:nvSpPr>
          <p:cNvPr id="7" name="Shape 5"/>
          <p:cNvSpPr/>
          <p:nvPr/>
        </p:nvSpPr>
        <p:spPr>
          <a:xfrm>
            <a:off x="594360" y="1664208"/>
            <a:ext cx="50292" cy="731520"/>
          </a:xfrm>
          <a:prstGeom prst="rect">
            <a:avLst/>
          </a:prstGeom>
          <a:solidFill>
            <a:srgbClr val="3333B3"/>
          </a:solidFill>
          <a:ln w="12700">
            <a:solidFill>
              <a:srgbClr val="3333B3"/>
            </a:solidFill>
            <a:prstDash val="solid"/>
          </a:ln>
        </p:spPr>
      </p:sp>
      <p:sp>
        <p:nvSpPr>
          <p:cNvPr id="8" name="Shape 6"/>
          <p:cNvSpPr/>
          <p:nvPr/>
        </p:nvSpPr>
        <p:spPr>
          <a:xfrm>
            <a:off x="795528" y="1847088"/>
            <a:ext cx="365760" cy="365760"/>
          </a:xfrm>
          <a:prstGeom prst="ellipse">
            <a:avLst/>
          </a:prstGeom>
          <a:solidFill>
            <a:srgbClr val="3333B3"/>
          </a:solidFill>
          <a:ln w="12700">
            <a:solidFill>
              <a:srgbClr val="3333B3"/>
            </a:solidFill>
            <a:prstDash val="solid"/>
          </a:ln>
        </p:spPr>
      </p:sp>
      <p:sp>
        <p:nvSpPr>
          <p:cNvPr id="9" name="Text 7"/>
          <p:cNvSpPr txBox="1"/>
          <p:nvPr/>
        </p:nvSpPr>
        <p:spPr>
          <a:xfrm>
            <a:off x="795528" y="18470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1325880" y="1664208"/>
            <a:ext cx="4855464" cy="731520"/>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Describe the fault precisely</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"It does not work" is not a fault report. Which URL, which user, which action, what appeared?</a:t>
            </a:r>
            <a:endParaRPr lang="en-US" sz="1400" dirty="0"/>
          </a:p>
        </p:txBody>
      </p:sp>
      <p:sp>
        <p:nvSpPr>
          <p:cNvPr id="11" name="Shape 9"/>
          <p:cNvSpPr/>
          <p:nvPr/>
        </p:nvSpPr>
        <p:spPr>
          <a:xfrm>
            <a:off x="594360" y="2514600"/>
            <a:ext cx="5806440" cy="731520"/>
          </a:xfrm>
          <a:prstGeom prst="rect">
            <a:avLst/>
          </a:prstGeom>
          <a:solidFill>
            <a:srgbClr val="EDEDF7"/>
          </a:solidFill>
          <a:ln w="9525">
            <a:solidFill>
              <a:srgbClr val="C9C9EA"/>
            </a:solidFill>
            <a:prstDash val="solid"/>
          </a:ln>
        </p:spPr>
      </p:sp>
      <p:sp>
        <p:nvSpPr>
          <p:cNvPr id="12" name="Shape 10"/>
          <p:cNvSpPr/>
          <p:nvPr/>
        </p:nvSpPr>
        <p:spPr>
          <a:xfrm>
            <a:off x="594360" y="2514600"/>
            <a:ext cx="50292" cy="731520"/>
          </a:xfrm>
          <a:prstGeom prst="rect">
            <a:avLst/>
          </a:prstGeom>
          <a:solidFill>
            <a:srgbClr val="3333B3"/>
          </a:solidFill>
          <a:ln w="12700">
            <a:solidFill>
              <a:srgbClr val="3333B3"/>
            </a:solidFill>
            <a:prstDash val="solid"/>
          </a:ln>
        </p:spPr>
      </p:sp>
      <p:sp>
        <p:nvSpPr>
          <p:cNvPr id="13" name="Shape 11"/>
          <p:cNvSpPr/>
          <p:nvPr/>
        </p:nvSpPr>
        <p:spPr>
          <a:xfrm>
            <a:off x="795528" y="2697480"/>
            <a:ext cx="365760" cy="365760"/>
          </a:xfrm>
          <a:prstGeom prst="ellipse">
            <a:avLst/>
          </a:prstGeom>
          <a:solidFill>
            <a:srgbClr val="3333B3"/>
          </a:solidFill>
          <a:ln w="12700">
            <a:solidFill>
              <a:srgbClr val="3333B3"/>
            </a:solidFill>
            <a:prstDash val="solid"/>
          </a:ln>
        </p:spPr>
      </p:sp>
      <p:sp>
        <p:nvSpPr>
          <p:cNvPr id="14" name="Text 12"/>
          <p:cNvSpPr txBox="1"/>
          <p:nvPr/>
        </p:nvSpPr>
        <p:spPr>
          <a:xfrm>
            <a:off x="795528" y="2697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325880" y="2514600"/>
            <a:ext cx="4855464" cy="731520"/>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Establish what still works</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Does the home page load? Does Swagger respond? Bisect the system rather than guessing.</a:t>
            </a:r>
            <a:endParaRPr lang="en-US" sz="1400" dirty="0"/>
          </a:p>
        </p:txBody>
      </p:sp>
      <p:sp>
        <p:nvSpPr>
          <p:cNvPr id="16" name="Shape 14"/>
          <p:cNvSpPr/>
          <p:nvPr/>
        </p:nvSpPr>
        <p:spPr>
          <a:xfrm>
            <a:off x="594360" y="3364992"/>
            <a:ext cx="5806440" cy="731520"/>
          </a:xfrm>
          <a:prstGeom prst="rect">
            <a:avLst/>
          </a:prstGeom>
          <a:solidFill>
            <a:srgbClr val="EDEDF7"/>
          </a:solidFill>
          <a:ln w="9525">
            <a:solidFill>
              <a:srgbClr val="C9C9EA"/>
            </a:solidFill>
            <a:prstDash val="solid"/>
          </a:ln>
        </p:spPr>
      </p:sp>
      <p:sp>
        <p:nvSpPr>
          <p:cNvPr id="17" name="Shape 15"/>
          <p:cNvSpPr/>
          <p:nvPr/>
        </p:nvSpPr>
        <p:spPr>
          <a:xfrm>
            <a:off x="594360" y="3364992"/>
            <a:ext cx="50292" cy="731520"/>
          </a:xfrm>
          <a:prstGeom prst="rect">
            <a:avLst/>
          </a:prstGeom>
          <a:solidFill>
            <a:srgbClr val="3333B3"/>
          </a:solidFill>
          <a:ln w="12700">
            <a:solidFill>
              <a:srgbClr val="3333B3"/>
            </a:solidFill>
            <a:prstDash val="solid"/>
          </a:ln>
        </p:spPr>
      </p:sp>
      <p:sp>
        <p:nvSpPr>
          <p:cNvPr id="18" name="Shape 16"/>
          <p:cNvSpPr/>
          <p:nvPr/>
        </p:nvSpPr>
        <p:spPr>
          <a:xfrm>
            <a:off x="795528" y="3547872"/>
            <a:ext cx="365760" cy="365760"/>
          </a:xfrm>
          <a:prstGeom prst="ellipse">
            <a:avLst/>
          </a:prstGeom>
          <a:solidFill>
            <a:srgbClr val="3333B3"/>
          </a:solidFill>
          <a:ln w="12700">
            <a:solidFill>
              <a:srgbClr val="3333B3"/>
            </a:solidFill>
            <a:prstDash val="solid"/>
          </a:ln>
        </p:spPr>
      </p:sp>
      <p:sp>
        <p:nvSpPr>
          <p:cNvPr id="19" name="Text 17"/>
          <p:cNvSpPr txBox="1"/>
          <p:nvPr/>
        </p:nvSpPr>
        <p:spPr>
          <a:xfrm>
            <a:off x="795528" y="35478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1325880" y="3364992"/>
            <a:ext cx="4855464" cy="731520"/>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Form one hypothesis</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Write it down. "The pool identity cannot read the folder" is testable; "something is wrong with IIS" is not.</a:t>
            </a:r>
            <a:endParaRPr lang="en-US" sz="1400" dirty="0"/>
          </a:p>
        </p:txBody>
      </p:sp>
      <p:sp>
        <p:nvSpPr>
          <p:cNvPr id="21" name="Shape 19"/>
          <p:cNvSpPr/>
          <p:nvPr/>
        </p:nvSpPr>
        <p:spPr>
          <a:xfrm>
            <a:off x="594360" y="4215384"/>
            <a:ext cx="5806440" cy="731520"/>
          </a:xfrm>
          <a:prstGeom prst="rect">
            <a:avLst/>
          </a:prstGeom>
          <a:solidFill>
            <a:srgbClr val="EDEDF7"/>
          </a:solidFill>
          <a:ln w="9525">
            <a:solidFill>
              <a:srgbClr val="C9C9EA"/>
            </a:solidFill>
            <a:prstDash val="solid"/>
          </a:ln>
        </p:spPr>
      </p:sp>
      <p:sp>
        <p:nvSpPr>
          <p:cNvPr id="22" name="Shape 20"/>
          <p:cNvSpPr/>
          <p:nvPr/>
        </p:nvSpPr>
        <p:spPr>
          <a:xfrm>
            <a:off x="594360" y="4215384"/>
            <a:ext cx="50292" cy="731520"/>
          </a:xfrm>
          <a:prstGeom prst="rect">
            <a:avLst/>
          </a:prstGeom>
          <a:solidFill>
            <a:srgbClr val="3333B3"/>
          </a:solidFill>
          <a:ln w="12700">
            <a:solidFill>
              <a:srgbClr val="3333B3"/>
            </a:solidFill>
            <a:prstDash val="solid"/>
          </a:ln>
        </p:spPr>
      </p:sp>
      <p:sp>
        <p:nvSpPr>
          <p:cNvPr id="23" name="Shape 21"/>
          <p:cNvSpPr/>
          <p:nvPr/>
        </p:nvSpPr>
        <p:spPr>
          <a:xfrm>
            <a:off x="795528" y="4398264"/>
            <a:ext cx="365760" cy="365760"/>
          </a:xfrm>
          <a:prstGeom prst="ellipse">
            <a:avLst/>
          </a:prstGeom>
          <a:solidFill>
            <a:srgbClr val="3333B3"/>
          </a:solidFill>
          <a:ln w="12700">
            <a:solidFill>
              <a:srgbClr val="3333B3"/>
            </a:solidFill>
            <a:prstDash val="solid"/>
          </a:ln>
        </p:spPr>
      </p:sp>
      <p:sp>
        <p:nvSpPr>
          <p:cNvPr id="24" name="Text 22"/>
          <p:cNvSpPr txBox="1"/>
          <p:nvPr/>
        </p:nvSpPr>
        <p:spPr>
          <a:xfrm>
            <a:off x="795528" y="43982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1325880" y="4215384"/>
            <a:ext cx="4855464" cy="731520"/>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Change one thing</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Then test again. Three simultaneous changes teach you nothing, even if the fault goes away.</a:t>
            </a:r>
            <a:endParaRPr lang="en-US" sz="1400" dirty="0"/>
          </a:p>
        </p:txBody>
      </p:sp>
      <p:sp>
        <p:nvSpPr>
          <p:cNvPr id="26" name="Shape 24"/>
          <p:cNvSpPr/>
          <p:nvPr/>
        </p:nvSpPr>
        <p:spPr>
          <a:xfrm>
            <a:off x="594360" y="5065776"/>
            <a:ext cx="5806440" cy="731520"/>
          </a:xfrm>
          <a:prstGeom prst="rect">
            <a:avLst/>
          </a:prstGeom>
          <a:solidFill>
            <a:srgbClr val="EDEDF7"/>
          </a:solidFill>
          <a:ln w="9525">
            <a:solidFill>
              <a:srgbClr val="C9C9EA"/>
            </a:solidFill>
            <a:prstDash val="solid"/>
          </a:ln>
        </p:spPr>
      </p:sp>
      <p:sp>
        <p:nvSpPr>
          <p:cNvPr id="27" name="Shape 25"/>
          <p:cNvSpPr/>
          <p:nvPr/>
        </p:nvSpPr>
        <p:spPr>
          <a:xfrm>
            <a:off x="594360" y="5065776"/>
            <a:ext cx="50292" cy="731520"/>
          </a:xfrm>
          <a:prstGeom prst="rect">
            <a:avLst/>
          </a:prstGeom>
          <a:solidFill>
            <a:srgbClr val="3333B3"/>
          </a:solidFill>
          <a:ln w="12700">
            <a:solidFill>
              <a:srgbClr val="3333B3"/>
            </a:solidFill>
            <a:prstDash val="solid"/>
          </a:ln>
        </p:spPr>
      </p:sp>
      <p:sp>
        <p:nvSpPr>
          <p:cNvPr id="28" name="Shape 26"/>
          <p:cNvSpPr/>
          <p:nvPr/>
        </p:nvSpPr>
        <p:spPr>
          <a:xfrm>
            <a:off x="795528" y="5248656"/>
            <a:ext cx="365760" cy="365760"/>
          </a:xfrm>
          <a:prstGeom prst="ellipse">
            <a:avLst/>
          </a:prstGeom>
          <a:solidFill>
            <a:srgbClr val="3333B3"/>
          </a:solidFill>
          <a:ln w="12700">
            <a:solidFill>
              <a:srgbClr val="3333B3"/>
            </a:solidFill>
            <a:prstDash val="solid"/>
          </a:ln>
        </p:spPr>
      </p:sp>
      <p:sp>
        <p:nvSpPr>
          <p:cNvPr id="29" name="Text 27"/>
          <p:cNvSpPr txBox="1"/>
          <p:nvPr/>
        </p:nvSpPr>
        <p:spPr>
          <a:xfrm>
            <a:off x="795528" y="52486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0" name="Text 28"/>
          <p:cNvSpPr txBox="1"/>
          <p:nvPr/>
        </p:nvSpPr>
        <p:spPr>
          <a:xfrm>
            <a:off x="1325880" y="5065776"/>
            <a:ext cx="4855464" cy="731520"/>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Record what fixed it</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Add it to the team troubleshooting list. The next person gets it for free.</a:t>
            </a:r>
            <a:endParaRPr lang="en-US" sz="1400" dirty="0"/>
          </a:p>
        </p:txBody>
      </p:sp>
      <p:sp>
        <p:nvSpPr>
          <p:cNvPr id="31" name="Shape 29"/>
          <p:cNvSpPr/>
          <p:nvPr/>
        </p:nvSpPr>
        <p:spPr>
          <a:xfrm>
            <a:off x="6629400" y="1664208"/>
            <a:ext cx="4965192" cy="402336"/>
          </a:xfrm>
          <a:prstGeom prst="rect">
            <a:avLst/>
          </a:prstGeom>
          <a:solidFill>
            <a:srgbClr val="3333B3"/>
          </a:solidFill>
          <a:ln w="12700">
            <a:solidFill>
              <a:srgbClr val="3333B3"/>
            </a:solidFill>
            <a:prstDash val="solid"/>
          </a:ln>
        </p:spPr>
      </p:sp>
      <p:sp>
        <p:nvSpPr>
          <p:cNvPr id="32" name="Text 30"/>
          <p:cNvSpPr txBox="1"/>
          <p:nvPr/>
        </p:nvSpPr>
        <p:spPr>
          <a:xfrm>
            <a:off x="6812280" y="1664208"/>
            <a:ext cx="459943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When you are truly stuck</a:t>
            </a:r>
            <a:endParaRPr lang="en-US" sz="1500" dirty="0"/>
          </a:p>
        </p:txBody>
      </p:sp>
      <p:sp>
        <p:nvSpPr>
          <p:cNvPr id="33" name="Shape 31"/>
          <p:cNvSpPr/>
          <p:nvPr/>
        </p:nvSpPr>
        <p:spPr>
          <a:xfrm>
            <a:off x="6629400" y="2066544"/>
            <a:ext cx="4965192" cy="1609344"/>
          </a:xfrm>
          <a:prstGeom prst="rect">
            <a:avLst/>
          </a:prstGeom>
          <a:solidFill>
            <a:srgbClr val="F4F4FA"/>
          </a:solidFill>
          <a:ln w="9525">
            <a:solidFill>
              <a:srgbClr val="C9C9EA"/>
            </a:solidFill>
            <a:prstDash val="solid"/>
          </a:ln>
        </p:spPr>
      </p:sp>
      <p:sp>
        <p:nvSpPr>
          <p:cNvPr id="34" name="Text 32"/>
          <p:cNvSpPr txBox="1"/>
          <p:nvPr/>
        </p:nvSpPr>
        <p:spPr>
          <a:xfrm>
            <a:off x="6848856" y="2212848"/>
            <a:ext cx="4526280" cy="1335024"/>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Run the app directly on the server: dotnet YourApp.dll</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That removes IIS from the picture entirely and prints the real error</a:t>
            </a:r>
            <a:endParaRPr lang="en-US" sz="1200" dirty="0"/>
          </a:p>
        </p:txBody>
      </p:sp>
      <p:sp>
        <p:nvSpPr>
          <p:cNvPr id="35" name="Shape 33"/>
          <p:cNvSpPr/>
          <p:nvPr/>
        </p:nvSpPr>
        <p:spPr>
          <a:xfrm>
            <a:off x="6629400" y="3840480"/>
            <a:ext cx="4965192" cy="402336"/>
          </a:xfrm>
          <a:prstGeom prst="rect">
            <a:avLst/>
          </a:prstGeom>
          <a:solidFill>
            <a:srgbClr val="3333B3"/>
          </a:solidFill>
          <a:ln w="12700">
            <a:solidFill>
              <a:srgbClr val="3333B3"/>
            </a:solidFill>
            <a:prstDash val="solid"/>
          </a:ln>
        </p:spPr>
      </p:sp>
      <p:sp>
        <p:nvSpPr>
          <p:cNvPr id="36" name="Text 34"/>
          <p:cNvSpPr txBox="1"/>
          <p:nvPr/>
        </p:nvSpPr>
        <p:spPr>
          <a:xfrm>
            <a:off x="6812280" y="3840480"/>
            <a:ext cx="459943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The rule from Session 1</a:t>
            </a:r>
            <a:endParaRPr lang="en-US" sz="1500" dirty="0"/>
          </a:p>
        </p:txBody>
      </p:sp>
      <p:sp>
        <p:nvSpPr>
          <p:cNvPr id="37" name="Shape 35"/>
          <p:cNvSpPr/>
          <p:nvPr/>
        </p:nvSpPr>
        <p:spPr>
          <a:xfrm>
            <a:off x="6629400" y="4242816"/>
            <a:ext cx="4965192" cy="1554480"/>
          </a:xfrm>
          <a:prstGeom prst="rect">
            <a:avLst/>
          </a:prstGeom>
          <a:solidFill>
            <a:srgbClr val="F4F4FA"/>
          </a:solidFill>
          <a:ln w="9525">
            <a:solidFill>
              <a:srgbClr val="C9C9EA"/>
            </a:solidFill>
            <a:prstDash val="solid"/>
          </a:ln>
        </p:spPr>
      </p:sp>
      <p:sp>
        <p:nvSpPr>
          <p:cNvPr id="38" name="Text 36"/>
          <p:cNvSpPr txBox="1"/>
          <p:nvPr/>
        </p:nvSpPr>
        <p:spPr>
          <a:xfrm>
            <a:off x="6848856" y="4389120"/>
            <a:ext cx="4526280" cy="1280160"/>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If a fix works and you do not know why, you have not finished. The fault will return, and next time it will be during an inspection.</a:t>
            </a:r>
            <a:endParaRPr lang="en-US" sz="1200" dirty="0"/>
          </a:p>
        </p:txBody>
      </p:sp>
      <p:sp>
        <p:nvSpPr>
          <p:cNvPr id="39" name="Shape 37"/>
          <p:cNvSpPr/>
          <p:nvPr/>
        </p:nvSpPr>
        <p:spPr>
          <a:xfrm>
            <a:off x="0" y="6400800"/>
            <a:ext cx="3840480" cy="457200"/>
          </a:xfrm>
          <a:prstGeom prst="rect">
            <a:avLst/>
          </a:prstGeom>
          <a:solidFill>
            <a:srgbClr val="22226B"/>
          </a:solidFill>
          <a:ln w="12700">
            <a:solidFill>
              <a:srgbClr val="22226B"/>
            </a:solidFill>
            <a:prstDash val="solid"/>
          </a:ln>
        </p:spPr>
      </p:sp>
      <p:sp>
        <p:nvSpPr>
          <p:cNvPr id="40" name="Text 38"/>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41" name="Shape 39"/>
          <p:cNvSpPr/>
          <p:nvPr/>
        </p:nvSpPr>
        <p:spPr>
          <a:xfrm>
            <a:off x="3840480" y="6400800"/>
            <a:ext cx="6675120" cy="457200"/>
          </a:xfrm>
          <a:prstGeom prst="rect">
            <a:avLst/>
          </a:prstGeom>
          <a:solidFill>
            <a:srgbClr val="3333B3"/>
          </a:solidFill>
          <a:ln w="12700">
            <a:solidFill>
              <a:srgbClr val="3333B3"/>
            </a:solidFill>
            <a:prstDash val="solid"/>
          </a:ln>
        </p:spPr>
      </p:sp>
      <p:sp>
        <p:nvSpPr>
          <p:cNvPr id="42" name="Text 40"/>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4 — Deployment &amp; Troubleshooting</a:t>
            </a:r>
            <a:endParaRPr lang="en-US" sz="950" dirty="0"/>
          </a:p>
        </p:txBody>
      </p:sp>
      <p:sp>
        <p:nvSpPr>
          <p:cNvPr id="43" name="Shape 41"/>
          <p:cNvSpPr/>
          <p:nvPr/>
        </p:nvSpPr>
        <p:spPr>
          <a:xfrm>
            <a:off x="10515600" y="6400800"/>
            <a:ext cx="1676095" cy="457200"/>
          </a:xfrm>
          <a:prstGeom prst="rect">
            <a:avLst/>
          </a:prstGeom>
          <a:solidFill>
            <a:srgbClr val="22226B"/>
          </a:solidFill>
          <a:ln w="12700">
            <a:solidFill>
              <a:srgbClr val="22226B"/>
            </a:solidFill>
            <a:prstDash val="solid"/>
          </a:ln>
        </p:spPr>
      </p:sp>
      <p:sp>
        <p:nvSpPr>
          <p:cNvPr id="44" name="Text 42"/>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AFTER IT IS LIVE</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Deployment is the beginning, not the end</a:t>
            </a:r>
            <a:endParaRPr lang="en-US" sz="2600" dirty="0"/>
          </a:p>
        </p:txBody>
      </p:sp>
      <p:sp>
        <p:nvSpPr>
          <p:cNvPr id="6" name="Shape 4"/>
          <p:cNvSpPr/>
          <p:nvPr/>
        </p:nvSpPr>
        <p:spPr>
          <a:xfrm>
            <a:off x="594360" y="1627632"/>
            <a:ext cx="5394960" cy="402336"/>
          </a:xfrm>
          <a:prstGeom prst="rect">
            <a:avLst/>
          </a:prstGeom>
          <a:solidFill>
            <a:srgbClr val="3333B3"/>
          </a:solidFill>
          <a:ln w="12700">
            <a:solidFill>
              <a:srgbClr val="3333B3"/>
            </a:solidFill>
            <a:prstDash val="solid"/>
          </a:ln>
        </p:spPr>
      </p:sp>
      <p:sp>
        <p:nvSpPr>
          <p:cNvPr id="7" name="Text 5"/>
          <p:cNvSpPr txBox="1"/>
          <p:nvPr/>
        </p:nvSpPr>
        <p:spPr>
          <a:xfrm>
            <a:off x="777240" y="1627632"/>
            <a:ext cx="5029200"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Know before the user calls</a:t>
            </a:r>
            <a:endParaRPr lang="en-US" sz="1500" dirty="0"/>
          </a:p>
        </p:txBody>
      </p:sp>
      <p:sp>
        <p:nvSpPr>
          <p:cNvPr id="8" name="Shape 6"/>
          <p:cNvSpPr/>
          <p:nvPr/>
        </p:nvSpPr>
        <p:spPr>
          <a:xfrm>
            <a:off x="594360" y="2029968"/>
            <a:ext cx="5394960" cy="1700784"/>
          </a:xfrm>
          <a:prstGeom prst="rect">
            <a:avLst/>
          </a:prstGeom>
          <a:solidFill>
            <a:srgbClr val="F4F4FA"/>
          </a:solidFill>
          <a:ln w="9525">
            <a:solidFill>
              <a:srgbClr val="C9C9EA"/>
            </a:solidFill>
            <a:prstDash val="solid"/>
          </a:ln>
        </p:spPr>
      </p:sp>
      <p:sp>
        <p:nvSpPr>
          <p:cNvPr id="9" name="Text 7"/>
          <p:cNvSpPr txBox="1"/>
          <p:nvPr/>
        </p:nvSpPr>
        <p:spPr>
          <a:xfrm>
            <a:off x="813816" y="2176272"/>
            <a:ext cx="4956048" cy="142646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A health endpoint and something checking it every few minutes. Even a scheduled task that emails on failure beats a phone call from the shop floor.</a:t>
            </a:r>
            <a:endParaRPr lang="en-US" sz="1200" dirty="0"/>
          </a:p>
        </p:txBody>
      </p:sp>
      <p:sp>
        <p:nvSpPr>
          <p:cNvPr id="10" name="Shape 8"/>
          <p:cNvSpPr/>
          <p:nvPr/>
        </p:nvSpPr>
        <p:spPr>
          <a:xfrm>
            <a:off x="6199632" y="1627632"/>
            <a:ext cx="5394960" cy="402336"/>
          </a:xfrm>
          <a:prstGeom prst="rect">
            <a:avLst/>
          </a:prstGeom>
          <a:solidFill>
            <a:srgbClr val="3333B3"/>
          </a:solidFill>
          <a:ln w="12700">
            <a:solidFill>
              <a:srgbClr val="3333B3"/>
            </a:solidFill>
            <a:prstDash val="solid"/>
          </a:ln>
        </p:spPr>
      </p:sp>
      <p:sp>
        <p:nvSpPr>
          <p:cNvPr id="11" name="Text 9"/>
          <p:cNvSpPr txBox="1"/>
          <p:nvPr/>
        </p:nvSpPr>
        <p:spPr>
          <a:xfrm>
            <a:off x="6382512" y="1627632"/>
            <a:ext cx="5029200"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Watch the disk</a:t>
            </a:r>
            <a:endParaRPr lang="en-US" sz="1500" dirty="0"/>
          </a:p>
        </p:txBody>
      </p:sp>
      <p:sp>
        <p:nvSpPr>
          <p:cNvPr id="12" name="Shape 10"/>
          <p:cNvSpPr/>
          <p:nvPr/>
        </p:nvSpPr>
        <p:spPr>
          <a:xfrm>
            <a:off x="6199632" y="2029968"/>
            <a:ext cx="5394960" cy="1700784"/>
          </a:xfrm>
          <a:prstGeom prst="rect">
            <a:avLst/>
          </a:prstGeom>
          <a:solidFill>
            <a:srgbClr val="F4F4FA"/>
          </a:solidFill>
          <a:ln w="9525">
            <a:solidFill>
              <a:srgbClr val="C9C9EA"/>
            </a:solidFill>
            <a:prstDash val="solid"/>
          </a:ln>
        </p:spPr>
      </p:sp>
      <p:sp>
        <p:nvSpPr>
          <p:cNvPr id="13" name="Text 11"/>
          <p:cNvSpPr txBox="1"/>
          <p:nvPr/>
        </p:nvSpPr>
        <p:spPr>
          <a:xfrm>
            <a:off x="6419088" y="2176272"/>
            <a:ext cx="4956048" cy="142646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Logs grow. A full disk stops the site, and the failure looks nothing like a disk problem. Set retention when you set up logging.</a:t>
            </a:r>
            <a:endParaRPr lang="en-US" sz="1200" dirty="0"/>
          </a:p>
        </p:txBody>
      </p:sp>
      <p:sp>
        <p:nvSpPr>
          <p:cNvPr id="14" name="Shape 12"/>
          <p:cNvSpPr/>
          <p:nvPr/>
        </p:nvSpPr>
        <p:spPr>
          <a:xfrm>
            <a:off x="594360" y="3840480"/>
            <a:ext cx="5394960" cy="402336"/>
          </a:xfrm>
          <a:prstGeom prst="rect">
            <a:avLst/>
          </a:prstGeom>
          <a:solidFill>
            <a:srgbClr val="3333B3"/>
          </a:solidFill>
          <a:ln w="12700">
            <a:solidFill>
              <a:srgbClr val="3333B3"/>
            </a:solidFill>
            <a:prstDash val="solid"/>
          </a:ln>
        </p:spPr>
      </p:sp>
      <p:sp>
        <p:nvSpPr>
          <p:cNvPr id="15" name="Text 13"/>
          <p:cNvSpPr txBox="1"/>
          <p:nvPr/>
        </p:nvSpPr>
        <p:spPr>
          <a:xfrm>
            <a:off x="777240" y="3840480"/>
            <a:ext cx="5029200"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Back up what matters</a:t>
            </a:r>
            <a:endParaRPr lang="en-US" sz="1500" dirty="0"/>
          </a:p>
        </p:txBody>
      </p:sp>
      <p:sp>
        <p:nvSpPr>
          <p:cNvPr id="16" name="Shape 14"/>
          <p:cNvSpPr/>
          <p:nvPr/>
        </p:nvSpPr>
        <p:spPr>
          <a:xfrm>
            <a:off x="594360" y="4242816"/>
            <a:ext cx="5394960" cy="1700784"/>
          </a:xfrm>
          <a:prstGeom prst="rect">
            <a:avLst/>
          </a:prstGeom>
          <a:solidFill>
            <a:srgbClr val="F4F4FA"/>
          </a:solidFill>
          <a:ln w="9525">
            <a:solidFill>
              <a:srgbClr val="C9C9EA"/>
            </a:solidFill>
            <a:prstDash val="solid"/>
          </a:ln>
        </p:spPr>
      </p:sp>
      <p:sp>
        <p:nvSpPr>
          <p:cNvPr id="17" name="Text 15"/>
          <p:cNvSpPr txBox="1"/>
          <p:nvPr/>
        </p:nvSpPr>
        <p:spPr>
          <a:xfrm>
            <a:off x="813816" y="4389120"/>
            <a:ext cx="4956048" cy="142646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The database, the configuration and the published folder. And test the restore — an untested backup is a hope, not a control.</a:t>
            </a:r>
            <a:endParaRPr lang="en-US" sz="1200" dirty="0"/>
          </a:p>
        </p:txBody>
      </p:sp>
      <p:sp>
        <p:nvSpPr>
          <p:cNvPr id="18" name="Shape 16"/>
          <p:cNvSpPr/>
          <p:nvPr/>
        </p:nvSpPr>
        <p:spPr>
          <a:xfrm>
            <a:off x="6199632" y="3840480"/>
            <a:ext cx="5394960" cy="402336"/>
          </a:xfrm>
          <a:prstGeom prst="rect">
            <a:avLst/>
          </a:prstGeom>
          <a:solidFill>
            <a:srgbClr val="3333B3"/>
          </a:solidFill>
          <a:ln w="12700">
            <a:solidFill>
              <a:srgbClr val="3333B3"/>
            </a:solidFill>
            <a:prstDash val="solid"/>
          </a:ln>
        </p:spPr>
      </p:sp>
      <p:sp>
        <p:nvSpPr>
          <p:cNvPr id="19" name="Text 17"/>
          <p:cNvSpPr txBox="1"/>
          <p:nvPr/>
        </p:nvSpPr>
        <p:spPr>
          <a:xfrm>
            <a:off x="6382512" y="3840480"/>
            <a:ext cx="5029200"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Keep it patched</a:t>
            </a:r>
            <a:endParaRPr lang="en-US" sz="1500" dirty="0"/>
          </a:p>
        </p:txBody>
      </p:sp>
      <p:sp>
        <p:nvSpPr>
          <p:cNvPr id="20" name="Shape 18"/>
          <p:cNvSpPr/>
          <p:nvPr/>
        </p:nvSpPr>
        <p:spPr>
          <a:xfrm>
            <a:off x="6199632" y="4242816"/>
            <a:ext cx="5394960" cy="1700784"/>
          </a:xfrm>
          <a:prstGeom prst="rect">
            <a:avLst/>
          </a:prstGeom>
          <a:solidFill>
            <a:srgbClr val="F4F4FA"/>
          </a:solidFill>
          <a:ln w="9525">
            <a:solidFill>
              <a:srgbClr val="C9C9EA"/>
            </a:solidFill>
            <a:prstDash val="solid"/>
          </a:ln>
        </p:spPr>
      </p:sp>
      <p:sp>
        <p:nvSpPr>
          <p:cNvPr id="21" name="Text 19"/>
          <p:cNvSpPr txBox="1"/>
          <p:nvPr/>
        </p:nvSpPr>
        <p:spPr>
          <a:xfrm>
            <a:off x="6419088" y="4389120"/>
            <a:ext cx="4956048" cy="142646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Runtime updates, framework updates and package updates. A system that is never patched becomes one that cannot be patched.</a:t>
            </a:r>
            <a:endParaRPr lang="en-US" sz="1200" dirty="0"/>
          </a:p>
        </p:txBody>
      </p:sp>
      <p:sp>
        <p:nvSpPr>
          <p:cNvPr id="22" name="Shape 20"/>
          <p:cNvSpPr/>
          <p:nvPr/>
        </p:nvSpPr>
        <p:spPr>
          <a:xfrm>
            <a:off x="0" y="6400800"/>
            <a:ext cx="3840480" cy="457200"/>
          </a:xfrm>
          <a:prstGeom prst="rect">
            <a:avLst/>
          </a:prstGeom>
          <a:solidFill>
            <a:srgbClr val="22226B"/>
          </a:solidFill>
          <a:ln w="12700">
            <a:solidFill>
              <a:srgbClr val="22226B"/>
            </a:solidFill>
            <a:prstDash val="solid"/>
          </a:ln>
        </p:spPr>
      </p:sp>
      <p:sp>
        <p:nvSpPr>
          <p:cNvPr id="23" name="Text 21"/>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24" name="Shape 22"/>
          <p:cNvSpPr/>
          <p:nvPr/>
        </p:nvSpPr>
        <p:spPr>
          <a:xfrm>
            <a:off x="3840480" y="6400800"/>
            <a:ext cx="6675120" cy="457200"/>
          </a:xfrm>
          <a:prstGeom prst="rect">
            <a:avLst/>
          </a:prstGeom>
          <a:solidFill>
            <a:srgbClr val="3333B3"/>
          </a:solidFill>
          <a:ln w="12700">
            <a:solidFill>
              <a:srgbClr val="3333B3"/>
            </a:solidFill>
            <a:prstDash val="solid"/>
          </a:ln>
        </p:spPr>
      </p:sp>
      <p:sp>
        <p:nvSpPr>
          <p:cNvPr id="25" name="Text 23"/>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4 — Deployment &amp; Troubleshooting</a:t>
            </a:r>
            <a:endParaRPr lang="en-US" sz="950" dirty="0"/>
          </a:p>
        </p:txBody>
      </p:sp>
      <p:sp>
        <p:nvSpPr>
          <p:cNvPr id="26" name="Shape 24"/>
          <p:cNvSpPr/>
          <p:nvPr/>
        </p:nvSpPr>
        <p:spPr>
          <a:xfrm>
            <a:off x="10515600" y="6400800"/>
            <a:ext cx="1676095" cy="457200"/>
          </a:xfrm>
          <a:prstGeom prst="rect">
            <a:avLst/>
          </a:prstGeom>
          <a:solidFill>
            <a:srgbClr val="22226B"/>
          </a:solidFill>
          <a:ln w="12700">
            <a:solidFill>
              <a:srgbClr val="22226B"/>
            </a:solidFill>
            <a:prstDash val="solid"/>
          </a:ln>
        </p:spPr>
      </p:sp>
      <p:sp>
        <p:nvSpPr>
          <p:cNvPr id="27" name="Text 25"/>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B2B7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5050A8"/>
          </a:solidFill>
          <a:ln w="12700">
            <a:solidFill>
              <a:srgbClr val="5050A8"/>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CHECKPOINT · 10 MINUTES</a:t>
            </a:r>
            <a:endParaRPr lang="en-US" sz="1000" dirty="0"/>
          </a:p>
        </p:txBody>
      </p:sp>
      <p:sp>
        <p:nvSpPr>
          <p:cNvPr id="4" name="Shape 2"/>
          <p:cNvSpPr/>
          <p:nvPr/>
        </p:nvSpPr>
        <p:spPr>
          <a:xfrm>
            <a:off x="0" y="365760"/>
            <a:ext cx="12191695" cy="841248"/>
          </a:xfrm>
          <a:prstGeom prst="rect">
            <a:avLst/>
          </a:prstGeom>
          <a:solidFill>
            <a:srgbClr val="3B3B96"/>
          </a:solidFill>
          <a:ln w="12700">
            <a:solidFill>
              <a:srgbClr val="3B3B96"/>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Getting this into your world</a:t>
            </a:r>
            <a:endParaRPr lang="en-US" sz="2600" dirty="0"/>
          </a:p>
        </p:txBody>
      </p:sp>
      <p:sp>
        <p:nvSpPr>
          <p:cNvPr id="6" name="Shape 4"/>
          <p:cNvSpPr/>
          <p:nvPr/>
        </p:nvSpPr>
        <p:spPr>
          <a:xfrm>
            <a:off x="594360" y="1664208"/>
            <a:ext cx="6949440" cy="960120"/>
          </a:xfrm>
          <a:prstGeom prst="rect">
            <a:avLst/>
          </a:prstGeom>
          <a:solidFill>
            <a:srgbClr val="3B3B96"/>
          </a:solidFill>
          <a:ln w="9525">
            <a:solidFill>
              <a:srgbClr val="5050A8"/>
            </a:solidFill>
            <a:prstDash val="solid"/>
          </a:ln>
        </p:spPr>
      </p:sp>
      <p:sp>
        <p:nvSpPr>
          <p:cNvPr id="7" name="Shape 5"/>
          <p:cNvSpPr/>
          <p:nvPr/>
        </p:nvSpPr>
        <p:spPr>
          <a:xfrm>
            <a:off x="594360" y="1664208"/>
            <a:ext cx="50292" cy="960120"/>
          </a:xfrm>
          <a:prstGeom prst="rect">
            <a:avLst/>
          </a:prstGeom>
          <a:solidFill>
            <a:srgbClr val="8A8AC4"/>
          </a:solidFill>
          <a:ln w="12700">
            <a:solidFill>
              <a:srgbClr val="8A8AC4"/>
            </a:solidFill>
            <a:prstDash val="solid"/>
          </a:ln>
        </p:spPr>
      </p:sp>
      <p:sp>
        <p:nvSpPr>
          <p:cNvPr id="8" name="Shape 6"/>
          <p:cNvSpPr/>
          <p:nvPr/>
        </p:nvSpPr>
        <p:spPr>
          <a:xfrm>
            <a:off x="795528" y="1961388"/>
            <a:ext cx="365760" cy="365760"/>
          </a:xfrm>
          <a:prstGeom prst="ellipse">
            <a:avLst/>
          </a:prstGeom>
          <a:solidFill>
            <a:srgbClr val="3333B3"/>
          </a:solidFill>
          <a:ln w="12700">
            <a:solidFill>
              <a:srgbClr val="3333B3"/>
            </a:solidFill>
            <a:prstDash val="solid"/>
          </a:ln>
        </p:spPr>
      </p:sp>
      <p:sp>
        <p:nvSpPr>
          <p:cNvPr id="9" name="Text 7"/>
          <p:cNvSpPr txBox="1"/>
          <p:nvPr/>
        </p:nvSpPr>
        <p:spPr>
          <a:xfrm>
            <a:off x="795528" y="19613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1325880" y="1664208"/>
            <a:ext cx="5998464" cy="9601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What is your deployment process today?</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Could someone else follow it from what is written down?</a:t>
            </a:r>
            <a:endParaRPr lang="en-US" sz="1350" dirty="0"/>
          </a:p>
        </p:txBody>
      </p:sp>
      <p:sp>
        <p:nvSpPr>
          <p:cNvPr id="11" name="Shape 9"/>
          <p:cNvSpPr/>
          <p:nvPr/>
        </p:nvSpPr>
        <p:spPr>
          <a:xfrm>
            <a:off x="594360" y="2752344"/>
            <a:ext cx="6949440" cy="960120"/>
          </a:xfrm>
          <a:prstGeom prst="rect">
            <a:avLst/>
          </a:prstGeom>
          <a:solidFill>
            <a:srgbClr val="3B3B96"/>
          </a:solidFill>
          <a:ln w="9525">
            <a:solidFill>
              <a:srgbClr val="5050A8"/>
            </a:solidFill>
            <a:prstDash val="solid"/>
          </a:ln>
        </p:spPr>
      </p:sp>
      <p:sp>
        <p:nvSpPr>
          <p:cNvPr id="12" name="Shape 10"/>
          <p:cNvSpPr/>
          <p:nvPr/>
        </p:nvSpPr>
        <p:spPr>
          <a:xfrm>
            <a:off x="594360" y="2752344"/>
            <a:ext cx="50292" cy="960120"/>
          </a:xfrm>
          <a:prstGeom prst="rect">
            <a:avLst/>
          </a:prstGeom>
          <a:solidFill>
            <a:srgbClr val="8A8AC4"/>
          </a:solidFill>
          <a:ln w="12700">
            <a:solidFill>
              <a:srgbClr val="8A8AC4"/>
            </a:solidFill>
            <a:prstDash val="solid"/>
          </a:ln>
        </p:spPr>
      </p:sp>
      <p:sp>
        <p:nvSpPr>
          <p:cNvPr id="13" name="Shape 11"/>
          <p:cNvSpPr/>
          <p:nvPr/>
        </p:nvSpPr>
        <p:spPr>
          <a:xfrm>
            <a:off x="795528" y="3049524"/>
            <a:ext cx="365760" cy="365760"/>
          </a:xfrm>
          <a:prstGeom prst="ellipse">
            <a:avLst/>
          </a:prstGeom>
          <a:solidFill>
            <a:srgbClr val="3333B3"/>
          </a:solidFill>
          <a:ln w="12700">
            <a:solidFill>
              <a:srgbClr val="3333B3"/>
            </a:solidFill>
            <a:prstDash val="solid"/>
          </a:ln>
        </p:spPr>
      </p:sp>
      <p:sp>
        <p:nvSpPr>
          <p:cNvPr id="14" name="Text 12"/>
          <p:cNvSpPr txBox="1"/>
          <p:nvPr/>
        </p:nvSpPr>
        <p:spPr>
          <a:xfrm>
            <a:off x="795528" y="30495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325880" y="2752344"/>
            <a:ext cx="5998464" cy="9601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How would you know your system is down?</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Right now, at four in the afternoon.</a:t>
            </a:r>
            <a:endParaRPr lang="en-US" sz="1350" dirty="0"/>
          </a:p>
        </p:txBody>
      </p:sp>
      <p:sp>
        <p:nvSpPr>
          <p:cNvPr id="16" name="Shape 14"/>
          <p:cNvSpPr/>
          <p:nvPr/>
        </p:nvSpPr>
        <p:spPr>
          <a:xfrm>
            <a:off x="594360" y="3840480"/>
            <a:ext cx="6949440" cy="960120"/>
          </a:xfrm>
          <a:prstGeom prst="rect">
            <a:avLst/>
          </a:prstGeom>
          <a:solidFill>
            <a:srgbClr val="3B3B96"/>
          </a:solidFill>
          <a:ln w="9525">
            <a:solidFill>
              <a:srgbClr val="5050A8"/>
            </a:solidFill>
            <a:prstDash val="solid"/>
          </a:ln>
        </p:spPr>
      </p:sp>
      <p:sp>
        <p:nvSpPr>
          <p:cNvPr id="17" name="Shape 15"/>
          <p:cNvSpPr/>
          <p:nvPr/>
        </p:nvSpPr>
        <p:spPr>
          <a:xfrm>
            <a:off x="594360" y="3840480"/>
            <a:ext cx="50292" cy="960120"/>
          </a:xfrm>
          <a:prstGeom prst="rect">
            <a:avLst/>
          </a:prstGeom>
          <a:solidFill>
            <a:srgbClr val="8A8AC4"/>
          </a:solidFill>
          <a:ln w="12700">
            <a:solidFill>
              <a:srgbClr val="8A8AC4"/>
            </a:solidFill>
            <a:prstDash val="solid"/>
          </a:ln>
        </p:spPr>
      </p:sp>
      <p:sp>
        <p:nvSpPr>
          <p:cNvPr id="18" name="Shape 16"/>
          <p:cNvSpPr/>
          <p:nvPr/>
        </p:nvSpPr>
        <p:spPr>
          <a:xfrm>
            <a:off x="795528" y="4137660"/>
            <a:ext cx="365760" cy="365760"/>
          </a:xfrm>
          <a:prstGeom prst="ellipse">
            <a:avLst/>
          </a:prstGeom>
          <a:solidFill>
            <a:srgbClr val="3333B3"/>
          </a:solidFill>
          <a:ln w="12700">
            <a:solidFill>
              <a:srgbClr val="3333B3"/>
            </a:solidFill>
            <a:prstDash val="solid"/>
          </a:ln>
        </p:spPr>
      </p:sp>
      <p:sp>
        <p:nvSpPr>
          <p:cNvPr id="19" name="Text 17"/>
          <p:cNvSpPr txBox="1"/>
          <p:nvPr/>
        </p:nvSpPr>
        <p:spPr>
          <a:xfrm>
            <a:off x="795528" y="41376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1325880" y="3840480"/>
            <a:ext cx="5998464" cy="9601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Where do your logs go?</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And when did anyone last read them?</a:t>
            </a:r>
            <a:endParaRPr lang="en-US" sz="1350" dirty="0"/>
          </a:p>
        </p:txBody>
      </p:sp>
      <p:sp>
        <p:nvSpPr>
          <p:cNvPr id="21" name="Shape 19"/>
          <p:cNvSpPr/>
          <p:nvPr/>
        </p:nvSpPr>
        <p:spPr>
          <a:xfrm>
            <a:off x="594360" y="4928616"/>
            <a:ext cx="6949440" cy="960120"/>
          </a:xfrm>
          <a:prstGeom prst="rect">
            <a:avLst/>
          </a:prstGeom>
          <a:solidFill>
            <a:srgbClr val="3B3B96"/>
          </a:solidFill>
          <a:ln w="9525">
            <a:solidFill>
              <a:srgbClr val="5050A8"/>
            </a:solidFill>
            <a:prstDash val="solid"/>
          </a:ln>
        </p:spPr>
      </p:sp>
      <p:sp>
        <p:nvSpPr>
          <p:cNvPr id="22" name="Shape 20"/>
          <p:cNvSpPr/>
          <p:nvPr/>
        </p:nvSpPr>
        <p:spPr>
          <a:xfrm>
            <a:off x="594360" y="4928616"/>
            <a:ext cx="50292" cy="960120"/>
          </a:xfrm>
          <a:prstGeom prst="rect">
            <a:avLst/>
          </a:prstGeom>
          <a:solidFill>
            <a:srgbClr val="8A8AC4"/>
          </a:solidFill>
          <a:ln w="12700">
            <a:solidFill>
              <a:srgbClr val="8A8AC4"/>
            </a:solidFill>
            <a:prstDash val="solid"/>
          </a:ln>
        </p:spPr>
      </p:sp>
      <p:sp>
        <p:nvSpPr>
          <p:cNvPr id="23" name="Shape 21"/>
          <p:cNvSpPr/>
          <p:nvPr/>
        </p:nvSpPr>
        <p:spPr>
          <a:xfrm>
            <a:off x="795528" y="5225796"/>
            <a:ext cx="365760" cy="365760"/>
          </a:xfrm>
          <a:prstGeom prst="ellipse">
            <a:avLst/>
          </a:prstGeom>
          <a:solidFill>
            <a:srgbClr val="3333B3"/>
          </a:solidFill>
          <a:ln w="12700">
            <a:solidFill>
              <a:srgbClr val="3333B3"/>
            </a:solidFill>
            <a:prstDash val="solid"/>
          </a:ln>
        </p:spPr>
      </p:sp>
      <p:sp>
        <p:nvSpPr>
          <p:cNvPr id="24" name="Text 22"/>
          <p:cNvSpPr txBox="1"/>
          <p:nvPr/>
        </p:nvSpPr>
        <p:spPr>
          <a:xfrm>
            <a:off x="795528" y="52257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1325880" y="4928616"/>
            <a:ext cx="5998464" cy="9601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What is your rollback plan?</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Be specific — "restore from backup" is not a plan until it has been tried.</a:t>
            </a:r>
            <a:endParaRPr lang="en-US" sz="1350" dirty="0"/>
          </a:p>
        </p:txBody>
      </p:sp>
      <p:sp>
        <p:nvSpPr>
          <p:cNvPr id="26" name="Shape 24"/>
          <p:cNvSpPr/>
          <p:nvPr/>
        </p:nvSpPr>
        <p:spPr>
          <a:xfrm>
            <a:off x="7635240" y="1664208"/>
            <a:ext cx="3959352" cy="402336"/>
          </a:xfrm>
          <a:prstGeom prst="rect">
            <a:avLst/>
          </a:prstGeom>
          <a:solidFill>
            <a:srgbClr val="5050A8"/>
          </a:solidFill>
          <a:ln w="12700">
            <a:solidFill>
              <a:srgbClr val="5050A8"/>
            </a:solidFill>
            <a:prstDash val="solid"/>
          </a:ln>
        </p:spPr>
      </p:sp>
      <p:sp>
        <p:nvSpPr>
          <p:cNvPr id="27" name="Text 25"/>
          <p:cNvSpPr txBox="1"/>
          <p:nvPr/>
        </p:nvSpPr>
        <p:spPr>
          <a:xfrm>
            <a:off x="7818120" y="1664208"/>
            <a:ext cx="359359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Running it</a:t>
            </a:r>
            <a:endParaRPr lang="en-US" sz="1500" dirty="0"/>
          </a:p>
        </p:txBody>
      </p:sp>
      <p:sp>
        <p:nvSpPr>
          <p:cNvPr id="28" name="Shape 26"/>
          <p:cNvSpPr/>
          <p:nvPr/>
        </p:nvSpPr>
        <p:spPr>
          <a:xfrm>
            <a:off x="7635240" y="2066544"/>
            <a:ext cx="3959352" cy="3803904"/>
          </a:xfrm>
          <a:prstGeom prst="rect">
            <a:avLst/>
          </a:prstGeom>
          <a:solidFill>
            <a:srgbClr val="3B3B96"/>
          </a:solidFill>
          <a:ln w="9525">
            <a:solidFill>
              <a:srgbClr val="5050A8"/>
            </a:solidFill>
            <a:prstDash val="solid"/>
          </a:ln>
        </p:spPr>
      </p:sp>
      <p:sp>
        <p:nvSpPr>
          <p:cNvPr id="29" name="Text 27"/>
          <p:cNvSpPr txBox="1"/>
          <p:nvPr/>
        </p:nvSpPr>
        <p:spPr>
          <a:xfrm>
            <a:off x="7854696" y="2212848"/>
            <a:ext cx="3520440" cy="3529584"/>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Two minutes in pairs, then three answers</a:t>
            </a:r>
            <a:endParaRPr lang="en-US" sz="1200" dirty="0"/>
          </a:p>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Collect the honest answers; nobody is being judged</a:t>
            </a:r>
            <a:endParaRPr lang="en-US" sz="1200" dirty="0"/>
          </a:p>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A written runbook is a realistic action for everyone here</a:t>
            </a:r>
            <a:endParaRPr lang="en-US" sz="1200" dirty="0"/>
          </a:p>
        </p:txBody>
      </p:sp>
      <p:sp>
        <p:nvSpPr>
          <p:cNvPr id="30" name="Shape 28"/>
          <p:cNvSpPr/>
          <p:nvPr/>
        </p:nvSpPr>
        <p:spPr>
          <a:xfrm>
            <a:off x="0" y="6400800"/>
            <a:ext cx="3840480" cy="457200"/>
          </a:xfrm>
          <a:prstGeom prst="rect">
            <a:avLst/>
          </a:prstGeom>
          <a:solidFill>
            <a:srgbClr val="5050A8"/>
          </a:solidFill>
          <a:ln w="12700">
            <a:solidFill>
              <a:srgbClr val="5050A8"/>
            </a:solidFill>
            <a:prstDash val="solid"/>
          </a:ln>
        </p:spPr>
      </p:sp>
      <p:sp>
        <p:nvSpPr>
          <p:cNvPr id="31" name="Text 29"/>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2" name="Shape 30"/>
          <p:cNvSpPr/>
          <p:nvPr/>
        </p:nvSpPr>
        <p:spPr>
          <a:xfrm>
            <a:off x="3840480" y="6400800"/>
            <a:ext cx="6675120" cy="457200"/>
          </a:xfrm>
          <a:prstGeom prst="rect">
            <a:avLst/>
          </a:prstGeom>
          <a:solidFill>
            <a:srgbClr val="3B3B96"/>
          </a:solidFill>
          <a:ln w="12700">
            <a:solidFill>
              <a:srgbClr val="3B3B96"/>
            </a:solidFill>
            <a:prstDash val="solid"/>
          </a:ln>
        </p:spPr>
      </p:sp>
      <p:sp>
        <p:nvSpPr>
          <p:cNvPr id="33" name="Text 31"/>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4 — Deployment &amp; Troubleshooting</a:t>
            </a:r>
            <a:endParaRPr lang="en-US" sz="950" dirty="0"/>
          </a:p>
        </p:txBody>
      </p:sp>
      <p:sp>
        <p:nvSpPr>
          <p:cNvPr id="34" name="Shape 32"/>
          <p:cNvSpPr/>
          <p:nvPr/>
        </p:nvSpPr>
        <p:spPr>
          <a:xfrm>
            <a:off x="10515600" y="6400800"/>
            <a:ext cx="1676095" cy="457200"/>
          </a:xfrm>
          <a:prstGeom prst="rect">
            <a:avLst/>
          </a:prstGeom>
          <a:solidFill>
            <a:srgbClr val="5050A8"/>
          </a:solidFill>
          <a:ln w="12700">
            <a:solidFill>
              <a:srgbClr val="5050A8"/>
            </a:solidFill>
            <a:prstDash val="solid"/>
          </a:ln>
        </p:spPr>
      </p:sp>
      <p:sp>
        <p:nvSpPr>
          <p:cNvPr id="35" name="Text 33"/>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2B7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5050A8"/>
          </a:solidFill>
          <a:ln w="12700">
            <a:solidFill>
              <a:srgbClr val="5050A8"/>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HANDS-ON · 40 MINUTES</a:t>
            </a:r>
            <a:endParaRPr lang="en-US" sz="1000" dirty="0"/>
          </a:p>
        </p:txBody>
      </p:sp>
      <p:sp>
        <p:nvSpPr>
          <p:cNvPr id="4" name="Shape 2"/>
          <p:cNvSpPr/>
          <p:nvPr/>
        </p:nvSpPr>
        <p:spPr>
          <a:xfrm>
            <a:off x="0" y="365760"/>
            <a:ext cx="12191695" cy="841248"/>
          </a:xfrm>
          <a:prstGeom prst="rect">
            <a:avLst/>
          </a:prstGeom>
          <a:solidFill>
            <a:srgbClr val="3B3B96"/>
          </a:solidFill>
          <a:ln w="12700">
            <a:solidFill>
              <a:srgbClr val="3B3B96"/>
            </a:solidFill>
            <a:prstDash val="solid"/>
          </a:ln>
        </p:spPr>
      </p:sp>
      <p:sp>
        <p:nvSpPr>
          <p:cNvPr id="5" name="Text 3"/>
          <p:cNvSpPr txBox="1"/>
          <p:nvPr/>
        </p:nvSpPr>
        <p:spPr>
          <a:xfrm>
            <a:off x="594360" y="365760"/>
            <a:ext cx="10607040"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Deploy the Spares Tracker</a:t>
            </a:r>
            <a:endParaRPr lang="en-US" sz="2600" dirty="0"/>
          </a:p>
        </p:txBody>
      </p:sp>
      <p:sp>
        <p:nvSpPr>
          <p:cNvPr id="6" name="Text 4"/>
          <p:cNvSpPr txBox="1"/>
          <p:nvPr/>
        </p:nvSpPr>
        <p:spPr>
          <a:xfrm>
            <a:off x="594360" y="1298448"/>
            <a:ext cx="10607040" cy="292608"/>
          </a:xfrm>
          <a:prstGeom prst="rect">
            <a:avLst/>
          </a:prstGeom>
          <a:noFill/>
          <a:ln/>
        </p:spPr>
        <p:txBody>
          <a:bodyPr wrap="square" lIns="0" tIns="0" rIns="0" bIns="0" rtlCol="0" anchor="ctr"/>
          <a:lstStyle/>
          <a:p>
            <a:pPr indent="0" marL="0">
              <a:buNone/>
            </a:pPr>
            <a:r>
              <a:rPr lang="en-US" sz="1350" i="1" dirty="0">
                <a:solidFill>
                  <a:srgbClr val="D9D9EF"/>
                </a:solidFill>
                <a:latin typeface="Cambria" pitchFamily="34" charset="0"/>
                <a:ea typeface="Cambria" pitchFamily="34" charset="-122"/>
                <a:cs typeface="Cambria" pitchFamily="34" charset="-120"/>
              </a:rPr>
              <a:t>The application you have built over Days 1 and 2, running on a server.</a:t>
            </a:r>
            <a:endParaRPr lang="en-US" sz="1350" dirty="0"/>
          </a:p>
        </p:txBody>
      </p:sp>
      <p:sp>
        <p:nvSpPr>
          <p:cNvPr id="7" name="Text 5"/>
          <p:cNvSpPr txBox="1"/>
          <p:nvPr/>
        </p:nvSpPr>
        <p:spPr>
          <a:xfrm>
            <a:off x="594360" y="1828800"/>
            <a:ext cx="3657600" cy="237744"/>
          </a:xfrm>
          <a:prstGeom prst="rect">
            <a:avLst/>
          </a:prstGeom>
          <a:noFill/>
          <a:ln/>
        </p:spPr>
        <p:txBody>
          <a:bodyPr wrap="square" lIns="0" tIns="0" rIns="0" bIns="0" rtlCol="0" anchor="ctr"/>
          <a:lstStyle/>
          <a:p>
            <a:pPr indent="0" marL="0">
              <a:buNone/>
            </a:pPr>
            <a:r>
              <a:rPr lang="en-US" sz="1050" b="1" spc="140" kern="0" dirty="0">
                <a:solidFill>
                  <a:srgbClr val="C9C9EA"/>
                </a:solidFill>
                <a:latin typeface="Cambria" pitchFamily="34" charset="0"/>
                <a:ea typeface="Cambria" pitchFamily="34" charset="-122"/>
                <a:cs typeface="Cambria" pitchFamily="34" charset="-120"/>
              </a:rPr>
              <a:t>YOUR TASKS</a:t>
            </a:r>
            <a:endParaRPr lang="en-US" sz="1050" dirty="0"/>
          </a:p>
        </p:txBody>
      </p:sp>
      <p:sp>
        <p:nvSpPr>
          <p:cNvPr id="8" name="Shape 6"/>
          <p:cNvSpPr/>
          <p:nvPr/>
        </p:nvSpPr>
        <p:spPr>
          <a:xfrm>
            <a:off x="594360" y="2176272"/>
            <a:ext cx="6035040" cy="502920"/>
          </a:xfrm>
          <a:prstGeom prst="rect">
            <a:avLst/>
          </a:prstGeom>
          <a:solidFill>
            <a:srgbClr val="3B3B96"/>
          </a:solidFill>
          <a:ln w="9525">
            <a:solidFill>
              <a:srgbClr val="5050A8"/>
            </a:solidFill>
            <a:prstDash val="solid"/>
          </a:ln>
        </p:spPr>
      </p:sp>
      <p:sp>
        <p:nvSpPr>
          <p:cNvPr id="9" name="Shape 7"/>
          <p:cNvSpPr/>
          <p:nvPr/>
        </p:nvSpPr>
        <p:spPr>
          <a:xfrm>
            <a:off x="594360" y="2176272"/>
            <a:ext cx="50292" cy="502920"/>
          </a:xfrm>
          <a:prstGeom prst="rect">
            <a:avLst/>
          </a:prstGeom>
          <a:solidFill>
            <a:srgbClr val="8A8AC4"/>
          </a:solidFill>
          <a:ln w="12700">
            <a:solidFill>
              <a:srgbClr val="8A8AC4"/>
            </a:solidFill>
            <a:prstDash val="solid"/>
          </a:ln>
        </p:spPr>
      </p:sp>
      <p:sp>
        <p:nvSpPr>
          <p:cNvPr id="10" name="Shape 8"/>
          <p:cNvSpPr/>
          <p:nvPr/>
        </p:nvSpPr>
        <p:spPr>
          <a:xfrm>
            <a:off x="795528" y="2244852"/>
            <a:ext cx="365760" cy="365760"/>
          </a:xfrm>
          <a:prstGeom prst="ellipse">
            <a:avLst/>
          </a:prstGeom>
          <a:solidFill>
            <a:srgbClr val="3333B3"/>
          </a:solidFill>
          <a:ln w="12700">
            <a:solidFill>
              <a:srgbClr val="3333B3"/>
            </a:solidFill>
            <a:prstDash val="solid"/>
          </a:ln>
        </p:spPr>
      </p:sp>
      <p:sp>
        <p:nvSpPr>
          <p:cNvPr id="11" name="Text 9"/>
          <p:cNvSpPr txBox="1"/>
          <p:nvPr/>
        </p:nvSpPr>
        <p:spPr>
          <a:xfrm>
            <a:off x="795528" y="22448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2" name="Text 10"/>
          <p:cNvSpPr txBox="1"/>
          <p:nvPr/>
        </p:nvSpPr>
        <p:spPr>
          <a:xfrm>
            <a:off x="1325880" y="2176272"/>
            <a:ext cx="5084064"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Publish the API and MVC app</a:t>
            </a:r>
            <a:endParaRPr lang="en-US" sz="1300" dirty="0"/>
          </a:p>
          <a:p>
            <a:pPr indent="0" marL="0">
              <a:buNone/>
            </a:pPr>
            <a:r>
              <a:rPr lang="en-US" sz="1100" dirty="0">
                <a:solidFill>
                  <a:srgbClr val="D9D9EF"/>
                </a:solidFill>
                <a:latin typeface="Cambria" pitchFamily="34" charset="0"/>
                <a:ea typeface="Cambria" pitchFamily="34" charset="-122"/>
                <a:cs typeface="Cambria" pitchFamily="34" charset="-120"/>
              </a:rPr>
              <a:t>Release configuration, to a clean folder</a:t>
            </a:r>
            <a:endParaRPr lang="en-US" sz="1300" dirty="0"/>
          </a:p>
        </p:txBody>
      </p:sp>
      <p:sp>
        <p:nvSpPr>
          <p:cNvPr id="13" name="Shape 11"/>
          <p:cNvSpPr/>
          <p:nvPr/>
        </p:nvSpPr>
        <p:spPr>
          <a:xfrm>
            <a:off x="594360" y="2770632"/>
            <a:ext cx="6035040" cy="502920"/>
          </a:xfrm>
          <a:prstGeom prst="rect">
            <a:avLst/>
          </a:prstGeom>
          <a:solidFill>
            <a:srgbClr val="3B3B96"/>
          </a:solidFill>
          <a:ln w="9525">
            <a:solidFill>
              <a:srgbClr val="5050A8"/>
            </a:solidFill>
            <a:prstDash val="solid"/>
          </a:ln>
        </p:spPr>
      </p:sp>
      <p:sp>
        <p:nvSpPr>
          <p:cNvPr id="14" name="Shape 12"/>
          <p:cNvSpPr/>
          <p:nvPr/>
        </p:nvSpPr>
        <p:spPr>
          <a:xfrm>
            <a:off x="594360" y="2770632"/>
            <a:ext cx="50292" cy="502920"/>
          </a:xfrm>
          <a:prstGeom prst="rect">
            <a:avLst/>
          </a:prstGeom>
          <a:solidFill>
            <a:srgbClr val="8A8AC4"/>
          </a:solidFill>
          <a:ln w="12700">
            <a:solidFill>
              <a:srgbClr val="8A8AC4"/>
            </a:solidFill>
            <a:prstDash val="solid"/>
          </a:ln>
        </p:spPr>
      </p:sp>
      <p:sp>
        <p:nvSpPr>
          <p:cNvPr id="15" name="Shape 13"/>
          <p:cNvSpPr/>
          <p:nvPr/>
        </p:nvSpPr>
        <p:spPr>
          <a:xfrm>
            <a:off x="795528" y="2839212"/>
            <a:ext cx="365760" cy="365760"/>
          </a:xfrm>
          <a:prstGeom prst="ellipse">
            <a:avLst/>
          </a:prstGeom>
          <a:solidFill>
            <a:srgbClr val="3333B3"/>
          </a:solidFill>
          <a:ln w="12700">
            <a:solidFill>
              <a:srgbClr val="3333B3"/>
            </a:solidFill>
            <a:prstDash val="solid"/>
          </a:ln>
        </p:spPr>
      </p:sp>
      <p:sp>
        <p:nvSpPr>
          <p:cNvPr id="16" name="Text 14"/>
          <p:cNvSpPr txBox="1"/>
          <p:nvPr/>
        </p:nvSpPr>
        <p:spPr>
          <a:xfrm>
            <a:off x="795528" y="28392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7" name="Text 15"/>
          <p:cNvSpPr txBox="1"/>
          <p:nvPr/>
        </p:nvSpPr>
        <p:spPr>
          <a:xfrm>
            <a:off x="1325880" y="2770632"/>
            <a:ext cx="5084064"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Build the React front end</a:t>
            </a:r>
            <a:endParaRPr lang="en-US" sz="1300" dirty="0"/>
          </a:p>
          <a:p>
            <a:pPr indent="0" marL="0">
              <a:buNone/>
            </a:pPr>
            <a:r>
              <a:rPr lang="en-US" sz="1100" dirty="0">
                <a:solidFill>
                  <a:srgbClr val="D9D9EF"/>
                </a:solidFill>
                <a:latin typeface="Cambria" pitchFamily="34" charset="0"/>
                <a:ea typeface="Cambria" pitchFamily="34" charset="-122"/>
                <a:cs typeface="Cambria" pitchFamily="34" charset="-120"/>
              </a:rPr>
              <a:t>npm run build, with the production API URL</a:t>
            </a:r>
            <a:endParaRPr lang="en-US" sz="1300" dirty="0"/>
          </a:p>
        </p:txBody>
      </p:sp>
      <p:sp>
        <p:nvSpPr>
          <p:cNvPr id="18" name="Shape 16"/>
          <p:cNvSpPr/>
          <p:nvPr/>
        </p:nvSpPr>
        <p:spPr>
          <a:xfrm>
            <a:off x="594360" y="3364992"/>
            <a:ext cx="6035040" cy="502920"/>
          </a:xfrm>
          <a:prstGeom prst="rect">
            <a:avLst/>
          </a:prstGeom>
          <a:solidFill>
            <a:srgbClr val="3B3B96"/>
          </a:solidFill>
          <a:ln w="9525">
            <a:solidFill>
              <a:srgbClr val="5050A8"/>
            </a:solidFill>
            <a:prstDash val="solid"/>
          </a:ln>
        </p:spPr>
      </p:sp>
      <p:sp>
        <p:nvSpPr>
          <p:cNvPr id="19" name="Shape 17"/>
          <p:cNvSpPr/>
          <p:nvPr/>
        </p:nvSpPr>
        <p:spPr>
          <a:xfrm>
            <a:off x="594360" y="3364992"/>
            <a:ext cx="50292" cy="502920"/>
          </a:xfrm>
          <a:prstGeom prst="rect">
            <a:avLst/>
          </a:prstGeom>
          <a:solidFill>
            <a:srgbClr val="8A8AC4"/>
          </a:solidFill>
          <a:ln w="12700">
            <a:solidFill>
              <a:srgbClr val="8A8AC4"/>
            </a:solidFill>
            <a:prstDash val="solid"/>
          </a:ln>
        </p:spPr>
      </p:sp>
      <p:sp>
        <p:nvSpPr>
          <p:cNvPr id="20" name="Shape 18"/>
          <p:cNvSpPr/>
          <p:nvPr/>
        </p:nvSpPr>
        <p:spPr>
          <a:xfrm>
            <a:off x="795528" y="3433572"/>
            <a:ext cx="365760" cy="365760"/>
          </a:xfrm>
          <a:prstGeom prst="ellipse">
            <a:avLst/>
          </a:prstGeom>
          <a:solidFill>
            <a:srgbClr val="3333B3"/>
          </a:solidFill>
          <a:ln w="12700">
            <a:solidFill>
              <a:srgbClr val="3333B3"/>
            </a:solidFill>
            <a:prstDash val="solid"/>
          </a:ln>
        </p:spPr>
      </p:sp>
      <p:sp>
        <p:nvSpPr>
          <p:cNvPr id="21" name="Text 19"/>
          <p:cNvSpPr txBox="1"/>
          <p:nvPr/>
        </p:nvSpPr>
        <p:spPr>
          <a:xfrm>
            <a:off x="795528" y="34335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2" name="Text 20"/>
          <p:cNvSpPr txBox="1"/>
          <p:nvPr/>
        </p:nvSpPr>
        <p:spPr>
          <a:xfrm>
            <a:off x="1325880" y="3364992"/>
            <a:ext cx="5084064"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Create the site and pool in IIS</a:t>
            </a:r>
            <a:endParaRPr lang="en-US" sz="1300" dirty="0"/>
          </a:p>
          <a:p>
            <a:pPr indent="0" marL="0">
              <a:buNone/>
            </a:pPr>
            <a:r>
              <a:rPr lang="en-US" sz="1100" dirty="0">
                <a:solidFill>
                  <a:srgbClr val="D9D9EF"/>
                </a:solidFill>
                <a:latin typeface="Cambria" pitchFamily="34" charset="0"/>
                <a:ea typeface="Cambria" pitchFamily="34" charset="-122"/>
                <a:cs typeface="Cambria" pitchFamily="34" charset="-120"/>
              </a:rPr>
              <a:t>No Managed Code, bound to your port</a:t>
            </a:r>
            <a:endParaRPr lang="en-US" sz="1300" dirty="0"/>
          </a:p>
        </p:txBody>
      </p:sp>
      <p:sp>
        <p:nvSpPr>
          <p:cNvPr id="23" name="Shape 21"/>
          <p:cNvSpPr/>
          <p:nvPr/>
        </p:nvSpPr>
        <p:spPr>
          <a:xfrm>
            <a:off x="594360" y="3959352"/>
            <a:ext cx="6035040" cy="502920"/>
          </a:xfrm>
          <a:prstGeom prst="rect">
            <a:avLst/>
          </a:prstGeom>
          <a:solidFill>
            <a:srgbClr val="3B3B96"/>
          </a:solidFill>
          <a:ln w="9525">
            <a:solidFill>
              <a:srgbClr val="5050A8"/>
            </a:solidFill>
            <a:prstDash val="solid"/>
          </a:ln>
        </p:spPr>
      </p:sp>
      <p:sp>
        <p:nvSpPr>
          <p:cNvPr id="24" name="Shape 22"/>
          <p:cNvSpPr/>
          <p:nvPr/>
        </p:nvSpPr>
        <p:spPr>
          <a:xfrm>
            <a:off x="594360" y="3959352"/>
            <a:ext cx="50292" cy="502920"/>
          </a:xfrm>
          <a:prstGeom prst="rect">
            <a:avLst/>
          </a:prstGeom>
          <a:solidFill>
            <a:srgbClr val="8A8AC4"/>
          </a:solidFill>
          <a:ln w="12700">
            <a:solidFill>
              <a:srgbClr val="8A8AC4"/>
            </a:solidFill>
            <a:prstDash val="solid"/>
          </a:ln>
        </p:spPr>
      </p:sp>
      <p:sp>
        <p:nvSpPr>
          <p:cNvPr id="25" name="Shape 23"/>
          <p:cNvSpPr/>
          <p:nvPr/>
        </p:nvSpPr>
        <p:spPr>
          <a:xfrm>
            <a:off x="795528" y="4027932"/>
            <a:ext cx="365760" cy="365760"/>
          </a:xfrm>
          <a:prstGeom prst="ellipse">
            <a:avLst/>
          </a:prstGeom>
          <a:solidFill>
            <a:srgbClr val="3333B3"/>
          </a:solidFill>
          <a:ln w="12700">
            <a:solidFill>
              <a:srgbClr val="3333B3"/>
            </a:solidFill>
            <a:prstDash val="solid"/>
          </a:ln>
        </p:spPr>
      </p:sp>
      <p:sp>
        <p:nvSpPr>
          <p:cNvPr id="26" name="Text 24"/>
          <p:cNvSpPr txBox="1"/>
          <p:nvPr/>
        </p:nvSpPr>
        <p:spPr>
          <a:xfrm>
            <a:off x="795528" y="40279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7" name="Text 25"/>
          <p:cNvSpPr txBox="1"/>
          <p:nvPr/>
        </p:nvSpPr>
        <p:spPr>
          <a:xfrm>
            <a:off x="1325880" y="3959352"/>
            <a:ext cx="5084064"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Set the production connection string</a:t>
            </a:r>
            <a:endParaRPr lang="en-US" sz="1300" dirty="0"/>
          </a:p>
          <a:p>
            <a:pPr indent="0" marL="0">
              <a:buNone/>
            </a:pPr>
            <a:r>
              <a:rPr lang="en-US" sz="1100" dirty="0">
                <a:solidFill>
                  <a:srgbClr val="D9D9EF"/>
                </a:solidFill>
                <a:latin typeface="Cambria" pitchFamily="34" charset="0"/>
                <a:ea typeface="Cambria" pitchFamily="34" charset="-122"/>
                <a:cs typeface="Cambria" pitchFamily="34" charset="-120"/>
              </a:rPr>
              <a:t>Environment variable, not appsettings.json</a:t>
            </a:r>
            <a:endParaRPr lang="en-US" sz="1300" dirty="0"/>
          </a:p>
        </p:txBody>
      </p:sp>
      <p:sp>
        <p:nvSpPr>
          <p:cNvPr id="28" name="Shape 26"/>
          <p:cNvSpPr/>
          <p:nvPr/>
        </p:nvSpPr>
        <p:spPr>
          <a:xfrm>
            <a:off x="594360" y="4553712"/>
            <a:ext cx="6035040" cy="502920"/>
          </a:xfrm>
          <a:prstGeom prst="rect">
            <a:avLst/>
          </a:prstGeom>
          <a:solidFill>
            <a:srgbClr val="3B3B96"/>
          </a:solidFill>
          <a:ln w="9525">
            <a:solidFill>
              <a:srgbClr val="5050A8"/>
            </a:solidFill>
            <a:prstDash val="solid"/>
          </a:ln>
        </p:spPr>
      </p:sp>
      <p:sp>
        <p:nvSpPr>
          <p:cNvPr id="29" name="Shape 27"/>
          <p:cNvSpPr/>
          <p:nvPr/>
        </p:nvSpPr>
        <p:spPr>
          <a:xfrm>
            <a:off x="594360" y="4553712"/>
            <a:ext cx="50292" cy="502920"/>
          </a:xfrm>
          <a:prstGeom prst="rect">
            <a:avLst/>
          </a:prstGeom>
          <a:solidFill>
            <a:srgbClr val="8A8AC4"/>
          </a:solidFill>
          <a:ln w="12700">
            <a:solidFill>
              <a:srgbClr val="8A8AC4"/>
            </a:solidFill>
            <a:prstDash val="solid"/>
          </a:ln>
        </p:spPr>
      </p:sp>
      <p:sp>
        <p:nvSpPr>
          <p:cNvPr id="30" name="Shape 28"/>
          <p:cNvSpPr/>
          <p:nvPr/>
        </p:nvSpPr>
        <p:spPr>
          <a:xfrm>
            <a:off x="795528" y="4622292"/>
            <a:ext cx="365760" cy="365760"/>
          </a:xfrm>
          <a:prstGeom prst="ellipse">
            <a:avLst/>
          </a:prstGeom>
          <a:solidFill>
            <a:srgbClr val="3333B3"/>
          </a:solidFill>
          <a:ln w="12700">
            <a:solidFill>
              <a:srgbClr val="3333B3"/>
            </a:solidFill>
            <a:prstDash val="solid"/>
          </a:ln>
        </p:spPr>
      </p:sp>
      <p:sp>
        <p:nvSpPr>
          <p:cNvPr id="31" name="Text 29"/>
          <p:cNvSpPr txBox="1"/>
          <p:nvPr/>
        </p:nvSpPr>
        <p:spPr>
          <a:xfrm>
            <a:off x="795528" y="46222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2" name="Text 30"/>
          <p:cNvSpPr txBox="1"/>
          <p:nvPr/>
        </p:nvSpPr>
        <p:spPr>
          <a:xfrm>
            <a:off x="1325880" y="4553712"/>
            <a:ext cx="5084064"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Set ASPNETCORE_ENVIRONMENT</a:t>
            </a:r>
            <a:endParaRPr lang="en-US" sz="1300" dirty="0"/>
          </a:p>
          <a:p>
            <a:pPr indent="0" marL="0">
              <a:buNone/>
            </a:pPr>
            <a:r>
              <a:rPr lang="en-US" sz="1100" dirty="0">
                <a:solidFill>
                  <a:srgbClr val="D9D9EF"/>
                </a:solidFill>
                <a:latin typeface="Cambria" pitchFamily="34" charset="0"/>
                <a:ea typeface="Cambria" pitchFamily="34" charset="-122"/>
                <a:cs typeface="Cambria" pitchFamily="34" charset="-120"/>
              </a:rPr>
              <a:t>Production — and see the error pages change</a:t>
            </a:r>
            <a:endParaRPr lang="en-US" sz="1300" dirty="0"/>
          </a:p>
        </p:txBody>
      </p:sp>
      <p:sp>
        <p:nvSpPr>
          <p:cNvPr id="33" name="Shape 31"/>
          <p:cNvSpPr/>
          <p:nvPr/>
        </p:nvSpPr>
        <p:spPr>
          <a:xfrm>
            <a:off x="594360" y="5148072"/>
            <a:ext cx="6035040" cy="502920"/>
          </a:xfrm>
          <a:prstGeom prst="rect">
            <a:avLst/>
          </a:prstGeom>
          <a:solidFill>
            <a:srgbClr val="3B3B96"/>
          </a:solidFill>
          <a:ln w="9525">
            <a:solidFill>
              <a:srgbClr val="5050A8"/>
            </a:solidFill>
            <a:prstDash val="solid"/>
          </a:ln>
        </p:spPr>
      </p:sp>
      <p:sp>
        <p:nvSpPr>
          <p:cNvPr id="34" name="Shape 32"/>
          <p:cNvSpPr/>
          <p:nvPr/>
        </p:nvSpPr>
        <p:spPr>
          <a:xfrm>
            <a:off x="594360" y="5148072"/>
            <a:ext cx="50292" cy="502920"/>
          </a:xfrm>
          <a:prstGeom prst="rect">
            <a:avLst/>
          </a:prstGeom>
          <a:solidFill>
            <a:srgbClr val="8A8AC4"/>
          </a:solidFill>
          <a:ln w="12700">
            <a:solidFill>
              <a:srgbClr val="8A8AC4"/>
            </a:solidFill>
            <a:prstDash val="solid"/>
          </a:ln>
        </p:spPr>
      </p:sp>
      <p:sp>
        <p:nvSpPr>
          <p:cNvPr id="35" name="Shape 33"/>
          <p:cNvSpPr/>
          <p:nvPr/>
        </p:nvSpPr>
        <p:spPr>
          <a:xfrm>
            <a:off x="795528" y="5216652"/>
            <a:ext cx="365760" cy="365760"/>
          </a:xfrm>
          <a:prstGeom prst="ellipse">
            <a:avLst/>
          </a:prstGeom>
          <a:solidFill>
            <a:srgbClr val="3333B3"/>
          </a:solidFill>
          <a:ln w="12700">
            <a:solidFill>
              <a:srgbClr val="3333B3"/>
            </a:solidFill>
            <a:prstDash val="solid"/>
          </a:ln>
        </p:spPr>
      </p:sp>
      <p:sp>
        <p:nvSpPr>
          <p:cNvPr id="36" name="Text 34"/>
          <p:cNvSpPr txBox="1"/>
          <p:nvPr/>
        </p:nvSpPr>
        <p:spPr>
          <a:xfrm>
            <a:off x="795528" y="52166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7" name="Text 35"/>
          <p:cNvSpPr txBox="1"/>
          <p:nvPr/>
        </p:nvSpPr>
        <p:spPr>
          <a:xfrm>
            <a:off x="1325880" y="5148072"/>
            <a:ext cx="5084064"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Fix what breaks</a:t>
            </a:r>
            <a:endParaRPr lang="en-US" sz="1300" dirty="0"/>
          </a:p>
          <a:p>
            <a:pPr indent="0" marL="0">
              <a:buNone/>
            </a:pPr>
            <a:r>
              <a:rPr lang="en-US" sz="1100" dirty="0">
                <a:solidFill>
                  <a:srgbClr val="D9D9EF"/>
                </a:solidFill>
                <a:latin typeface="Cambria" pitchFamily="34" charset="0"/>
                <a:ea typeface="Cambria" pitchFamily="34" charset="-122"/>
                <a:cs typeface="Cambria" pitchFamily="34" charset="-120"/>
              </a:rPr>
              <a:t>Use the table from two slides ago; work the method</a:t>
            </a:r>
            <a:endParaRPr lang="en-US" sz="1300" dirty="0"/>
          </a:p>
        </p:txBody>
      </p:sp>
      <p:sp>
        <p:nvSpPr>
          <p:cNvPr id="38" name="Shape 36"/>
          <p:cNvSpPr/>
          <p:nvPr/>
        </p:nvSpPr>
        <p:spPr>
          <a:xfrm>
            <a:off x="594360" y="5742432"/>
            <a:ext cx="6035040" cy="502920"/>
          </a:xfrm>
          <a:prstGeom prst="rect">
            <a:avLst/>
          </a:prstGeom>
          <a:solidFill>
            <a:srgbClr val="3B3B96"/>
          </a:solidFill>
          <a:ln w="9525">
            <a:solidFill>
              <a:srgbClr val="5050A8"/>
            </a:solidFill>
            <a:prstDash val="solid"/>
          </a:ln>
        </p:spPr>
      </p:sp>
      <p:sp>
        <p:nvSpPr>
          <p:cNvPr id="39" name="Shape 37"/>
          <p:cNvSpPr/>
          <p:nvPr/>
        </p:nvSpPr>
        <p:spPr>
          <a:xfrm>
            <a:off x="594360" y="5742432"/>
            <a:ext cx="50292" cy="502920"/>
          </a:xfrm>
          <a:prstGeom prst="rect">
            <a:avLst/>
          </a:prstGeom>
          <a:solidFill>
            <a:srgbClr val="8A8AC4"/>
          </a:solidFill>
          <a:ln w="12700">
            <a:solidFill>
              <a:srgbClr val="8A8AC4"/>
            </a:solidFill>
            <a:prstDash val="solid"/>
          </a:ln>
        </p:spPr>
      </p:sp>
      <p:sp>
        <p:nvSpPr>
          <p:cNvPr id="40" name="Shape 38"/>
          <p:cNvSpPr/>
          <p:nvPr/>
        </p:nvSpPr>
        <p:spPr>
          <a:xfrm>
            <a:off x="795528" y="5811012"/>
            <a:ext cx="365760" cy="365760"/>
          </a:xfrm>
          <a:prstGeom prst="ellipse">
            <a:avLst/>
          </a:prstGeom>
          <a:solidFill>
            <a:srgbClr val="3333B3"/>
          </a:solidFill>
          <a:ln w="12700">
            <a:solidFill>
              <a:srgbClr val="3333B3"/>
            </a:solidFill>
            <a:prstDash val="solid"/>
          </a:ln>
        </p:spPr>
      </p:sp>
      <p:sp>
        <p:nvSpPr>
          <p:cNvPr id="41" name="Text 39"/>
          <p:cNvSpPr txBox="1"/>
          <p:nvPr/>
        </p:nvSpPr>
        <p:spPr>
          <a:xfrm>
            <a:off x="795528" y="58110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42" name="Text 40"/>
          <p:cNvSpPr txBox="1"/>
          <p:nvPr/>
        </p:nvSpPr>
        <p:spPr>
          <a:xfrm>
            <a:off x="1325880" y="5742432"/>
            <a:ext cx="5084064"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Prove it from another machine</a:t>
            </a:r>
            <a:endParaRPr lang="en-US" sz="1300" dirty="0"/>
          </a:p>
          <a:p>
            <a:pPr indent="0" marL="0">
              <a:buNone/>
            </a:pPr>
            <a:r>
              <a:rPr lang="en-US" sz="1100" dirty="0">
                <a:solidFill>
                  <a:srgbClr val="D9D9EF"/>
                </a:solidFill>
                <a:latin typeface="Cambria" pitchFamily="34" charset="0"/>
                <a:ea typeface="Cambria" pitchFamily="34" charset="-122"/>
                <a:cs typeface="Cambria" pitchFamily="34" charset="-120"/>
              </a:rPr>
              <a:t>Including the report download</a:t>
            </a:r>
            <a:endParaRPr lang="en-US" sz="1300" dirty="0"/>
          </a:p>
        </p:txBody>
      </p:sp>
      <p:sp>
        <p:nvSpPr>
          <p:cNvPr id="43" name="Shape 41"/>
          <p:cNvSpPr/>
          <p:nvPr/>
        </p:nvSpPr>
        <p:spPr>
          <a:xfrm>
            <a:off x="6949440" y="1600200"/>
            <a:ext cx="4645152" cy="402336"/>
          </a:xfrm>
          <a:prstGeom prst="rect">
            <a:avLst/>
          </a:prstGeom>
          <a:solidFill>
            <a:srgbClr val="5050A8"/>
          </a:solidFill>
          <a:ln w="12700">
            <a:solidFill>
              <a:srgbClr val="5050A8"/>
            </a:solidFill>
            <a:prstDash val="solid"/>
          </a:ln>
        </p:spPr>
      </p:sp>
      <p:sp>
        <p:nvSpPr>
          <p:cNvPr id="44" name="Text 42"/>
          <p:cNvSpPr txBox="1"/>
          <p:nvPr/>
        </p:nvSpPr>
        <p:spPr>
          <a:xfrm>
            <a:off x="7132320" y="1600200"/>
            <a:ext cx="4279392" cy="402336"/>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Done when</a:t>
            </a:r>
            <a:endParaRPr lang="en-US" sz="1400" dirty="0"/>
          </a:p>
        </p:txBody>
      </p:sp>
      <p:sp>
        <p:nvSpPr>
          <p:cNvPr id="45" name="Shape 43"/>
          <p:cNvSpPr/>
          <p:nvPr/>
        </p:nvSpPr>
        <p:spPr>
          <a:xfrm>
            <a:off x="6949440" y="2002536"/>
            <a:ext cx="4645152" cy="1609344"/>
          </a:xfrm>
          <a:prstGeom prst="rect">
            <a:avLst/>
          </a:prstGeom>
          <a:solidFill>
            <a:srgbClr val="3B3B96"/>
          </a:solidFill>
          <a:ln w="9525">
            <a:solidFill>
              <a:srgbClr val="5050A8"/>
            </a:solidFill>
            <a:prstDash val="solid"/>
          </a:ln>
        </p:spPr>
      </p:sp>
      <p:sp>
        <p:nvSpPr>
          <p:cNvPr id="46" name="Text 44"/>
          <p:cNvSpPr txBox="1"/>
          <p:nvPr/>
        </p:nvSpPr>
        <p:spPr>
          <a:xfrm>
            <a:off x="7168896" y="2148840"/>
            <a:ext cx="4206240" cy="1335024"/>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D9D9EF"/>
                </a:solidFill>
                <a:latin typeface="Cambria" pitchFamily="34" charset="0"/>
                <a:ea typeface="Cambria" pitchFamily="34" charset="-122"/>
                <a:cs typeface="Cambria" pitchFamily="34" charset="-120"/>
              </a:rPr>
              <a:t>The dashboard loads from the server, populated from SQL Server</a:t>
            </a:r>
            <a:endParaRPr lang="en-US" sz="1150" dirty="0"/>
          </a:p>
          <a:p>
            <a:pPr marL="177800" indent="-177800">
              <a:spcAft>
                <a:spcPts val="700"/>
              </a:spcAft>
              <a:buSzPct val="100000"/>
              <a:buChar char="▸"/>
            </a:pPr>
            <a:r>
              <a:rPr lang="en-US" sz="1150" dirty="0">
                <a:solidFill>
                  <a:srgbClr val="D9D9EF"/>
                </a:solidFill>
                <a:latin typeface="Cambria" pitchFamily="34" charset="0"/>
                <a:ea typeface="Cambria" pitchFamily="34" charset="-122"/>
                <a:cs typeface="Cambria" pitchFamily="34" charset="-120"/>
              </a:rPr>
              <a:t>Adding a part from another machine persists</a:t>
            </a:r>
            <a:endParaRPr lang="en-US" sz="1150" dirty="0"/>
          </a:p>
          <a:p>
            <a:pPr marL="177800" indent="-177800">
              <a:spcAft>
                <a:spcPts val="700"/>
              </a:spcAft>
              <a:buSzPct val="100000"/>
              <a:buChar char="▸"/>
            </a:pPr>
            <a:r>
              <a:rPr lang="en-US" sz="1150" dirty="0">
                <a:solidFill>
                  <a:srgbClr val="D9D9EF"/>
                </a:solidFill>
                <a:latin typeface="Cambria" pitchFamily="34" charset="0"/>
                <a:ea typeface="Cambria" pitchFamily="34" charset="-122"/>
                <a:cs typeface="Cambria" pitchFamily="34" charset="-120"/>
              </a:rPr>
              <a:t>The report downloads as a PDF</a:t>
            </a:r>
            <a:endParaRPr lang="en-US" sz="1150" dirty="0"/>
          </a:p>
          <a:p>
            <a:pPr marL="177800" indent="-177800">
              <a:spcAft>
                <a:spcPts val="700"/>
              </a:spcAft>
              <a:buSzPct val="100000"/>
              <a:buChar char="▸"/>
            </a:pPr>
            <a:r>
              <a:rPr lang="en-US" sz="1150" dirty="0">
                <a:solidFill>
                  <a:srgbClr val="D9D9EF"/>
                </a:solidFill>
                <a:latin typeface="Cambria" pitchFamily="34" charset="0"/>
                <a:ea typeface="Cambria" pitchFamily="34" charset="-122"/>
                <a:cs typeface="Cambria" pitchFamily="34" charset="-120"/>
              </a:rPr>
              <a:t>You can explain every error you hit and how you fixed it</a:t>
            </a:r>
            <a:endParaRPr lang="en-US" sz="1150" dirty="0"/>
          </a:p>
        </p:txBody>
      </p:sp>
      <p:sp>
        <p:nvSpPr>
          <p:cNvPr id="47" name="Text 45"/>
          <p:cNvSpPr txBox="1"/>
          <p:nvPr/>
        </p:nvSpPr>
        <p:spPr>
          <a:xfrm>
            <a:off x="594360" y="5943600"/>
            <a:ext cx="10607040" cy="310896"/>
          </a:xfrm>
          <a:prstGeom prst="rect">
            <a:avLst/>
          </a:prstGeom>
          <a:noFill/>
          <a:ln/>
        </p:spPr>
        <p:txBody>
          <a:bodyPr wrap="square" lIns="0" tIns="0" rIns="0" bIns="0" rtlCol="0" anchor="ctr"/>
          <a:lstStyle/>
          <a:p>
            <a:pPr indent="0" marL="0">
              <a:buNone/>
            </a:pPr>
            <a:r>
              <a:rPr lang="en-US" sz="1100" i="1" dirty="0">
                <a:solidFill>
                  <a:srgbClr val="D9D9EF"/>
                </a:solidFill>
                <a:latin typeface="Cambria" pitchFamily="34" charset="0"/>
                <a:ea typeface="Cambria" pitchFamily="34" charset="-122"/>
                <a:cs typeface="Cambria" pitchFamily="34" charset="-120"/>
              </a:rPr>
              <a:t>This is the end-to-end system: browser, front end, API, database, report, server. Everything from here is making it faster and more reliable.</a:t>
            </a:r>
            <a:endParaRPr lang="en-US" sz="1100" dirty="0"/>
          </a:p>
        </p:txBody>
      </p:sp>
      <p:sp>
        <p:nvSpPr>
          <p:cNvPr id="48" name="Shape 46"/>
          <p:cNvSpPr/>
          <p:nvPr/>
        </p:nvSpPr>
        <p:spPr>
          <a:xfrm>
            <a:off x="0" y="6400800"/>
            <a:ext cx="3840480" cy="457200"/>
          </a:xfrm>
          <a:prstGeom prst="rect">
            <a:avLst/>
          </a:prstGeom>
          <a:solidFill>
            <a:srgbClr val="5050A8"/>
          </a:solidFill>
          <a:ln w="12700">
            <a:solidFill>
              <a:srgbClr val="5050A8"/>
            </a:solidFill>
            <a:prstDash val="solid"/>
          </a:ln>
        </p:spPr>
      </p:sp>
      <p:sp>
        <p:nvSpPr>
          <p:cNvPr id="49" name="Text 47"/>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50" name="Shape 48"/>
          <p:cNvSpPr/>
          <p:nvPr/>
        </p:nvSpPr>
        <p:spPr>
          <a:xfrm>
            <a:off x="3840480" y="6400800"/>
            <a:ext cx="6675120" cy="457200"/>
          </a:xfrm>
          <a:prstGeom prst="rect">
            <a:avLst/>
          </a:prstGeom>
          <a:solidFill>
            <a:srgbClr val="3B3B96"/>
          </a:solidFill>
          <a:ln w="12700">
            <a:solidFill>
              <a:srgbClr val="3B3B96"/>
            </a:solidFill>
            <a:prstDash val="solid"/>
          </a:ln>
        </p:spPr>
      </p:sp>
      <p:sp>
        <p:nvSpPr>
          <p:cNvPr id="51" name="Text 49"/>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4 — Deployment &amp; Troubleshooting</a:t>
            </a:r>
            <a:endParaRPr lang="en-US" sz="950" dirty="0"/>
          </a:p>
        </p:txBody>
      </p:sp>
      <p:sp>
        <p:nvSpPr>
          <p:cNvPr id="52" name="Shape 50"/>
          <p:cNvSpPr/>
          <p:nvPr/>
        </p:nvSpPr>
        <p:spPr>
          <a:xfrm>
            <a:off x="10515600" y="6400800"/>
            <a:ext cx="1676095" cy="457200"/>
          </a:xfrm>
          <a:prstGeom prst="rect">
            <a:avLst/>
          </a:prstGeom>
          <a:solidFill>
            <a:srgbClr val="5050A8"/>
          </a:solidFill>
          <a:ln w="12700">
            <a:solidFill>
              <a:srgbClr val="5050A8"/>
            </a:solidFill>
            <a:prstDash val="solid"/>
          </a:ln>
        </p:spPr>
      </p:sp>
      <p:sp>
        <p:nvSpPr>
          <p:cNvPr id="53" name="Text 51"/>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B2B7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5050A8"/>
          </a:solidFill>
          <a:ln w="12700">
            <a:solidFill>
              <a:srgbClr val="5050A8"/>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END OF DAY 3</a:t>
            </a:r>
            <a:endParaRPr lang="en-US" sz="1000" dirty="0"/>
          </a:p>
        </p:txBody>
      </p:sp>
      <p:sp>
        <p:nvSpPr>
          <p:cNvPr id="4" name="Shape 2"/>
          <p:cNvSpPr/>
          <p:nvPr/>
        </p:nvSpPr>
        <p:spPr>
          <a:xfrm>
            <a:off x="0" y="365760"/>
            <a:ext cx="12191695" cy="841248"/>
          </a:xfrm>
          <a:prstGeom prst="rect">
            <a:avLst/>
          </a:prstGeom>
          <a:solidFill>
            <a:srgbClr val="3B3B96"/>
          </a:solidFill>
          <a:ln w="12700">
            <a:solidFill>
              <a:srgbClr val="3B3B96"/>
            </a:solidFill>
            <a:prstDash val="solid"/>
          </a:ln>
        </p:spPr>
      </p:sp>
      <p:sp>
        <p:nvSpPr>
          <p:cNvPr id="5" name="Text 3"/>
          <p:cNvSpPr txBox="1"/>
          <p:nvPr/>
        </p:nvSpPr>
        <p:spPr>
          <a:xfrm>
            <a:off x="594360" y="365760"/>
            <a:ext cx="10607040"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you have built, and what comes next</a:t>
            </a:r>
            <a:endParaRPr lang="en-US" sz="2600" dirty="0"/>
          </a:p>
        </p:txBody>
      </p:sp>
      <p:sp>
        <p:nvSpPr>
          <p:cNvPr id="6" name="Text 4"/>
          <p:cNvSpPr txBox="1"/>
          <p:nvPr/>
        </p:nvSpPr>
        <p:spPr>
          <a:xfrm>
            <a:off x="594360" y="1627632"/>
            <a:ext cx="4572000" cy="237744"/>
          </a:xfrm>
          <a:prstGeom prst="rect">
            <a:avLst/>
          </a:prstGeom>
          <a:noFill/>
          <a:ln/>
        </p:spPr>
        <p:txBody>
          <a:bodyPr wrap="square" lIns="0" tIns="0" rIns="0" bIns="0" rtlCol="0" anchor="ctr"/>
          <a:lstStyle/>
          <a:p>
            <a:pPr indent="0" marL="0">
              <a:buNone/>
            </a:pPr>
            <a:r>
              <a:rPr lang="en-US" sz="1050" b="1" spc="140" kern="0" dirty="0">
                <a:solidFill>
                  <a:srgbClr val="C9C9EA"/>
                </a:solidFill>
                <a:latin typeface="Cambria" pitchFamily="34" charset="0"/>
                <a:ea typeface="Cambria" pitchFamily="34" charset="-122"/>
                <a:cs typeface="Cambria" pitchFamily="34" charset="-120"/>
              </a:rPr>
              <a:t>WORKING, AND YOURS</a:t>
            </a:r>
            <a:endParaRPr lang="en-US" sz="1050" dirty="0"/>
          </a:p>
        </p:txBody>
      </p:sp>
      <p:sp>
        <p:nvSpPr>
          <p:cNvPr id="7" name="Shape 5"/>
          <p:cNvSpPr/>
          <p:nvPr/>
        </p:nvSpPr>
        <p:spPr>
          <a:xfrm>
            <a:off x="594360" y="1938528"/>
            <a:ext cx="5806440" cy="676656"/>
          </a:xfrm>
          <a:prstGeom prst="rect">
            <a:avLst/>
          </a:prstGeom>
          <a:solidFill>
            <a:srgbClr val="3B3B96"/>
          </a:solidFill>
          <a:ln w="9525">
            <a:solidFill>
              <a:srgbClr val="5050A8"/>
            </a:solidFill>
            <a:prstDash val="solid"/>
          </a:ln>
        </p:spPr>
      </p:sp>
      <p:sp>
        <p:nvSpPr>
          <p:cNvPr id="8" name="Shape 6"/>
          <p:cNvSpPr/>
          <p:nvPr/>
        </p:nvSpPr>
        <p:spPr>
          <a:xfrm>
            <a:off x="594360" y="1938528"/>
            <a:ext cx="50292" cy="676656"/>
          </a:xfrm>
          <a:prstGeom prst="rect">
            <a:avLst/>
          </a:prstGeom>
          <a:solidFill>
            <a:srgbClr val="8A8AC4"/>
          </a:solidFill>
          <a:ln w="12700">
            <a:solidFill>
              <a:srgbClr val="8A8AC4"/>
            </a:solidFill>
            <a:prstDash val="solid"/>
          </a:ln>
        </p:spPr>
      </p:sp>
      <p:sp>
        <p:nvSpPr>
          <p:cNvPr id="9" name="Shape 7"/>
          <p:cNvSpPr/>
          <p:nvPr/>
        </p:nvSpPr>
        <p:spPr>
          <a:xfrm>
            <a:off x="795528" y="2093976"/>
            <a:ext cx="365760" cy="365760"/>
          </a:xfrm>
          <a:prstGeom prst="ellipse">
            <a:avLst/>
          </a:prstGeom>
          <a:solidFill>
            <a:srgbClr val="3333B3"/>
          </a:solidFill>
          <a:ln w="12700">
            <a:solidFill>
              <a:srgbClr val="3333B3"/>
            </a:solidFill>
            <a:prstDash val="solid"/>
          </a:ln>
        </p:spPr>
      </p:sp>
      <p:sp>
        <p:nvSpPr>
          <p:cNvPr id="10" name="Text 8"/>
          <p:cNvSpPr txBox="1"/>
          <p:nvPr/>
        </p:nvSpPr>
        <p:spPr>
          <a:xfrm>
            <a:off x="795528" y="20939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9"/>
          <p:cNvSpPr txBox="1"/>
          <p:nvPr/>
        </p:nvSpPr>
        <p:spPr>
          <a:xfrm>
            <a:off x="1325880" y="1938528"/>
            <a:ext cx="4855464" cy="67665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An ASP.NET Core MVC application</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Written to a standard you can defend in review</a:t>
            </a:r>
            <a:endParaRPr lang="en-US" sz="1350" dirty="0"/>
          </a:p>
        </p:txBody>
      </p:sp>
      <p:sp>
        <p:nvSpPr>
          <p:cNvPr id="12" name="Shape 10"/>
          <p:cNvSpPr/>
          <p:nvPr/>
        </p:nvSpPr>
        <p:spPr>
          <a:xfrm>
            <a:off x="594360" y="2724912"/>
            <a:ext cx="5806440" cy="676656"/>
          </a:xfrm>
          <a:prstGeom prst="rect">
            <a:avLst/>
          </a:prstGeom>
          <a:solidFill>
            <a:srgbClr val="3B3B96"/>
          </a:solidFill>
          <a:ln w="9525">
            <a:solidFill>
              <a:srgbClr val="5050A8"/>
            </a:solidFill>
            <a:prstDash val="solid"/>
          </a:ln>
        </p:spPr>
      </p:sp>
      <p:sp>
        <p:nvSpPr>
          <p:cNvPr id="13" name="Shape 11"/>
          <p:cNvSpPr/>
          <p:nvPr/>
        </p:nvSpPr>
        <p:spPr>
          <a:xfrm>
            <a:off x="594360" y="2724912"/>
            <a:ext cx="50292" cy="676656"/>
          </a:xfrm>
          <a:prstGeom prst="rect">
            <a:avLst/>
          </a:prstGeom>
          <a:solidFill>
            <a:srgbClr val="8A8AC4"/>
          </a:solidFill>
          <a:ln w="12700">
            <a:solidFill>
              <a:srgbClr val="8A8AC4"/>
            </a:solidFill>
            <a:prstDash val="solid"/>
          </a:ln>
        </p:spPr>
      </p:sp>
      <p:sp>
        <p:nvSpPr>
          <p:cNvPr id="14" name="Shape 12"/>
          <p:cNvSpPr/>
          <p:nvPr/>
        </p:nvSpPr>
        <p:spPr>
          <a:xfrm>
            <a:off x="795528" y="2880360"/>
            <a:ext cx="365760" cy="365760"/>
          </a:xfrm>
          <a:prstGeom prst="ellipse">
            <a:avLst/>
          </a:prstGeom>
          <a:solidFill>
            <a:srgbClr val="3333B3"/>
          </a:solidFill>
          <a:ln w="12700">
            <a:solidFill>
              <a:srgbClr val="3333B3"/>
            </a:solidFill>
            <a:prstDash val="solid"/>
          </a:ln>
        </p:spPr>
      </p:sp>
      <p:sp>
        <p:nvSpPr>
          <p:cNvPr id="15" name="Text 13"/>
          <p:cNvSpPr txBox="1"/>
          <p:nvPr/>
        </p:nvSpPr>
        <p:spPr>
          <a:xfrm>
            <a:off x="795528" y="2880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6" name="Text 14"/>
          <p:cNvSpPr txBox="1"/>
          <p:nvPr/>
        </p:nvSpPr>
        <p:spPr>
          <a:xfrm>
            <a:off x="1325880" y="2724912"/>
            <a:ext cx="4855464" cy="67665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 REST API over SQL Server</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EF Core, a repository, validation and status codes</a:t>
            </a:r>
            <a:endParaRPr lang="en-US" sz="1350" dirty="0"/>
          </a:p>
        </p:txBody>
      </p:sp>
      <p:sp>
        <p:nvSpPr>
          <p:cNvPr id="17" name="Shape 15"/>
          <p:cNvSpPr/>
          <p:nvPr/>
        </p:nvSpPr>
        <p:spPr>
          <a:xfrm>
            <a:off x="594360" y="3511296"/>
            <a:ext cx="5806440" cy="676656"/>
          </a:xfrm>
          <a:prstGeom prst="rect">
            <a:avLst/>
          </a:prstGeom>
          <a:solidFill>
            <a:srgbClr val="3B3B96"/>
          </a:solidFill>
          <a:ln w="9525">
            <a:solidFill>
              <a:srgbClr val="5050A8"/>
            </a:solidFill>
            <a:prstDash val="solid"/>
          </a:ln>
        </p:spPr>
      </p:sp>
      <p:sp>
        <p:nvSpPr>
          <p:cNvPr id="18" name="Shape 16"/>
          <p:cNvSpPr/>
          <p:nvPr/>
        </p:nvSpPr>
        <p:spPr>
          <a:xfrm>
            <a:off x="594360" y="3511296"/>
            <a:ext cx="50292" cy="676656"/>
          </a:xfrm>
          <a:prstGeom prst="rect">
            <a:avLst/>
          </a:prstGeom>
          <a:solidFill>
            <a:srgbClr val="8A8AC4"/>
          </a:solidFill>
          <a:ln w="12700">
            <a:solidFill>
              <a:srgbClr val="8A8AC4"/>
            </a:solidFill>
            <a:prstDash val="solid"/>
          </a:ln>
        </p:spPr>
      </p:sp>
      <p:sp>
        <p:nvSpPr>
          <p:cNvPr id="19" name="Shape 17"/>
          <p:cNvSpPr/>
          <p:nvPr/>
        </p:nvSpPr>
        <p:spPr>
          <a:xfrm>
            <a:off x="795528" y="3666744"/>
            <a:ext cx="365760" cy="365760"/>
          </a:xfrm>
          <a:prstGeom prst="ellipse">
            <a:avLst/>
          </a:prstGeom>
          <a:solidFill>
            <a:srgbClr val="3333B3"/>
          </a:solidFill>
          <a:ln w="12700">
            <a:solidFill>
              <a:srgbClr val="3333B3"/>
            </a:solidFill>
            <a:prstDash val="solid"/>
          </a:ln>
        </p:spPr>
      </p:sp>
      <p:sp>
        <p:nvSpPr>
          <p:cNvPr id="20" name="Text 18"/>
          <p:cNvSpPr txBox="1"/>
          <p:nvPr/>
        </p:nvSpPr>
        <p:spPr>
          <a:xfrm>
            <a:off x="795528" y="36667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1" name="Text 19"/>
          <p:cNvSpPr txBox="1"/>
          <p:nvPr/>
        </p:nvSpPr>
        <p:spPr>
          <a:xfrm>
            <a:off x="1325880" y="3511296"/>
            <a:ext cx="4855464" cy="67665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 React front end</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Components, state, fetching, forms</a:t>
            </a:r>
            <a:endParaRPr lang="en-US" sz="1350" dirty="0"/>
          </a:p>
        </p:txBody>
      </p:sp>
      <p:sp>
        <p:nvSpPr>
          <p:cNvPr id="22" name="Shape 20"/>
          <p:cNvSpPr/>
          <p:nvPr/>
        </p:nvSpPr>
        <p:spPr>
          <a:xfrm>
            <a:off x="594360" y="4297680"/>
            <a:ext cx="5806440" cy="676656"/>
          </a:xfrm>
          <a:prstGeom prst="rect">
            <a:avLst/>
          </a:prstGeom>
          <a:solidFill>
            <a:srgbClr val="3B3B96"/>
          </a:solidFill>
          <a:ln w="9525">
            <a:solidFill>
              <a:srgbClr val="5050A8"/>
            </a:solidFill>
            <a:prstDash val="solid"/>
          </a:ln>
        </p:spPr>
      </p:sp>
      <p:sp>
        <p:nvSpPr>
          <p:cNvPr id="23" name="Shape 21"/>
          <p:cNvSpPr/>
          <p:nvPr/>
        </p:nvSpPr>
        <p:spPr>
          <a:xfrm>
            <a:off x="594360" y="4297680"/>
            <a:ext cx="50292" cy="676656"/>
          </a:xfrm>
          <a:prstGeom prst="rect">
            <a:avLst/>
          </a:prstGeom>
          <a:solidFill>
            <a:srgbClr val="8A8AC4"/>
          </a:solidFill>
          <a:ln w="12700">
            <a:solidFill>
              <a:srgbClr val="8A8AC4"/>
            </a:solidFill>
            <a:prstDash val="solid"/>
          </a:ln>
        </p:spPr>
      </p:sp>
      <p:sp>
        <p:nvSpPr>
          <p:cNvPr id="24" name="Shape 22"/>
          <p:cNvSpPr/>
          <p:nvPr/>
        </p:nvSpPr>
        <p:spPr>
          <a:xfrm>
            <a:off x="795528" y="4453128"/>
            <a:ext cx="365760" cy="365760"/>
          </a:xfrm>
          <a:prstGeom prst="ellipse">
            <a:avLst/>
          </a:prstGeom>
          <a:solidFill>
            <a:srgbClr val="3333B3"/>
          </a:solidFill>
          <a:ln w="12700">
            <a:solidFill>
              <a:srgbClr val="3333B3"/>
            </a:solidFill>
            <a:prstDash val="solid"/>
          </a:ln>
        </p:spPr>
      </p:sp>
      <p:sp>
        <p:nvSpPr>
          <p:cNvPr id="25" name="Text 23"/>
          <p:cNvSpPr txBox="1"/>
          <p:nvPr/>
        </p:nvSpPr>
        <p:spPr>
          <a:xfrm>
            <a:off x="795528" y="44531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6" name="Text 24"/>
          <p:cNvSpPr txBox="1"/>
          <p:nvPr/>
        </p:nvSpPr>
        <p:spPr>
          <a:xfrm>
            <a:off x="1325880" y="4297680"/>
            <a:ext cx="4855464" cy="67665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 parameterised report</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Exporting to PDF from inside the application</a:t>
            </a:r>
            <a:endParaRPr lang="en-US" sz="1350" dirty="0"/>
          </a:p>
        </p:txBody>
      </p:sp>
      <p:sp>
        <p:nvSpPr>
          <p:cNvPr id="27" name="Shape 25"/>
          <p:cNvSpPr/>
          <p:nvPr/>
        </p:nvSpPr>
        <p:spPr>
          <a:xfrm>
            <a:off x="594360" y="5084064"/>
            <a:ext cx="5806440" cy="676656"/>
          </a:xfrm>
          <a:prstGeom prst="rect">
            <a:avLst/>
          </a:prstGeom>
          <a:solidFill>
            <a:srgbClr val="3B3B96"/>
          </a:solidFill>
          <a:ln w="9525">
            <a:solidFill>
              <a:srgbClr val="5050A8"/>
            </a:solidFill>
            <a:prstDash val="solid"/>
          </a:ln>
        </p:spPr>
      </p:sp>
      <p:sp>
        <p:nvSpPr>
          <p:cNvPr id="28" name="Shape 26"/>
          <p:cNvSpPr/>
          <p:nvPr/>
        </p:nvSpPr>
        <p:spPr>
          <a:xfrm>
            <a:off x="594360" y="5084064"/>
            <a:ext cx="50292" cy="676656"/>
          </a:xfrm>
          <a:prstGeom prst="rect">
            <a:avLst/>
          </a:prstGeom>
          <a:solidFill>
            <a:srgbClr val="8A8AC4"/>
          </a:solidFill>
          <a:ln w="12700">
            <a:solidFill>
              <a:srgbClr val="8A8AC4"/>
            </a:solidFill>
            <a:prstDash val="solid"/>
          </a:ln>
        </p:spPr>
      </p:sp>
      <p:sp>
        <p:nvSpPr>
          <p:cNvPr id="29" name="Shape 27"/>
          <p:cNvSpPr/>
          <p:nvPr/>
        </p:nvSpPr>
        <p:spPr>
          <a:xfrm>
            <a:off x="795528" y="5239512"/>
            <a:ext cx="365760" cy="365760"/>
          </a:xfrm>
          <a:prstGeom prst="ellipse">
            <a:avLst/>
          </a:prstGeom>
          <a:solidFill>
            <a:srgbClr val="3333B3"/>
          </a:solidFill>
          <a:ln w="12700">
            <a:solidFill>
              <a:srgbClr val="3333B3"/>
            </a:solidFill>
            <a:prstDash val="solid"/>
          </a:ln>
        </p:spPr>
      </p:sp>
      <p:sp>
        <p:nvSpPr>
          <p:cNvPr id="30" name="Text 28"/>
          <p:cNvSpPr txBox="1"/>
          <p:nvPr/>
        </p:nvSpPr>
        <p:spPr>
          <a:xfrm>
            <a:off x="795528" y="52395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1" name="Text 29"/>
          <p:cNvSpPr txBox="1"/>
          <p:nvPr/>
        </p:nvSpPr>
        <p:spPr>
          <a:xfrm>
            <a:off x="1325880" y="5084064"/>
            <a:ext cx="4855464" cy="67665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 deployment on IIS</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And the method to diagnose the next one</a:t>
            </a:r>
            <a:endParaRPr lang="en-US" sz="1350" dirty="0"/>
          </a:p>
        </p:txBody>
      </p:sp>
      <p:sp>
        <p:nvSpPr>
          <p:cNvPr id="32" name="Shape 30"/>
          <p:cNvSpPr/>
          <p:nvPr/>
        </p:nvSpPr>
        <p:spPr>
          <a:xfrm>
            <a:off x="6629400" y="1627632"/>
            <a:ext cx="4965192" cy="2286000"/>
          </a:xfrm>
          <a:prstGeom prst="roundRect">
            <a:avLst>
              <a:gd name="adj" fmla="val 2000"/>
            </a:avLst>
          </a:prstGeom>
          <a:solidFill>
            <a:srgbClr val="3B3B96"/>
          </a:solidFill>
          <a:ln w="12700">
            <a:solidFill>
              <a:srgbClr val="5050A8"/>
            </a:solidFill>
            <a:prstDash val="solid"/>
          </a:ln>
        </p:spPr>
      </p:sp>
      <p:sp>
        <p:nvSpPr>
          <p:cNvPr id="33" name="Text 31"/>
          <p:cNvSpPr txBox="1"/>
          <p:nvPr/>
        </p:nvSpPr>
        <p:spPr>
          <a:xfrm>
            <a:off x="6903720" y="1828800"/>
            <a:ext cx="4389120" cy="256032"/>
          </a:xfrm>
          <a:prstGeom prst="rect">
            <a:avLst/>
          </a:prstGeom>
          <a:noFill/>
          <a:ln/>
        </p:spPr>
        <p:txBody>
          <a:bodyPr wrap="square" lIns="0" tIns="0" rIns="0" bIns="0" rtlCol="0" anchor="ctr"/>
          <a:lstStyle/>
          <a:p>
            <a:pPr indent="0" marL="0">
              <a:buNone/>
            </a:pPr>
            <a:r>
              <a:rPr lang="en-US" sz="1050" b="1" spc="200" kern="0" dirty="0">
                <a:solidFill>
                  <a:srgbClr val="C9C9EA"/>
                </a:solidFill>
                <a:latin typeface="Cambria" pitchFamily="34" charset="0"/>
                <a:ea typeface="Cambria" pitchFamily="34" charset="-122"/>
                <a:cs typeface="Cambria" pitchFamily="34" charset="-120"/>
              </a:rPr>
              <a:t>DAYS 4 AND 5</a:t>
            </a:r>
            <a:endParaRPr lang="en-US" sz="1050" dirty="0"/>
          </a:p>
        </p:txBody>
      </p:sp>
      <p:sp>
        <p:nvSpPr>
          <p:cNvPr id="34" name="Text 32"/>
          <p:cNvSpPr txBox="1"/>
          <p:nvPr/>
        </p:nvSpPr>
        <p:spPr>
          <a:xfrm>
            <a:off x="6903720" y="2194560"/>
            <a:ext cx="4389120" cy="1554480"/>
          </a:xfrm>
          <a:prstGeom prst="rect">
            <a:avLst/>
          </a:prstGeom>
          <a:noFill/>
          <a:ln/>
        </p:spPr>
        <p:txBody>
          <a:bodyPr wrap="square" lIns="0" tIns="0" rIns="0" bIns="0" rtlCol="0" anchor="t"/>
          <a:lstStyle/>
          <a:p>
            <a:pPr marL="177800" indent="-177800">
              <a:spcAft>
                <a:spcPts val="900"/>
              </a:spcAft>
              <a:buSzPct val="100000"/>
              <a:buChar char="▸"/>
            </a:pPr>
            <a:r>
              <a:rPr lang="en-US" sz="1250" dirty="0">
                <a:solidFill>
                  <a:srgbClr val="D9D9EF"/>
                </a:solidFill>
                <a:latin typeface="Cambria" pitchFamily="34" charset="0"/>
                <a:ea typeface="Cambria" pitchFamily="34" charset="-122"/>
                <a:cs typeface="Cambria" pitchFamily="34" charset="-120"/>
              </a:rPr>
              <a:t>SQL fundamentals: DDL, DML, joins, subqueries</a:t>
            </a:r>
            <a:endParaRPr lang="en-US" sz="1250" dirty="0"/>
          </a:p>
          <a:p>
            <a:pPr marL="177800" indent="-177800">
              <a:spcAft>
                <a:spcPts val="900"/>
              </a:spcAft>
              <a:buSzPct val="100000"/>
              <a:buChar char="▸"/>
            </a:pPr>
            <a:r>
              <a:rPr lang="en-US" sz="1250" dirty="0">
                <a:solidFill>
                  <a:srgbClr val="D9D9EF"/>
                </a:solidFill>
                <a:latin typeface="Cambria" pitchFamily="34" charset="0"/>
                <a:ea typeface="Cambria" pitchFamily="34" charset="-122"/>
                <a:cs typeface="Cambria" pitchFamily="34" charset="-120"/>
              </a:rPr>
              <a:t>Stored procedures and transactions</a:t>
            </a:r>
            <a:endParaRPr lang="en-US" sz="1250" dirty="0"/>
          </a:p>
          <a:p>
            <a:pPr marL="177800" indent="-177800">
              <a:spcAft>
                <a:spcPts val="900"/>
              </a:spcAft>
              <a:buSzPct val="100000"/>
              <a:buChar char="▸"/>
            </a:pPr>
            <a:r>
              <a:rPr lang="en-US" sz="1250" dirty="0">
                <a:solidFill>
                  <a:srgbClr val="D9D9EF"/>
                </a:solidFill>
                <a:latin typeface="Cambria" pitchFamily="34" charset="0"/>
                <a:ea typeface="Cambria" pitchFamily="34" charset="-122"/>
                <a:cs typeface="Cambria" pitchFamily="34" charset="-120"/>
              </a:rPr>
              <a:t>Execution plans and indexing</a:t>
            </a:r>
            <a:endParaRPr lang="en-US" sz="1250" dirty="0"/>
          </a:p>
          <a:p>
            <a:pPr marL="177800" indent="-177800">
              <a:spcAft>
                <a:spcPts val="900"/>
              </a:spcAft>
              <a:buSzPct val="100000"/>
              <a:buChar char="▸"/>
            </a:pPr>
            <a:r>
              <a:rPr lang="en-US" sz="1250" dirty="0">
                <a:solidFill>
                  <a:srgbClr val="D9D9EF"/>
                </a:solidFill>
                <a:latin typeface="Cambria" pitchFamily="34" charset="0"/>
                <a:ea typeface="Cambria" pitchFamily="34" charset="-122"/>
                <a:cs typeface="Cambria" pitchFamily="34" charset="-120"/>
              </a:rPr>
              <a:t>Query optimisation, then the final project</a:t>
            </a:r>
            <a:endParaRPr lang="en-US" sz="1250" dirty="0"/>
          </a:p>
        </p:txBody>
      </p:sp>
      <p:sp>
        <p:nvSpPr>
          <p:cNvPr id="35" name="Shape 33"/>
          <p:cNvSpPr/>
          <p:nvPr/>
        </p:nvSpPr>
        <p:spPr>
          <a:xfrm>
            <a:off x="6629400" y="4069080"/>
            <a:ext cx="4965192" cy="402336"/>
          </a:xfrm>
          <a:prstGeom prst="rect">
            <a:avLst/>
          </a:prstGeom>
          <a:solidFill>
            <a:srgbClr val="5050A8"/>
          </a:solidFill>
          <a:ln w="12700">
            <a:solidFill>
              <a:srgbClr val="5050A8"/>
            </a:solidFill>
            <a:prstDash val="solid"/>
          </a:ln>
        </p:spPr>
      </p:sp>
      <p:sp>
        <p:nvSpPr>
          <p:cNvPr id="36" name="Text 34"/>
          <p:cNvSpPr txBox="1"/>
          <p:nvPr/>
        </p:nvSpPr>
        <p:spPr>
          <a:xfrm>
            <a:off x="6812280" y="4069080"/>
            <a:ext cx="459943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Between now and then</a:t>
            </a:r>
            <a:endParaRPr lang="en-US" sz="1500" dirty="0"/>
          </a:p>
        </p:txBody>
      </p:sp>
      <p:sp>
        <p:nvSpPr>
          <p:cNvPr id="37" name="Shape 35"/>
          <p:cNvSpPr/>
          <p:nvPr/>
        </p:nvSpPr>
        <p:spPr>
          <a:xfrm>
            <a:off x="6629400" y="4471416"/>
            <a:ext cx="4965192" cy="1472184"/>
          </a:xfrm>
          <a:prstGeom prst="rect">
            <a:avLst/>
          </a:prstGeom>
          <a:solidFill>
            <a:srgbClr val="3B3B96"/>
          </a:solidFill>
          <a:ln w="9525">
            <a:solidFill>
              <a:srgbClr val="5050A8"/>
            </a:solidFill>
            <a:prstDash val="solid"/>
          </a:ln>
        </p:spPr>
      </p:sp>
      <p:sp>
        <p:nvSpPr>
          <p:cNvPr id="38" name="Text 36"/>
          <p:cNvSpPr txBox="1"/>
          <p:nvPr/>
        </p:nvSpPr>
        <p:spPr>
          <a:xfrm>
            <a:off x="6848856" y="4617720"/>
            <a:ext cx="4526280" cy="1197864"/>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Commit your work and write the README</a:t>
            </a:r>
            <a:endParaRPr lang="en-US" sz="1200" dirty="0"/>
          </a:p>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List every error you hit and what fixed it</a:t>
            </a:r>
            <a:endParaRPr lang="en-US" sz="1200" dirty="0"/>
          </a:p>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Bring one query from your own area to tune on Day 5</a:t>
            </a:r>
            <a:endParaRPr lang="en-US" sz="1200" dirty="0"/>
          </a:p>
        </p:txBody>
      </p:sp>
      <p:sp>
        <p:nvSpPr>
          <p:cNvPr id="39" name="Text 37"/>
          <p:cNvSpPr txBox="1"/>
          <p:nvPr/>
        </p:nvSpPr>
        <p:spPr>
          <a:xfrm>
            <a:off x="594360" y="5943600"/>
            <a:ext cx="10607040" cy="310896"/>
          </a:xfrm>
          <a:prstGeom prst="rect">
            <a:avLst/>
          </a:prstGeom>
          <a:noFill/>
          <a:ln/>
        </p:spPr>
        <p:txBody>
          <a:bodyPr wrap="square" lIns="0" tIns="0" rIns="0" bIns="0" rtlCol="0" anchor="ctr"/>
          <a:lstStyle/>
          <a:p>
            <a:pPr indent="0" marL="0">
              <a:buNone/>
            </a:pPr>
            <a:r>
              <a:rPr lang="en-US" sz="1250" i="1" dirty="0">
                <a:solidFill>
                  <a:srgbClr val="D9D9EF"/>
                </a:solidFill>
                <a:latin typeface="Cambria" pitchFamily="34" charset="0"/>
                <a:ea typeface="Cambria" pitchFamily="34" charset="-122"/>
                <a:cs typeface="Cambria" pitchFamily="34" charset="-120"/>
              </a:rPr>
              <a:t>Questions, and anything that is still broken — now is the time.</a:t>
            </a:r>
            <a:endParaRPr lang="en-US" sz="1250" dirty="0"/>
          </a:p>
        </p:txBody>
      </p:sp>
      <p:sp>
        <p:nvSpPr>
          <p:cNvPr id="40" name="Shape 38"/>
          <p:cNvSpPr/>
          <p:nvPr/>
        </p:nvSpPr>
        <p:spPr>
          <a:xfrm>
            <a:off x="0" y="6400800"/>
            <a:ext cx="3840480" cy="457200"/>
          </a:xfrm>
          <a:prstGeom prst="rect">
            <a:avLst/>
          </a:prstGeom>
          <a:solidFill>
            <a:srgbClr val="5050A8"/>
          </a:solidFill>
          <a:ln w="12700">
            <a:solidFill>
              <a:srgbClr val="5050A8"/>
            </a:solidFill>
            <a:prstDash val="solid"/>
          </a:ln>
        </p:spPr>
      </p:sp>
      <p:sp>
        <p:nvSpPr>
          <p:cNvPr id="41" name="Text 39"/>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42" name="Shape 40"/>
          <p:cNvSpPr/>
          <p:nvPr/>
        </p:nvSpPr>
        <p:spPr>
          <a:xfrm>
            <a:off x="3840480" y="6400800"/>
            <a:ext cx="6675120" cy="457200"/>
          </a:xfrm>
          <a:prstGeom prst="rect">
            <a:avLst/>
          </a:prstGeom>
          <a:solidFill>
            <a:srgbClr val="3B3B96"/>
          </a:solidFill>
          <a:ln w="12700">
            <a:solidFill>
              <a:srgbClr val="3B3B96"/>
            </a:solidFill>
            <a:prstDash val="solid"/>
          </a:ln>
        </p:spPr>
      </p:sp>
      <p:sp>
        <p:nvSpPr>
          <p:cNvPr id="43" name="Text 41"/>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4 — Deployment &amp; Troubleshooting</a:t>
            </a:r>
            <a:endParaRPr lang="en-US" sz="950" dirty="0"/>
          </a:p>
        </p:txBody>
      </p:sp>
      <p:sp>
        <p:nvSpPr>
          <p:cNvPr id="44" name="Shape 42"/>
          <p:cNvSpPr/>
          <p:nvPr/>
        </p:nvSpPr>
        <p:spPr>
          <a:xfrm>
            <a:off x="10515600" y="6400800"/>
            <a:ext cx="1676095" cy="457200"/>
          </a:xfrm>
          <a:prstGeom prst="rect">
            <a:avLst/>
          </a:prstGeom>
          <a:solidFill>
            <a:srgbClr val="5050A8"/>
          </a:solidFill>
          <a:ln w="12700">
            <a:solidFill>
              <a:srgbClr val="5050A8"/>
            </a:solidFill>
            <a:prstDash val="solid"/>
          </a:ln>
        </p:spPr>
      </p:sp>
      <p:sp>
        <p:nvSpPr>
          <p:cNvPr id="45" name="Text 43"/>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12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 Session 4 - Deployment &amp; Troubleshooting</dc:title>
  <dc:subject>PptxGenJS Presentation</dc:subject>
  <dc:creator>HAL .NET, React &amp; SQL Transition Program</dc:creator>
  <cp:lastModifiedBy>HAL .NET, React &amp; SQL Transition Program</cp:lastModifiedBy>
  <cp:revision>1</cp:revision>
  <dcterms:created xsi:type="dcterms:W3CDTF">2026-09-16T16:44:52Z</dcterms:created>
  <dcterms:modified xsi:type="dcterms:W3CDTF">2026-09-16T16:44:52Z</dcterms:modified>
</cp:coreProperties>
</file>