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29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tone. This audience already works under strict engineering discipline — the aim is to transfer that instinct to code, not to teach discipline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for the most expensive defect they have seen — in any discipline, not just software. The ladder is the same shape for a wrongly fitted component. Spend five minutes here; it justifies the whole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parallel explicitly. Ask the room what happens when a part number is entered wrongly on a job card — then say that a mistyped column name in production has the same shape of consequence. Standards are not bureaucracy; they are how a team of thirty stays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"avoid" example is not exaggerated — it is close to what they will meet in legacy code. Emphasise that a good name removes the need for a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60 seconds to rename one variable from their own area out loud. The domain-language point is the one that survives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"same altitude" idea is worth labouring. Read the good example aloud — it reads like a sentence, which is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out-of-date comment is worse than no comment, because it is trusted. Say that plainly. The second example shows the kind of comment that is genuinely valuable in a regulated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template you get from Visual Studio groups by type, so this contradicts the default. Explain that the default is fine for five files and poor for five hundred.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the injection live if you can — a single quote in a search box on a demo app is more persuasive than any slide. Mention that EF Core parameterises by default, which is one strong reason to use it (Day 2, Session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self-approval example lands well with this audience because the segregation-of-duties principle is already familiar from stores and quality procedures.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lecture all five in the abstract. Take Single Responsibility and Dependency Inversion properly — those two carry most of the value and both reappear in the repository pattern on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against the opposite failure: splitting everything into tiny classes is its own problem. The test is whether the pieces have genuinely different reasons to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logging placeholders like {PartNo} are worth pointing out — they let the log be searched by value later, which a formatted string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matters: teams that start with style never get to correctness. Note that a reviewer catching a naming problem but missing an injection hole has failed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matters more here than in a greenfield shop. Most of what this group maintains predates them. The "leave it better" habit is the realistic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when running late — it is where the room stops receiving and starts participating. If time is short, take question 4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25 minutes of work and 15 of discussion. The interesting argument is usually about what to return when the part number does 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each person to name the one habit they will apply in the hands-on that follows. Saying it out loud makes it more likely to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Coding Practices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977640" cy="4233672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342900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why a team enforces coding standards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classes, methods and files the way the industry expects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three most common security defects in application code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DRY and the SOLID principles to a real class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 poor-quality code and justify each change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956816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38928" y="21305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13892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56816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standards exist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breaks in industry when they are absent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798064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279806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38928" y="2971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138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98064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Naming, structure, modularity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for C# and for project layout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639312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37760" y="363931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38928" y="38130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1389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639312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 basics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injection, XSS, input validation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480560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37760" y="448056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38928" y="46542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13892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480560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Maintainable code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and the five SOLID principles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37760" y="532180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3892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13892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321808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refactor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up a poor-quality data access class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STANDARDS ARE NOT BUREAUCRACY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defect gets more expensive every hour it survives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 while writing it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Seconds. You have the whole problem in your head.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 in code review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Minutes. One colleague reads it and asks a question.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 in testing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Hours. Reproduce, diagnose, fix, retest, re-release.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 by the user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Days. Support call, investigation, patch, apology.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 by an auditor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Weeks, and a conversation nobody wants to have.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12280" y="16642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of the cost is not writing it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2066544"/>
            <a:ext cx="4965192" cy="15179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48856" y="2212848"/>
            <a:ext cx="45262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is written once and read, changed and diagnosed for years afterwards. Optimise for the reader, who is usually you, eighteen months from now, at speed, under pressure.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74904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12280" y="374904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standard actually buys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29400" y="4151376"/>
            <a:ext cx="4965192" cy="164592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848856" y="429768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engineer can pick up any file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argue about logic, not layout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have fewer places to hide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joiners become useful in weeks, not months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20" grpId="0" animBg="1"/>
      <p:bldP spid="25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STANDARDS EXIST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work to standards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27632"/>
          <a:ext cx="11000232" cy="3328416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 the hangar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 the codebase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Part numbering and nomenclature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Naming conventions for classes, methods and tables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Drawing standards and tolerances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Style guide, formatting rules, static analysis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Configuration control and mod sheets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Version control: commits, branches, pull requests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Inspection before fitment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Code review and automated tests before merge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Structured manuals, chapter by chapter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Project structure: one concern per file and folder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Traceability of every serialised part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change history that says who changed what, and why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77800" marR="1778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230368"/>
            <a:ext cx="11002975" cy="713232"/>
          </a:xfrm>
          <a:prstGeom prst="roundRect">
            <a:avLst>
              <a:gd name="adj" fmla="val 6410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5230368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aircraft is not certified because it flew once. Code is not finished because it ran once.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NAMING, STRUCTURE, MODULARITY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is read far more often than it is written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486400" cy="17830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A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047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d1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x;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proc(int a, int b)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140 lines of mixed responsibilities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66160"/>
            <a:ext cx="5486400" cy="2157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13816" y="3721608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4014216"/>
            <a:ext cx="504748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SparePart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StockQuantity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IssueToWorkOrder(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workOrderId, int quantity)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one job, done clearly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27632"/>
            <a:ext cx="528523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92240" y="162763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you will be held 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2029968"/>
            <a:ext cx="5285232" cy="181051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528816" y="2176272"/>
            <a:ext cx="48463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PascalCase for classes, methods, properties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camelCase for locals and parameters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_camelCase for private fields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begin with I: IPartRepository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say what, not how: IsServiceable, not flag2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4005072"/>
            <a:ext cx="528523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92240" y="40050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and modularity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4407408"/>
            <a:ext cx="5285232" cy="15361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28816" y="4553712"/>
            <a:ext cx="4846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public class per file, file named after the class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feature (Parts, WorkOrders), not by file type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method that needs a scroll bar is doing too much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 stay thin; logic lives in services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NAMING, DEEPER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name should answer the question you were about to ask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34543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CODE, TWO VOCABULARIES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6A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vague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(p.st == 1 &amp;&amp; d.Days(t) &gt; 90) { ...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6A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says what it means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(part.IsServiceable &amp;&amp;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part.DaysSinceInspection &gt; 90)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FlagForReinspection(part);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096512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409651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 the words the business already uses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498848"/>
            <a:ext cx="5806440" cy="144475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4645152"/>
            <a:ext cx="53675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shop floor says nomenclature, the class says Nomenclature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serviceable part is IsServiceable, not flagA or status2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invent a synonym for a term that already has a meaning here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language in code is what lets a user read your screen and agree with 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1627632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92481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0568" y="19248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Booleans read as a question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IsGrounded, HasOpenSnag, CanIssue — never flag, status2 or check.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15768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2715768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30568" y="30129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30568" y="3012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15768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begin with a verb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CalculateNextDue, IssueToWorkOrder, ValidatePartNumber.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803904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3803904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30568" y="41010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30568" y="41010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803904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are plural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parts, workOrders. A singular name holding a list misleads every reader.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4892040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4892040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0568" y="51892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30568" y="5189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4892040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Abbreviate only what the trade abbreviates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AOG and MRO are fine here. qty, tmp and dat2 are not.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22" grpId="0" animBg="1"/>
      <p:bldP spid="27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job, one level of detail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A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DOING FOUR THINGS AT ONCE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Process(int id)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opens a connection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reads the work order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works out the spares needed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writes an issue voucher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emails the storekeeper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80644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13816" y="390448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LEVEL OF ABSTRACTION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4197096"/>
            <a:ext cx="53675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IssueSpares(int workOrderId)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order  = _orders.GetById(workOrderId);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needed = _planner.SparesFor(order);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_issuer.Raise(order, needed);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_notifier.NotifyStore(order);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627632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92481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830568" y="19248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627632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need a scroll bar, split it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method should fit on one screen. That is not style — it is the limit of what a reader can hold in mind.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2715768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2715768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30568" y="30129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30568" y="3012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715768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name should not need "and"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ValidateAndSaveAndNotify is three methods wearing one coat.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0" y="3803904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3803904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30568" y="41010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30568" y="41010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803904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levels consistent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mix a database call and a business rule in the same block. Read the good example: every line is the same altitude.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29400" y="4892040"/>
            <a:ext cx="4965192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9400" y="4892040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30568" y="51892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30568" y="5189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4892040"/>
            <a:ext cx="4014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parameters is a warning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that, the parameters usually want to be an object of their own.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6" grpId="0" animBg="1"/>
      <p:bldP spid="21" grpId="0" animBg="1"/>
      <p:bldP spid="26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why. The code already says what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that earn their place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3816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decision was made, especially a strange-looking one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reference to the standard, drawing or circular that drove the rule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known limitation, with what would be needed to lift it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warning about something that looks safe to change but is not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that rot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19088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Restating the line below it in English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block of commented-out code; version control remembers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change log at the top of the file; that is what the commit history is for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that was true in 2019 and has quietly stopped being true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13632"/>
            <a:ext cx="11002975" cy="17830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13816" y="406908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4361688"/>
            <a:ext cx="10564063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6A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increments the counter                      &lt;- says nothing the code did not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counter++;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6A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Reorder level is 5 per AMM 12-10-04. Do not lower without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6A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engineering approval — it drives the AOG alert.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ReorderLevel = 5;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what it does, not by what it 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9077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ORGANISED BY FEATURE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HalSpares/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Features/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Parts/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PartsController.cs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PartService.cs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SparePart.cs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WorkOrders/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WorkOrdersController.cs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WorkOrderService.cs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Shared/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Data/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Logging/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66344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466344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folders called Controllers, Services, Models?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5065776"/>
            <a:ext cx="5806440" cy="8778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5212080"/>
            <a:ext cx="5367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a change to spares then touches four folders. Grouping by feature keeps everything one change needs in one place — and makes it obvious when a feature has grown too large.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public class per file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exactly like the class. No exceptions, however small the class.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 stay thin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request, call a service, return a result. No business rules, no SQL.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hold the rules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layer worth testing, and the layer that survives a rewrite of the UI.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means genuinely shared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folder called Common or Utils becomes a junk drawer within a year. Name things for what they do.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 BASICS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that cause most breaches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84632" y="1326070"/>
            <a:ext cx="58064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088" y="148151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A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— VULNERABLE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04088" y="1774126"/>
            <a:ext cx="536752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sql = "SELECT * FROM Parts WHERE PartNo = '"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input + "'";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input: x' OR '1'='1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returns the entire table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4632" y="3063430"/>
            <a:ext cx="58064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04088" y="321887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— PARAMETERISED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04088" y="3511486"/>
            <a:ext cx="5367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sql = "SELECT * FROM Parts "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"WHERE PartNo = @partNo";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cmd.Parameters.Add("@partNo",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SqlDbType.VarChar).Value = input;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 is data, never executable SQL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316346"/>
            <a:ext cx="528698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12280" y="1316346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 (XSS)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29399" y="1718682"/>
            <a:ext cx="5286983" cy="120301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848855" y="1864986"/>
            <a:ext cx="4882701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@* Safe. Script tags in the data are printed, not executed. *@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&lt;td&gt;@part.Nomenclature&lt;/td&gt;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@* Dangerous. Only ever for content you generated and trust. *@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&lt;td&gt;@Html.Raw(part.Nomenclature)&lt;/td&gt;</a:t>
            </a:r>
          </a:p>
        </p:txBody>
      </p:sp>
      <p:sp>
        <p:nvSpPr>
          <p:cNvPr id="16" name="Shape 14"/>
          <p:cNvSpPr/>
          <p:nvPr/>
        </p:nvSpPr>
        <p:spPr>
          <a:xfrm>
            <a:off x="551688" y="4763826"/>
            <a:ext cx="5806439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4569" y="4763826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1689" y="5166162"/>
            <a:ext cx="5806438" cy="110662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1144" y="5312466"/>
            <a:ext cx="55031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on the server, always. Client-side checks are a convenience for the user, not a control. Whitelist what is allowed rather than blacklisting what is not.</a:t>
            </a:r>
          </a:p>
          <a:p>
            <a:pPr marL="0" indent="0">
              <a:lnSpc>
                <a:spcPts val="1620"/>
              </a:lnSpc>
              <a:buNone/>
            </a:pPr>
            <a:endParaRPr lang="en-US" sz="1200" dirty="0">
              <a:solidFill>
                <a:srgbClr val="3E3E5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[Required, 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StringLength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(20)]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public string 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PartNo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 { get; set; }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 </a:t>
            </a:r>
            <a:endParaRPr lang="en-US" sz="1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lnSpc>
                <a:spcPts val="1620"/>
              </a:lnSpc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B216363A-F81D-271D-2859-E1D0804469DB}"/>
              </a:ext>
            </a:extLst>
          </p:cNvPr>
          <p:cNvSpPr/>
          <p:nvPr/>
        </p:nvSpPr>
        <p:spPr>
          <a:xfrm>
            <a:off x="6626157" y="3054356"/>
            <a:ext cx="528698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7FDAF24F-EB1F-5047-CCAB-4B1C29013808}"/>
              </a:ext>
            </a:extLst>
          </p:cNvPr>
          <p:cNvSpPr txBox="1"/>
          <p:nvPr/>
        </p:nvSpPr>
        <p:spPr>
          <a:xfrm>
            <a:off x="6809037" y="3054356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store secrets</a:t>
            </a:r>
            <a:endParaRPr lang="en-US" sz="150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1F43FFFE-3E6D-CA3E-2B58-BE57A5FFB349}"/>
              </a:ext>
            </a:extLst>
          </p:cNvPr>
          <p:cNvSpPr/>
          <p:nvPr/>
        </p:nvSpPr>
        <p:spPr>
          <a:xfrm>
            <a:off x="6626156" y="3456691"/>
            <a:ext cx="5286983" cy="2788465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4E8B4179-0F09-4F2D-8953-FC4FD2922A15}"/>
              </a:ext>
            </a:extLst>
          </p:cNvPr>
          <p:cNvSpPr txBox="1"/>
          <p:nvPr/>
        </p:nvSpPr>
        <p:spPr>
          <a:xfrm>
            <a:off x="6845612" y="3602996"/>
            <a:ext cx="4882701" cy="54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// 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appsettings.json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 — committed, no secrets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{ "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ConnectionStrings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": { "Default": "" } }</a:t>
            </a:r>
            <a:endParaRPr lang="en-US" sz="12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4237B307-48B9-8DF1-754C-43511E852B13}"/>
              </a:ext>
            </a:extLst>
          </p:cNvPr>
          <p:cNvSpPr txBox="1"/>
          <p:nvPr/>
        </p:nvSpPr>
        <p:spPr>
          <a:xfrm>
            <a:off x="6828296" y="4385504"/>
            <a:ext cx="4882701" cy="54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# development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dotnet user-secrets 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init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dotnet user-secrets set "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ConnectionStrings:Default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" "Server=.;Database=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HalSpares;Trusted_Connection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=True;"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 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# production (set on the server, note the double underscore)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setx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ConnectionStrings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__Default "Server=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SQLPRD;Database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=</a:t>
            </a: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HalSpares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onsolas" panose="020B0609020204030204" pitchFamily="49" charset="0"/>
              </a:rPr>
              <a:t>;..."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9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more that get found in audits</a:t>
            </a:r>
            <a:endParaRPr lang="en-US" sz="26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C1779F-D49C-7550-FA96-1FB6ADED1E68}"/>
              </a:ext>
            </a:extLst>
          </p:cNvPr>
          <p:cNvGrpSpPr/>
          <p:nvPr/>
        </p:nvGrpSpPr>
        <p:grpSpPr>
          <a:xfrm>
            <a:off x="594360" y="1627632"/>
            <a:ext cx="5394960" cy="2103120"/>
            <a:chOff x="594360" y="1627632"/>
            <a:chExt cx="5394960" cy="2103120"/>
          </a:xfrm>
        </p:grpSpPr>
        <p:sp>
          <p:nvSpPr>
            <p:cNvPr id="6" name="Shape 4"/>
            <p:cNvSpPr/>
            <p:nvPr/>
          </p:nvSpPr>
          <p:spPr>
            <a:xfrm>
              <a:off x="594360" y="1627632"/>
              <a:ext cx="5394960" cy="402336"/>
            </a:xfrm>
            <a:prstGeom prst="rect">
              <a:avLst/>
            </a:prstGeom>
            <a:solidFill>
              <a:srgbClr val="3333B3"/>
            </a:solidFill>
            <a:ln w="12700">
              <a:solidFill>
                <a:srgbClr val="3333B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777240" y="1627632"/>
              <a:ext cx="50292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Authentication is not authorisation</a:t>
              </a:r>
              <a:endParaRPr lang="en-US" sz="15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94360" y="2029968"/>
              <a:ext cx="5394960" cy="1700784"/>
            </a:xfrm>
            <a:prstGeom prst="rect">
              <a:avLst/>
            </a:prstGeom>
            <a:solidFill>
              <a:srgbClr val="F4F4FA"/>
            </a:solidFill>
            <a:ln w="9525">
              <a:solidFill>
                <a:srgbClr val="C9C9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813816" y="2176272"/>
              <a:ext cx="4956048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3E3E5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Authentication asks who you are. Authorisation asks what you may do. Checking only the first is how a storekeeper ends up able to approve their own issue voucher.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53DA1E-19DC-06A8-9C5A-FAD586EA5B75}"/>
              </a:ext>
            </a:extLst>
          </p:cNvPr>
          <p:cNvGrpSpPr/>
          <p:nvPr/>
        </p:nvGrpSpPr>
        <p:grpSpPr>
          <a:xfrm>
            <a:off x="6199632" y="1627632"/>
            <a:ext cx="5394960" cy="2103120"/>
            <a:chOff x="6199632" y="1627632"/>
            <a:chExt cx="5394960" cy="2103120"/>
          </a:xfrm>
        </p:grpSpPr>
        <p:sp>
          <p:nvSpPr>
            <p:cNvPr id="10" name="Shape 8"/>
            <p:cNvSpPr/>
            <p:nvPr/>
          </p:nvSpPr>
          <p:spPr>
            <a:xfrm>
              <a:off x="6199632" y="1627632"/>
              <a:ext cx="5394960" cy="402336"/>
            </a:xfrm>
            <a:prstGeom prst="rect">
              <a:avLst/>
            </a:prstGeom>
            <a:solidFill>
              <a:srgbClr val="3333B3"/>
            </a:solidFill>
            <a:ln w="12700">
              <a:solidFill>
                <a:srgbClr val="3333B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6382512" y="1627632"/>
              <a:ext cx="50292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Secrets in source control</a:t>
              </a:r>
              <a:endParaRPr lang="en-US" sz="15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199632" y="2029968"/>
              <a:ext cx="5394960" cy="1700784"/>
            </a:xfrm>
            <a:prstGeom prst="rect">
              <a:avLst/>
            </a:prstGeom>
            <a:solidFill>
              <a:srgbClr val="F4F4FA"/>
            </a:solidFill>
            <a:ln w="9525">
              <a:solidFill>
                <a:srgbClr val="C9C9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6419088" y="2176272"/>
              <a:ext cx="4956048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3E3E5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 password committed once is in the history forever, even after you delete the line. Rotate it, do not just remove it. Use configuration and secret stores from the start.</a:t>
              </a:r>
              <a:endParaRPr lang="en-US" sz="12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BE6FF1B-FBB8-B7B2-87AE-27A91824BB0C}"/>
              </a:ext>
            </a:extLst>
          </p:cNvPr>
          <p:cNvGrpSpPr/>
          <p:nvPr/>
        </p:nvGrpSpPr>
        <p:grpSpPr>
          <a:xfrm>
            <a:off x="594360" y="3840480"/>
            <a:ext cx="5394960" cy="2103120"/>
            <a:chOff x="594360" y="3840480"/>
            <a:chExt cx="5394960" cy="2103120"/>
          </a:xfrm>
        </p:grpSpPr>
        <p:sp>
          <p:nvSpPr>
            <p:cNvPr id="14" name="Shape 12"/>
            <p:cNvSpPr/>
            <p:nvPr/>
          </p:nvSpPr>
          <p:spPr>
            <a:xfrm>
              <a:off x="594360" y="3840480"/>
              <a:ext cx="5394960" cy="402336"/>
            </a:xfrm>
            <a:prstGeom prst="rect">
              <a:avLst/>
            </a:prstGeom>
            <a:solidFill>
              <a:srgbClr val="3333B3"/>
            </a:solidFill>
            <a:ln w="12700">
              <a:solidFill>
                <a:srgbClr val="3333B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777240" y="3840480"/>
              <a:ext cx="50292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Logging what you should not</a:t>
              </a:r>
              <a:endParaRPr lang="en-US" sz="15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94360" y="4242816"/>
              <a:ext cx="5394960" cy="1700784"/>
            </a:xfrm>
            <a:prstGeom prst="rect">
              <a:avLst/>
            </a:prstGeom>
            <a:solidFill>
              <a:srgbClr val="F4F4FA"/>
            </a:solidFill>
            <a:ln w="9525">
              <a:solidFill>
                <a:srgbClr val="C9C9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813816" y="4389120"/>
              <a:ext cx="4956048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3E3E5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Passwords, tokens and personal data written to a log file are a breach waiting to be discovered. Log identifiers, not payloads. Assume the log will be read by someone who should not see it.</a:t>
              </a:r>
              <a:endParaRPr lang="en-US" sz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AE573B-10E5-087A-3A1E-1F0737DFD02E}"/>
              </a:ext>
            </a:extLst>
          </p:cNvPr>
          <p:cNvGrpSpPr/>
          <p:nvPr/>
        </p:nvGrpSpPr>
        <p:grpSpPr>
          <a:xfrm>
            <a:off x="6199632" y="3840480"/>
            <a:ext cx="5394960" cy="2103120"/>
            <a:chOff x="6199632" y="3840480"/>
            <a:chExt cx="5394960" cy="2103120"/>
          </a:xfrm>
        </p:grpSpPr>
        <p:sp>
          <p:nvSpPr>
            <p:cNvPr id="18" name="Shape 16"/>
            <p:cNvSpPr/>
            <p:nvPr/>
          </p:nvSpPr>
          <p:spPr>
            <a:xfrm>
              <a:off x="6199632" y="3840480"/>
              <a:ext cx="5394960" cy="402336"/>
            </a:xfrm>
            <a:prstGeom prst="rect">
              <a:avLst/>
            </a:prstGeom>
            <a:solidFill>
              <a:srgbClr val="3333B3"/>
            </a:solidFill>
            <a:ln w="12700">
              <a:solidFill>
                <a:srgbClr val="3333B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6382512" y="3840480"/>
              <a:ext cx="50292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The packages you did not write</a:t>
              </a:r>
              <a:endParaRPr lang="en-US" sz="15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199632" y="4242816"/>
              <a:ext cx="5394960" cy="1700784"/>
            </a:xfrm>
            <a:prstGeom prst="rect">
              <a:avLst/>
            </a:prstGeom>
            <a:solidFill>
              <a:srgbClr val="F4F4FA"/>
            </a:solidFill>
            <a:ln w="9525">
              <a:solidFill>
                <a:srgbClr val="C9C9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6419088" y="4389120"/>
              <a:ext cx="4956048" cy="14264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620"/>
                </a:lnSpc>
                <a:buNone/>
              </a:pPr>
              <a:r>
                <a:rPr lang="en-US" sz="1200" dirty="0">
                  <a:solidFill>
                    <a:srgbClr val="3E3E5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Most of your application is other people's code. Know what you depend on, keep it current, and check for known vulnerabilities as part of the build, not once a year.</a:t>
              </a:r>
              <a:endParaRPr lang="en-US" sz="1200" dirty="0"/>
            </a:p>
          </p:txBody>
        </p:sp>
      </p:grpSp>
      <p:sp>
        <p:nvSpPr>
          <p:cNvPr id="22" name="Shape 2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MAINTAINABLE CODE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and SOLID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3931920" cy="2103120"/>
          </a:xfrm>
          <a:prstGeom prst="roundRect">
            <a:avLst>
              <a:gd name="adj" fmla="val 2174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>
                    <a:lumMod val="8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</a:t>
            </a:r>
            <a:endParaRPr lang="en-US" sz="3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68680" y="228600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Repeat Yourself. Every rule has exactly one home in the codebase.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26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Copy-pasted logic is a defect waiting to be half-fixed: someone patches three of the four copies.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895344"/>
            <a:ext cx="393192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389534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non-negotiable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297680"/>
            <a:ext cx="3931920" cy="164592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13816" y="4443984"/>
            <a:ext cx="3493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errors deliberately, never swallow an exception silently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enough to diagnose a fault you cannot reproduce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dead code; the repository remembers 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74920" y="1627632"/>
            <a:ext cx="65196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74920" y="1627632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76088" y="18379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276088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1627632"/>
            <a:ext cx="5568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responsibility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class, one reason to change.</a:t>
            </a:r>
          </a:p>
          <a:p>
            <a:r>
              <a:rPr lang="en-US" sz="1450" dirty="0"/>
              <a:t>Does this class have too many jobs?</a:t>
            </a:r>
          </a:p>
        </p:txBody>
      </p:sp>
      <p:sp>
        <p:nvSpPr>
          <p:cNvPr id="19" name="Shape 17"/>
          <p:cNvSpPr/>
          <p:nvPr/>
        </p:nvSpPr>
        <p:spPr>
          <a:xfrm>
            <a:off x="5074920" y="2551176"/>
            <a:ext cx="65196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74920" y="2551176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76088" y="27614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276088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551176"/>
            <a:ext cx="5568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/ closed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behaviour without editing code that already passed test.</a:t>
            </a:r>
          </a:p>
          <a:p>
            <a:pPr marL="0" indent="0">
              <a:buNone/>
            </a:pPr>
            <a:r>
              <a:rPr lang="en-US" sz="1450" dirty="0"/>
              <a:t>Can I add a new shape without modifying </a:t>
            </a:r>
            <a:r>
              <a:rPr lang="en-US" sz="1450" dirty="0" err="1"/>
              <a:t>AreaCalculator</a:t>
            </a:r>
            <a:r>
              <a:rPr lang="en-US" sz="1450" dirty="0"/>
              <a:t>?</a:t>
            </a:r>
          </a:p>
        </p:txBody>
      </p:sp>
      <p:sp>
        <p:nvSpPr>
          <p:cNvPr id="24" name="Shape 22"/>
          <p:cNvSpPr/>
          <p:nvPr/>
        </p:nvSpPr>
        <p:spPr>
          <a:xfrm>
            <a:off x="5074920" y="3474720"/>
            <a:ext cx="65196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74920" y="3474720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76088" y="368503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5276088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3474720"/>
            <a:ext cx="5568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Liskov substitution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subtype must work anywhere its base type is expected.</a:t>
            </a:r>
          </a:p>
          <a:p>
            <a:r>
              <a:rPr lang="en-US" sz="1450" dirty="0"/>
              <a:t>Can every </a:t>
            </a:r>
            <a:r>
              <a:rPr lang="en-US" sz="1450" dirty="0" err="1"/>
              <a:t>IShape</a:t>
            </a:r>
            <a:r>
              <a:rPr lang="en-US" sz="1450" dirty="0"/>
              <a:t> be used safely wherever an </a:t>
            </a:r>
            <a:r>
              <a:rPr lang="en-US" sz="1450" dirty="0" err="1"/>
              <a:t>IShape</a:t>
            </a:r>
            <a:r>
              <a:rPr lang="en-US" sz="1450" dirty="0"/>
              <a:t> is expected?</a:t>
            </a:r>
          </a:p>
        </p:txBody>
      </p:sp>
      <p:sp>
        <p:nvSpPr>
          <p:cNvPr id="29" name="Shape 27"/>
          <p:cNvSpPr/>
          <p:nvPr/>
        </p:nvSpPr>
        <p:spPr>
          <a:xfrm>
            <a:off x="5074920" y="4398264"/>
            <a:ext cx="65196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74920" y="4398264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276088" y="460857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276088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806440" y="4398264"/>
            <a:ext cx="5568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segregation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Several small interfaces beat one that does everything.</a:t>
            </a:r>
          </a:p>
          <a:p>
            <a:pPr marL="0" indent="0">
              <a:buNone/>
            </a:pPr>
            <a:r>
              <a:rPr lang="en-US" sz="1450" dirty="0"/>
              <a:t>Am I forcing this class to implement something it doesn't need?</a:t>
            </a:r>
          </a:p>
        </p:txBody>
      </p:sp>
      <p:sp>
        <p:nvSpPr>
          <p:cNvPr id="34" name="Shape 32"/>
          <p:cNvSpPr/>
          <p:nvPr/>
        </p:nvSpPr>
        <p:spPr>
          <a:xfrm>
            <a:off x="5074920" y="5321808"/>
            <a:ext cx="6519672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74920" y="5321808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76088" y="55321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5276088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806440" y="5321808"/>
            <a:ext cx="5568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inversion</a:t>
            </a:r>
            <a:endParaRPr lang="en-US" sz="145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 on an interface, not on a concrete class.</a:t>
            </a:r>
          </a:p>
          <a:p>
            <a:pPr marL="0" indent="0">
              <a:buNone/>
            </a:pPr>
            <a:r>
              <a:rPr lang="en-US" sz="1450" dirty="0"/>
              <a:t>Does </a:t>
            </a:r>
            <a:r>
              <a:rPr lang="en-US" sz="1450" dirty="0" err="1"/>
              <a:t>AreaCalculator</a:t>
            </a:r>
            <a:r>
              <a:rPr lang="en-US" sz="1450" dirty="0"/>
              <a:t> depend on an abstraction instead of concrete shapes?</a:t>
            </a:r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8" grpId="0" animBg="1"/>
      <p:bldP spid="23" grpId="0" animBg="1"/>
      <p:bldP spid="28" grpId="0" animBg="1"/>
      <p:bldP spid="33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RESPONSIBILITY, WORKED THROUGH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class, three reasons to change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577840" cy="27203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138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A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13892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PartService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Issue(string partNo, int qty)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validates the request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writes to the database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3. formats and sends an email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Changes when: the rules change,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database changes, or the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email template changes.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480560"/>
            <a:ext cx="55778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448056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spot 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882896"/>
            <a:ext cx="5577840" cy="10607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5029200"/>
            <a:ext cx="5138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class in one sentence — if you need "and", it does too much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who would ask you to change it: rules, data, notification are three different people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82512" y="1627632"/>
            <a:ext cx="5212080" cy="29077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01968" y="17830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075688"/>
            <a:ext cx="47731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IssueValidator { ...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PartRepository  { ...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IssueNotifier   { ...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PartService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Issue(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partNo, int qty)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_validator.Check(partNo, qty);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_repo.RecordIssue(partNo, qty);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_notifier.Send(partNo, qty);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82512" y="4663440"/>
            <a:ext cx="521208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565392" y="4663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gained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82512" y="5065776"/>
            <a:ext cx="5212080" cy="8778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601968" y="5212080"/>
            <a:ext cx="4773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can be tested with no database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email can change without touching the rules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class is small enough to read in one go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AND LOGGING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 when something goes wrong is part of the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92481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9248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27632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swallow an exception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empty catch block turns a failure into silent wrong behaviour, which is far harder to find.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15768"/>
            <a:ext cx="5806440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715768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30129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3012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15768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what you can handle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cannot do anything useful with it, let it travel up to somewhere that can.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03904"/>
            <a:ext cx="5806440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803904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41010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41010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03904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loudly at the boundary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that catches, logs with context, and returns a clean message to the user.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892040"/>
            <a:ext cx="5806440" cy="9601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892040"/>
            <a:ext cx="50292" cy="9601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51892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5189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892040"/>
            <a:ext cx="4855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the context, not just the error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part number, which work order, which user. "Object reference not set" tells you nothing at 2 am.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629400" y="1627632"/>
            <a:ext cx="4965192" cy="30952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48856" y="178308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DIFFERENCE AT 2 AM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848856" y="2075688"/>
            <a:ext cx="4526280" cy="251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6A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useless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Issue(no, qty);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{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6A6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useful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Issue(no, qty);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(InsufficientStockException ex)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_log.LogWarning(ex,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"Issue refused for {PartNo}, "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"requested {Qty}", no, qty);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9400" y="484632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12280" y="484632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 of thumb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629400" y="5248656"/>
            <a:ext cx="4965192" cy="6949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48856" y="539496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log message for the person who will read it in a hurry, months from now, with no memory of this code.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cheapest inspection you will ever run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384048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FOR, IN ORDER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3816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correct? Does it do what was asked?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on the unhappy path — empty, missing, duplicate, zero?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anything unsafe: concatenated SQL, unvalidated input, a secret in code?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 understand it without asking the author?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tested, and do the tests fail when the code is wrong?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then: naming, structure, style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3840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GIVE AND TAKE 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19088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rather than instruct: "what happens if this is null?"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which comments are blocking and which are preferences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changes get reviewed properly; a 2,000-line change gets a rubber stamp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the author: assume good faith, and answer the question rather than defending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comment is wrong, say so with a reason — reviews are a conversation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193792"/>
            <a:ext cx="11002975" cy="640080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" y="5193792"/>
            <a:ext cx="10527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review that finds a naming problem but misses the injection hole has failed. Correctness first, always.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YOU WILL ACTUALLY INHERIT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this arrives on a clean sheet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works, and it is in service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its quality, something depends on it today. Respect that before you rewrite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it better than you found it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the part you touch. Do not open a six-month cleanup you cannot finish.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it under test before changing it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one test that pins the current behaviour makes the change safe.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thing at a time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Rename, then extract, then alter behaviour. Never all three in one commit.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down what you learn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in an old system usually lives in one person. Move it into the repository.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12280" y="16642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rewrite trap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2066544"/>
            <a:ext cx="4965192" cy="16093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48856" y="2212848"/>
            <a:ext cx="4526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rewrite always looks cheaper than it is, because the old system's ugliness is mostly years of edge cases nobody documented. You will rediscover every one of them.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84048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12280" y="384048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rewrite is justified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29400" y="4242816"/>
            <a:ext cx="4965192" cy="15544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848856" y="43891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 is out of support and cannot be patched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change you need is impossible in the current design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replace it a piece at a time, with both running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about your own systems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your team keep its standards?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written one, or does it live in the heads of two people?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oldest code you maintain?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wrote it, and what happens when it needs a change?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did a defect last reach a user?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 the ladder could it have been caught instead?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fix first?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could impose one rule on Monday, what would it be and why that one?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take three answers from the room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answers up — they become the team standard you draft later in the week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wrong answer here; the point is to surface what already exists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 a poor-quality module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defect in this class is one we have just named. Find them, then fix them.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" y="22448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95528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everything properly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method, parameters, local variables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" y="28575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95528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88920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connection string to configuration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source code entirely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401568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401568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5528" y="34701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95528" y="34701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40156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Parameterise the query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injection hole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014216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4014216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5528" y="4082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95528" y="4082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14216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Dispose the connection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it in a using statement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626864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" y="4626864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5528" y="46954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95528" y="4695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626864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a typed model, not a DataTable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SparePart class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23951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94360" y="523951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95528" y="530809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95528" y="5308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23951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what happens when nothing is found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list, null, or an exception — choose deliberately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9440" y="1828800"/>
            <a:ext cx="4645152" cy="347014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168896" y="19842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POINT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168896" y="2276856"/>
            <a:ext cx="4206240" cy="2894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db =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"Server=.;Uid=sa;Pwd=admin123";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DataTable get(string s)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 = new SqlConnection(db);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c.Open();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q = "select * from Parts where "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 "PartNo='" + s + "'";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a = new SqlDataAdapter(q, c);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t = new DataTable();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a.Fill(t);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22" grpId="0" animBg="1"/>
      <p:bldP spid="27" grpId="0" animBg="1"/>
      <p:bldP spid="32" grpId="0" animBg="1"/>
      <p:bldP spid="3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 RECAP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to take to the keyboard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things so the next reader does not have to ask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method, one job, one level of detail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the why; delete the rest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Parameterise every query, validate every input, commit no secrets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swallow an exception; log with enough context to diagnose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for correctness first, style last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read three things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Microsoft's C# coding conventions — short, and the house style for .NET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OWASP Top Ten — the defects on the secure coding slides, in detail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team's existing code: find one file you would now write differently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C# foundations — the language features that make ASP.NET readable this afternoon.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1 — Best Coding Practices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4234</Words>
  <Application>Microsoft Office PowerPoint</Application>
  <PresentationFormat>Widescreen</PresentationFormat>
  <Paragraphs>545</Paragraphs>
  <Slides>18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1, Session 1 - Best Coding Practices</dc:title>
  <dc:subject>PptxGenJS Presentation</dc:subject>
  <dc:creator>HAL .NET, React &amp; SQL Transition Program</dc:creator>
  <cp:lastModifiedBy>Roshan David Jathanna [MAHE-MIT]</cp:lastModifiedBy>
  <cp:revision>33</cp:revision>
  <dcterms:created xsi:type="dcterms:W3CDTF">2026-09-16T16:44:50Z</dcterms:created>
  <dcterms:modified xsi:type="dcterms:W3CDTF">2026-09-19T14:43:39Z</dcterms:modified>
</cp:coreProperties>
</file>