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the room: some will have used Crystal in an older in-house application. Their experience is useful — draw it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straight about the landscape: Crystal is widely used in existing enterprise systems, SSRS and Power BI cover other ground. The framework compatibility point matters — the classic viewer was built for .NET Framework, and support for modern .NET depends on the service pack, so verify before committing.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straight: Crystal is on the syllabus because it is in the estate, not because it would be the first choice for something new. Say so, and say why it is still worth knowing.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binary-file point matters: they cannot review a report change in a diff, so the commit message and a preview screenshot are the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a report on the whiteboard alongside this slide. The band concept is the whole mental model; once it lands, the designer is obvious.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Grouping is the difference between a data dump and a report. Ask what question the reader is trying to answer, then group by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"logic hidden in a report" point connects back to Day 1: a rule that lives only in a .rpt file cannot be reviewed, tested or found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 the push model for anything new: it keeps data access in the layer built on Day 2. The pull model is what they will meet in existing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separates a report from a screenshot of a query. In a regulated environment the provenance markings matter as much as the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on this slide are sample data for the demonstration. Build the report live if the environment allows; if not, walk the finished .rpt file band by band. The verification step at the end is a habit worth insisting on — a report that disagrees with the source query destroys trust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 monthly reports are almost always present and almost always automatable. They make excellent final-project candidates.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empty-result test is worth insisting on; a report that prints a confusing blank page when there is no data causes support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365760"/>
          </a:xfrm>
          <a:prstGeom prst="rect">
            <a:avLst/>
          </a:prstGeom>
          <a:solidFill>
            <a:srgbClr val="22226B"/>
          </a:solidFill>
          <a:ln w="12700">
            <a:solidFill>
              <a:srgbClr val="22226B"/>
            </a:solidFill>
            <a:prstDash val="solid"/>
          </a:ln>
        </p:spPr>
      </p:sp>
      <p:sp>
        <p:nvSpPr>
          <p:cNvPr id="3" name="Text 1"/>
          <p:cNvSpPr txBox="1"/>
          <p:nvPr/>
        </p:nvSpPr>
        <p:spPr>
          <a:xfrm>
            <a:off x="594360" y="0"/>
            <a:ext cx="11002975" cy="365760"/>
          </a:xfrm>
          <a:prstGeom prst="rect">
            <a:avLst/>
          </a:prstGeom>
          <a:noFill/>
          <a:ln/>
        </p:spPr>
        <p:txBody>
          <a:bodyPr wrap="square" lIns="0" tIns="0" rIns="0" bIns="0" rtlCol="0" anchor="ctr"/>
          <a:lstStyle/>
          <a:p>
            <a:pPr indent="0" marL="0">
              <a:buNone/>
            </a:pPr>
            <a:r>
              <a:rPr lang="en-US" sz="1000" b="1" spc="180" kern="0" dirty="0">
                <a:solidFill>
                  <a:srgbClr val="C9C9EA"/>
                </a:solidFill>
                <a:latin typeface="Cambria" pitchFamily="34" charset="0"/>
                <a:ea typeface="Cambria" pitchFamily="34" charset="-122"/>
                <a:cs typeface="Cambria" pitchFamily="34" charset="-120"/>
              </a:rPr>
              <a:t>DAY 3 · SESSION 1 · 90 MINUTES</a:t>
            </a:r>
            <a:endParaRPr lang="en-US" sz="1000" dirty="0"/>
          </a:p>
        </p:txBody>
      </p:sp>
      <p:sp>
        <p:nvSpPr>
          <p:cNvPr id="4" name="Shape 2"/>
          <p:cNvSpPr/>
          <p:nvPr/>
        </p:nvSpPr>
        <p:spPr>
          <a:xfrm>
            <a:off x="0" y="365760"/>
            <a:ext cx="12191695" cy="841248"/>
          </a:xfrm>
          <a:prstGeom prst="rect">
            <a:avLst/>
          </a:prstGeom>
          <a:solidFill>
            <a:srgbClr val="3333B3"/>
          </a:solidFill>
          <a:ln w="12700">
            <a:solidFill>
              <a:srgbClr val="3333B3"/>
            </a:solidFill>
            <a:prstDash val="solid"/>
          </a:ln>
        </p:spPr>
      </p:sp>
      <p:sp>
        <p:nvSpPr>
          <p:cNvPr id="5" name="Text 3"/>
          <p:cNvSpPr txBox="1"/>
          <p:nvPr/>
        </p:nvSpPr>
        <p:spPr>
          <a:xfrm>
            <a:off x="594360" y="365760"/>
            <a:ext cx="10607040" cy="84124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Crystal Reports Basics</a:t>
            </a:r>
            <a:endParaRPr lang="en-US" sz="2600" dirty="0"/>
          </a:p>
        </p:txBody>
      </p:sp>
      <p:sp>
        <p:nvSpPr>
          <p:cNvPr id="6" name="Shape 4"/>
          <p:cNvSpPr/>
          <p:nvPr/>
        </p:nvSpPr>
        <p:spPr>
          <a:xfrm>
            <a:off x="594360" y="1572768"/>
            <a:ext cx="3977640" cy="4233672"/>
          </a:xfrm>
          <a:prstGeom prst="roundRect">
            <a:avLst>
              <a:gd name="adj" fmla="val 1149"/>
            </a:avLst>
          </a:prstGeom>
          <a:solidFill>
            <a:srgbClr val="22226B"/>
          </a:solidFill>
          <a:ln w="12700">
            <a:solidFill>
              <a:srgbClr val="22226B"/>
            </a:solidFill>
            <a:prstDash val="solid"/>
          </a:ln>
        </p:spPr>
      </p:sp>
      <p:sp>
        <p:nvSpPr>
          <p:cNvPr id="7" name="Text 5"/>
          <p:cNvSpPr txBox="1"/>
          <p:nvPr/>
        </p:nvSpPr>
        <p:spPr>
          <a:xfrm>
            <a:off x="868680" y="1847088"/>
            <a:ext cx="3429000" cy="256032"/>
          </a:xfrm>
          <a:prstGeom prst="rect">
            <a:avLst/>
          </a:prstGeom>
          <a:noFill/>
          <a:ln/>
        </p:spPr>
        <p:txBody>
          <a:bodyPr wrap="square" lIns="0" tIns="0" rIns="0" bIns="0" rtlCol="0" anchor="ctr"/>
          <a:lstStyle/>
          <a:p>
            <a:pPr indent="0" marL="0">
              <a:buNone/>
            </a:pPr>
            <a:r>
              <a:rPr lang="en-US" sz="1050" b="1" spc="200" kern="0" dirty="0">
                <a:solidFill>
                  <a:srgbClr val="C9C9EA"/>
                </a:solidFill>
                <a:latin typeface="Cambria" pitchFamily="34" charset="0"/>
                <a:ea typeface="Cambria" pitchFamily="34" charset="-122"/>
                <a:cs typeface="Cambria" pitchFamily="34" charset="-120"/>
              </a:rPr>
              <a:t>BY THE END YOU CAN</a:t>
            </a:r>
            <a:endParaRPr lang="en-US" sz="1050" dirty="0"/>
          </a:p>
        </p:txBody>
      </p:sp>
      <p:sp>
        <p:nvSpPr>
          <p:cNvPr id="8" name="Text 6"/>
          <p:cNvSpPr txBox="1"/>
          <p:nvPr/>
        </p:nvSpPr>
        <p:spPr>
          <a:xfrm>
            <a:off x="868680" y="2231136"/>
            <a:ext cx="3429000" cy="2862072"/>
          </a:xfrm>
          <a:prstGeom prst="rect">
            <a:avLst/>
          </a:prstGeom>
          <a:noFill/>
          <a:ln/>
        </p:spPr>
        <p:txBody>
          <a:bodyPr wrap="square" lIns="0" tIns="0" rIns="0" bIns="0" rtlCol="0" anchor="t"/>
          <a:lstStyle/>
          <a:p>
            <a:pPr marL="177800" indent="-177800">
              <a:spcAft>
                <a:spcPts val="1100"/>
              </a:spcAft>
              <a:buSzPct val="100000"/>
              <a:buChar char="•"/>
            </a:pPr>
            <a:r>
              <a:rPr lang="en-US" sz="1350" dirty="0">
                <a:solidFill>
                  <a:srgbClr val="FFFFFF"/>
                </a:solidFill>
                <a:latin typeface="Cambria" pitchFamily="34" charset="0"/>
                <a:ea typeface="Cambria" pitchFamily="34" charset="-122"/>
                <a:cs typeface="Cambria" pitchFamily="34" charset="-120"/>
              </a:rPr>
              <a:t>Say what a banded report writer does and when it is the right tool</a:t>
            </a:r>
            <a:endParaRPr lang="en-US" sz="1350" dirty="0"/>
          </a:p>
          <a:p>
            <a:pPr marL="177800" indent="-177800">
              <a:spcAft>
                <a:spcPts val="1100"/>
              </a:spcAft>
              <a:buSzPct val="100000"/>
              <a:buChar char="•"/>
            </a:pPr>
            <a:r>
              <a:rPr lang="en-US" sz="1350" dirty="0">
                <a:solidFill>
                  <a:srgbClr val="FFFFFF"/>
                </a:solidFill>
                <a:latin typeface="Cambria" pitchFamily="34" charset="0"/>
                <a:ea typeface="Cambria" pitchFamily="34" charset="-122"/>
                <a:cs typeface="Cambria" pitchFamily="34" charset="-120"/>
              </a:rPr>
              <a:t>Name every section of a report and what belongs in each</a:t>
            </a:r>
            <a:endParaRPr lang="en-US" sz="1350" dirty="0"/>
          </a:p>
          <a:p>
            <a:pPr marL="177800" indent="-177800">
              <a:spcAft>
                <a:spcPts val="1100"/>
              </a:spcAft>
              <a:buSzPct val="100000"/>
              <a:buChar char="•"/>
            </a:pPr>
            <a:r>
              <a:rPr lang="en-US" sz="1350" dirty="0">
                <a:solidFill>
                  <a:srgbClr val="FFFFFF"/>
                </a:solidFill>
                <a:latin typeface="Cambria" pitchFamily="34" charset="0"/>
                <a:ea typeface="Cambria" pitchFamily="34" charset="-122"/>
                <a:cs typeface="Cambria" pitchFamily="34" charset="-120"/>
              </a:rPr>
              <a:t>Connect a report to a database or to data your application supplies</a:t>
            </a:r>
            <a:endParaRPr lang="en-US" sz="1350" dirty="0"/>
          </a:p>
          <a:p>
            <a:pPr marL="177800" indent="-177800">
              <a:spcAft>
                <a:spcPts val="1100"/>
              </a:spcAft>
              <a:buSzPct val="100000"/>
              <a:buChar char="•"/>
            </a:pPr>
            <a:r>
              <a:rPr lang="en-US" sz="1350" dirty="0">
                <a:solidFill>
                  <a:srgbClr val="FFFFFF"/>
                </a:solidFill>
                <a:latin typeface="Cambria" pitchFamily="34" charset="0"/>
                <a:ea typeface="Cambria" pitchFamily="34" charset="-122"/>
                <a:cs typeface="Cambria" pitchFamily="34" charset="-120"/>
              </a:rPr>
              <a:t>Group, sort and total data inside the report</a:t>
            </a:r>
            <a:endParaRPr lang="en-US" sz="1350" dirty="0"/>
          </a:p>
          <a:p>
            <a:pPr marL="177800" indent="-177800">
              <a:spcAft>
                <a:spcPts val="1100"/>
              </a:spcAft>
              <a:buSzPct val="100000"/>
              <a:buChar char="•"/>
            </a:pPr>
            <a:r>
              <a:rPr lang="en-US" sz="1350" dirty="0">
                <a:solidFill>
                  <a:srgbClr val="FFFFFF"/>
                </a:solidFill>
                <a:latin typeface="Cambria" pitchFamily="34" charset="0"/>
                <a:ea typeface="Cambria" pitchFamily="34" charset="-122"/>
                <a:cs typeface="Cambria" pitchFamily="34" charset="-120"/>
              </a:rPr>
              <a:t>Build a working report from a real query</a:t>
            </a:r>
            <a:endParaRPr lang="en-US" sz="1350" dirty="0"/>
          </a:p>
        </p:txBody>
      </p:sp>
      <p:sp>
        <p:nvSpPr>
          <p:cNvPr id="9" name="Shape 7"/>
          <p:cNvSpPr/>
          <p:nvPr/>
        </p:nvSpPr>
        <p:spPr>
          <a:xfrm>
            <a:off x="868680" y="5138928"/>
            <a:ext cx="3429000" cy="0"/>
          </a:xfrm>
          <a:prstGeom prst="line">
            <a:avLst/>
          </a:prstGeom>
          <a:noFill/>
          <a:ln w="12700">
            <a:solidFill>
              <a:srgbClr val="5050A8"/>
            </a:solidFill>
            <a:prstDash val="solid"/>
          </a:ln>
        </p:spPr>
      </p:sp>
      <p:sp>
        <p:nvSpPr>
          <p:cNvPr id="10" name="Text 8"/>
          <p:cNvSpPr txBox="1"/>
          <p:nvPr/>
        </p:nvSpPr>
        <p:spPr>
          <a:xfrm>
            <a:off x="868680" y="5266944"/>
            <a:ext cx="3429000" cy="457200"/>
          </a:xfrm>
          <a:prstGeom prst="rect">
            <a:avLst/>
          </a:prstGeom>
          <a:noFill/>
          <a:ln/>
        </p:spPr>
        <p:txBody>
          <a:bodyPr wrap="square" lIns="0" tIns="0" rIns="0" bIns="0" rtlCol="0" anchor="ctr"/>
          <a:lstStyle/>
          <a:p>
            <a:pPr indent="0" marL="0">
              <a:lnSpc>
                <a:spcPts val="1500"/>
              </a:lnSpc>
              <a:buNone/>
            </a:pPr>
            <a:r>
              <a:rPr lang="en-US" sz="1150" i="1" dirty="0">
                <a:solidFill>
                  <a:srgbClr val="D9D9EF"/>
                </a:solidFill>
                <a:latin typeface="Cambria" pitchFamily="34" charset="0"/>
                <a:ea typeface="Cambria" pitchFamily="34" charset="-122"/>
                <a:cs typeface="Cambria" pitchFamily="34" charset="-120"/>
              </a:rPr>
              <a:t>About 45 minutes of concept and demonstration, then 45 minutes at the keyboard.</a:t>
            </a:r>
            <a:endParaRPr lang="en-US" sz="1150" dirty="0"/>
          </a:p>
        </p:txBody>
      </p:sp>
      <p:sp>
        <p:nvSpPr>
          <p:cNvPr id="11" name="Text 9"/>
          <p:cNvSpPr txBox="1"/>
          <p:nvPr/>
        </p:nvSpPr>
        <p:spPr>
          <a:xfrm>
            <a:off x="4937760" y="1609344"/>
            <a:ext cx="3657600" cy="237744"/>
          </a:xfrm>
          <a:prstGeom prst="rect">
            <a:avLst/>
          </a:prstGeom>
          <a:noFill/>
          <a:ln/>
        </p:spPr>
        <p:txBody>
          <a:bodyPr wrap="square" lIns="0" tIns="0" rIns="0" bIns="0" rtlCol="0" anchor="ctr"/>
          <a:lstStyle/>
          <a:p>
            <a:pPr indent="0" marL="0">
              <a:buNone/>
            </a:pPr>
            <a:r>
              <a:rPr lang="en-US" sz="1050" b="1" spc="140" kern="0" dirty="0">
                <a:solidFill>
                  <a:srgbClr val="3333B3"/>
                </a:solidFill>
                <a:latin typeface="Cambria" pitchFamily="34" charset="0"/>
                <a:ea typeface="Cambria" pitchFamily="34" charset="-122"/>
                <a:cs typeface="Cambria" pitchFamily="34" charset="-120"/>
              </a:rPr>
              <a:t>WHAT WE COVER</a:t>
            </a:r>
            <a:endParaRPr lang="en-US" sz="1050" dirty="0"/>
          </a:p>
        </p:txBody>
      </p:sp>
      <p:sp>
        <p:nvSpPr>
          <p:cNvPr id="12" name="Shape 10"/>
          <p:cNvSpPr/>
          <p:nvPr/>
        </p:nvSpPr>
        <p:spPr>
          <a:xfrm>
            <a:off x="4937760" y="1956816"/>
            <a:ext cx="6656832" cy="713232"/>
          </a:xfrm>
          <a:prstGeom prst="rect">
            <a:avLst/>
          </a:prstGeom>
          <a:solidFill>
            <a:srgbClr val="EDEDF7"/>
          </a:solidFill>
          <a:ln w="9525">
            <a:solidFill>
              <a:srgbClr val="C9C9EA"/>
            </a:solidFill>
            <a:prstDash val="solid"/>
          </a:ln>
        </p:spPr>
      </p:sp>
      <p:sp>
        <p:nvSpPr>
          <p:cNvPr id="13" name="Shape 11"/>
          <p:cNvSpPr/>
          <p:nvPr/>
        </p:nvSpPr>
        <p:spPr>
          <a:xfrm>
            <a:off x="4937760" y="1956816"/>
            <a:ext cx="50292" cy="713232"/>
          </a:xfrm>
          <a:prstGeom prst="rect">
            <a:avLst/>
          </a:prstGeom>
          <a:solidFill>
            <a:srgbClr val="3333B3"/>
          </a:solidFill>
          <a:ln w="12700">
            <a:solidFill>
              <a:srgbClr val="3333B3"/>
            </a:solidFill>
            <a:prstDash val="solid"/>
          </a:ln>
        </p:spPr>
      </p:sp>
      <p:sp>
        <p:nvSpPr>
          <p:cNvPr id="14" name="Shape 12"/>
          <p:cNvSpPr/>
          <p:nvPr/>
        </p:nvSpPr>
        <p:spPr>
          <a:xfrm>
            <a:off x="5138928" y="2130552"/>
            <a:ext cx="365760" cy="365760"/>
          </a:xfrm>
          <a:prstGeom prst="ellipse">
            <a:avLst/>
          </a:prstGeom>
          <a:solidFill>
            <a:srgbClr val="3333B3"/>
          </a:solidFill>
          <a:ln w="12700">
            <a:solidFill>
              <a:srgbClr val="3333B3"/>
            </a:solidFill>
            <a:prstDash val="solid"/>
          </a:ln>
        </p:spPr>
      </p:sp>
      <p:sp>
        <p:nvSpPr>
          <p:cNvPr id="15" name="Text 13"/>
          <p:cNvSpPr txBox="1"/>
          <p:nvPr/>
        </p:nvSpPr>
        <p:spPr>
          <a:xfrm>
            <a:off x="5138928" y="21305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6" name="Text 14"/>
          <p:cNvSpPr txBox="1"/>
          <p:nvPr/>
        </p:nvSpPr>
        <p:spPr>
          <a:xfrm>
            <a:off x="5669280" y="1956816"/>
            <a:ext cx="5705856" cy="713232"/>
          </a:xfrm>
          <a:prstGeom prst="rect">
            <a:avLst/>
          </a:prstGeom>
          <a:noFill/>
          <a:ln/>
        </p:spPr>
        <p:txBody>
          <a:bodyPr wrap="square" lIns="0" tIns="0" rIns="0" bIns="0" rtlCol="0" anchor="ctr"/>
          <a:lstStyle/>
          <a:p>
            <a:pPr indent="0" marL="0">
              <a:buNone/>
            </a:pPr>
            <a:r>
              <a:rPr lang="en-US" sz="1400" b="1" dirty="0">
                <a:solidFill>
                  <a:srgbClr val="22226B"/>
                </a:solidFill>
                <a:latin typeface="Cambria" pitchFamily="34" charset="0"/>
                <a:ea typeface="Cambria" pitchFamily="34" charset="-122"/>
                <a:cs typeface="Cambria" pitchFamily="34" charset="-120"/>
              </a:rPr>
              <a:t>What Crystal Reports is for</a:t>
            </a:r>
            <a:endParaRPr lang="en-US" sz="1400" dirty="0"/>
          </a:p>
          <a:p>
            <a:pPr indent="0" marL="0">
              <a:buNone/>
            </a:pPr>
            <a:r>
              <a:rPr lang="en-US" sz="1150" dirty="0">
                <a:solidFill>
                  <a:srgbClr val="3E3E5A"/>
                </a:solidFill>
                <a:latin typeface="Cambria" pitchFamily="34" charset="0"/>
                <a:ea typeface="Cambria" pitchFamily="34" charset="-122"/>
                <a:cs typeface="Cambria" pitchFamily="34" charset="-120"/>
              </a:rPr>
              <a:t>And where it sits beside the alternatives</a:t>
            </a:r>
            <a:endParaRPr lang="en-US" sz="1400" dirty="0"/>
          </a:p>
        </p:txBody>
      </p:sp>
      <p:sp>
        <p:nvSpPr>
          <p:cNvPr id="17" name="Shape 15"/>
          <p:cNvSpPr/>
          <p:nvPr/>
        </p:nvSpPr>
        <p:spPr>
          <a:xfrm>
            <a:off x="4937760" y="2798064"/>
            <a:ext cx="6656832" cy="713232"/>
          </a:xfrm>
          <a:prstGeom prst="rect">
            <a:avLst/>
          </a:prstGeom>
          <a:solidFill>
            <a:srgbClr val="EDEDF7"/>
          </a:solidFill>
          <a:ln w="9525">
            <a:solidFill>
              <a:srgbClr val="C9C9EA"/>
            </a:solidFill>
            <a:prstDash val="solid"/>
          </a:ln>
        </p:spPr>
      </p:sp>
      <p:sp>
        <p:nvSpPr>
          <p:cNvPr id="18" name="Shape 16"/>
          <p:cNvSpPr/>
          <p:nvPr/>
        </p:nvSpPr>
        <p:spPr>
          <a:xfrm>
            <a:off x="4937760" y="2798064"/>
            <a:ext cx="50292" cy="713232"/>
          </a:xfrm>
          <a:prstGeom prst="rect">
            <a:avLst/>
          </a:prstGeom>
          <a:solidFill>
            <a:srgbClr val="3333B3"/>
          </a:solidFill>
          <a:ln w="12700">
            <a:solidFill>
              <a:srgbClr val="3333B3"/>
            </a:solidFill>
            <a:prstDash val="solid"/>
          </a:ln>
        </p:spPr>
      </p:sp>
      <p:sp>
        <p:nvSpPr>
          <p:cNvPr id="19" name="Shape 17"/>
          <p:cNvSpPr/>
          <p:nvPr/>
        </p:nvSpPr>
        <p:spPr>
          <a:xfrm>
            <a:off x="5138928" y="2971800"/>
            <a:ext cx="365760" cy="365760"/>
          </a:xfrm>
          <a:prstGeom prst="ellipse">
            <a:avLst/>
          </a:prstGeom>
          <a:solidFill>
            <a:srgbClr val="3333B3"/>
          </a:solidFill>
          <a:ln w="12700">
            <a:solidFill>
              <a:srgbClr val="3333B3"/>
            </a:solidFill>
            <a:prstDash val="solid"/>
          </a:ln>
        </p:spPr>
      </p:sp>
      <p:sp>
        <p:nvSpPr>
          <p:cNvPr id="20" name="Text 18"/>
          <p:cNvSpPr txBox="1"/>
          <p:nvPr/>
        </p:nvSpPr>
        <p:spPr>
          <a:xfrm>
            <a:off x="5138928" y="29718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21" name="Text 19"/>
          <p:cNvSpPr txBox="1"/>
          <p:nvPr/>
        </p:nvSpPr>
        <p:spPr>
          <a:xfrm>
            <a:off x="5669280" y="2798064"/>
            <a:ext cx="5705856" cy="713232"/>
          </a:xfrm>
          <a:prstGeom prst="rect">
            <a:avLst/>
          </a:prstGeom>
          <a:noFill/>
          <a:ln/>
        </p:spPr>
        <p:txBody>
          <a:bodyPr wrap="square" lIns="0" tIns="0" rIns="0" bIns="0" rtlCol="0" anchor="ctr"/>
          <a:lstStyle/>
          <a:p>
            <a:pPr indent="0" marL="0">
              <a:buNone/>
            </a:pPr>
            <a:r>
              <a:rPr lang="en-US" sz="1400" b="1" dirty="0">
                <a:solidFill>
                  <a:srgbClr val="22226B"/>
                </a:solidFill>
                <a:latin typeface="Cambria" pitchFamily="34" charset="0"/>
                <a:ea typeface="Cambria" pitchFamily="34" charset="-122"/>
                <a:cs typeface="Cambria" pitchFamily="34" charset="-120"/>
              </a:rPr>
              <a:t>The report designer</a:t>
            </a:r>
            <a:endParaRPr lang="en-US" sz="1400" dirty="0"/>
          </a:p>
          <a:p>
            <a:pPr indent="0" marL="0">
              <a:buNone/>
            </a:pPr>
            <a:r>
              <a:rPr lang="en-US" sz="1150" dirty="0">
                <a:solidFill>
                  <a:srgbClr val="3E3E5A"/>
                </a:solidFill>
                <a:latin typeface="Cambria" pitchFamily="34" charset="0"/>
                <a:ea typeface="Cambria" pitchFamily="34" charset="-122"/>
                <a:cs typeface="Cambria" pitchFamily="34" charset="-120"/>
              </a:rPr>
              <a:t>Sections, fields, formulas</a:t>
            </a:r>
            <a:endParaRPr lang="en-US" sz="1400" dirty="0"/>
          </a:p>
        </p:txBody>
      </p:sp>
      <p:sp>
        <p:nvSpPr>
          <p:cNvPr id="22" name="Shape 20"/>
          <p:cNvSpPr/>
          <p:nvPr/>
        </p:nvSpPr>
        <p:spPr>
          <a:xfrm>
            <a:off x="4937760" y="3639312"/>
            <a:ext cx="6656832" cy="713232"/>
          </a:xfrm>
          <a:prstGeom prst="rect">
            <a:avLst/>
          </a:prstGeom>
          <a:solidFill>
            <a:srgbClr val="EDEDF7"/>
          </a:solidFill>
          <a:ln w="9525">
            <a:solidFill>
              <a:srgbClr val="C9C9EA"/>
            </a:solidFill>
            <a:prstDash val="solid"/>
          </a:ln>
        </p:spPr>
      </p:sp>
      <p:sp>
        <p:nvSpPr>
          <p:cNvPr id="23" name="Shape 21"/>
          <p:cNvSpPr/>
          <p:nvPr/>
        </p:nvSpPr>
        <p:spPr>
          <a:xfrm>
            <a:off x="4937760" y="3639312"/>
            <a:ext cx="50292" cy="713232"/>
          </a:xfrm>
          <a:prstGeom prst="rect">
            <a:avLst/>
          </a:prstGeom>
          <a:solidFill>
            <a:srgbClr val="3333B3"/>
          </a:solidFill>
          <a:ln w="12700">
            <a:solidFill>
              <a:srgbClr val="3333B3"/>
            </a:solidFill>
            <a:prstDash val="solid"/>
          </a:ln>
        </p:spPr>
      </p:sp>
      <p:sp>
        <p:nvSpPr>
          <p:cNvPr id="24" name="Shape 22"/>
          <p:cNvSpPr/>
          <p:nvPr/>
        </p:nvSpPr>
        <p:spPr>
          <a:xfrm>
            <a:off x="5138928" y="3813048"/>
            <a:ext cx="365760" cy="365760"/>
          </a:xfrm>
          <a:prstGeom prst="ellipse">
            <a:avLst/>
          </a:prstGeom>
          <a:solidFill>
            <a:srgbClr val="3333B3"/>
          </a:solidFill>
          <a:ln w="12700">
            <a:solidFill>
              <a:srgbClr val="3333B3"/>
            </a:solidFill>
            <a:prstDash val="solid"/>
          </a:ln>
        </p:spPr>
      </p:sp>
      <p:sp>
        <p:nvSpPr>
          <p:cNvPr id="25" name="Text 23"/>
          <p:cNvSpPr txBox="1"/>
          <p:nvPr/>
        </p:nvSpPr>
        <p:spPr>
          <a:xfrm>
            <a:off x="5138928" y="38130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6" name="Text 24"/>
          <p:cNvSpPr txBox="1"/>
          <p:nvPr/>
        </p:nvSpPr>
        <p:spPr>
          <a:xfrm>
            <a:off x="5669280" y="3639312"/>
            <a:ext cx="5705856" cy="713232"/>
          </a:xfrm>
          <a:prstGeom prst="rect">
            <a:avLst/>
          </a:prstGeom>
          <a:noFill/>
          <a:ln/>
        </p:spPr>
        <p:txBody>
          <a:bodyPr wrap="square" lIns="0" tIns="0" rIns="0" bIns="0" rtlCol="0" anchor="ctr"/>
          <a:lstStyle/>
          <a:p>
            <a:pPr indent="0" marL="0">
              <a:buNone/>
            </a:pPr>
            <a:r>
              <a:rPr lang="en-US" sz="1400" b="1" dirty="0">
                <a:solidFill>
                  <a:srgbClr val="22226B"/>
                </a:solidFill>
                <a:latin typeface="Cambria" pitchFamily="34" charset="0"/>
                <a:ea typeface="Cambria" pitchFamily="34" charset="-122"/>
                <a:cs typeface="Cambria" pitchFamily="34" charset="-120"/>
              </a:rPr>
              <a:t>Data sources</a:t>
            </a:r>
            <a:endParaRPr lang="en-US" sz="1400" dirty="0"/>
          </a:p>
          <a:p>
            <a:pPr indent="0" marL="0">
              <a:buNone/>
            </a:pPr>
            <a:r>
              <a:rPr lang="en-US" sz="1150" dirty="0">
                <a:solidFill>
                  <a:srgbClr val="3E3E5A"/>
                </a:solidFill>
                <a:latin typeface="Cambria" pitchFamily="34" charset="0"/>
                <a:ea typeface="Cambria" pitchFamily="34" charset="-122"/>
                <a:cs typeface="Cambria" pitchFamily="34" charset="-120"/>
              </a:rPr>
              <a:t>The pull model and the push model</a:t>
            </a:r>
            <a:endParaRPr lang="en-US" sz="1400" dirty="0"/>
          </a:p>
        </p:txBody>
      </p:sp>
      <p:sp>
        <p:nvSpPr>
          <p:cNvPr id="27" name="Shape 25"/>
          <p:cNvSpPr/>
          <p:nvPr/>
        </p:nvSpPr>
        <p:spPr>
          <a:xfrm>
            <a:off x="4937760" y="4480560"/>
            <a:ext cx="6656832" cy="713232"/>
          </a:xfrm>
          <a:prstGeom prst="rect">
            <a:avLst/>
          </a:prstGeom>
          <a:solidFill>
            <a:srgbClr val="EDEDF7"/>
          </a:solidFill>
          <a:ln w="9525">
            <a:solidFill>
              <a:srgbClr val="C9C9EA"/>
            </a:solidFill>
            <a:prstDash val="solid"/>
          </a:ln>
        </p:spPr>
      </p:sp>
      <p:sp>
        <p:nvSpPr>
          <p:cNvPr id="28" name="Shape 26"/>
          <p:cNvSpPr/>
          <p:nvPr/>
        </p:nvSpPr>
        <p:spPr>
          <a:xfrm>
            <a:off x="4937760" y="4480560"/>
            <a:ext cx="50292" cy="713232"/>
          </a:xfrm>
          <a:prstGeom prst="rect">
            <a:avLst/>
          </a:prstGeom>
          <a:solidFill>
            <a:srgbClr val="3333B3"/>
          </a:solidFill>
          <a:ln w="12700">
            <a:solidFill>
              <a:srgbClr val="3333B3"/>
            </a:solidFill>
            <a:prstDash val="solid"/>
          </a:ln>
        </p:spPr>
      </p:sp>
      <p:sp>
        <p:nvSpPr>
          <p:cNvPr id="29" name="Shape 27"/>
          <p:cNvSpPr/>
          <p:nvPr/>
        </p:nvSpPr>
        <p:spPr>
          <a:xfrm>
            <a:off x="5138928" y="4654296"/>
            <a:ext cx="365760" cy="365760"/>
          </a:xfrm>
          <a:prstGeom prst="ellipse">
            <a:avLst/>
          </a:prstGeom>
          <a:solidFill>
            <a:srgbClr val="3333B3"/>
          </a:solidFill>
          <a:ln w="12700">
            <a:solidFill>
              <a:srgbClr val="3333B3"/>
            </a:solidFill>
            <a:prstDash val="solid"/>
          </a:ln>
        </p:spPr>
      </p:sp>
      <p:sp>
        <p:nvSpPr>
          <p:cNvPr id="30" name="Text 28"/>
          <p:cNvSpPr txBox="1"/>
          <p:nvPr/>
        </p:nvSpPr>
        <p:spPr>
          <a:xfrm>
            <a:off x="5138928" y="465429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31" name="Text 29"/>
          <p:cNvSpPr txBox="1"/>
          <p:nvPr/>
        </p:nvSpPr>
        <p:spPr>
          <a:xfrm>
            <a:off x="5669280" y="4480560"/>
            <a:ext cx="5705856" cy="713232"/>
          </a:xfrm>
          <a:prstGeom prst="rect">
            <a:avLst/>
          </a:prstGeom>
          <a:noFill/>
          <a:ln/>
        </p:spPr>
        <p:txBody>
          <a:bodyPr wrap="square" lIns="0" tIns="0" rIns="0" bIns="0" rtlCol="0" anchor="ctr"/>
          <a:lstStyle/>
          <a:p>
            <a:pPr indent="0" marL="0">
              <a:buNone/>
            </a:pPr>
            <a:r>
              <a:rPr lang="en-US" sz="1400" b="1" dirty="0">
                <a:solidFill>
                  <a:srgbClr val="22226B"/>
                </a:solidFill>
                <a:latin typeface="Cambria" pitchFamily="34" charset="0"/>
                <a:ea typeface="Cambria" pitchFamily="34" charset="-122"/>
                <a:cs typeface="Cambria" pitchFamily="34" charset="-120"/>
              </a:rPr>
              <a:t>Grouping and totals</a:t>
            </a:r>
            <a:endParaRPr lang="en-US" sz="1400" dirty="0"/>
          </a:p>
          <a:p>
            <a:pPr indent="0" marL="0">
              <a:buNone/>
            </a:pPr>
            <a:r>
              <a:rPr lang="en-US" sz="1150" dirty="0">
                <a:solidFill>
                  <a:srgbClr val="3E3E5A"/>
                </a:solidFill>
                <a:latin typeface="Cambria" pitchFamily="34" charset="0"/>
                <a:ea typeface="Cambria" pitchFamily="34" charset="-122"/>
                <a:cs typeface="Cambria" pitchFamily="34" charset="-120"/>
              </a:rPr>
              <a:t>Where the value of a report actually comes from</a:t>
            </a:r>
            <a:endParaRPr lang="en-US" sz="1400" dirty="0"/>
          </a:p>
        </p:txBody>
      </p:sp>
      <p:sp>
        <p:nvSpPr>
          <p:cNvPr id="32" name="Shape 30"/>
          <p:cNvSpPr/>
          <p:nvPr/>
        </p:nvSpPr>
        <p:spPr>
          <a:xfrm>
            <a:off x="4937760" y="5321808"/>
            <a:ext cx="6656832" cy="713232"/>
          </a:xfrm>
          <a:prstGeom prst="rect">
            <a:avLst/>
          </a:prstGeom>
          <a:solidFill>
            <a:srgbClr val="EDEDF7"/>
          </a:solidFill>
          <a:ln w="9525">
            <a:solidFill>
              <a:srgbClr val="C9C9EA"/>
            </a:solidFill>
            <a:prstDash val="solid"/>
          </a:ln>
        </p:spPr>
      </p:sp>
      <p:sp>
        <p:nvSpPr>
          <p:cNvPr id="33" name="Shape 31"/>
          <p:cNvSpPr/>
          <p:nvPr/>
        </p:nvSpPr>
        <p:spPr>
          <a:xfrm>
            <a:off x="4937760" y="5321808"/>
            <a:ext cx="50292" cy="713232"/>
          </a:xfrm>
          <a:prstGeom prst="rect">
            <a:avLst/>
          </a:prstGeom>
          <a:solidFill>
            <a:srgbClr val="3333B3"/>
          </a:solidFill>
          <a:ln w="12700">
            <a:solidFill>
              <a:srgbClr val="3333B3"/>
            </a:solidFill>
            <a:prstDash val="solid"/>
          </a:ln>
        </p:spPr>
      </p:sp>
      <p:sp>
        <p:nvSpPr>
          <p:cNvPr id="34" name="Shape 32"/>
          <p:cNvSpPr/>
          <p:nvPr/>
        </p:nvSpPr>
        <p:spPr>
          <a:xfrm>
            <a:off x="5138928" y="5495544"/>
            <a:ext cx="365760" cy="365760"/>
          </a:xfrm>
          <a:prstGeom prst="ellipse">
            <a:avLst/>
          </a:prstGeom>
          <a:solidFill>
            <a:srgbClr val="3333B3"/>
          </a:solidFill>
          <a:ln w="12700">
            <a:solidFill>
              <a:srgbClr val="3333B3"/>
            </a:solidFill>
            <a:prstDash val="solid"/>
          </a:ln>
        </p:spPr>
      </p:sp>
      <p:sp>
        <p:nvSpPr>
          <p:cNvPr id="35" name="Text 33"/>
          <p:cNvSpPr txBox="1"/>
          <p:nvPr/>
        </p:nvSpPr>
        <p:spPr>
          <a:xfrm>
            <a:off x="5138928" y="549554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36" name="Text 34"/>
          <p:cNvSpPr txBox="1"/>
          <p:nvPr/>
        </p:nvSpPr>
        <p:spPr>
          <a:xfrm>
            <a:off x="5669280" y="5321808"/>
            <a:ext cx="5705856" cy="713232"/>
          </a:xfrm>
          <a:prstGeom prst="rect">
            <a:avLst/>
          </a:prstGeom>
          <a:noFill/>
          <a:ln/>
        </p:spPr>
        <p:txBody>
          <a:bodyPr wrap="square" lIns="0" tIns="0" rIns="0" bIns="0" rtlCol="0" anchor="ctr"/>
          <a:lstStyle/>
          <a:p>
            <a:pPr indent="0" marL="0">
              <a:buNone/>
            </a:pPr>
            <a:r>
              <a:rPr lang="en-US" sz="1400" b="1" dirty="0">
                <a:solidFill>
                  <a:srgbClr val="22226B"/>
                </a:solidFill>
                <a:latin typeface="Cambria" pitchFamily="34" charset="0"/>
                <a:ea typeface="Cambria" pitchFamily="34" charset="-122"/>
                <a:cs typeface="Cambria" pitchFamily="34" charset="-120"/>
              </a:rPr>
              <a:t>Demo</a:t>
            </a:r>
            <a:endParaRPr lang="en-US" sz="1400" dirty="0"/>
          </a:p>
          <a:p>
            <a:pPr indent="0" marL="0">
              <a:buNone/>
            </a:pPr>
            <a:r>
              <a:rPr lang="en-US" sz="1150" dirty="0">
                <a:solidFill>
                  <a:srgbClr val="3E3E5A"/>
                </a:solidFill>
                <a:latin typeface="Cambria" pitchFamily="34" charset="0"/>
                <a:ea typeface="Cambria" pitchFamily="34" charset="-122"/>
                <a:cs typeface="Cambria" pitchFamily="34" charset="-120"/>
              </a:rPr>
              <a:t>A spares consumption report, built live</a:t>
            </a:r>
            <a:endParaRPr lang="en-US" sz="1400" dirty="0"/>
          </a:p>
        </p:txBody>
      </p:sp>
      <p:sp>
        <p:nvSpPr>
          <p:cNvPr id="37" name="Shape 35"/>
          <p:cNvSpPr/>
          <p:nvPr/>
        </p:nvSpPr>
        <p:spPr>
          <a:xfrm>
            <a:off x="0" y="6400800"/>
            <a:ext cx="3840480" cy="457200"/>
          </a:xfrm>
          <a:prstGeom prst="rect">
            <a:avLst/>
          </a:prstGeom>
          <a:solidFill>
            <a:srgbClr val="22226B"/>
          </a:solidFill>
          <a:ln w="12700">
            <a:solidFill>
              <a:srgbClr val="22226B"/>
            </a:solidFill>
            <a:prstDash val="solid"/>
          </a:ln>
        </p:spPr>
      </p:sp>
      <p:sp>
        <p:nvSpPr>
          <p:cNvPr id="38" name="Text 36"/>
          <p:cNvSpPr txBox="1"/>
          <p:nvPr/>
        </p:nvSpPr>
        <p:spPr>
          <a:xfrm>
            <a:off x="164592" y="6400800"/>
            <a:ext cx="351129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HAL  ·  .NET, React &amp; SQL Programme</a:t>
            </a:r>
            <a:endParaRPr lang="en-US" sz="950" dirty="0"/>
          </a:p>
        </p:txBody>
      </p:sp>
      <p:sp>
        <p:nvSpPr>
          <p:cNvPr id="39" name="Shape 37"/>
          <p:cNvSpPr/>
          <p:nvPr/>
        </p:nvSpPr>
        <p:spPr>
          <a:xfrm>
            <a:off x="3840480" y="6400800"/>
            <a:ext cx="6675120" cy="457200"/>
          </a:xfrm>
          <a:prstGeom prst="rect">
            <a:avLst/>
          </a:prstGeom>
          <a:solidFill>
            <a:srgbClr val="3333B3"/>
          </a:solidFill>
          <a:ln w="12700">
            <a:solidFill>
              <a:srgbClr val="3333B3"/>
            </a:solidFill>
            <a:prstDash val="solid"/>
          </a:ln>
        </p:spPr>
      </p:sp>
      <p:sp>
        <p:nvSpPr>
          <p:cNvPr id="40" name="Text 38"/>
          <p:cNvSpPr txBox="1"/>
          <p:nvPr/>
        </p:nvSpPr>
        <p:spPr>
          <a:xfrm>
            <a:off x="4005072" y="6400800"/>
            <a:ext cx="634593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Day 3 · Session 1 — Crystal Reports Basics</a:t>
            </a:r>
            <a:endParaRPr lang="en-US" sz="950" dirty="0"/>
          </a:p>
        </p:txBody>
      </p:sp>
      <p:sp>
        <p:nvSpPr>
          <p:cNvPr id="41" name="Shape 39"/>
          <p:cNvSpPr/>
          <p:nvPr/>
        </p:nvSpPr>
        <p:spPr>
          <a:xfrm>
            <a:off x="10515600" y="6400800"/>
            <a:ext cx="1676095" cy="457200"/>
          </a:xfrm>
          <a:prstGeom prst="rect">
            <a:avLst/>
          </a:prstGeom>
          <a:solidFill>
            <a:srgbClr val="22226B"/>
          </a:solidFill>
          <a:ln w="12700">
            <a:solidFill>
              <a:srgbClr val="22226B"/>
            </a:solidFill>
            <a:prstDash val="solid"/>
          </a:ln>
        </p:spPr>
      </p:sp>
      <p:sp>
        <p:nvSpPr>
          <p:cNvPr id="42" name="Text 40"/>
          <p:cNvSpPr txBox="1"/>
          <p:nvPr/>
        </p:nvSpPr>
        <p:spPr>
          <a:xfrm>
            <a:off x="10680192" y="6400800"/>
            <a:ext cx="1346911" cy="457200"/>
          </a:xfrm>
          <a:prstGeom prst="rect">
            <a:avLst/>
          </a:prstGeom>
          <a:noFill/>
          <a:ln/>
        </p:spPr>
        <p:txBody>
          <a:bodyPr wrap="square" lIns="0" tIns="0" rIns="0" bIns="0" rtlCol="0" anchor="ctr"/>
          <a:lstStyle/>
          <a:p>
            <a:pPr algn="ctr" indent="0" marL="0">
              <a:buNone/>
            </a:pPr>
            <a:r>
              <a:rPr lang="en-US" sz="950" dirty="0">
                <a:solidFill>
                  <a:srgbClr val="FFFFFF"/>
                </a:solidFill>
                <a:latin typeface="Cambria" pitchFamily="34" charset="0"/>
                <a:ea typeface="Cambria" pitchFamily="34" charset="-122"/>
                <a:cs typeface="Cambria" pitchFamily="34" charset="-120"/>
              </a:rPr>
              <a:t>1</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365760"/>
          </a:xfrm>
          <a:prstGeom prst="rect">
            <a:avLst/>
          </a:prstGeom>
          <a:solidFill>
            <a:srgbClr val="22226B"/>
          </a:solidFill>
          <a:ln w="12700">
            <a:solidFill>
              <a:srgbClr val="22226B"/>
            </a:solidFill>
            <a:prstDash val="solid"/>
          </a:ln>
        </p:spPr>
      </p:sp>
      <p:sp>
        <p:nvSpPr>
          <p:cNvPr id="3" name="Text 1"/>
          <p:cNvSpPr txBox="1"/>
          <p:nvPr/>
        </p:nvSpPr>
        <p:spPr>
          <a:xfrm>
            <a:off x="594360" y="0"/>
            <a:ext cx="11002975" cy="365760"/>
          </a:xfrm>
          <a:prstGeom prst="rect">
            <a:avLst/>
          </a:prstGeom>
          <a:noFill/>
          <a:ln/>
        </p:spPr>
        <p:txBody>
          <a:bodyPr wrap="square" lIns="0" tIns="0" rIns="0" bIns="0" rtlCol="0" anchor="ctr"/>
          <a:lstStyle/>
          <a:p>
            <a:pPr indent="0" marL="0">
              <a:buNone/>
            </a:pPr>
            <a:r>
              <a:rPr lang="en-US" sz="1000" b="1" spc="180" kern="0" dirty="0">
                <a:solidFill>
                  <a:srgbClr val="C9C9EA"/>
                </a:solidFill>
                <a:latin typeface="Cambria" pitchFamily="34" charset="0"/>
                <a:ea typeface="Cambria" pitchFamily="34" charset="-122"/>
                <a:cs typeface="Cambria" pitchFamily="34" charset="-120"/>
              </a:rPr>
              <a:t>INTRODUCTION</a:t>
            </a:r>
            <a:endParaRPr lang="en-US" sz="1000" dirty="0"/>
          </a:p>
        </p:txBody>
      </p:sp>
      <p:sp>
        <p:nvSpPr>
          <p:cNvPr id="4" name="Shape 2"/>
          <p:cNvSpPr/>
          <p:nvPr/>
        </p:nvSpPr>
        <p:spPr>
          <a:xfrm>
            <a:off x="0" y="365760"/>
            <a:ext cx="12191695" cy="841248"/>
          </a:xfrm>
          <a:prstGeom prst="rect">
            <a:avLst/>
          </a:prstGeom>
          <a:solidFill>
            <a:srgbClr val="3333B3"/>
          </a:solidFill>
          <a:ln w="12700">
            <a:solidFill>
              <a:srgbClr val="3333B3"/>
            </a:solidFill>
            <a:prstDash val="solid"/>
          </a:ln>
        </p:spPr>
      </p:sp>
      <p:sp>
        <p:nvSpPr>
          <p:cNvPr id="5" name="Text 3"/>
          <p:cNvSpPr txBox="1"/>
          <p:nvPr/>
        </p:nvSpPr>
        <p:spPr>
          <a:xfrm>
            <a:off x="594360" y="365760"/>
            <a:ext cx="11002975" cy="84124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 report is not a screen</a:t>
            </a:r>
            <a:endParaRPr lang="en-US" sz="2600" dirty="0"/>
          </a:p>
        </p:txBody>
      </p:sp>
      <p:sp>
        <p:nvSpPr>
          <p:cNvPr id="6" name="Shape 4"/>
          <p:cNvSpPr/>
          <p:nvPr/>
        </p:nvSpPr>
        <p:spPr>
          <a:xfrm>
            <a:off x="594360" y="1627632"/>
            <a:ext cx="3529584" cy="402336"/>
          </a:xfrm>
          <a:prstGeom prst="rect">
            <a:avLst/>
          </a:prstGeom>
          <a:solidFill>
            <a:srgbClr val="3333B3"/>
          </a:solidFill>
          <a:ln w="12700">
            <a:solidFill>
              <a:srgbClr val="3333B3"/>
            </a:solidFill>
            <a:prstDash val="solid"/>
          </a:ln>
        </p:spPr>
      </p:sp>
      <p:sp>
        <p:nvSpPr>
          <p:cNvPr id="7" name="Text 5"/>
          <p:cNvSpPr txBox="1"/>
          <p:nvPr/>
        </p:nvSpPr>
        <p:spPr>
          <a:xfrm>
            <a:off x="777240" y="1627632"/>
            <a:ext cx="3163824" cy="40233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What it is</a:t>
            </a:r>
            <a:endParaRPr lang="en-US" sz="1500" dirty="0"/>
          </a:p>
        </p:txBody>
      </p:sp>
      <p:sp>
        <p:nvSpPr>
          <p:cNvPr id="8" name="Shape 6"/>
          <p:cNvSpPr/>
          <p:nvPr/>
        </p:nvSpPr>
        <p:spPr>
          <a:xfrm>
            <a:off x="594360" y="2029968"/>
            <a:ext cx="3529584" cy="1426464"/>
          </a:xfrm>
          <a:prstGeom prst="rect">
            <a:avLst/>
          </a:prstGeom>
          <a:solidFill>
            <a:srgbClr val="F4F4FA"/>
          </a:solidFill>
          <a:ln w="9525">
            <a:solidFill>
              <a:srgbClr val="C9C9EA"/>
            </a:solidFill>
            <a:prstDash val="solid"/>
          </a:ln>
        </p:spPr>
      </p:sp>
      <p:sp>
        <p:nvSpPr>
          <p:cNvPr id="9" name="Text 7"/>
          <p:cNvSpPr txBox="1"/>
          <p:nvPr/>
        </p:nvSpPr>
        <p:spPr>
          <a:xfrm>
            <a:off x="813816" y="2176272"/>
            <a:ext cx="3090672" cy="1152144"/>
          </a:xfrm>
          <a:prstGeom prst="rect">
            <a:avLst/>
          </a:prstGeom>
          <a:noFill/>
          <a:ln/>
        </p:spPr>
        <p:txBody>
          <a:bodyPr wrap="square" lIns="0" tIns="0" rIns="0" bIns="0" rtlCol="0" anchor="t"/>
          <a:lstStyle/>
          <a:p>
            <a:pPr indent="0" marL="0">
              <a:lnSpc>
                <a:spcPts val="1620"/>
              </a:lnSpc>
              <a:buNone/>
            </a:pPr>
            <a:r>
              <a:rPr lang="en-US" sz="1200" dirty="0">
                <a:solidFill>
                  <a:srgbClr val="3E3E5A"/>
                </a:solidFill>
                <a:latin typeface="Cambria" pitchFamily="34" charset="0"/>
                <a:ea typeface="Cambria" pitchFamily="34" charset="-122"/>
                <a:cs typeface="Cambria" pitchFamily="34" charset="-120"/>
              </a:rPr>
              <a:t>A banded report writer. You lay out bands once, and the engine repeats the detail band for every row returned.</a:t>
            </a:r>
            <a:endParaRPr lang="en-US" sz="1200" dirty="0"/>
          </a:p>
        </p:txBody>
      </p:sp>
      <p:sp>
        <p:nvSpPr>
          <p:cNvPr id="10" name="Shape 8"/>
          <p:cNvSpPr/>
          <p:nvPr/>
        </p:nvSpPr>
        <p:spPr>
          <a:xfrm>
            <a:off x="4325112" y="1627632"/>
            <a:ext cx="3529584" cy="402336"/>
          </a:xfrm>
          <a:prstGeom prst="rect">
            <a:avLst/>
          </a:prstGeom>
          <a:solidFill>
            <a:srgbClr val="3333B3"/>
          </a:solidFill>
          <a:ln w="12700">
            <a:solidFill>
              <a:srgbClr val="3333B3"/>
            </a:solidFill>
            <a:prstDash val="solid"/>
          </a:ln>
        </p:spPr>
      </p:sp>
      <p:sp>
        <p:nvSpPr>
          <p:cNvPr id="11" name="Text 9"/>
          <p:cNvSpPr txBox="1"/>
          <p:nvPr/>
        </p:nvSpPr>
        <p:spPr>
          <a:xfrm>
            <a:off x="4507992" y="1627632"/>
            <a:ext cx="3163824" cy="40233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What it is good at</a:t>
            </a:r>
            <a:endParaRPr lang="en-US" sz="1500" dirty="0"/>
          </a:p>
        </p:txBody>
      </p:sp>
      <p:sp>
        <p:nvSpPr>
          <p:cNvPr id="12" name="Shape 10"/>
          <p:cNvSpPr/>
          <p:nvPr/>
        </p:nvSpPr>
        <p:spPr>
          <a:xfrm>
            <a:off x="4325112" y="2029968"/>
            <a:ext cx="3529584" cy="1426464"/>
          </a:xfrm>
          <a:prstGeom prst="rect">
            <a:avLst/>
          </a:prstGeom>
          <a:solidFill>
            <a:srgbClr val="F4F4FA"/>
          </a:solidFill>
          <a:ln w="9525">
            <a:solidFill>
              <a:srgbClr val="C9C9EA"/>
            </a:solidFill>
            <a:prstDash val="solid"/>
          </a:ln>
        </p:spPr>
      </p:sp>
      <p:sp>
        <p:nvSpPr>
          <p:cNvPr id="13" name="Text 11"/>
          <p:cNvSpPr txBox="1"/>
          <p:nvPr/>
        </p:nvSpPr>
        <p:spPr>
          <a:xfrm>
            <a:off x="4544568" y="2176272"/>
            <a:ext cx="3090672" cy="1152144"/>
          </a:xfrm>
          <a:prstGeom prst="rect">
            <a:avLst/>
          </a:prstGeom>
          <a:noFill/>
          <a:ln/>
        </p:spPr>
        <p:txBody>
          <a:bodyPr wrap="square" lIns="0" tIns="0" rIns="0" bIns="0" rtlCol="0" anchor="t"/>
          <a:lstStyle/>
          <a:p>
            <a:pPr indent="0" marL="0">
              <a:lnSpc>
                <a:spcPts val="1620"/>
              </a:lnSpc>
              <a:buNone/>
            </a:pPr>
            <a:r>
              <a:rPr lang="en-US" sz="1200" dirty="0">
                <a:solidFill>
                  <a:srgbClr val="3E3E5A"/>
                </a:solidFill>
                <a:latin typeface="Cambria" pitchFamily="34" charset="0"/>
                <a:ea typeface="Cambria" pitchFamily="34" charset="-122"/>
                <a:cs typeface="Cambria" pitchFamily="34" charset="-120"/>
              </a:rPr>
              <a:t>Pixel-exact printed output: issue vouchers, stock statements, inspection certificates — anything that must look identical every time.</a:t>
            </a:r>
            <a:endParaRPr lang="en-US" sz="1200" dirty="0"/>
          </a:p>
        </p:txBody>
      </p:sp>
      <p:sp>
        <p:nvSpPr>
          <p:cNvPr id="14" name="Shape 12"/>
          <p:cNvSpPr/>
          <p:nvPr/>
        </p:nvSpPr>
        <p:spPr>
          <a:xfrm>
            <a:off x="8055864" y="1627632"/>
            <a:ext cx="3529584" cy="402336"/>
          </a:xfrm>
          <a:prstGeom prst="rect">
            <a:avLst/>
          </a:prstGeom>
          <a:solidFill>
            <a:srgbClr val="3333B3"/>
          </a:solidFill>
          <a:ln w="12700">
            <a:solidFill>
              <a:srgbClr val="3333B3"/>
            </a:solidFill>
            <a:prstDash val="solid"/>
          </a:ln>
        </p:spPr>
      </p:sp>
      <p:sp>
        <p:nvSpPr>
          <p:cNvPr id="15" name="Text 13"/>
          <p:cNvSpPr txBox="1"/>
          <p:nvPr/>
        </p:nvSpPr>
        <p:spPr>
          <a:xfrm>
            <a:off x="8238744" y="1627632"/>
            <a:ext cx="3163824" cy="40233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What you need</a:t>
            </a:r>
            <a:endParaRPr lang="en-US" sz="1500" dirty="0"/>
          </a:p>
        </p:txBody>
      </p:sp>
      <p:sp>
        <p:nvSpPr>
          <p:cNvPr id="16" name="Shape 14"/>
          <p:cNvSpPr/>
          <p:nvPr/>
        </p:nvSpPr>
        <p:spPr>
          <a:xfrm>
            <a:off x="8055864" y="2029968"/>
            <a:ext cx="3529584" cy="1426464"/>
          </a:xfrm>
          <a:prstGeom prst="rect">
            <a:avLst/>
          </a:prstGeom>
          <a:solidFill>
            <a:srgbClr val="F4F4FA"/>
          </a:solidFill>
          <a:ln w="9525">
            <a:solidFill>
              <a:srgbClr val="C9C9EA"/>
            </a:solidFill>
            <a:prstDash val="solid"/>
          </a:ln>
        </p:spPr>
      </p:sp>
      <p:sp>
        <p:nvSpPr>
          <p:cNvPr id="17" name="Text 15"/>
          <p:cNvSpPr txBox="1"/>
          <p:nvPr/>
        </p:nvSpPr>
        <p:spPr>
          <a:xfrm>
            <a:off x="8275320" y="2176272"/>
            <a:ext cx="3090672" cy="1152144"/>
          </a:xfrm>
          <a:prstGeom prst="rect">
            <a:avLst/>
          </a:prstGeom>
          <a:noFill/>
          <a:ln/>
        </p:spPr>
        <p:txBody>
          <a:bodyPr wrap="square" lIns="0" tIns="0" rIns="0" bIns="0" rtlCol="0" anchor="t"/>
          <a:lstStyle/>
          <a:p>
            <a:pPr indent="0" marL="0">
              <a:lnSpc>
                <a:spcPts val="1553"/>
              </a:lnSpc>
              <a:buNone/>
            </a:pPr>
            <a:r>
              <a:rPr lang="en-US" sz="1150" dirty="0">
                <a:solidFill>
                  <a:srgbClr val="3E3E5A"/>
                </a:solidFill>
                <a:latin typeface="Cambria" pitchFamily="34" charset="0"/>
                <a:ea typeface="Cambria" pitchFamily="34" charset="-122"/>
                <a:cs typeface="Cambria" pitchFamily="34" charset="-120"/>
              </a:rPr>
              <a:t>SAP Crystal Reports for Visual Studio, plus the matching runtime on whichever machine renders the report. Check the service pack supports your target framework.</a:t>
            </a:r>
            <a:endParaRPr lang="en-US" sz="1150" dirty="0"/>
          </a:p>
        </p:txBody>
      </p:sp>
      <p:sp>
        <p:nvSpPr>
          <p:cNvPr id="18" name="Shape 16"/>
          <p:cNvSpPr/>
          <p:nvPr/>
        </p:nvSpPr>
        <p:spPr>
          <a:xfrm>
            <a:off x="594360" y="3657600"/>
            <a:ext cx="5394960" cy="384048"/>
          </a:xfrm>
          <a:prstGeom prst="rect">
            <a:avLst/>
          </a:prstGeom>
          <a:solidFill>
            <a:srgbClr val="22226B"/>
          </a:solidFill>
          <a:ln w="12700">
            <a:solidFill>
              <a:srgbClr val="22226B"/>
            </a:solidFill>
            <a:prstDash val="solid"/>
          </a:ln>
        </p:spPr>
      </p:sp>
      <p:sp>
        <p:nvSpPr>
          <p:cNvPr id="19" name="Text 17"/>
          <p:cNvSpPr txBox="1"/>
          <p:nvPr/>
        </p:nvSpPr>
        <p:spPr>
          <a:xfrm>
            <a:off x="777240" y="3657600"/>
            <a:ext cx="5029200" cy="384048"/>
          </a:xfrm>
          <a:prstGeom prst="rect">
            <a:avLst/>
          </a:prstGeom>
          <a:noFill/>
          <a:ln/>
        </p:spPr>
        <p:txBody>
          <a:bodyPr wrap="square" lIns="0" tIns="0" rIns="0" bIns="0" rtlCol="0" anchor="ctr"/>
          <a:lstStyle/>
          <a:p>
            <a:pPr indent="0" marL="0">
              <a:buNone/>
            </a:pPr>
            <a:r>
              <a:rPr lang="en-US" sz="1250" b="1" spc="40" kern="0" dirty="0">
                <a:solidFill>
                  <a:srgbClr val="FFFFFF"/>
                </a:solidFill>
                <a:latin typeface="Cambria" pitchFamily="34" charset="0"/>
                <a:ea typeface="Cambria" pitchFamily="34" charset="-122"/>
                <a:cs typeface="Cambria" pitchFamily="34" charset="-120"/>
              </a:rPr>
              <a:t>REACH FOR A REPORT WHEN</a:t>
            </a:r>
            <a:endParaRPr lang="en-US" sz="1250" dirty="0"/>
          </a:p>
        </p:txBody>
      </p:sp>
      <p:sp>
        <p:nvSpPr>
          <p:cNvPr id="20" name="Shape 18"/>
          <p:cNvSpPr/>
          <p:nvPr/>
        </p:nvSpPr>
        <p:spPr>
          <a:xfrm>
            <a:off x="594360" y="4169664"/>
            <a:ext cx="5394960" cy="1773936"/>
          </a:xfrm>
          <a:prstGeom prst="rect">
            <a:avLst/>
          </a:prstGeom>
          <a:solidFill>
            <a:srgbClr val="FFFFFF"/>
          </a:solidFill>
          <a:ln w="9525">
            <a:solidFill>
              <a:srgbClr val="C9C9EA"/>
            </a:solidFill>
            <a:prstDash val="solid"/>
          </a:ln>
        </p:spPr>
      </p:sp>
      <p:sp>
        <p:nvSpPr>
          <p:cNvPr id="21" name="Text 19"/>
          <p:cNvSpPr txBox="1"/>
          <p:nvPr/>
        </p:nvSpPr>
        <p:spPr>
          <a:xfrm>
            <a:off x="813816" y="4315968"/>
            <a:ext cx="4956048" cy="1499616"/>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3E3E5A"/>
                </a:solidFill>
                <a:latin typeface="Cambria" pitchFamily="34" charset="0"/>
                <a:ea typeface="Cambria" pitchFamily="34" charset="-122"/>
                <a:cs typeface="Cambria" pitchFamily="34" charset="-120"/>
              </a:rPr>
              <a:t>The output is printed, signed or filed</a:t>
            </a:r>
            <a:endParaRPr lang="en-US" sz="1250" dirty="0"/>
          </a:p>
          <a:p>
            <a:pPr marL="177800" indent="-177800">
              <a:spcAft>
                <a:spcPts val="700"/>
              </a:spcAft>
              <a:buSzPct val="100000"/>
              <a:buChar char="▸"/>
            </a:pPr>
            <a:r>
              <a:rPr lang="en-US" sz="1250" dirty="0">
                <a:solidFill>
                  <a:srgbClr val="3E3E5A"/>
                </a:solidFill>
                <a:latin typeface="Cambria" pitchFamily="34" charset="0"/>
                <a:ea typeface="Cambria" pitchFamily="34" charset="-122"/>
                <a:cs typeface="Cambria" pitchFamily="34" charset="-120"/>
              </a:rPr>
              <a:t>The layout is fixed by a form or a standard</a:t>
            </a:r>
            <a:endParaRPr lang="en-US" sz="1250" dirty="0"/>
          </a:p>
          <a:p>
            <a:pPr marL="177800" indent="-177800">
              <a:spcAft>
                <a:spcPts val="700"/>
              </a:spcAft>
              <a:buSzPct val="100000"/>
              <a:buChar char="▸"/>
            </a:pPr>
            <a:r>
              <a:rPr lang="en-US" sz="1250" dirty="0">
                <a:solidFill>
                  <a:srgbClr val="3E3E5A"/>
                </a:solidFill>
                <a:latin typeface="Cambria" pitchFamily="34" charset="0"/>
                <a:ea typeface="Cambria" pitchFamily="34" charset="-122"/>
                <a:cs typeface="Cambria" pitchFamily="34" charset="-120"/>
              </a:rPr>
              <a:t>It must export cleanly to PDF for circulation</a:t>
            </a:r>
            <a:endParaRPr lang="en-US" sz="1250" dirty="0"/>
          </a:p>
          <a:p>
            <a:pPr marL="177800" indent="-177800">
              <a:spcAft>
                <a:spcPts val="700"/>
              </a:spcAft>
              <a:buSzPct val="100000"/>
              <a:buChar char="▸"/>
            </a:pPr>
            <a:r>
              <a:rPr lang="en-US" sz="1250" dirty="0">
                <a:solidFill>
                  <a:srgbClr val="3E3E5A"/>
                </a:solidFill>
                <a:latin typeface="Cambria" pitchFamily="34" charset="0"/>
                <a:ea typeface="Cambria" pitchFamily="34" charset="-122"/>
                <a:cs typeface="Cambria" pitchFamily="34" charset="-120"/>
              </a:rPr>
              <a:t>The same document is produced again and again</a:t>
            </a:r>
            <a:endParaRPr lang="en-US" sz="1250" dirty="0"/>
          </a:p>
        </p:txBody>
      </p:sp>
      <p:sp>
        <p:nvSpPr>
          <p:cNvPr id="22" name="Shape 20"/>
          <p:cNvSpPr/>
          <p:nvPr/>
        </p:nvSpPr>
        <p:spPr>
          <a:xfrm>
            <a:off x="6199632" y="3657600"/>
            <a:ext cx="5394960" cy="384048"/>
          </a:xfrm>
          <a:prstGeom prst="rect">
            <a:avLst/>
          </a:prstGeom>
          <a:solidFill>
            <a:srgbClr val="3333B3"/>
          </a:solidFill>
          <a:ln w="12700">
            <a:solidFill>
              <a:srgbClr val="3333B3"/>
            </a:solidFill>
            <a:prstDash val="solid"/>
          </a:ln>
        </p:spPr>
      </p:sp>
      <p:sp>
        <p:nvSpPr>
          <p:cNvPr id="23" name="Text 21"/>
          <p:cNvSpPr txBox="1"/>
          <p:nvPr/>
        </p:nvSpPr>
        <p:spPr>
          <a:xfrm>
            <a:off x="6382512" y="3657600"/>
            <a:ext cx="5029200" cy="384048"/>
          </a:xfrm>
          <a:prstGeom prst="rect">
            <a:avLst/>
          </a:prstGeom>
          <a:noFill/>
          <a:ln/>
        </p:spPr>
        <p:txBody>
          <a:bodyPr wrap="square" lIns="0" tIns="0" rIns="0" bIns="0" rtlCol="0" anchor="ctr"/>
          <a:lstStyle/>
          <a:p>
            <a:pPr indent="0" marL="0">
              <a:buNone/>
            </a:pPr>
            <a:r>
              <a:rPr lang="en-US" sz="1250" b="1" spc="40" kern="0" dirty="0">
                <a:solidFill>
                  <a:srgbClr val="FFFFFF"/>
                </a:solidFill>
                <a:latin typeface="Cambria" pitchFamily="34" charset="0"/>
                <a:ea typeface="Cambria" pitchFamily="34" charset="-122"/>
                <a:cs typeface="Cambria" pitchFamily="34" charset="-120"/>
              </a:rPr>
              <a:t>USE SOMETHING ELSE WHEN</a:t>
            </a:r>
            <a:endParaRPr lang="en-US" sz="1250" dirty="0"/>
          </a:p>
        </p:txBody>
      </p:sp>
      <p:sp>
        <p:nvSpPr>
          <p:cNvPr id="24" name="Shape 22"/>
          <p:cNvSpPr/>
          <p:nvPr/>
        </p:nvSpPr>
        <p:spPr>
          <a:xfrm>
            <a:off x="6199632" y="4169664"/>
            <a:ext cx="5394960" cy="1773936"/>
          </a:xfrm>
          <a:prstGeom prst="rect">
            <a:avLst/>
          </a:prstGeom>
          <a:solidFill>
            <a:srgbClr val="FFFFFF"/>
          </a:solidFill>
          <a:ln w="9525">
            <a:solidFill>
              <a:srgbClr val="C9C9EA"/>
            </a:solidFill>
            <a:prstDash val="solid"/>
          </a:ln>
        </p:spPr>
      </p:sp>
      <p:sp>
        <p:nvSpPr>
          <p:cNvPr id="25" name="Text 23"/>
          <p:cNvSpPr txBox="1"/>
          <p:nvPr/>
        </p:nvSpPr>
        <p:spPr>
          <a:xfrm>
            <a:off x="6419088" y="4315968"/>
            <a:ext cx="4956048" cy="1499616"/>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3E3E5A"/>
                </a:solidFill>
                <a:latin typeface="Cambria" pitchFamily="34" charset="0"/>
                <a:ea typeface="Cambria" pitchFamily="34" charset="-122"/>
                <a:cs typeface="Cambria" pitchFamily="34" charset="-120"/>
              </a:rPr>
              <a:t>People need to explore and slice the data themselves</a:t>
            </a:r>
            <a:endParaRPr lang="en-US" sz="1250" dirty="0"/>
          </a:p>
          <a:p>
            <a:pPr marL="177800" indent="-177800">
              <a:spcAft>
                <a:spcPts val="700"/>
              </a:spcAft>
              <a:buSzPct val="100000"/>
              <a:buChar char="▸"/>
            </a:pPr>
            <a:r>
              <a:rPr lang="en-US" sz="1250" dirty="0">
                <a:solidFill>
                  <a:srgbClr val="3E3E5A"/>
                </a:solidFill>
                <a:latin typeface="Cambria" pitchFamily="34" charset="0"/>
                <a:ea typeface="Cambria" pitchFamily="34" charset="-122"/>
                <a:cs typeface="Cambria" pitchFamily="34" charset="-120"/>
              </a:rPr>
              <a:t>The output is a screen, not a document — build it in React</a:t>
            </a:r>
            <a:endParaRPr lang="en-US" sz="1250" dirty="0"/>
          </a:p>
          <a:p>
            <a:pPr marL="177800" indent="-177800">
              <a:spcAft>
                <a:spcPts val="700"/>
              </a:spcAft>
              <a:buSzPct val="100000"/>
              <a:buChar char="▸"/>
            </a:pPr>
            <a:r>
              <a:rPr lang="en-US" sz="1250" dirty="0">
                <a:solidFill>
                  <a:srgbClr val="3E3E5A"/>
                </a:solidFill>
                <a:latin typeface="Cambria" pitchFamily="34" charset="0"/>
                <a:ea typeface="Cambria" pitchFamily="34" charset="-122"/>
                <a:cs typeface="Cambria" pitchFamily="34" charset="-120"/>
              </a:rPr>
              <a:t>You need charts that refresh live on a dashboard</a:t>
            </a:r>
            <a:endParaRPr lang="en-US" sz="1250" dirty="0"/>
          </a:p>
          <a:p>
            <a:pPr marL="177800" indent="-177800">
              <a:spcAft>
                <a:spcPts val="700"/>
              </a:spcAft>
              <a:buSzPct val="100000"/>
              <a:buChar char="▸"/>
            </a:pPr>
            <a:r>
              <a:rPr lang="en-US" sz="1250" dirty="0">
                <a:solidFill>
                  <a:srgbClr val="3E3E5A"/>
                </a:solidFill>
                <a:latin typeface="Cambria" pitchFamily="34" charset="0"/>
                <a:ea typeface="Cambria" pitchFamily="34" charset="-122"/>
                <a:cs typeface="Cambria" pitchFamily="34" charset="-120"/>
              </a:rPr>
              <a:t>The figures change while the user is looking at them</a:t>
            </a:r>
            <a:endParaRPr lang="en-US" sz="1250" dirty="0"/>
          </a:p>
        </p:txBody>
      </p:sp>
      <p:sp>
        <p:nvSpPr>
          <p:cNvPr id="26" name="Shape 24"/>
          <p:cNvSpPr/>
          <p:nvPr/>
        </p:nvSpPr>
        <p:spPr>
          <a:xfrm>
            <a:off x="0" y="6400800"/>
            <a:ext cx="3840480" cy="457200"/>
          </a:xfrm>
          <a:prstGeom prst="rect">
            <a:avLst/>
          </a:prstGeom>
          <a:solidFill>
            <a:srgbClr val="22226B"/>
          </a:solidFill>
          <a:ln w="12700">
            <a:solidFill>
              <a:srgbClr val="22226B"/>
            </a:solidFill>
            <a:prstDash val="solid"/>
          </a:ln>
        </p:spPr>
      </p:sp>
      <p:sp>
        <p:nvSpPr>
          <p:cNvPr id="27" name="Text 25"/>
          <p:cNvSpPr txBox="1"/>
          <p:nvPr/>
        </p:nvSpPr>
        <p:spPr>
          <a:xfrm>
            <a:off x="164592" y="6400800"/>
            <a:ext cx="351129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HAL  ·  .NET, React &amp; SQL Programme</a:t>
            </a:r>
            <a:endParaRPr lang="en-US" sz="950" dirty="0"/>
          </a:p>
        </p:txBody>
      </p:sp>
      <p:sp>
        <p:nvSpPr>
          <p:cNvPr id="28" name="Shape 26"/>
          <p:cNvSpPr/>
          <p:nvPr/>
        </p:nvSpPr>
        <p:spPr>
          <a:xfrm>
            <a:off x="3840480" y="6400800"/>
            <a:ext cx="6675120" cy="457200"/>
          </a:xfrm>
          <a:prstGeom prst="rect">
            <a:avLst/>
          </a:prstGeom>
          <a:solidFill>
            <a:srgbClr val="3333B3"/>
          </a:solidFill>
          <a:ln w="12700">
            <a:solidFill>
              <a:srgbClr val="3333B3"/>
            </a:solidFill>
            <a:prstDash val="solid"/>
          </a:ln>
        </p:spPr>
      </p:sp>
      <p:sp>
        <p:nvSpPr>
          <p:cNvPr id="29" name="Text 27"/>
          <p:cNvSpPr txBox="1"/>
          <p:nvPr/>
        </p:nvSpPr>
        <p:spPr>
          <a:xfrm>
            <a:off x="4005072" y="6400800"/>
            <a:ext cx="634593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Day 3 · Session 1 — Crystal Reports Basics</a:t>
            </a:r>
            <a:endParaRPr lang="en-US" sz="950" dirty="0"/>
          </a:p>
        </p:txBody>
      </p:sp>
      <p:sp>
        <p:nvSpPr>
          <p:cNvPr id="30" name="Shape 28"/>
          <p:cNvSpPr/>
          <p:nvPr/>
        </p:nvSpPr>
        <p:spPr>
          <a:xfrm>
            <a:off x="10515600" y="6400800"/>
            <a:ext cx="1676095" cy="457200"/>
          </a:xfrm>
          <a:prstGeom prst="rect">
            <a:avLst/>
          </a:prstGeom>
          <a:solidFill>
            <a:srgbClr val="22226B"/>
          </a:solidFill>
          <a:ln w="12700">
            <a:solidFill>
              <a:srgbClr val="22226B"/>
            </a:solidFill>
            <a:prstDash val="solid"/>
          </a:ln>
        </p:spPr>
      </p:sp>
      <p:sp>
        <p:nvSpPr>
          <p:cNvPr id="31" name="Text 29"/>
          <p:cNvSpPr txBox="1"/>
          <p:nvPr/>
        </p:nvSpPr>
        <p:spPr>
          <a:xfrm>
            <a:off x="10680192" y="6400800"/>
            <a:ext cx="1346911" cy="457200"/>
          </a:xfrm>
          <a:prstGeom prst="rect">
            <a:avLst/>
          </a:prstGeom>
          <a:noFill/>
          <a:ln/>
        </p:spPr>
        <p:txBody>
          <a:bodyPr wrap="square" lIns="0" tIns="0" rIns="0" bIns="0" rtlCol="0" anchor="ctr"/>
          <a:lstStyle/>
          <a:p>
            <a:pPr algn="ctr" indent="0" marL="0">
              <a:buNone/>
            </a:pPr>
            <a:r>
              <a:rPr lang="en-US" sz="950" dirty="0">
                <a:solidFill>
                  <a:srgbClr val="FFFFFF"/>
                </a:solidFill>
                <a:latin typeface="Cambria" pitchFamily="34" charset="0"/>
                <a:ea typeface="Cambria" pitchFamily="34" charset="-122"/>
                <a:cs typeface="Cambria"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365760"/>
          </a:xfrm>
          <a:prstGeom prst="rect">
            <a:avLst/>
          </a:prstGeom>
          <a:solidFill>
            <a:srgbClr val="22226B"/>
          </a:solidFill>
          <a:ln w="12700">
            <a:solidFill>
              <a:srgbClr val="22226B"/>
            </a:solidFill>
            <a:prstDash val="solid"/>
          </a:ln>
        </p:spPr>
      </p:sp>
      <p:sp>
        <p:nvSpPr>
          <p:cNvPr id="3" name="Text 1"/>
          <p:cNvSpPr txBox="1"/>
          <p:nvPr/>
        </p:nvSpPr>
        <p:spPr>
          <a:xfrm>
            <a:off x="594360" y="0"/>
            <a:ext cx="11002975" cy="365760"/>
          </a:xfrm>
          <a:prstGeom prst="rect">
            <a:avLst/>
          </a:prstGeom>
          <a:noFill/>
          <a:ln/>
        </p:spPr>
        <p:txBody>
          <a:bodyPr wrap="square" lIns="0" tIns="0" rIns="0" bIns="0" rtlCol="0" anchor="ctr"/>
          <a:lstStyle/>
          <a:p>
            <a:pPr indent="0" marL="0">
              <a:buNone/>
            </a:pPr>
            <a:r>
              <a:rPr lang="en-US" sz="1000" b="1" spc="180" kern="0" dirty="0">
                <a:solidFill>
                  <a:srgbClr val="C9C9EA"/>
                </a:solidFill>
                <a:latin typeface="Cambria" pitchFamily="34" charset="0"/>
                <a:ea typeface="Cambria" pitchFamily="34" charset="-122"/>
                <a:cs typeface="Cambria" pitchFamily="34" charset="-120"/>
              </a:rPr>
              <a:t>THE REPORTING LANDSCAPE</a:t>
            </a:r>
            <a:endParaRPr lang="en-US" sz="1000" dirty="0"/>
          </a:p>
        </p:txBody>
      </p:sp>
      <p:sp>
        <p:nvSpPr>
          <p:cNvPr id="4" name="Shape 2"/>
          <p:cNvSpPr/>
          <p:nvPr/>
        </p:nvSpPr>
        <p:spPr>
          <a:xfrm>
            <a:off x="0" y="365760"/>
            <a:ext cx="12191695" cy="841248"/>
          </a:xfrm>
          <a:prstGeom prst="rect">
            <a:avLst/>
          </a:prstGeom>
          <a:solidFill>
            <a:srgbClr val="3333B3"/>
          </a:solidFill>
          <a:ln w="12700">
            <a:solidFill>
              <a:srgbClr val="3333B3"/>
            </a:solidFill>
            <a:prstDash val="solid"/>
          </a:ln>
        </p:spPr>
      </p:sp>
      <p:sp>
        <p:nvSpPr>
          <p:cNvPr id="5" name="Text 3"/>
          <p:cNvSpPr txBox="1"/>
          <p:nvPr/>
        </p:nvSpPr>
        <p:spPr>
          <a:xfrm>
            <a:off x="594360" y="365760"/>
            <a:ext cx="11002975" cy="84124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Know what else is on the shelf</a:t>
            </a:r>
            <a:endParaRPr lang="en-US" sz="2600" dirty="0"/>
          </a:p>
        </p:txBody>
      </p:sp>
      <p:sp>
        <p:nvSpPr>
          <p:cNvPr id="6" name="Shape 4"/>
          <p:cNvSpPr/>
          <p:nvPr/>
        </p:nvSpPr>
        <p:spPr>
          <a:xfrm>
            <a:off x="594360" y="1627632"/>
            <a:ext cx="3529584" cy="402336"/>
          </a:xfrm>
          <a:prstGeom prst="rect">
            <a:avLst/>
          </a:prstGeom>
          <a:solidFill>
            <a:srgbClr val="3333B3"/>
          </a:solidFill>
          <a:ln w="12700">
            <a:solidFill>
              <a:srgbClr val="3333B3"/>
            </a:solidFill>
            <a:prstDash val="solid"/>
          </a:ln>
        </p:spPr>
      </p:sp>
      <p:sp>
        <p:nvSpPr>
          <p:cNvPr id="7" name="Text 5"/>
          <p:cNvSpPr txBox="1"/>
          <p:nvPr/>
        </p:nvSpPr>
        <p:spPr>
          <a:xfrm>
            <a:off x="777240" y="1627632"/>
            <a:ext cx="3163824" cy="40233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Crystal Reports</a:t>
            </a:r>
            <a:endParaRPr lang="en-US" sz="1500" dirty="0"/>
          </a:p>
        </p:txBody>
      </p:sp>
      <p:sp>
        <p:nvSpPr>
          <p:cNvPr id="8" name="Shape 6"/>
          <p:cNvSpPr/>
          <p:nvPr/>
        </p:nvSpPr>
        <p:spPr>
          <a:xfrm>
            <a:off x="594360" y="2029968"/>
            <a:ext cx="3529584" cy="1792224"/>
          </a:xfrm>
          <a:prstGeom prst="rect">
            <a:avLst/>
          </a:prstGeom>
          <a:solidFill>
            <a:srgbClr val="F4F4FA"/>
          </a:solidFill>
          <a:ln w="9525">
            <a:solidFill>
              <a:srgbClr val="C9C9EA"/>
            </a:solidFill>
            <a:prstDash val="solid"/>
          </a:ln>
        </p:spPr>
      </p:sp>
      <p:sp>
        <p:nvSpPr>
          <p:cNvPr id="9" name="Text 7"/>
          <p:cNvSpPr txBox="1"/>
          <p:nvPr/>
        </p:nvSpPr>
        <p:spPr>
          <a:xfrm>
            <a:off x="813816" y="2176272"/>
            <a:ext cx="3090672" cy="1517904"/>
          </a:xfrm>
          <a:prstGeom prst="rect">
            <a:avLst/>
          </a:prstGeom>
          <a:noFill/>
          <a:ln/>
        </p:spPr>
        <p:txBody>
          <a:bodyPr wrap="square" lIns="0" tIns="0" rIns="0" bIns="0" rtlCol="0" anchor="t"/>
          <a:lstStyle/>
          <a:p>
            <a:pPr indent="0" marL="0">
              <a:lnSpc>
                <a:spcPts val="1620"/>
              </a:lnSpc>
              <a:buNone/>
            </a:pPr>
            <a:r>
              <a:rPr lang="en-US" sz="1200" dirty="0">
                <a:solidFill>
                  <a:srgbClr val="3E3E5A"/>
                </a:solidFill>
                <a:latin typeface="Cambria" pitchFamily="34" charset="0"/>
                <a:ea typeface="Cambria" pitchFamily="34" charset="-122"/>
                <a:cs typeface="Cambria" pitchFamily="34" charset="-120"/>
              </a:rPr>
              <a:t>Banded, pixel-exact, decades of use in enterprise systems. Strong for printed documents. Needs its runtime installed wherever it renders.</a:t>
            </a:r>
            <a:endParaRPr lang="en-US" sz="1200" dirty="0"/>
          </a:p>
        </p:txBody>
      </p:sp>
      <p:sp>
        <p:nvSpPr>
          <p:cNvPr id="10" name="Shape 8"/>
          <p:cNvSpPr/>
          <p:nvPr/>
        </p:nvSpPr>
        <p:spPr>
          <a:xfrm>
            <a:off x="4325112" y="1627632"/>
            <a:ext cx="3529584" cy="402336"/>
          </a:xfrm>
          <a:prstGeom prst="rect">
            <a:avLst/>
          </a:prstGeom>
          <a:solidFill>
            <a:srgbClr val="3333B3"/>
          </a:solidFill>
          <a:ln w="12700">
            <a:solidFill>
              <a:srgbClr val="3333B3"/>
            </a:solidFill>
            <a:prstDash val="solid"/>
          </a:ln>
        </p:spPr>
      </p:sp>
      <p:sp>
        <p:nvSpPr>
          <p:cNvPr id="11" name="Text 9"/>
          <p:cNvSpPr txBox="1"/>
          <p:nvPr/>
        </p:nvSpPr>
        <p:spPr>
          <a:xfrm>
            <a:off x="4507992" y="1627632"/>
            <a:ext cx="3163824" cy="40233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SQL Server Reporting Services</a:t>
            </a:r>
            <a:endParaRPr lang="en-US" sz="1500" dirty="0"/>
          </a:p>
        </p:txBody>
      </p:sp>
      <p:sp>
        <p:nvSpPr>
          <p:cNvPr id="12" name="Shape 10"/>
          <p:cNvSpPr/>
          <p:nvPr/>
        </p:nvSpPr>
        <p:spPr>
          <a:xfrm>
            <a:off x="4325112" y="2029968"/>
            <a:ext cx="3529584" cy="1792224"/>
          </a:xfrm>
          <a:prstGeom prst="rect">
            <a:avLst/>
          </a:prstGeom>
          <a:solidFill>
            <a:srgbClr val="F4F4FA"/>
          </a:solidFill>
          <a:ln w="9525">
            <a:solidFill>
              <a:srgbClr val="C9C9EA"/>
            </a:solidFill>
            <a:prstDash val="solid"/>
          </a:ln>
        </p:spPr>
      </p:sp>
      <p:sp>
        <p:nvSpPr>
          <p:cNvPr id="13" name="Text 11"/>
          <p:cNvSpPr txBox="1"/>
          <p:nvPr/>
        </p:nvSpPr>
        <p:spPr>
          <a:xfrm>
            <a:off x="4544568" y="2176272"/>
            <a:ext cx="3090672" cy="1517904"/>
          </a:xfrm>
          <a:prstGeom prst="rect">
            <a:avLst/>
          </a:prstGeom>
          <a:noFill/>
          <a:ln/>
        </p:spPr>
        <p:txBody>
          <a:bodyPr wrap="square" lIns="0" tIns="0" rIns="0" bIns="0" rtlCol="0" anchor="t"/>
          <a:lstStyle/>
          <a:p>
            <a:pPr indent="0" marL="0">
              <a:lnSpc>
                <a:spcPts val="1620"/>
              </a:lnSpc>
              <a:buNone/>
            </a:pPr>
            <a:r>
              <a:rPr lang="en-US" sz="1200" dirty="0">
                <a:solidFill>
                  <a:srgbClr val="3E3E5A"/>
                </a:solidFill>
                <a:latin typeface="Cambria" pitchFamily="34" charset="0"/>
                <a:ea typeface="Cambria" pitchFamily="34" charset="-122"/>
                <a:cs typeface="Cambria" pitchFamily="34" charset="-120"/>
              </a:rPr>
              <a:t>Ships with SQL Server, browser-based, with subscriptions and scheduled delivery. Often already licensed and running in the estate.</a:t>
            </a:r>
            <a:endParaRPr lang="en-US" sz="1200" dirty="0"/>
          </a:p>
        </p:txBody>
      </p:sp>
      <p:sp>
        <p:nvSpPr>
          <p:cNvPr id="14" name="Shape 12"/>
          <p:cNvSpPr/>
          <p:nvPr/>
        </p:nvSpPr>
        <p:spPr>
          <a:xfrm>
            <a:off x="8055864" y="1627632"/>
            <a:ext cx="3529584" cy="402336"/>
          </a:xfrm>
          <a:prstGeom prst="rect">
            <a:avLst/>
          </a:prstGeom>
          <a:solidFill>
            <a:srgbClr val="3333B3"/>
          </a:solidFill>
          <a:ln w="12700">
            <a:solidFill>
              <a:srgbClr val="3333B3"/>
            </a:solidFill>
            <a:prstDash val="solid"/>
          </a:ln>
        </p:spPr>
      </p:sp>
      <p:sp>
        <p:nvSpPr>
          <p:cNvPr id="15" name="Text 13"/>
          <p:cNvSpPr txBox="1"/>
          <p:nvPr/>
        </p:nvSpPr>
        <p:spPr>
          <a:xfrm>
            <a:off x="8238744" y="1627632"/>
            <a:ext cx="3163824" cy="40233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Power BI or a built screen</a:t>
            </a:r>
            <a:endParaRPr lang="en-US" sz="1500" dirty="0"/>
          </a:p>
        </p:txBody>
      </p:sp>
      <p:sp>
        <p:nvSpPr>
          <p:cNvPr id="16" name="Shape 14"/>
          <p:cNvSpPr/>
          <p:nvPr/>
        </p:nvSpPr>
        <p:spPr>
          <a:xfrm>
            <a:off x="8055864" y="2029968"/>
            <a:ext cx="3529584" cy="1792224"/>
          </a:xfrm>
          <a:prstGeom prst="rect">
            <a:avLst/>
          </a:prstGeom>
          <a:solidFill>
            <a:srgbClr val="F4F4FA"/>
          </a:solidFill>
          <a:ln w="9525">
            <a:solidFill>
              <a:srgbClr val="C9C9EA"/>
            </a:solidFill>
            <a:prstDash val="solid"/>
          </a:ln>
        </p:spPr>
      </p:sp>
      <p:sp>
        <p:nvSpPr>
          <p:cNvPr id="17" name="Text 15"/>
          <p:cNvSpPr txBox="1"/>
          <p:nvPr/>
        </p:nvSpPr>
        <p:spPr>
          <a:xfrm>
            <a:off x="8275320" y="2176272"/>
            <a:ext cx="3090672" cy="1517904"/>
          </a:xfrm>
          <a:prstGeom prst="rect">
            <a:avLst/>
          </a:prstGeom>
          <a:noFill/>
          <a:ln/>
        </p:spPr>
        <p:txBody>
          <a:bodyPr wrap="square" lIns="0" tIns="0" rIns="0" bIns="0" rtlCol="0" anchor="t"/>
          <a:lstStyle/>
          <a:p>
            <a:pPr indent="0" marL="0">
              <a:lnSpc>
                <a:spcPts val="1620"/>
              </a:lnSpc>
              <a:buNone/>
            </a:pPr>
            <a:r>
              <a:rPr lang="en-US" sz="1200" dirty="0">
                <a:solidFill>
                  <a:srgbClr val="3E3E5A"/>
                </a:solidFill>
                <a:latin typeface="Cambria" pitchFamily="34" charset="0"/>
                <a:ea typeface="Cambria" pitchFamily="34" charset="-122"/>
                <a:cs typeface="Cambria" pitchFamily="34" charset="-120"/>
              </a:rPr>
              <a:t>For exploration and dashboards rather than documents. Or simply build it in React and export to PDF from code.</a:t>
            </a:r>
            <a:endParaRPr lang="en-US" sz="1200" dirty="0"/>
          </a:p>
        </p:txBody>
      </p:sp>
      <p:sp>
        <p:nvSpPr>
          <p:cNvPr id="18" name="Shape 16"/>
          <p:cNvSpPr/>
          <p:nvPr/>
        </p:nvSpPr>
        <p:spPr>
          <a:xfrm>
            <a:off x="594360" y="4023360"/>
            <a:ext cx="11002975" cy="932688"/>
          </a:xfrm>
          <a:prstGeom prst="rect">
            <a:avLst/>
          </a:prstGeom>
          <a:solidFill>
            <a:srgbClr val="EDEDF7"/>
          </a:solidFill>
          <a:ln w="9525">
            <a:solidFill>
              <a:srgbClr val="C9C9EA"/>
            </a:solidFill>
            <a:prstDash val="solid"/>
          </a:ln>
        </p:spPr>
      </p:sp>
      <p:sp>
        <p:nvSpPr>
          <p:cNvPr id="19" name="Shape 17"/>
          <p:cNvSpPr/>
          <p:nvPr/>
        </p:nvSpPr>
        <p:spPr>
          <a:xfrm>
            <a:off x="594360" y="4023360"/>
            <a:ext cx="50292" cy="932688"/>
          </a:xfrm>
          <a:prstGeom prst="rect">
            <a:avLst/>
          </a:prstGeom>
          <a:solidFill>
            <a:srgbClr val="3333B3"/>
          </a:solidFill>
          <a:ln w="12700">
            <a:solidFill>
              <a:srgbClr val="3333B3"/>
            </a:solidFill>
            <a:prstDash val="solid"/>
          </a:ln>
        </p:spPr>
      </p:sp>
      <p:sp>
        <p:nvSpPr>
          <p:cNvPr id="20" name="Text 18"/>
          <p:cNvSpPr txBox="1"/>
          <p:nvPr/>
        </p:nvSpPr>
        <p:spPr>
          <a:xfrm>
            <a:off x="832104" y="4023360"/>
            <a:ext cx="10545775" cy="932688"/>
          </a:xfrm>
          <a:prstGeom prst="rect">
            <a:avLst/>
          </a:prstGeom>
          <a:noFill/>
          <a:ln/>
        </p:spPr>
        <p:txBody>
          <a:bodyPr wrap="square" lIns="0" tIns="0" rIns="0" bIns="0" rtlCol="0" anchor="ctr"/>
          <a:lstStyle/>
          <a:p>
            <a:pPr indent="0" marL="0">
              <a:buNone/>
            </a:pPr>
            <a:r>
              <a:rPr lang="en-US" sz="1450" b="1" dirty="0">
                <a:solidFill>
                  <a:srgbClr val="22226B"/>
                </a:solidFill>
                <a:latin typeface="Cambria" pitchFamily="34" charset="0"/>
                <a:ea typeface="Cambria" pitchFamily="34" charset="-122"/>
                <a:cs typeface="Cambria" pitchFamily="34" charset="-120"/>
              </a:rPr>
              <a:t>Choose on the output, not the tool</a:t>
            </a:r>
            <a:endParaRPr lang="en-US" sz="1450" dirty="0"/>
          </a:p>
          <a:p>
            <a:pPr indent="0" marL="0">
              <a:buNone/>
            </a:pPr>
            <a:r>
              <a:rPr lang="en-US" sz="1200" dirty="0">
                <a:solidFill>
                  <a:srgbClr val="3E3E5A"/>
                </a:solidFill>
                <a:latin typeface="Cambria" pitchFamily="34" charset="0"/>
                <a:ea typeface="Cambria" pitchFamily="34" charset="-122"/>
                <a:cs typeface="Cambria" pitchFamily="34" charset="-120"/>
              </a:rPr>
              <a:t>If it will be printed, signed and filed, you want a report writer. If it will be explored on screen, you want a dashboard. If it feeds another system, you want an API — not a report at all.</a:t>
            </a:r>
            <a:endParaRPr lang="en-US" sz="1450" dirty="0"/>
          </a:p>
        </p:txBody>
      </p:sp>
      <p:sp>
        <p:nvSpPr>
          <p:cNvPr id="21" name="Shape 19"/>
          <p:cNvSpPr/>
          <p:nvPr/>
        </p:nvSpPr>
        <p:spPr>
          <a:xfrm>
            <a:off x="594360" y="5084064"/>
            <a:ext cx="11002975" cy="932688"/>
          </a:xfrm>
          <a:prstGeom prst="rect">
            <a:avLst/>
          </a:prstGeom>
          <a:solidFill>
            <a:srgbClr val="EDEDF7"/>
          </a:solidFill>
          <a:ln w="9525">
            <a:solidFill>
              <a:srgbClr val="C9C9EA"/>
            </a:solidFill>
            <a:prstDash val="solid"/>
          </a:ln>
        </p:spPr>
      </p:sp>
      <p:sp>
        <p:nvSpPr>
          <p:cNvPr id="22" name="Shape 20"/>
          <p:cNvSpPr/>
          <p:nvPr/>
        </p:nvSpPr>
        <p:spPr>
          <a:xfrm>
            <a:off x="594360" y="5084064"/>
            <a:ext cx="50292" cy="932688"/>
          </a:xfrm>
          <a:prstGeom prst="rect">
            <a:avLst/>
          </a:prstGeom>
          <a:solidFill>
            <a:srgbClr val="3333B3"/>
          </a:solidFill>
          <a:ln w="12700">
            <a:solidFill>
              <a:srgbClr val="3333B3"/>
            </a:solidFill>
            <a:prstDash val="solid"/>
          </a:ln>
        </p:spPr>
      </p:sp>
      <p:sp>
        <p:nvSpPr>
          <p:cNvPr id="23" name="Text 21"/>
          <p:cNvSpPr txBox="1"/>
          <p:nvPr/>
        </p:nvSpPr>
        <p:spPr>
          <a:xfrm>
            <a:off x="832104" y="5084064"/>
            <a:ext cx="10545775" cy="932688"/>
          </a:xfrm>
          <a:prstGeom prst="rect">
            <a:avLst/>
          </a:prstGeom>
          <a:noFill/>
          <a:ln/>
        </p:spPr>
        <p:txBody>
          <a:bodyPr wrap="square" lIns="0" tIns="0" rIns="0" bIns="0" rtlCol="0" anchor="ctr"/>
          <a:lstStyle/>
          <a:p>
            <a:pPr indent="0" marL="0">
              <a:buNone/>
            </a:pPr>
            <a:r>
              <a:rPr lang="en-US" sz="1450" b="1" dirty="0">
                <a:solidFill>
                  <a:srgbClr val="22226B"/>
                </a:solidFill>
                <a:latin typeface="Cambria" pitchFamily="34" charset="0"/>
                <a:ea typeface="Cambria" pitchFamily="34" charset="-122"/>
                <a:cs typeface="Cambria" pitchFamily="34" charset="-120"/>
              </a:rPr>
              <a:t>Check compatibility before you commit</a:t>
            </a:r>
            <a:endParaRPr lang="en-US" sz="1450" dirty="0"/>
          </a:p>
          <a:p>
            <a:pPr indent="0" marL="0">
              <a:buNone/>
            </a:pPr>
            <a:r>
              <a:rPr lang="en-US" sz="1200" dirty="0">
                <a:solidFill>
                  <a:srgbClr val="3E3E5A"/>
                </a:solidFill>
                <a:latin typeface="Cambria" pitchFamily="34" charset="0"/>
                <a:ea typeface="Cambria" pitchFamily="34" charset="-122"/>
                <a:cs typeface="Cambria" pitchFamily="34" charset="-120"/>
              </a:rPr>
              <a:t>The Crystal viewer was built for .NET Framework, and support for modern .NET depends on the service pack level. Confirm against your target framework at the start of the project, not at the end.</a:t>
            </a:r>
            <a:endParaRPr lang="en-US" sz="1450" dirty="0"/>
          </a:p>
        </p:txBody>
      </p:sp>
      <p:sp>
        <p:nvSpPr>
          <p:cNvPr id="24" name="Shape 22"/>
          <p:cNvSpPr/>
          <p:nvPr/>
        </p:nvSpPr>
        <p:spPr>
          <a:xfrm>
            <a:off x="0" y="6400800"/>
            <a:ext cx="3840480" cy="457200"/>
          </a:xfrm>
          <a:prstGeom prst="rect">
            <a:avLst/>
          </a:prstGeom>
          <a:solidFill>
            <a:srgbClr val="22226B"/>
          </a:solidFill>
          <a:ln w="12700">
            <a:solidFill>
              <a:srgbClr val="22226B"/>
            </a:solidFill>
            <a:prstDash val="solid"/>
          </a:ln>
        </p:spPr>
      </p:sp>
      <p:sp>
        <p:nvSpPr>
          <p:cNvPr id="25" name="Text 23"/>
          <p:cNvSpPr txBox="1"/>
          <p:nvPr/>
        </p:nvSpPr>
        <p:spPr>
          <a:xfrm>
            <a:off x="164592" y="6400800"/>
            <a:ext cx="351129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HAL  ·  .NET, React &amp; SQL Programme</a:t>
            </a:r>
            <a:endParaRPr lang="en-US" sz="950" dirty="0"/>
          </a:p>
        </p:txBody>
      </p:sp>
      <p:sp>
        <p:nvSpPr>
          <p:cNvPr id="26" name="Shape 24"/>
          <p:cNvSpPr/>
          <p:nvPr/>
        </p:nvSpPr>
        <p:spPr>
          <a:xfrm>
            <a:off x="3840480" y="6400800"/>
            <a:ext cx="6675120" cy="457200"/>
          </a:xfrm>
          <a:prstGeom prst="rect">
            <a:avLst/>
          </a:prstGeom>
          <a:solidFill>
            <a:srgbClr val="3333B3"/>
          </a:solidFill>
          <a:ln w="12700">
            <a:solidFill>
              <a:srgbClr val="3333B3"/>
            </a:solidFill>
            <a:prstDash val="solid"/>
          </a:ln>
        </p:spPr>
      </p:sp>
      <p:sp>
        <p:nvSpPr>
          <p:cNvPr id="27" name="Text 25"/>
          <p:cNvSpPr txBox="1"/>
          <p:nvPr/>
        </p:nvSpPr>
        <p:spPr>
          <a:xfrm>
            <a:off x="4005072" y="6400800"/>
            <a:ext cx="634593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Day 3 · Session 1 — Crystal Reports Basics</a:t>
            </a:r>
            <a:endParaRPr lang="en-US" sz="950" dirty="0"/>
          </a:p>
        </p:txBody>
      </p:sp>
      <p:sp>
        <p:nvSpPr>
          <p:cNvPr id="28" name="Shape 26"/>
          <p:cNvSpPr/>
          <p:nvPr/>
        </p:nvSpPr>
        <p:spPr>
          <a:xfrm>
            <a:off x="10515600" y="6400800"/>
            <a:ext cx="1676095" cy="457200"/>
          </a:xfrm>
          <a:prstGeom prst="rect">
            <a:avLst/>
          </a:prstGeom>
          <a:solidFill>
            <a:srgbClr val="22226B"/>
          </a:solidFill>
          <a:ln w="12700">
            <a:solidFill>
              <a:srgbClr val="22226B"/>
            </a:solidFill>
            <a:prstDash val="solid"/>
          </a:ln>
        </p:spPr>
      </p:sp>
      <p:sp>
        <p:nvSpPr>
          <p:cNvPr id="29" name="Text 27"/>
          <p:cNvSpPr txBox="1"/>
          <p:nvPr/>
        </p:nvSpPr>
        <p:spPr>
          <a:xfrm>
            <a:off x="10680192" y="6400800"/>
            <a:ext cx="1346911" cy="457200"/>
          </a:xfrm>
          <a:prstGeom prst="rect">
            <a:avLst/>
          </a:prstGeom>
          <a:noFill/>
          <a:ln/>
        </p:spPr>
        <p:txBody>
          <a:bodyPr wrap="square" lIns="0" tIns="0" rIns="0" bIns="0" rtlCol="0" anchor="ctr"/>
          <a:lstStyle/>
          <a:p>
            <a:pPr algn="ctr" indent="0" marL="0">
              <a:buNone/>
            </a:pPr>
            <a:r>
              <a:rPr lang="en-US" sz="950" dirty="0">
                <a:solidFill>
                  <a:srgbClr val="FFFFFF"/>
                </a:solidFill>
                <a:latin typeface="Cambria" pitchFamily="34" charset="0"/>
                <a:ea typeface="Cambria" pitchFamily="34" charset="-122"/>
                <a:cs typeface="Cambria"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365760"/>
          </a:xfrm>
          <a:prstGeom prst="rect">
            <a:avLst/>
          </a:prstGeom>
          <a:solidFill>
            <a:srgbClr val="22226B"/>
          </a:solidFill>
          <a:ln w="12700">
            <a:solidFill>
              <a:srgbClr val="22226B"/>
            </a:solidFill>
            <a:prstDash val="solid"/>
          </a:ln>
        </p:spPr>
      </p:sp>
      <p:sp>
        <p:nvSpPr>
          <p:cNvPr id="3" name="Text 1"/>
          <p:cNvSpPr txBox="1"/>
          <p:nvPr/>
        </p:nvSpPr>
        <p:spPr>
          <a:xfrm>
            <a:off x="594360" y="0"/>
            <a:ext cx="11002975" cy="365760"/>
          </a:xfrm>
          <a:prstGeom prst="rect">
            <a:avLst/>
          </a:prstGeom>
          <a:noFill/>
          <a:ln/>
        </p:spPr>
        <p:txBody>
          <a:bodyPr wrap="square" lIns="0" tIns="0" rIns="0" bIns="0" rtlCol="0" anchor="ctr"/>
          <a:lstStyle/>
          <a:p>
            <a:pPr indent="0" marL="0">
              <a:buNone/>
            </a:pPr>
            <a:r>
              <a:rPr lang="en-US" sz="1000" b="1" spc="180" kern="0" dirty="0">
                <a:solidFill>
                  <a:srgbClr val="C9C9EA"/>
                </a:solidFill>
                <a:latin typeface="Cambria" pitchFamily="34" charset="0"/>
                <a:ea typeface="Cambria" pitchFamily="34" charset="-122"/>
                <a:cs typeface="Cambria" pitchFamily="34" charset="-120"/>
              </a:rPr>
              <a:t>THE DESIGNER</a:t>
            </a:r>
            <a:endParaRPr lang="en-US" sz="1000" dirty="0"/>
          </a:p>
        </p:txBody>
      </p:sp>
      <p:sp>
        <p:nvSpPr>
          <p:cNvPr id="4" name="Shape 2"/>
          <p:cNvSpPr/>
          <p:nvPr/>
        </p:nvSpPr>
        <p:spPr>
          <a:xfrm>
            <a:off x="0" y="365760"/>
            <a:ext cx="12191695" cy="841248"/>
          </a:xfrm>
          <a:prstGeom prst="rect">
            <a:avLst/>
          </a:prstGeom>
          <a:solidFill>
            <a:srgbClr val="3333B3"/>
          </a:solidFill>
          <a:ln w="12700">
            <a:solidFill>
              <a:srgbClr val="3333B3"/>
            </a:solidFill>
            <a:prstDash val="solid"/>
          </a:ln>
        </p:spPr>
      </p:sp>
      <p:sp>
        <p:nvSpPr>
          <p:cNvPr id="5" name="Text 3"/>
          <p:cNvSpPr txBox="1"/>
          <p:nvPr/>
        </p:nvSpPr>
        <p:spPr>
          <a:xfrm>
            <a:off x="594360" y="365760"/>
            <a:ext cx="11002975" cy="84124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What you are looking at when you open a .rpt file</a:t>
            </a:r>
            <a:endParaRPr lang="en-US" sz="2600" dirty="0"/>
          </a:p>
        </p:txBody>
      </p:sp>
      <p:sp>
        <p:nvSpPr>
          <p:cNvPr id="6" name="Shape 4"/>
          <p:cNvSpPr/>
          <p:nvPr/>
        </p:nvSpPr>
        <p:spPr>
          <a:xfrm>
            <a:off x="594360" y="1664208"/>
            <a:ext cx="5806440" cy="731520"/>
          </a:xfrm>
          <a:prstGeom prst="rect">
            <a:avLst/>
          </a:prstGeom>
          <a:solidFill>
            <a:srgbClr val="EDEDF7"/>
          </a:solidFill>
          <a:ln w="9525">
            <a:solidFill>
              <a:srgbClr val="C9C9EA"/>
            </a:solidFill>
            <a:prstDash val="solid"/>
          </a:ln>
        </p:spPr>
      </p:sp>
      <p:sp>
        <p:nvSpPr>
          <p:cNvPr id="7" name="Shape 5"/>
          <p:cNvSpPr/>
          <p:nvPr/>
        </p:nvSpPr>
        <p:spPr>
          <a:xfrm>
            <a:off x="594360" y="1664208"/>
            <a:ext cx="50292" cy="731520"/>
          </a:xfrm>
          <a:prstGeom prst="rect">
            <a:avLst/>
          </a:prstGeom>
          <a:solidFill>
            <a:srgbClr val="3333B3"/>
          </a:solidFill>
          <a:ln w="12700">
            <a:solidFill>
              <a:srgbClr val="3333B3"/>
            </a:solidFill>
            <a:prstDash val="solid"/>
          </a:ln>
        </p:spPr>
      </p:sp>
      <p:sp>
        <p:nvSpPr>
          <p:cNvPr id="8" name="Shape 6"/>
          <p:cNvSpPr/>
          <p:nvPr/>
        </p:nvSpPr>
        <p:spPr>
          <a:xfrm>
            <a:off x="795528" y="1847088"/>
            <a:ext cx="365760" cy="365760"/>
          </a:xfrm>
          <a:prstGeom prst="ellipse">
            <a:avLst/>
          </a:prstGeom>
          <a:solidFill>
            <a:srgbClr val="3333B3"/>
          </a:solidFill>
          <a:ln w="12700">
            <a:solidFill>
              <a:srgbClr val="3333B3"/>
            </a:solidFill>
            <a:prstDash val="solid"/>
          </a:ln>
        </p:spPr>
      </p:sp>
      <p:sp>
        <p:nvSpPr>
          <p:cNvPr id="9" name="Text 7"/>
          <p:cNvSpPr txBox="1"/>
          <p:nvPr/>
        </p:nvSpPr>
        <p:spPr>
          <a:xfrm>
            <a:off x="795528" y="184708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0" name="Text 8"/>
          <p:cNvSpPr txBox="1"/>
          <p:nvPr/>
        </p:nvSpPr>
        <p:spPr>
          <a:xfrm>
            <a:off x="1325880" y="1664208"/>
            <a:ext cx="4855464" cy="731520"/>
          </a:xfrm>
          <a:prstGeom prst="rect">
            <a:avLst/>
          </a:prstGeom>
          <a:noFill/>
          <a:ln/>
        </p:spPr>
        <p:txBody>
          <a:bodyPr wrap="square" lIns="0" tIns="0" rIns="0" bIns="0" rtlCol="0" anchor="ctr"/>
          <a:lstStyle/>
          <a:p>
            <a:pPr indent="0" marL="0">
              <a:buNone/>
            </a:pPr>
            <a:r>
              <a:rPr lang="en-US" sz="1400" b="1" dirty="0">
                <a:solidFill>
                  <a:srgbClr val="22226B"/>
                </a:solidFill>
                <a:latin typeface="Cambria" pitchFamily="34" charset="0"/>
                <a:ea typeface="Cambria" pitchFamily="34" charset="-122"/>
                <a:cs typeface="Cambria" pitchFamily="34" charset="-120"/>
              </a:rPr>
              <a:t>Field Explorer</a:t>
            </a:r>
            <a:endParaRPr lang="en-US" sz="1400" dirty="0"/>
          </a:p>
          <a:p>
            <a:pPr indent="0" marL="0">
              <a:buNone/>
            </a:pPr>
            <a:r>
              <a:rPr lang="en-US" sz="1150" dirty="0">
                <a:solidFill>
                  <a:srgbClr val="3E3E5A"/>
                </a:solidFill>
                <a:latin typeface="Cambria" pitchFamily="34" charset="0"/>
                <a:ea typeface="Cambria" pitchFamily="34" charset="-122"/>
                <a:cs typeface="Cambria" pitchFamily="34" charset="-120"/>
              </a:rPr>
              <a:t>Database fields, formula fields, parameters and running totals. Everything you can place on the report.</a:t>
            </a:r>
            <a:endParaRPr lang="en-US" sz="1400" dirty="0"/>
          </a:p>
        </p:txBody>
      </p:sp>
      <p:sp>
        <p:nvSpPr>
          <p:cNvPr id="11" name="Shape 9"/>
          <p:cNvSpPr/>
          <p:nvPr/>
        </p:nvSpPr>
        <p:spPr>
          <a:xfrm>
            <a:off x="594360" y="2514600"/>
            <a:ext cx="5806440" cy="731520"/>
          </a:xfrm>
          <a:prstGeom prst="rect">
            <a:avLst/>
          </a:prstGeom>
          <a:solidFill>
            <a:srgbClr val="EDEDF7"/>
          </a:solidFill>
          <a:ln w="9525">
            <a:solidFill>
              <a:srgbClr val="C9C9EA"/>
            </a:solidFill>
            <a:prstDash val="solid"/>
          </a:ln>
        </p:spPr>
      </p:sp>
      <p:sp>
        <p:nvSpPr>
          <p:cNvPr id="12" name="Shape 10"/>
          <p:cNvSpPr/>
          <p:nvPr/>
        </p:nvSpPr>
        <p:spPr>
          <a:xfrm>
            <a:off x="594360" y="2514600"/>
            <a:ext cx="50292" cy="731520"/>
          </a:xfrm>
          <a:prstGeom prst="rect">
            <a:avLst/>
          </a:prstGeom>
          <a:solidFill>
            <a:srgbClr val="3333B3"/>
          </a:solidFill>
          <a:ln w="12700">
            <a:solidFill>
              <a:srgbClr val="3333B3"/>
            </a:solidFill>
            <a:prstDash val="solid"/>
          </a:ln>
        </p:spPr>
      </p:sp>
      <p:sp>
        <p:nvSpPr>
          <p:cNvPr id="13" name="Shape 11"/>
          <p:cNvSpPr/>
          <p:nvPr/>
        </p:nvSpPr>
        <p:spPr>
          <a:xfrm>
            <a:off x="795528" y="2697480"/>
            <a:ext cx="365760" cy="365760"/>
          </a:xfrm>
          <a:prstGeom prst="ellipse">
            <a:avLst/>
          </a:prstGeom>
          <a:solidFill>
            <a:srgbClr val="3333B3"/>
          </a:solidFill>
          <a:ln w="12700">
            <a:solidFill>
              <a:srgbClr val="3333B3"/>
            </a:solidFill>
            <a:prstDash val="solid"/>
          </a:ln>
        </p:spPr>
      </p:sp>
      <p:sp>
        <p:nvSpPr>
          <p:cNvPr id="14" name="Text 12"/>
          <p:cNvSpPr txBox="1"/>
          <p:nvPr/>
        </p:nvSpPr>
        <p:spPr>
          <a:xfrm>
            <a:off x="795528" y="26974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5" name="Text 13"/>
          <p:cNvSpPr txBox="1"/>
          <p:nvPr/>
        </p:nvSpPr>
        <p:spPr>
          <a:xfrm>
            <a:off x="1325880" y="2514600"/>
            <a:ext cx="4855464" cy="731520"/>
          </a:xfrm>
          <a:prstGeom prst="rect">
            <a:avLst/>
          </a:prstGeom>
          <a:noFill/>
          <a:ln/>
        </p:spPr>
        <p:txBody>
          <a:bodyPr wrap="square" lIns="0" tIns="0" rIns="0" bIns="0" rtlCol="0" anchor="ctr"/>
          <a:lstStyle/>
          <a:p>
            <a:pPr indent="0" marL="0">
              <a:buNone/>
            </a:pPr>
            <a:r>
              <a:rPr lang="en-US" sz="1400" b="1" dirty="0">
                <a:solidFill>
                  <a:srgbClr val="22226B"/>
                </a:solidFill>
                <a:latin typeface="Cambria" pitchFamily="34" charset="0"/>
                <a:ea typeface="Cambria" pitchFamily="34" charset="-122"/>
                <a:cs typeface="Cambria" pitchFamily="34" charset="-120"/>
              </a:rPr>
              <a:t>The design surface</a:t>
            </a:r>
            <a:endParaRPr lang="en-US" sz="1400" dirty="0"/>
          </a:p>
          <a:p>
            <a:pPr indent="0" marL="0">
              <a:buNone/>
            </a:pPr>
            <a:r>
              <a:rPr lang="en-US" sz="1150" dirty="0">
                <a:solidFill>
                  <a:srgbClr val="3E3E5A"/>
                </a:solidFill>
                <a:latin typeface="Cambria" pitchFamily="34" charset="0"/>
                <a:ea typeface="Cambria" pitchFamily="34" charset="-122"/>
                <a:cs typeface="Cambria" pitchFamily="34" charset="-120"/>
              </a:rPr>
              <a:t>The bands. You place fields once and the engine repeats the Details band per row.</a:t>
            </a:r>
            <a:endParaRPr lang="en-US" sz="1400" dirty="0"/>
          </a:p>
        </p:txBody>
      </p:sp>
      <p:sp>
        <p:nvSpPr>
          <p:cNvPr id="16" name="Shape 14"/>
          <p:cNvSpPr/>
          <p:nvPr/>
        </p:nvSpPr>
        <p:spPr>
          <a:xfrm>
            <a:off x="594360" y="3364992"/>
            <a:ext cx="5806440" cy="731520"/>
          </a:xfrm>
          <a:prstGeom prst="rect">
            <a:avLst/>
          </a:prstGeom>
          <a:solidFill>
            <a:srgbClr val="EDEDF7"/>
          </a:solidFill>
          <a:ln w="9525">
            <a:solidFill>
              <a:srgbClr val="C9C9EA"/>
            </a:solidFill>
            <a:prstDash val="solid"/>
          </a:ln>
        </p:spPr>
      </p:sp>
      <p:sp>
        <p:nvSpPr>
          <p:cNvPr id="17" name="Shape 15"/>
          <p:cNvSpPr/>
          <p:nvPr/>
        </p:nvSpPr>
        <p:spPr>
          <a:xfrm>
            <a:off x="594360" y="3364992"/>
            <a:ext cx="50292" cy="731520"/>
          </a:xfrm>
          <a:prstGeom prst="rect">
            <a:avLst/>
          </a:prstGeom>
          <a:solidFill>
            <a:srgbClr val="3333B3"/>
          </a:solidFill>
          <a:ln w="12700">
            <a:solidFill>
              <a:srgbClr val="3333B3"/>
            </a:solidFill>
            <a:prstDash val="solid"/>
          </a:ln>
        </p:spPr>
      </p:sp>
      <p:sp>
        <p:nvSpPr>
          <p:cNvPr id="18" name="Shape 16"/>
          <p:cNvSpPr/>
          <p:nvPr/>
        </p:nvSpPr>
        <p:spPr>
          <a:xfrm>
            <a:off x="795528" y="3547872"/>
            <a:ext cx="365760" cy="365760"/>
          </a:xfrm>
          <a:prstGeom prst="ellipse">
            <a:avLst/>
          </a:prstGeom>
          <a:solidFill>
            <a:srgbClr val="3333B3"/>
          </a:solidFill>
          <a:ln w="12700">
            <a:solidFill>
              <a:srgbClr val="3333B3"/>
            </a:solidFill>
            <a:prstDash val="solid"/>
          </a:ln>
        </p:spPr>
      </p:sp>
      <p:sp>
        <p:nvSpPr>
          <p:cNvPr id="19" name="Text 17"/>
          <p:cNvSpPr txBox="1"/>
          <p:nvPr/>
        </p:nvSpPr>
        <p:spPr>
          <a:xfrm>
            <a:off x="795528" y="354787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0" name="Text 18"/>
          <p:cNvSpPr txBox="1"/>
          <p:nvPr/>
        </p:nvSpPr>
        <p:spPr>
          <a:xfrm>
            <a:off x="1325880" y="3364992"/>
            <a:ext cx="4855464" cy="731520"/>
          </a:xfrm>
          <a:prstGeom prst="rect">
            <a:avLst/>
          </a:prstGeom>
          <a:noFill/>
          <a:ln/>
        </p:spPr>
        <p:txBody>
          <a:bodyPr wrap="square" lIns="0" tIns="0" rIns="0" bIns="0" rtlCol="0" anchor="ctr"/>
          <a:lstStyle/>
          <a:p>
            <a:pPr indent="0" marL="0">
              <a:buNone/>
            </a:pPr>
            <a:r>
              <a:rPr lang="en-US" sz="1400" b="1" dirty="0">
                <a:solidFill>
                  <a:srgbClr val="22226B"/>
                </a:solidFill>
                <a:latin typeface="Cambria" pitchFamily="34" charset="0"/>
                <a:ea typeface="Cambria" pitchFamily="34" charset="-122"/>
                <a:cs typeface="Cambria" pitchFamily="34" charset="-120"/>
              </a:rPr>
              <a:t>Preview tab</a:t>
            </a:r>
            <a:endParaRPr lang="en-US" sz="1400" dirty="0"/>
          </a:p>
          <a:p>
            <a:pPr indent="0" marL="0">
              <a:buNone/>
            </a:pPr>
            <a:r>
              <a:rPr lang="en-US" sz="1150" dirty="0">
                <a:solidFill>
                  <a:srgbClr val="3E3E5A"/>
                </a:solidFill>
                <a:latin typeface="Cambria" pitchFamily="34" charset="0"/>
                <a:ea typeface="Cambria" pitchFamily="34" charset="-122"/>
                <a:cs typeface="Cambria" pitchFamily="34" charset="-120"/>
              </a:rPr>
              <a:t>Runs the report against real data. Use it constantly — a report that only looks right in design is not right.</a:t>
            </a:r>
            <a:endParaRPr lang="en-US" sz="1400" dirty="0"/>
          </a:p>
        </p:txBody>
      </p:sp>
      <p:sp>
        <p:nvSpPr>
          <p:cNvPr id="21" name="Shape 19"/>
          <p:cNvSpPr/>
          <p:nvPr/>
        </p:nvSpPr>
        <p:spPr>
          <a:xfrm>
            <a:off x="594360" y="4215384"/>
            <a:ext cx="5806440" cy="731520"/>
          </a:xfrm>
          <a:prstGeom prst="rect">
            <a:avLst/>
          </a:prstGeom>
          <a:solidFill>
            <a:srgbClr val="EDEDF7"/>
          </a:solidFill>
          <a:ln w="9525">
            <a:solidFill>
              <a:srgbClr val="C9C9EA"/>
            </a:solidFill>
            <a:prstDash val="solid"/>
          </a:ln>
        </p:spPr>
      </p:sp>
      <p:sp>
        <p:nvSpPr>
          <p:cNvPr id="22" name="Shape 20"/>
          <p:cNvSpPr/>
          <p:nvPr/>
        </p:nvSpPr>
        <p:spPr>
          <a:xfrm>
            <a:off x="594360" y="4215384"/>
            <a:ext cx="50292" cy="731520"/>
          </a:xfrm>
          <a:prstGeom prst="rect">
            <a:avLst/>
          </a:prstGeom>
          <a:solidFill>
            <a:srgbClr val="3333B3"/>
          </a:solidFill>
          <a:ln w="12700">
            <a:solidFill>
              <a:srgbClr val="3333B3"/>
            </a:solidFill>
            <a:prstDash val="solid"/>
          </a:ln>
        </p:spPr>
      </p:sp>
      <p:sp>
        <p:nvSpPr>
          <p:cNvPr id="23" name="Shape 21"/>
          <p:cNvSpPr/>
          <p:nvPr/>
        </p:nvSpPr>
        <p:spPr>
          <a:xfrm>
            <a:off x="795528" y="4398264"/>
            <a:ext cx="365760" cy="365760"/>
          </a:xfrm>
          <a:prstGeom prst="ellipse">
            <a:avLst/>
          </a:prstGeom>
          <a:solidFill>
            <a:srgbClr val="3333B3"/>
          </a:solidFill>
          <a:ln w="12700">
            <a:solidFill>
              <a:srgbClr val="3333B3"/>
            </a:solidFill>
            <a:prstDash val="solid"/>
          </a:ln>
        </p:spPr>
      </p:sp>
      <p:sp>
        <p:nvSpPr>
          <p:cNvPr id="24" name="Text 22"/>
          <p:cNvSpPr txBox="1"/>
          <p:nvPr/>
        </p:nvSpPr>
        <p:spPr>
          <a:xfrm>
            <a:off x="795528" y="439826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5" name="Text 23"/>
          <p:cNvSpPr txBox="1"/>
          <p:nvPr/>
        </p:nvSpPr>
        <p:spPr>
          <a:xfrm>
            <a:off x="1325880" y="4215384"/>
            <a:ext cx="4855464" cy="731520"/>
          </a:xfrm>
          <a:prstGeom prst="rect">
            <a:avLst/>
          </a:prstGeom>
          <a:noFill/>
          <a:ln/>
        </p:spPr>
        <p:txBody>
          <a:bodyPr wrap="square" lIns="0" tIns="0" rIns="0" bIns="0" rtlCol="0" anchor="ctr"/>
          <a:lstStyle/>
          <a:p>
            <a:pPr indent="0" marL="0">
              <a:buNone/>
            </a:pPr>
            <a:r>
              <a:rPr lang="en-US" sz="1400" b="1" dirty="0">
                <a:solidFill>
                  <a:srgbClr val="22226B"/>
                </a:solidFill>
                <a:latin typeface="Cambria" pitchFamily="34" charset="0"/>
                <a:ea typeface="Cambria" pitchFamily="34" charset="-122"/>
                <a:cs typeface="Cambria" pitchFamily="34" charset="-120"/>
              </a:rPr>
              <a:t>Section Expert</a:t>
            </a:r>
            <a:endParaRPr lang="en-US" sz="1400" dirty="0"/>
          </a:p>
          <a:p>
            <a:pPr indent="0" marL="0">
              <a:buNone/>
            </a:pPr>
            <a:r>
              <a:rPr lang="en-US" sz="1150" dirty="0">
                <a:solidFill>
                  <a:srgbClr val="3E3E5A"/>
                </a:solidFill>
                <a:latin typeface="Cambria" pitchFamily="34" charset="0"/>
                <a:ea typeface="Cambria" pitchFamily="34" charset="-122"/>
                <a:cs typeface="Cambria" pitchFamily="34" charset="-120"/>
              </a:rPr>
              <a:t>Controls each band: suppress it, force a page break, repeat it on every page.</a:t>
            </a:r>
            <a:endParaRPr lang="en-US" sz="1400" dirty="0"/>
          </a:p>
        </p:txBody>
      </p:sp>
      <p:sp>
        <p:nvSpPr>
          <p:cNvPr id="26" name="Shape 24"/>
          <p:cNvSpPr/>
          <p:nvPr/>
        </p:nvSpPr>
        <p:spPr>
          <a:xfrm>
            <a:off x="594360" y="5065776"/>
            <a:ext cx="5806440" cy="731520"/>
          </a:xfrm>
          <a:prstGeom prst="rect">
            <a:avLst/>
          </a:prstGeom>
          <a:solidFill>
            <a:srgbClr val="EDEDF7"/>
          </a:solidFill>
          <a:ln w="9525">
            <a:solidFill>
              <a:srgbClr val="C9C9EA"/>
            </a:solidFill>
            <a:prstDash val="solid"/>
          </a:ln>
        </p:spPr>
      </p:sp>
      <p:sp>
        <p:nvSpPr>
          <p:cNvPr id="27" name="Shape 25"/>
          <p:cNvSpPr/>
          <p:nvPr/>
        </p:nvSpPr>
        <p:spPr>
          <a:xfrm>
            <a:off x="594360" y="5065776"/>
            <a:ext cx="50292" cy="731520"/>
          </a:xfrm>
          <a:prstGeom prst="rect">
            <a:avLst/>
          </a:prstGeom>
          <a:solidFill>
            <a:srgbClr val="3333B3"/>
          </a:solidFill>
          <a:ln w="12700">
            <a:solidFill>
              <a:srgbClr val="3333B3"/>
            </a:solidFill>
            <a:prstDash val="solid"/>
          </a:ln>
        </p:spPr>
      </p:sp>
      <p:sp>
        <p:nvSpPr>
          <p:cNvPr id="28" name="Shape 26"/>
          <p:cNvSpPr/>
          <p:nvPr/>
        </p:nvSpPr>
        <p:spPr>
          <a:xfrm>
            <a:off x="795528" y="5248656"/>
            <a:ext cx="365760" cy="365760"/>
          </a:xfrm>
          <a:prstGeom prst="ellipse">
            <a:avLst/>
          </a:prstGeom>
          <a:solidFill>
            <a:srgbClr val="3333B3"/>
          </a:solidFill>
          <a:ln w="12700">
            <a:solidFill>
              <a:srgbClr val="3333B3"/>
            </a:solidFill>
            <a:prstDash val="solid"/>
          </a:ln>
        </p:spPr>
      </p:sp>
      <p:sp>
        <p:nvSpPr>
          <p:cNvPr id="29" name="Text 27"/>
          <p:cNvSpPr txBox="1"/>
          <p:nvPr/>
        </p:nvSpPr>
        <p:spPr>
          <a:xfrm>
            <a:off x="795528" y="524865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30" name="Text 28"/>
          <p:cNvSpPr txBox="1"/>
          <p:nvPr/>
        </p:nvSpPr>
        <p:spPr>
          <a:xfrm>
            <a:off x="1325880" y="5065776"/>
            <a:ext cx="4855464" cy="731520"/>
          </a:xfrm>
          <a:prstGeom prst="rect">
            <a:avLst/>
          </a:prstGeom>
          <a:noFill/>
          <a:ln/>
        </p:spPr>
        <p:txBody>
          <a:bodyPr wrap="square" lIns="0" tIns="0" rIns="0" bIns="0" rtlCol="0" anchor="ctr"/>
          <a:lstStyle/>
          <a:p>
            <a:pPr indent="0" marL="0">
              <a:buNone/>
            </a:pPr>
            <a:r>
              <a:rPr lang="en-US" sz="1400" b="1" dirty="0">
                <a:solidFill>
                  <a:srgbClr val="22226B"/>
                </a:solidFill>
                <a:latin typeface="Cambria" pitchFamily="34" charset="0"/>
                <a:ea typeface="Cambria" pitchFamily="34" charset="-122"/>
                <a:cs typeface="Cambria" pitchFamily="34" charset="-120"/>
              </a:rPr>
              <a:t>Formula Workshop</a:t>
            </a:r>
            <a:endParaRPr lang="en-US" sz="1400" dirty="0"/>
          </a:p>
          <a:p>
            <a:pPr indent="0" marL="0">
              <a:buNone/>
            </a:pPr>
            <a:r>
              <a:rPr lang="en-US" sz="1150" dirty="0">
                <a:solidFill>
                  <a:srgbClr val="3E3E5A"/>
                </a:solidFill>
                <a:latin typeface="Cambria" pitchFamily="34" charset="0"/>
                <a:ea typeface="Cambria" pitchFamily="34" charset="-122"/>
                <a:cs typeface="Cambria" pitchFamily="34" charset="-120"/>
              </a:rPr>
              <a:t>Where calculations, conditional formatting and selection formulas live.</a:t>
            </a:r>
            <a:endParaRPr lang="en-US" sz="1400" dirty="0"/>
          </a:p>
        </p:txBody>
      </p:sp>
      <p:sp>
        <p:nvSpPr>
          <p:cNvPr id="31" name="Shape 29"/>
          <p:cNvSpPr/>
          <p:nvPr/>
        </p:nvSpPr>
        <p:spPr>
          <a:xfrm>
            <a:off x="6629400" y="1664208"/>
            <a:ext cx="4965192" cy="402336"/>
          </a:xfrm>
          <a:prstGeom prst="rect">
            <a:avLst/>
          </a:prstGeom>
          <a:solidFill>
            <a:srgbClr val="3333B3"/>
          </a:solidFill>
          <a:ln w="12700">
            <a:solidFill>
              <a:srgbClr val="3333B3"/>
            </a:solidFill>
            <a:prstDash val="solid"/>
          </a:ln>
        </p:spPr>
      </p:sp>
      <p:sp>
        <p:nvSpPr>
          <p:cNvPr id="32" name="Text 30"/>
          <p:cNvSpPr txBox="1"/>
          <p:nvPr/>
        </p:nvSpPr>
        <p:spPr>
          <a:xfrm>
            <a:off x="6812280" y="1664208"/>
            <a:ext cx="4599432" cy="40233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Design once, then leave it alone</a:t>
            </a:r>
            <a:endParaRPr lang="en-US" sz="1500" dirty="0"/>
          </a:p>
        </p:txBody>
      </p:sp>
      <p:sp>
        <p:nvSpPr>
          <p:cNvPr id="33" name="Shape 31"/>
          <p:cNvSpPr/>
          <p:nvPr/>
        </p:nvSpPr>
        <p:spPr>
          <a:xfrm>
            <a:off x="6629400" y="2066544"/>
            <a:ext cx="4965192" cy="1609344"/>
          </a:xfrm>
          <a:prstGeom prst="rect">
            <a:avLst/>
          </a:prstGeom>
          <a:solidFill>
            <a:srgbClr val="F4F4FA"/>
          </a:solidFill>
          <a:ln w="9525">
            <a:solidFill>
              <a:srgbClr val="C9C9EA"/>
            </a:solidFill>
            <a:prstDash val="solid"/>
          </a:ln>
        </p:spPr>
      </p:sp>
      <p:sp>
        <p:nvSpPr>
          <p:cNvPr id="34" name="Text 32"/>
          <p:cNvSpPr txBox="1"/>
          <p:nvPr/>
        </p:nvSpPr>
        <p:spPr>
          <a:xfrm>
            <a:off x="6848856" y="2212848"/>
            <a:ext cx="4526280" cy="1335024"/>
          </a:xfrm>
          <a:prstGeom prst="rect">
            <a:avLst/>
          </a:prstGeom>
          <a:noFill/>
          <a:ln/>
        </p:spPr>
        <p:txBody>
          <a:bodyPr wrap="square" lIns="0" tIns="0" rIns="0" bIns="0" rtlCol="0" anchor="t"/>
          <a:lstStyle/>
          <a:p>
            <a:pPr indent="0" marL="0">
              <a:lnSpc>
                <a:spcPts val="1620"/>
              </a:lnSpc>
              <a:buNone/>
            </a:pPr>
            <a:r>
              <a:rPr lang="en-US" sz="1200" dirty="0">
                <a:solidFill>
                  <a:srgbClr val="3E3E5A"/>
                </a:solidFill>
                <a:latin typeface="Cambria" pitchFamily="34" charset="0"/>
                <a:ea typeface="Cambria" pitchFamily="34" charset="-122"/>
                <a:cs typeface="Cambria" pitchFamily="34" charset="-120"/>
              </a:rPr>
              <a:t>A report is a layout artefact, not code. Every hour spent nudging boxes is an hour not spent on the query behind it — and the query is where the value and the errors are.</a:t>
            </a:r>
            <a:endParaRPr lang="en-US" sz="1200" dirty="0"/>
          </a:p>
        </p:txBody>
      </p:sp>
      <p:sp>
        <p:nvSpPr>
          <p:cNvPr id="35" name="Shape 33"/>
          <p:cNvSpPr/>
          <p:nvPr/>
        </p:nvSpPr>
        <p:spPr>
          <a:xfrm>
            <a:off x="6629400" y="3840480"/>
            <a:ext cx="4965192" cy="402336"/>
          </a:xfrm>
          <a:prstGeom prst="rect">
            <a:avLst/>
          </a:prstGeom>
          <a:solidFill>
            <a:srgbClr val="3333B3"/>
          </a:solidFill>
          <a:ln w="12700">
            <a:solidFill>
              <a:srgbClr val="3333B3"/>
            </a:solidFill>
            <a:prstDash val="solid"/>
          </a:ln>
        </p:spPr>
      </p:sp>
      <p:sp>
        <p:nvSpPr>
          <p:cNvPr id="36" name="Text 34"/>
          <p:cNvSpPr txBox="1"/>
          <p:nvPr/>
        </p:nvSpPr>
        <p:spPr>
          <a:xfrm>
            <a:off x="6812280" y="3840480"/>
            <a:ext cx="4599432" cy="40233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Version control it</a:t>
            </a:r>
            <a:endParaRPr lang="en-US" sz="1500" dirty="0"/>
          </a:p>
        </p:txBody>
      </p:sp>
      <p:sp>
        <p:nvSpPr>
          <p:cNvPr id="37" name="Shape 35"/>
          <p:cNvSpPr/>
          <p:nvPr/>
        </p:nvSpPr>
        <p:spPr>
          <a:xfrm>
            <a:off x="6629400" y="4242816"/>
            <a:ext cx="4965192" cy="1554480"/>
          </a:xfrm>
          <a:prstGeom prst="rect">
            <a:avLst/>
          </a:prstGeom>
          <a:solidFill>
            <a:srgbClr val="F4F4FA"/>
          </a:solidFill>
          <a:ln w="9525">
            <a:solidFill>
              <a:srgbClr val="C9C9EA"/>
            </a:solidFill>
            <a:prstDash val="solid"/>
          </a:ln>
        </p:spPr>
      </p:sp>
      <p:sp>
        <p:nvSpPr>
          <p:cNvPr id="38" name="Text 36"/>
          <p:cNvSpPr txBox="1"/>
          <p:nvPr/>
        </p:nvSpPr>
        <p:spPr>
          <a:xfrm>
            <a:off x="6848856" y="4389120"/>
            <a:ext cx="4526280" cy="128016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3E3E5A"/>
                </a:solidFill>
                <a:latin typeface="Cambria" pitchFamily="34" charset="0"/>
                <a:ea typeface="Cambria" pitchFamily="34" charset="-122"/>
                <a:cs typeface="Cambria" pitchFamily="34" charset="-120"/>
              </a:rPr>
              <a:t>A .rpt is a binary file — commit it, but it will not diff</a:t>
            </a:r>
            <a:endParaRPr lang="en-US" sz="1200" dirty="0"/>
          </a:p>
          <a:p>
            <a:pPr marL="177800" indent="-177800">
              <a:spcAft>
                <a:spcPts val="700"/>
              </a:spcAft>
              <a:buSzPct val="100000"/>
              <a:buChar char="▸"/>
            </a:pPr>
            <a:r>
              <a:rPr lang="en-US" sz="1200" dirty="0">
                <a:solidFill>
                  <a:srgbClr val="3E3E5A"/>
                </a:solidFill>
                <a:latin typeface="Cambria" pitchFamily="34" charset="0"/>
                <a:ea typeface="Cambria" pitchFamily="34" charset="-122"/>
                <a:cs typeface="Cambria" pitchFamily="34" charset="-120"/>
              </a:rPr>
              <a:t>Note changes in the commit message</a:t>
            </a:r>
            <a:endParaRPr lang="en-US" sz="1200" dirty="0"/>
          </a:p>
          <a:p>
            <a:pPr marL="177800" indent="-177800">
              <a:spcAft>
                <a:spcPts val="700"/>
              </a:spcAft>
              <a:buSzPct val="100000"/>
              <a:buChar char="▸"/>
            </a:pPr>
            <a:r>
              <a:rPr lang="en-US" sz="1200" dirty="0">
                <a:solidFill>
                  <a:srgbClr val="3E3E5A"/>
                </a:solidFill>
                <a:latin typeface="Cambria" pitchFamily="34" charset="0"/>
                <a:ea typeface="Cambria" pitchFamily="34" charset="-122"/>
                <a:cs typeface="Cambria" pitchFamily="34" charset="-120"/>
              </a:rPr>
              <a:t>Never keep report_final_v3.rpt on a share</a:t>
            </a:r>
            <a:endParaRPr lang="en-US" sz="1200" dirty="0"/>
          </a:p>
        </p:txBody>
      </p:sp>
      <p:sp>
        <p:nvSpPr>
          <p:cNvPr id="39" name="Shape 37"/>
          <p:cNvSpPr/>
          <p:nvPr/>
        </p:nvSpPr>
        <p:spPr>
          <a:xfrm>
            <a:off x="0" y="6400800"/>
            <a:ext cx="3840480" cy="457200"/>
          </a:xfrm>
          <a:prstGeom prst="rect">
            <a:avLst/>
          </a:prstGeom>
          <a:solidFill>
            <a:srgbClr val="22226B"/>
          </a:solidFill>
          <a:ln w="12700">
            <a:solidFill>
              <a:srgbClr val="22226B"/>
            </a:solidFill>
            <a:prstDash val="solid"/>
          </a:ln>
        </p:spPr>
      </p:sp>
      <p:sp>
        <p:nvSpPr>
          <p:cNvPr id="40" name="Text 38"/>
          <p:cNvSpPr txBox="1"/>
          <p:nvPr/>
        </p:nvSpPr>
        <p:spPr>
          <a:xfrm>
            <a:off x="164592" y="6400800"/>
            <a:ext cx="351129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HAL  ·  .NET, React &amp; SQL Programme</a:t>
            </a:r>
            <a:endParaRPr lang="en-US" sz="950" dirty="0"/>
          </a:p>
        </p:txBody>
      </p:sp>
      <p:sp>
        <p:nvSpPr>
          <p:cNvPr id="41" name="Shape 39"/>
          <p:cNvSpPr/>
          <p:nvPr/>
        </p:nvSpPr>
        <p:spPr>
          <a:xfrm>
            <a:off x="3840480" y="6400800"/>
            <a:ext cx="6675120" cy="457200"/>
          </a:xfrm>
          <a:prstGeom prst="rect">
            <a:avLst/>
          </a:prstGeom>
          <a:solidFill>
            <a:srgbClr val="3333B3"/>
          </a:solidFill>
          <a:ln w="12700">
            <a:solidFill>
              <a:srgbClr val="3333B3"/>
            </a:solidFill>
            <a:prstDash val="solid"/>
          </a:ln>
        </p:spPr>
      </p:sp>
      <p:sp>
        <p:nvSpPr>
          <p:cNvPr id="42" name="Text 40"/>
          <p:cNvSpPr txBox="1"/>
          <p:nvPr/>
        </p:nvSpPr>
        <p:spPr>
          <a:xfrm>
            <a:off x="4005072" y="6400800"/>
            <a:ext cx="634593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Day 3 · Session 1 — Crystal Reports Basics</a:t>
            </a:r>
            <a:endParaRPr lang="en-US" sz="950" dirty="0"/>
          </a:p>
        </p:txBody>
      </p:sp>
      <p:sp>
        <p:nvSpPr>
          <p:cNvPr id="43" name="Shape 41"/>
          <p:cNvSpPr/>
          <p:nvPr/>
        </p:nvSpPr>
        <p:spPr>
          <a:xfrm>
            <a:off x="10515600" y="6400800"/>
            <a:ext cx="1676095" cy="457200"/>
          </a:xfrm>
          <a:prstGeom prst="rect">
            <a:avLst/>
          </a:prstGeom>
          <a:solidFill>
            <a:srgbClr val="22226B"/>
          </a:solidFill>
          <a:ln w="12700">
            <a:solidFill>
              <a:srgbClr val="22226B"/>
            </a:solidFill>
            <a:prstDash val="solid"/>
          </a:ln>
        </p:spPr>
      </p:sp>
      <p:sp>
        <p:nvSpPr>
          <p:cNvPr id="44" name="Text 42"/>
          <p:cNvSpPr txBox="1"/>
          <p:nvPr/>
        </p:nvSpPr>
        <p:spPr>
          <a:xfrm>
            <a:off x="10680192" y="6400800"/>
            <a:ext cx="1346911" cy="457200"/>
          </a:xfrm>
          <a:prstGeom prst="rect">
            <a:avLst/>
          </a:prstGeom>
          <a:noFill/>
          <a:ln/>
        </p:spPr>
        <p:txBody>
          <a:bodyPr wrap="square" lIns="0" tIns="0" rIns="0" bIns="0" rtlCol="0" anchor="ctr"/>
          <a:lstStyle/>
          <a:p>
            <a:pPr algn="ctr" indent="0" marL="0">
              <a:buNone/>
            </a:pPr>
            <a:r>
              <a:rPr lang="en-US" sz="950" dirty="0">
                <a:solidFill>
                  <a:srgbClr val="FFFFFF"/>
                </a:solidFill>
                <a:latin typeface="Cambria" pitchFamily="34" charset="0"/>
                <a:ea typeface="Cambria" pitchFamily="34" charset="-122"/>
                <a:cs typeface="Cambria"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365760"/>
          </a:xfrm>
          <a:prstGeom prst="rect">
            <a:avLst/>
          </a:prstGeom>
          <a:solidFill>
            <a:srgbClr val="22226B"/>
          </a:solidFill>
          <a:ln w="12700">
            <a:solidFill>
              <a:srgbClr val="22226B"/>
            </a:solidFill>
            <a:prstDash val="solid"/>
          </a:ln>
        </p:spPr>
      </p:sp>
      <p:sp>
        <p:nvSpPr>
          <p:cNvPr id="3" name="Text 1"/>
          <p:cNvSpPr txBox="1"/>
          <p:nvPr/>
        </p:nvSpPr>
        <p:spPr>
          <a:xfrm>
            <a:off x="594360" y="0"/>
            <a:ext cx="11002975" cy="365760"/>
          </a:xfrm>
          <a:prstGeom prst="rect">
            <a:avLst/>
          </a:prstGeom>
          <a:noFill/>
          <a:ln/>
        </p:spPr>
        <p:txBody>
          <a:bodyPr wrap="square" lIns="0" tIns="0" rIns="0" bIns="0" rtlCol="0" anchor="ctr"/>
          <a:lstStyle/>
          <a:p>
            <a:pPr indent="0" marL="0">
              <a:buNone/>
            </a:pPr>
            <a:r>
              <a:rPr lang="en-US" sz="1000" b="1" spc="180" kern="0" dirty="0">
                <a:solidFill>
                  <a:srgbClr val="C9C9EA"/>
                </a:solidFill>
                <a:latin typeface="Cambria" pitchFamily="34" charset="0"/>
                <a:ea typeface="Cambria" pitchFamily="34" charset="-122"/>
                <a:cs typeface="Cambria" pitchFamily="34" charset="-120"/>
              </a:rPr>
              <a:t>CREATING REPORT LAYOUTS</a:t>
            </a:r>
            <a:endParaRPr lang="en-US" sz="1000" dirty="0"/>
          </a:p>
        </p:txBody>
      </p:sp>
      <p:sp>
        <p:nvSpPr>
          <p:cNvPr id="4" name="Shape 2"/>
          <p:cNvSpPr/>
          <p:nvPr/>
        </p:nvSpPr>
        <p:spPr>
          <a:xfrm>
            <a:off x="0" y="365760"/>
            <a:ext cx="12191695" cy="841248"/>
          </a:xfrm>
          <a:prstGeom prst="rect">
            <a:avLst/>
          </a:prstGeom>
          <a:solidFill>
            <a:srgbClr val="3333B3"/>
          </a:solidFill>
          <a:ln w="12700">
            <a:solidFill>
              <a:srgbClr val="3333B3"/>
            </a:solidFill>
            <a:prstDash val="solid"/>
          </a:ln>
        </p:spPr>
      </p:sp>
      <p:sp>
        <p:nvSpPr>
          <p:cNvPr id="5" name="Text 3"/>
          <p:cNvSpPr txBox="1"/>
          <p:nvPr/>
        </p:nvSpPr>
        <p:spPr>
          <a:xfrm>
            <a:off x="594360" y="365760"/>
            <a:ext cx="11002975" cy="84124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Seven bands, and the rule that governs all of them</a:t>
            </a:r>
            <a:endParaRPr lang="en-US" sz="2600" dirty="0"/>
          </a:p>
        </p:txBody>
      </p:sp>
      <p:sp>
        <p:nvSpPr>
          <p:cNvPr id="6" name="Shape 4"/>
          <p:cNvSpPr/>
          <p:nvPr/>
        </p:nvSpPr>
        <p:spPr>
          <a:xfrm>
            <a:off x="594360" y="1664208"/>
            <a:ext cx="5806440" cy="512064"/>
          </a:xfrm>
          <a:prstGeom prst="roundRect">
            <a:avLst>
              <a:gd name="adj" fmla="val 7143"/>
            </a:avLst>
          </a:prstGeom>
          <a:solidFill>
            <a:srgbClr val="22226B"/>
          </a:solidFill>
          <a:ln w="12700">
            <a:solidFill>
              <a:srgbClr val="22226B"/>
            </a:solidFill>
            <a:prstDash val="solid"/>
          </a:ln>
        </p:spPr>
      </p:sp>
      <p:sp>
        <p:nvSpPr>
          <p:cNvPr id="7" name="Text 5"/>
          <p:cNvSpPr txBox="1"/>
          <p:nvPr/>
        </p:nvSpPr>
        <p:spPr>
          <a:xfrm>
            <a:off x="813816" y="1664208"/>
            <a:ext cx="5367528" cy="512064"/>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Report Header   </a:t>
            </a:r>
            <a:pPr indent="0" marL="0">
              <a:buNone/>
            </a:pPr>
            <a:r>
              <a:rPr lang="en-US" sz="1100" dirty="0">
                <a:solidFill>
                  <a:srgbClr val="D9D9EF"/>
                </a:solidFill>
                <a:latin typeface="Cambria" pitchFamily="34" charset="0"/>
                <a:ea typeface="Cambria" pitchFamily="34" charset="-122"/>
                <a:cs typeface="Cambria" pitchFamily="34" charset="-120"/>
              </a:rPr>
              <a:t>Prints once, at the very start</a:t>
            </a:r>
            <a:endParaRPr lang="en-US" sz="1250" dirty="0"/>
          </a:p>
        </p:txBody>
      </p:sp>
      <p:sp>
        <p:nvSpPr>
          <p:cNvPr id="8" name="Shape 6"/>
          <p:cNvSpPr/>
          <p:nvPr/>
        </p:nvSpPr>
        <p:spPr>
          <a:xfrm>
            <a:off x="594360" y="2267712"/>
            <a:ext cx="5806440" cy="512064"/>
          </a:xfrm>
          <a:prstGeom prst="roundRect">
            <a:avLst>
              <a:gd name="adj" fmla="val 7143"/>
            </a:avLst>
          </a:prstGeom>
          <a:solidFill>
            <a:srgbClr val="EDEDF7"/>
          </a:solidFill>
          <a:ln w="12700">
            <a:solidFill>
              <a:srgbClr val="C6D2DB"/>
            </a:solidFill>
            <a:prstDash val="solid"/>
          </a:ln>
        </p:spPr>
      </p:sp>
      <p:sp>
        <p:nvSpPr>
          <p:cNvPr id="9" name="Text 7"/>
          <p:cNvSpPr txBox="1"/>
          <p:nvPr/>
        </p:nvSpPr>
        <p:spPr>
          <a:xfrm>
            <a:off x="813816" y="2267712"/>
            <a:ext cx="5367528" cy="512064"/>
          </a:xfrm>
          <a:prstGeom prst="rect">
            <a:avLst/>
          </a:prstGeom>
          <a:noFill/>
          <a:ln/>
        </p:spPr>
        <p:txBody>
          <a:bodyPr wrap="square" lIns="0" tIns="0" rIns="0" bIns="0" rtlCol="0" anchor="ctr"/>
          <a:lstStyle/>
          <a:p>
            <a:pPr indent="0" marL="0">
              <a:buNone/>
            </a:pPr>
            <a:r>
              <a:rPr lang="en-US" sz="1250" b="1" dirty="0">
                <a:solidFill>
                  <a:srgbClr val="22226B"/>
                </a:solidFill>
                <a:latin typeface="Cambria" pitchFamily="34" charset="0"/>
                <a:ea typeface="Cambria" pitchFamily="34" charset="-122"/>
                <a:cs typeface="Cambria" pitchFamily="34" charset="-120"/>
              </a:rPr>
              <a:t>Page Header   </a:t>
            </a:r>
            <a:pPr indent="0" marL="0">
              <a:buNone/>
            </a:pPr>
            <a:r>
              <a:rPr lang="en-US" sz="1100" dirty="0">
                <a:solidFill>
                  <a:srgbClr val="3E3E5A"/>
                </a:solidFill>
                <a:latin typeface="Cambria" pitchFamily="34" charset="0"/>
                <a:ea typeface="Cambria" pitchFamily="34" charset="-122"/>
                <a:cs typeface="Cambria" pitchFamily="34" charset="-120"/>
              </a:rPr>
              <a:t>Repeats at the top of every page — column titles</a:t>
            </a:r>
            <a:endParaRPr lang="en-US" sz="1250" dirty="0"/>
          </a:p>
        </p:txBody>
      </p:sp>
      <p:sp>
        <p:nvSpPr>
          <p:cNvPr id="10" name="Shape 8"/>
          <p:cNvSpPr/>
          <p:nvPr/>
        </p:nvSpPr>
        <p:spPr>
          <a:xfrm>
            <a:off x="594360" y="2871216"/>
            <a:ext cx="5806440" cy="512064"/>
          </a:xfrm>
          <a:prstGeom prst="roundRect">
            <a:avLst>
              <a:gd name="adj" fmla="val 7143"/>
            </a:avLst>
          </a:prstGeom>
          <a:solidFill>
            <a:srgbClr val="D9E2E9"/>
          </a:solidFill>
          <a:ln w="12700">
            <a:solidFill>
              <a:srgbClr val="C6D2DB"/>
            </a:solidFill>
            <a:prstDash val="solid"/>
          </a:ln>
        </p:spPr>
      </p:sp>
      <p:sp>
        <p:nvSpPr>
          <p:cNvPr id="11" name="Text 9"/>
          <p:cNvSpPr txBox="1"/>
          <p:nvPr/>
        </p:nvSpPr>
        <p:spPr>
          <a:xfrm>
            <a:off x="813816" y="2871216"/>
            <a:ext cx="5367528" cy="512064"/>
          </a:xfrm>
          <a:prstGeom prst="rect">
            <a:avLst/>
          </a:prstGeom>
          <a:noFill/>
          <a:ln/>
        </p:spPr>
        <p:txBody>
          <a:bodyPr wrap="square" lIns="0" tIns="0" rIns="0" bIns="0" rtlCol="0" anchor="ctr"/>
          <a:lstStyle/>
          <a:p>
            <a:pPr indent="0" marL="0">
              <a:buNone/>
            </a:pPr>
            <a:r>
              <a:rPr lang="en-US" sz="1250" b="1" dirty="0">
                <a:solidFill>
                  <a:srgbClr val="22226B"/>
                </a:solidFill>
                <a:latin typeface="Cambria" pitchFamily="34" charset="0"/>
                <a:ea typeface="Cambria" pitchFamily="34" charset="-122"/>
                <a:cs typeface="Cambria" pitchFamily="34" charset="-120"/>
              </a:rPr>
              <a:t>Group Header   </a:t>
            </a:r>
            <a:pPr indent="0" marL="0">
              <a:buNone/>
            </a:pPr>
            <a:r>
              <a:rPr lang="en-US" sz="1100" dirty="0">
                <a:solidFill>
                  <a:srgbClr val="3E3E5A"/>
                </a:solidFill>
                <a:latin typeface="Cambria" pitchFamily="34" charset="0"/>
                <a:ea typeface="Cambria" pitchFamily="34" charset="-122"/>
                <a:cs typeface="Cambria" pitchFamily="34" charset="-120"/>
              </a:rPr>
              <a:t>Once per group: store, aircraft type, month</a:t>
            </a:r>
            <a:endParaRPr lang="en-US" sz="1250" dirty="0"/>
          </a:p>
        </p:txBody>
      </p:sp>
      <p:sp>
        <p:nvSpPr>
          <p:cNvPr id="12" name="Shape 10"/>
          <p:cNvSpPr/>
          <p:nvPr/>
        </p:nvSpPr>
        <p:spPr>
          <a:xfrm>
            <a:off x="594360" y="3474720"/>
            <a:ext cx="5806440" cy="512064"/>
          </a:xfrm>
          <a:prstGeom prst="roundRect">
            <a:avLst>
              <a:gd name="adj" fmla="val 7143"/>
            </a:avLst>
          </a:prstGeom>
          <a:solidFill>
            <a:srgbClr val="3333B3"/>
          </a:solidFill>
          <a:ln w="12700">
            <a:solidFill>
              <a:srgbClr val="3333B3"/>
            </a:solidFill>
            <a:prstDash val="solid"/>
          </a:ln>
        </p:spPr>
      </p:sp>
      <p:sp>
        <p:nvSpPr>
          <p:cNvPr id="13" name="Text 11"/>
          <p:cNvSpPr txBox="1"/>
          <p:nvPr/>
        </p:nvSpPr>
        <p:spPr>
          <a:xfrm>
            <a:off x="813816" y="3474720"/>
            <a:ext cx="5367528" cy="512064"/>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Details   </a:t>
            </a:r>
            <a:pPr indent="0" marL="0">
              <a:buNone/>
            </a:pPr>
            <a:r>
              <a:rPr lang="en-US" sz="1100" dirty="0">
                <a:solidFill>
                  <a:srgbClr val="D9D9EF"/>
                </a:solidFill>
                <a:latin typeface="Cambria" pitchFamily="34" charset="0"/>
                <a:ea typeface="Cambria" pitchFamily="34" charset="-122"/>
                <a:cs typeface="Cambria" pitchFamily="34" charset="-120"/>
              </a:rPr>
              <a:t>Once per row returned by the query</a:t>
            </a:r>
            <a:endParaRPr lang="en-US" sz="1250" dirty="0"/>
          </a:p>
        </p:txBody>
      </p:sp>
      <p:sp>
        <p:nvSpPr>
          <p:cNvPr id="14" name="Shape 12"/>
          <p:cNvSpPr/>
          <p:nvPr/>
        </p:nvSpPr>
        <p:spPr>
          <a:xfrm>
            <a:off x="594360" y="4078224"/>
            <a:ext cx="5806440" cy="512064"/>
          </a:xfrm>
          <a:prstGeom prst="roundRect">
            <a:avLst>
              <a:gd name="adj" fmla="val 7143"/>
            </a:avLst>
          </a:prstGeom>
          <a:solidFill>
            <a:srgbClr val="D9E2E9"/>
          </a:solidFill>
          <a:ln w="12700">
            <a:solidFill>
              <a:srgbClr val="C6D2DB"/>
            </a:solidFill>
            <a:prstDash val="solid"/>
          </a:ln>
        </p:spPr>
      </p:sp>
      <p:sp>
        <p:nvSpPr>
          <p:cNvPr id="15" name="Text 13"/>
          <p:cNvSpPr txBox="1"/>
          <p:nvPr/>
        </p:nvSpPr>
        <p:spPr>
          <a:xfrm>
            <a:off x="813816" y="4078224"/>
            <a:ext cx="5367528" cy="512064"/>
          </a:xfrm>
          <a:prstGeom prst="rect">
            <a:avLst/>
          </a:prstGeom>
          <a:noFill/>
          <a:ln/>
        </p:spPr>
        <p:txBody>
          <a:bodyPr wrap="square" lIns="0" tIns="0" rIns="0" bIns="0" rtlCol="0" anchor="ctr"/>
          <a:lstStyle/>
          <a:p>
            <a:pPr indent="0" marL="0">
              <a:buNone/>
            </a:pPr>
            <a:r>
              <a:rPr lang="en-US" sz="1250" b="1" dirty="0">
                <a:solidFill>
                  <a:srgbClr val="22226B"/>
                </a:solidFill>
                <a:latin typeface="Cambria" pitchFamily="34" charset="0"/>
                <a:ea typeface="Cambria" pitchFamily="34" charset="-122"/>
                <a:cs typeface="Cambria" pitchFamily="34" charset="-120"/>
              </a:rPr>
              <a:t>Group Footer   </a:t>
            </a:r>
            <a:pPr indent="0" marL="0">
              <a:buNone/>
            </a:pPr>
            <a:r>
              <a:rPr lang="en-US" sz="1100" dirty="0">
                <a:solidFill>
                  <a:srgbClr val="3E3E5A"/>
                </a:solidFill>
                <a:latin typeface="Cambria" pitchFamily="34" charset="0"/>
                <a:ea typeface="Cambria" pitchFamily="34" charset="-122"/>
                <a:cs typeface="Cambria" pitchFamily="34" charset="-120"/>
              </a:rPr>
              <a:t>Subtotals for the group that just ended</a:t>
            </a:r>
            <a:endParaRPr lang="en-US" sz="1250" dirty="0"/>
          </a:p>
        </p:txBody>
      </p:sp>
      <p:sp>
        <p:nvSpPr>
          <p:cNvPr id="16" name="Shape 14"/>
          <p:cNvSpPr/>
          <p:nvPr/>
        </p:nvSpPr>
        <p:spPr>
          <a:xfrm>
            <a:off x="594360" y="4681728"/>
            <a:ext cx="5806440" cy="512064"/>
          </a:xfrm>
          <a:prstGeom prst="roundRect">
            <a:avLst>
              <a:gd name="adj" fmla="val 7143"/>
            </a:avLst>
          </a:prstGeom>
          <a:solidFill>
            <a:srgbClr val="EDEDF7"/>
          </a:solidFill>
          <a:ln w="12700">
            <a:solidFill>
              <a:srgbClr val="C6D2DB"/>
            </a:solidFill>
            <a:prstDash val="solid"/>
          </a:ln>
        </p:spPr>
      </p:sp>
      <p:sp>
        <p:nvSpPr>
          <p:cNvPr id="17" name="Text 15"/>
          <p:cNvSpPr txBox="1"/>
          <p:nvPr/>
        </p:nvSpPr>
        <p:spPr>
          <a:xfrm>
            <a:off x="813816" y="4681728"/>
            <a:ext cx="5367528" cy="512064"/>
          </a:xfrm>
          <a:prstGeom prst="rect">
            <a:avLst/>
          </a:prstGeom>
          <a:noFill/>
          <a:ln/>
        </p:spPr>
        <p:txBody>
          <a:bodyPr wrap="square" lIns="0" tIns="0" rIns="0" bIns="0" rtlCol="0" anchor="ctr"/>
          <a:lstStyle/>
          <a:p>
            <a:pPr indent="0" marL="0">
              <a:buNone/>
            </a:pPr>
            <a:r>
              <a:rPr lang="en-US" sz="1250" b="1" dirty="0">
                <a:solidFill>
                  <a:srgbClr val="22226B"/>
                </a:solidFill>
                <a:latin typeface="Cambria" pitchFamily="34" charset="0"/>
                <a:ea typeface="Cambria" pitchFamily="34" charset="-122"/>
                <a:cs typeface="Cambria" pitchFamily="34" charset="-120"/>
              </a:rPr>
              <a:t>Page Footer   </a:t>
            </a:r>
            <a:pPr indent="0" marL="0">
              <a:buNone/>
            </a:pPr>
            <a:r>
              <a:rPr lang="en-US" sz="1100" dirty="0">
                <a:solidFill>
                  <a:srgbClr val="3E3E5A"/>
                </a:solidFill>
                <a:latin typeface="Cambria" pitchFamily="34" charset="0"/>
                <a:ea typeface="Cambria" pitchFamily="34" charset="-122"/>
                <a:cs typeface="Cambria" pitchFamily="34" charset="-120"/>
              </a:rPr>
              <a:t>Page number, print date, classification</a:t>
            </a:r>
            <a:endParaRPr lang="en-US" sz="1250" dirty="0"/>
          </a:p>
        </p:txBody>
      </p:sp>
      <p:sp>
        <p:nvSpPr>
          <p:cNvPr id="18" name="Shape 16"/>
          <p:cNvSpPr/>
          <p:nvPr/>
        </p:nvSpPr>
        <p:spPr>
          <a:xfrm>
            <a:off x="594360" y="5285232"/>
            <a:ext cx="5806440" cy="512064"/>
          </a:xfrm>
          <a:prstGeom prst="roundRect">
            <a:avLst>
              <a:gd name="adj" fmla="val 7143"/>
            </a:avLst>
          </a:prstGeom>
          <a:solidFill>
            <a:srgbClr val="22226B"/>
          </a:solidFill>
          <a:ln w="12700">
            <a:solidFill>
              <a:srgbClr val="22226B"/>
            </a:solidFill>
            <a:prstDash val="solid"/>
          </a:ln>
        </p:spPr>
      </p:sp>
      <p:sp>
        <p:nvSpPr>
          <p:cNvPr id="19" name="Text 17"/>
          <p:cNvSpPr txBox="1"/>
          <p:nvPr/>
        </p:nvSpPr>
        <p:spPr>
          <a:xfrm>
            <a:off x="813816" y="5285232"/>
            <a:ext cx="5367528" cy="512064"/>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Report Footer   </a:t>
            </a:r>
            <a:pPr indent="0" marL="0">
              <a:buNone/>
            </a:pPr>
            <a:r>
              <a:rPr lang="en-US" sz="1100" dirty="0">
                <a:solidFill>
                  <a:srgbClr val="D9D9EF"/>
                </a:solidFill>
                <a:latin typeface="Cambria" pitchFamily="34" charset="0"/>
                <a:ea typeface="Cambria" pitchFamily="34" charset="-122"/>
                <a:cs typeface="Cambria" pitchFamily="34" charset="-120"/>
              </a:rPr>
              <a:t>Grand totals, prints once at the end</a:t>
            </a:r>
            <a:endParaRPr lang="en-US" sz="1250" dirty="0"/>
          </a:p>
        </p:txBody>
      </p:sp>
      <p:sp>
        <p:nvSpPr>
          <p:cNvPr id="20" name="Shape 18"/>
          <p:cNvSpPr/>
          <p:nvPr/>
        </p:nvSpPr>
        <p:spPr>
          <a:xfrm>
            <a:off x="6629400" y="1664208"/>
            <a:ext cx="4965192" cy="1005840"/>
          </a:xfrm>
          <a:prstGeom prst="rect">
            <a:avLst/>
          </a:prstGeom>
          <a:solidFill>
            <a:srgbClr val="EDEDF7"/>
          </a:solidFill>
          <a:ln w="9525">
            <a:solidFill>
              <a:srgbClr val="C9C9EA"/>
            </a:solidFill>
            <a:prstDash val="solid"/>
          </a:ln>
        </p:spPr>
      </p:sp>
      <p:sp>
        <p:nvSpPr>
          <p:cNvPr id="21" name="Shape 19"/>
          <p:cNvSpPr/>
          <p:nvPr/>
        </p:nvSpPr>
        <p:spPr>
          <a:xfrm>
            <a:off x="6629400" y="1664208"/>
            <a:ext cx="50292" cy="1005840"/>
          </a:xfrm>
          <a:prstGeom prst="rect">
            <a:avLst/>
          </a:prstGeom>
          <a:solidFill>
            <a:srgbClr val="3333B3"/>
          </a:solidFill>
          <a:ln w="12700">
            <a:solidFill>
              <a:srgbClr val="3333B3"/>
            </a:solidFill>
            <a:prstDash val="solid"/>
          </a:ln>
        </p:spPr>
      </p:sp>
      <p:sp>
        <p:nvSpPr>
          <p:cNvPr id="22" name="Shape 20"/>
          <p:cNvSpPr/>
          <p:nvPr/>
        </p:nvSpPr>
        <p:spPr>
          <a:xfrm>
            <a:off x="6830568" y="1984248"/>
            <a:ext cx="365760" cy="365760"/>
          </a:xfrm>
          <a:prstGeom prst="ellipse">
            <a:avLst/>
          </a:prstGeom>
          <a:solidFill>
            <a:srgbClr val="3333B3"/>
          </a:solidFill>
          <a:ln w="12700">
            <a:solidFill>
              <a:srgbClr val="3333B3"/>
            </a:solidFill>
            <a:prstDash val="solid"/>
          </a:ln>
        </p:spPr>
      </p:sp>
      <p:sp>
        <p:nvSpPr>
          <p:cNvPr id="23" name="Text 21"/>
          <p:cNvSpPr txBox="1"/>
          <p:nvPr/>
        </p:nvSpPr>
        <p:spPr>
          <a:xfrm>
            <a:off x="6830568" y="19842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24" name="Text 22"/>
          <p:cNvSpPr txBox="1"/>
          <p:nvPr/>
        </p:nvSpPr>
        <p:spPr>
          <a:xfrm>
            <a:off x="7360920" y="1664208"/>
            <a:ext cx="4014216" cy="1005840"/>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One row of the query, one Details band</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Everything you place in Details repeats. Everything else prints once per page, group or report.</a:t>
            </a:r>
            <a:endParaRPr lang="en-US" sz="1350" dirty="0"/>
          </a:p>
        </p:txBody>
      </p:sp>
      <p:sp>
        <p:nvSpPr>
          <p:cNvPr id="25" name="Shape 23"/>
          <p:cNvSpPr/>
          <p:nvPr/>
        </p:nvSpPr>
        <p:spPr>
          <a:xfrm>
            <a:off x="6629400" y="2798064"/>
            <a:ext cx="4965192" cy="1005840"/>
          </a:xfrm>
          <a:prstGeom prst="rect">
            <a:avLst/>
          </a:prstGeom>
          <a:solidFill>
            <a:srgbClr val="EDEDF7"/>
          </a:solidFill>
          <a:ln w="9525">
            <a:solidFill>
              <a:srgbClr val="C9C9EA"/>
            </a:solidFill>
            <a:prstDash val="solid"/>
          </a:ln>
        </p:spPr>
      </p:sp>
      <p:sp>
        <p:nvSpPr>
          <p:cNvPr id="26" name="Shape 24"/>
          <p:cNvSpPr/>
          <p:nvPr/>
        </p:nvSpPr>
        <p:spPr>
          <a:xfrm>
            <a:off x="6629400" y="2798064"/>
            <a:ext cx="50292" cy="1005840"/>
          </a:xfrm>
          <a:prstGeom prst="rect">
            <a:avLst/>
          </a:prstGeom>
          <a:solidFill>
            <a:srgbClr val="3333B3"/>
          </a:solidFill>
          <a:ln w="12700">
            <a:solidFill>
              <a:srgbClr val="3333B3"/>
            </a:solidFill>
            <a:prstDash val="solid"/>
          </a:ln>
        </p:spPr>
      </p:sp>
      <p:sp>
        <p:nvSpPr>
          <p:cNvPr id="27" name="Shape 25"/>
          <p:cNvSpPr/>
          <p:nvPr/>
        </p:nvSpPr>
        <p:spPr>
          <a:xfrm>
            <a:off x="6830568" y="3118104"/>
            <a:ext cx="365760" cy="365760"/>
          </a:xfrm>
          <a:prstGeom prst="ellipse">
            <a:avLst/>
          </a:prstGeom>
          <a:solidFill>
            <a:srgbClr val="3333B3"/>
          </a:solidFill>
          <a:ln w="12700">
            <a:solidFill>
              <a:srgbClr val="3333B3"/>
            </a:solidFill>
            <a:prstDash val="solid"/>
          </a:ln>
        </p:spPr>
      </p:sp>
      <p:sp>
        <p:nvSpPr>
          <p:cNvPr id="28" name="Text 26"/>
          <p:cNvSpPr txBox="1"/>
          <p:nvPr/>
        </p:nvSpPr>
        <p:spPr>
          <a:xfrm>
            <a:off x="6830568" y="311810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29" name="Text 27"/>
          <p:cNvSpPr txBox="1"/>
          <p:nvPr/>
        </p:nvSpPr>
        <p:spPr>
          <a:xfrm>
            <a:off x="7360920" y="2798064"/>
            <a:ext cx="4014216" cy="1005840"/>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Totals live in footers</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A running total in the Group Footer subtotals the group; the same field in the Report Footer gives the grand total.</a:t>
            </a:r>
            <a:endParaRPr lang="en-US" sz="1350" dirty="0"/>
          </a:p>
        </p:txBody>
      </p:sp>
      <p:sp>
        <p:nvSpPr>
          <p:cNvPr id="30" name="Shape 28"/>
          <p:cNvSpPr/>
          <p:nvPr/>
        </p:nvSpPr>
        <p:spPr>
          <a:xfrm>
            <a:off x="6629400" y="3931920"/>
            <a:ext cx="4965192" cy="1005840"/>
          </a:xfrm>
          <a:prstGeom prst="rect">
            <a:avLst/>
          </a:prstGeom>
          <a:solidFill>
            <a:srgbClr val="EDEDF7"/>
          </a:solidFill>
          <a:ln w="9525">
            <a:solidFill>
              <a:srgbClr val="C9C9EA"/>
            </a:solidFill>
            <a:prstDash val="solid"/>
          </a:ln>
        </p:spPr>
      </p:sp>
      <p:sp>
        <p:nvSpPr>
          <p:cNvPr id="31" name="Shape 29"/>
          <p:cNvSpPr/>
          <p:nvPr/>
        </p:nvSpPr>
        <p:spPr>
          <a:xfrm>
            <a:off x="6629400" y="3931920"/>
            <a:ext cx="50292" cy="1005840"/>
          </a:xfrm>
          <a:prstGeom prst="rect">
            <a:avLst/>
          </a:prstGeom>
          <a:solidFill>
            <a:srgbClr val="3333B3"/>
          </a:solidFill>
          <a:ln w="12700">
            <a:solidFill>
              <a:srgbClr val="3333B3"/>
            </a:solidFill>
            <a:prstDash val="solid"/>
          </a:ln>
        </p:spPr>
      </p:sp>
      <p:sp>
        <p:nvSpPr>
          <p:cNvPr id="32" name="Shape 30"/>
          <p:cNvSpPr/>
          <p:nvPr/>
        </p:nvSpPr>
        <p:spPr>
          <a:xfrm>
            <a:off x="6830568" y="4251960"/>
            <a:ext cx="365760" cy="365760"/>
          </a:xfrm>
          <a:prstGeom prst="ellipse">
            <a:avLst/>
          </a:prstGeom>
          <a:solidFill>
            <a:srgbClr val="3333B3"/>
          </a:solidFill>
          <a:ln w="12700">
            <a:solidFill>
              <a:srgbClr val="3333B3"/>
            </a:solidFill>
            <a:prstDash val="solid"/>
          </a:ln>
        </p:spPr>
      </p:sp>
      <p:sp>
        <p:nvSpPr>
          <p:cNvPr id="33" name="Text 31"/>
          <p:cNvSpPr txBox="1"/>
          <p:nvPr/>
        </p:nvSpPr>
        <p:spPr>
          <a:xfrm>
            <a:off x="6830568" y="42519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34" name="Text 32"/>
          <p:cNvSpPr txBox="1"/>
          <p:nvPr/>
        </p:nvSpPr>
        <p:spPr>
          <a:xfrm>
            <a:off x="7360920" y="3931920"/>
            <a:ext cx="4014216" cy="1005840"/>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Formula fields do the arithmetic</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Quantity multiplied by rate, ageing in days, or a conditional colour on an overdue line.</a:t>
            </a:r>
            <a:endParaRPr lang="en-US" sz="1350" dirty="0"/>
          </a:p>
        </p:txBody>
      </p:sp>
      <p:sp>
        <p:nvSpPr>
          <p:cNvPr id="35" name="Shape 33"/>
          <p:cNvSpPr/>
          <p:nvPr/>
        </p:nvSpPr>
        <p:spPr>
          <a:xfrm>
            <a:off x="6629400" y="5065776"/>
            <a:ext cx="4965192" cy="1005840"/>
          </a:xfrm>
          <a:prstGeom prst="rect">
            <a:avLst/>
          </a:prstGeom>
          <a:solidFill>
            <a:srgbClr val="EDEDF7"/>
          </a:solidFill>
          <a:ln w="9525">
            <a:solidFill>
              <a:srgbClr val="C9C9EA"/>
            </a:solidFill>
            <a:prstDash val="solid"/>
          </a:ln>
        </p:spPr>
      </p:sp>
      <p:sp>
        <p:nvSpPr>
          <p:cNvPr id="36" name="Shape 34"/>
          <p:cNvSpPr/>
          <p:nvPr/>
        </p:nvSpPr>
        <p:spPr>
          <a:xfrm>
            <a:off x="6629400" y="5065776"/>
            <a:ext cx="50292" cy="1005840"/>
          </a:xfrm>
          <a:prstGeom prst="rect">
            <a:avLst/>
          </a:prstGeom>
          <a:solidFill>
            <a:srgbClr val="3333B3"/>
          </a:solidFill>
          <a:ln w="12700">
            <a:solidFill>
              <a:srgbClr val="3333B3"/>
            </a:solidFill>
            <a:prstDash val="solid"/>
          </a:ln>
        </p:spPr>
      </p:sp>
      <p:sp>
        <p:nvSpPr>
          <p:cNvPr id="37" name="Shape 35"/>
          <p:cNvSpPr/>
          <p:nvPr/>
        </p:nvSpPr>
        <p:spPr>
          <a:xfrm>
            <a:off x="6830568" y="5385816"/>
            <a:ext cx="365760" cy="365760"/>
          </a:xfrm>
          <a:prstGeom prst="ellipse">
            <a:avLst/>
          </a:prstGeom>
          <a:solidFill>
            <a:srgbClr val="3333B3"/>
          </a:solidFill>
          <a:ln w="12700">
            <a:solidFill>
              <a:srgbClr val="3333B3"/>
            </a:solidFill>
            <a:prstDash val="solid"/>
          </a:ln>
        </p:spPr>
      </p:sp>
      <p:sp>
        <p:nvSpPr>
          <p:cNvPr id="38" name="Text 36"/>
          <p:cNvSpPr txBox="1"/>
          <p:nvPr/>
        </p:nvSpPr>
        <p:spPr>
          <a:xfrm>
            <a:off x="6830568" y="538581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39" name="Text 37"/>
          <p:cNvSpPr txBox="1"/>
          <p:nvPr/>
        </p:nvSpPr>
        <p:spPr>
          <a:xfrm>
            <a:off x="7360920" y="5065776"/>
            <a:ext cx="4014216" cy="1005840"/>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Suppress rather than delete</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Bands and fields can be hidden conditionally — useful when one report serves two audiences.</a:t>
            </a:r>
            <a:endParaRPr lang="en-US" sz="1350" dirty="0"/>
          </a:p>
        </p:txBody>
      </p:sp>
      <p:sp>
        <p:nvSpPr>
          <p:cNvPr id="40" name="Shape 38"/>
          <p:cNvSpPr/>
          <p:nvPr/>
        </p:nvSpPr>
        <p:spPr>
          <a:xfrm>
            <a:off x="0" y="6400800"/>
            <a:ext cx="3840480" cy="457200"/>
          </a:xfrm>
          <a:prstGeom prst="rect">
            <a:avLst/>
          </a:prstGeom>
          <a:solidFill>
            <a:srgbClr val="22226B"/>
          </a:solidFill>
          <a:ln w="12700">
            <a:solidFill>
              <a:srgbClr val="22226B"/>
            </a:solidFill>
            <a:prstDash val="solid"/>
          </a:ln>
        </p:spPr>
      </p:sp>
      <p:sp>
        <p:nvSpPr>
          <p:cNvPr id="41" name="Text 39"/>
          <p:cNvSpPr txBox="1"/>
          <p:nvPr/>
        </p:nvSpPr>
        <p:spPr>
          <a:xfrm>
            <a:off x="164592" y="6400800"/>
            <a:ext cx="351129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HAL  ·  .NET, React &amp; SQL Programme</a:t>
            </a:r>
            <a:endParaRPr lang="en-US" sz="950" dirty="0"/>
          </a:p>
        </p:txBody>
      </p:sp>
      <p:sp>
        <p:nvSpPr>
          <p:cNvPr id="42" name="Shape 40"/>
          <p:cNvSpPr/>
          <p:nvPr/>
        </p:nvSpPr>
        <p:spPr>
          <a:xfrm>
            <a:off x="3840480" y="6400800"/>
            <a:ext cx="6675120" cy="457200"/>
          </a:xfrm>
          <a:prstGeom prst="rect">
            <a:avLst/>
          </a:prstGeom>
          <a:solidFill>
            <a:srgbClr val="3333B3"/>
          </a:solidFill>
          <a:ln w="12700">
            <a:solidFill>
              <a:srgbClr val="3333B3"/>
            </a:solidFill>
            <a:prstDash val="solid"/>
          </a:ln>
        </p:spPr>
      </p:sp>
      <p:sp>
        <p:nvSpPr>
          <p:cNvPr id="43" name="Text 41"/>
          <p:cNvSpPr txBox="1"/>
          <p:nvPr/>
        </p:nvSpPr>
        <p:spPr>
          <a:xfrm>
            <a:off x="4005072" y="6400800"/>
            <a:ext cx="634593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Day 3 · Session 1 — Crystal Reports Basics</a:t>
            </a:r>
            <a:endParaRPr lang="en-US" sz="950" dirty="0"/>
          </a:p>
        </p:txBody>
      </p:sp>
      <p:sp>
        <p:nvSpPr>
          <p:cNvPr id="44" name="Shape 42"/>
          <p:cNvSpPr/>
          <p:nvPr/>
        </p:nvSpPr>
        <p:spPr>
          <a:xfrm>
            <a:off x="10515600" y="6400800"/>
            <a:ext cx="1676095" cy="457200"/>
          </a:xfrm>
          <a:prstGeom prst="rect">
            <a:avLst/>
          </a:prstGeom>
          <a:solidFill>
            <a:srgbClr val="22226B"/>
          </a:solidFill>
          <a:ln w="12700">
            <a:solidFill>
              <a:srgbClr val="22226B"/>
            </a:solidFill>
            <a:prstDash val="solid"/>
          </a:ln>
        </p:spPr>
      </p:sp>
      <p:sp>
        <p:nvSpPr>
          <p:cNvPr id="45" name="Text 43"/>
          <p:cNvSpPr txBox="1"/>
          <p:nvPr/>
        </p:nvSpPr>
        <p:spPr>
          <a:xfrm>
            <a:off x="10680192" y="6400800"/>
            <a:ext cx="1346911" cy="457200"/>
          </a:xfrm>
          <a:prstGeom prst="rect">
            <a:avLst/>
          </a:prstGeom>
          <a:noFill/>
          <a:ln/>
        </p:spPr>
        <p:txBody>
          <a:bodyPr wrap="square" lIns="0" tIns="0" rIns="0" bIns="0" rtlCol="0" anchor="ctr"/>
          <a:lstStyle/>
          <a:p>
            <a:pPr algn="ctr" indent="0" marL="0">
              <a:buNone/>
            </a:pPr>
            <a:r>
              <a:rPr lang="en-US" sz="950" dirty="0">
                <a:solidFill>
                  <a:srgbClr val="FFFFFF"/>
                </a:solidFill>
                <a:latin typeface="Cambria" pitchFamily="34" charset="0"/>
                <a:ea typeface="Cambria" pitchFamily="34" charset="-122"/>
                <a:cs typeface="Cambria"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365760"/>
          </a:xfrm>
          <a:prstGeom prst="rect">
            <a:avLst/>
          </a:prstGeom>
          <a:solidFill>
            <a:srgbClr val="22226B"/>
          </a:solidFill>
          <a:ln w="12700">
            <a:solidFill>
              <a:srgbClr val="22226B"/>
            </a:solidFill>
            <a:prstDash val="solid"/>
          </a:ln>
        </p:spPr>
      </p:sp>
      <p:sp>
        <p:nvSpPr>
          <p:cNvPr id="3" name="Text 1"/>
          <p:cNvSpPr txBox="1"/>
          <p:nvPr/>
        </p:nvSpPr>
        <p:spPr>
          <a:xfrm>
            <a:off x="594360" y="0"/>
            <a:ext cx="11002975" cy="365760"/>
          </a:xfrm>
          <a:prstGeom prst="rect">
            <a:avLst/>
          </a:prstGeom>
          <a:noFill/>
          <a:ln/>
        </p:spPr>
        <p:txBody>
          <a:bodyPr wrap="square" lIns="0" tIns="0" rIns="0" bIns="0" rtlCol="0" anchor="ctr"/>
          <a:lstStyle/>
          <a:p>
            <a:pPr indent="0" marL="0">
              <a:buNone/>
            </a:pPr>
            <a:r>
              <a:rPr lang="en-US" sz="1000" b="1" spc="180" kern="0" dirty="0">
                <a:solidFill>
                  <a:srgbClr val="C9C9EA"/>
                </a:solidFill>
                <a:latin typeface="Cambria" pitchFamily="34" charset="0"/>
                <a:ea typeface="Cambria" pitchFamily="34" charset="-122"/>
                <a:cs typeface="Cambria" pitchFamily="34" charset="-120"/>
              </a:rPr>
              <a:t>GROUPING, SORTING AND TOTALS</a:t>
            </a:r>
            <a:endParaRPr lang="en-US" sz="1000" dirty="0"/>
          </a:p>
        </p:txBody>
      </p:sp>
      <p:sp>
        <p:nvSpPr>
          <p:cNvPr id="4" name="Shape 2"/>
          <p:cNvSpPr/>
          <p:nvPr/>
        </p:nvSpPr>
        <p:spPr>
          <a:xfrm>
            <a:off x="0" y="365760"/>
            <a:ext cx="12191695" cy="841248"/>
          </a:xfrm>
          <a:prstGeom prst="rect">
            <a:avLst/>
          </a:prstGeom>
          <a:solidFill>
            <a:srgbClr val="3333B3"/>
          </a:solidFill>
          <a:ln w="12700">
            <a:solidFill>
              <a:srgbClr val="3333B3"/>
            </a:solidFill>
            <a:prstDash val="solid"/>
          </a:ln>
        </p:spPr>
      </p:sp>
      <p:sp>
        <p:nvSpPr>
          <p:cNvPr id="5" name="Text 3"/>
          <p:cNvSpPr txBox="1"/>
          <p:nvPr/>
        </p:nvSpPr>
        <p:spPr>
          <a:xfrm>
            <a:off x="594360" y="365760"/>
            <a:ext cx="11002975" cy="84124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Where a report earns its keep</a:t>
            </a:r>
            <a:endParaRPr lang="en-US" sz="2600" dirty="0"/>
          </a:p>
        </p:txBody>
      </p:sp>
      <p:sp>
        <p:nvSpPr>
          <p:cNvPr id="6" name="Shape 4"/>
          <p:cNvSpPr/>
          <p:nvPr/>
        </p:nvSpPr>
        <p:spPr>
          <a:xfrm>
            <a:off x="594360" y="1627632"/>
            <a:ext cx="5806440" cy="2532888"/>
          </a:xfrm>
          <a:prstGeom prst="rect">
            <a:avLst/>
          </a:prstGeom>
          <a:solidFill>
            <a:srgbClr val="F4F4FA"/>
          </a:solidFill>
          <a:ln w="9525">
            <a:solidFill>
              <a:srgbClr val="C9C9EA"/>
            </a:solidFill>
            <a:prstDash val="solid"/>
          </a:ln>
        </p:spPr>
      </p:sp>
      <p:sp>
        <p:nvSpPr>
          <p:cNvPr id="7" name="Text 5"/>
          <p:cNvSpPr txBox="1"/>
          <p:nvPr/>
        </p:nvSpPr>
        <p:spPr>
          <a:xfrm>
            <a:off x="813816" y="1783080"/>
            <a:ext cx="5367528" cy="219456"/>
          </a:xfrm>
          <a:prstGeom prst="rect">
            <a:avLst/>
          </a:prstGeom>
          <a:noFill/>
          <a:ln/>
        </p:spPr>
        <p:txBody>
          <a:bodyPr wrap="square" lIns="0" tIns="0" rIns="0" bIns="0" rtlCol="0" anchor="ctr"/>
          <a:lstStyle/>
          <a:p>
            <a:pPr indent="0" marL="0">
              <a:buNone/>
            </a:pPr>
            <a:r>
              <a:rPr lang="en-US" sz="950" b="1" spc="140" kern="0" dirty="0">
                <a:solidFill>
                  <a:srgbClr val="3333B3"/>
                </a:solidFill>
                <a:latin typeface="Cambria" pitchFamily="34" charset="0"/>
                <a:ea typeface="Cambria" pitchFamily="34" charset="-122"/>
                <a:cs typeface="Cambria" pitchFamily="34" charset="-120"/>
              </a:rPr>
              <a:t>WHAT THE BANDS PRODUCE</a:t>
            </a:r>
            <a:endParaRPr lang="en-US" sz="950" dirty="0"/>
          </a:p>
        </p:txBody>
      </p:sp>
      <p:sp>
        <p:nvSpPr>
          <p:cNvPr id="8" name="Text 6"/>
          <p:cNvSpPr txBox="1"/>
          <p:nvPr/>
        </p:nvSpPr>
        <p:spPr>
          <a:xfrm>
            <a:off x="813816" y="2075688"/>
            <a:ext cx="5367528" cy="1956816"/>
          </a:xfrm>
          <a:prstGeom prst="rect">
            <a:avLst/>
          </a:prstGeom>
          <a:noFill/>
          <a:ln/>
        </p:spPr>
        <p:txBody>
          <a:bodyPr wrap="square" lIns="0" tIns="0" rIns="0" bIns="0" rtlCol="0" anchor="t"/>
          <a:lstStyle/>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Group Header: Store BAY-2</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Details: HAL-4471   Hydraulic seal    12</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Details: HAL-9002   Filter element     4</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Group Footer: Subtotal          16</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Group Header: Store BAY-7</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Details: HAL-3310   O-ring            30</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Group Footer: Subtotal          30</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Report Footer: Grand total       46</a:t>
            </a:r>
            <a:endParaRPr lang="en-US" sz="1050" dirty="0"/>
          </a:p>
        </p:txBody>
      </p:sp>
      <p:sp>
        <p:nvSpPr>
          <p:cNvPr id="9" name="Shape 7"/>
          <p:cNvSpPr/>
          <p:nvPr/>
        </p:nvSpPr>
        <p:spPr>
          <a:xfrm>
            <a:off x="594360" y="4096512"/>
            <a:ext cx="5806440" cy="402336"/>
          </a:xfrm>
          <a:prstGeom prst="rect">
            <a:avLst/>
          </a:prstGeom>
          <a:solidFill>
            <a:srgbClr val="3333B3"/>
          </a:solidFill>
          <a:ln w="12700">
            <a:solidFill>
              <a:srgbClr val="3333B3"/>
            </a:solidFill>
            <a:prstDash val="solid"/>
          </a:ln>
        </p:spPr>
      </p:sp>
      <p:sp>
        <p:nvSpPr>
          <p:cNvPr id="10" name="Text 8"/>
          <p:cNvSpPr txBox="1"/>
          <p:nvPr/>
        </p:nvSpPr>
        <p:spPr>
          <a:xfrm>
            <a:off x="777240" y="4096512"/>
            <a:ext cx="5440680" cy="402336"/>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Summaries, not manual arithmetic</a:t>
            </a:r>
            <a:endParaRPr lang="en-US" sz="1450" dirty="0"/>
          </a:p>
        </p:txBody>
      </p:sp>
      <p:sp>
        <p:nvSpPr>
          <p:cNvPr id="11" name="Shape 9"/>
          <p:cNvSpPr/>
          <p:nvPr/>
        </p:nvSpPr>
        <p:spPr>
          <a:xfrm>
            <a:off x="594360" y="4498848"/>
            <a:ext cx="5806440" cy="1444752"/>
          </a:xfrm>
          <a:prstGeom prst="rect">
            <a:avLst/>
          </a:prstGeom>
          <a:solidFill>
            <a:srgbClr val="F4F4FA"/>
          </a:solidFill>
          <a:ln w="9525">
            <a:solidFill>
              <a:srgbClr val="C9C9EA"/>
            </a:solidFill>
            <a:prstDash val="solid"/>
          </a:ln>
        </p:spPr>
      </p:sp>
      <p:sp>
        <p:nvSpPr>
          <p:cNvPr id="12" name="Text 10"/>
          <p:cNvSpPr txBox="1"/>
          <p:nvPr/>
        </p:nvSpPr>
        <p:spPr>
          <a:xfrm>
            <a:off x="813816" y="4645152"/>
            <a:ext cx="5367528" cy="1170432"/>
          </a:xfrm>
          <a:prstGeom prst="rect">
            <a:avLst/>
          </a:prstGeom>
          <a:noFill/>
          <a:ln/>
        </p:spPr>
        <p:txBody>
          <a:bodyPr wrap="square" lIns="0" tIns="0" rIns="0" bIns="0" rtlCol="0" anchor="t"/>
          <a:lstStyle/>
          <a:p>
            <a:pPr indent="0" marL="0">
              <a:lnSpc>
                <a:spcPts val="1553"/>
              </a:lnSpc>
              <a:buNone/>
            </a:pPr>
            <a:r>
              <a:rPr lang="en-US" sz="1150" dirty="0">
                <a:solidFill>
                  <a:srgbClr val="3E3E5A"/>
                </a:solidFill>
                <a:latin typeface="Cambria" pitchFamily="34" charset="0"/>
                <a:ea typeface="Cambria" pitchFamily="34" charset="-122"/>
                <a:cs typeface="Cambria" pitchFamily="34" charset="-120"/>
              </a:rPr>
              <a:t>Insert a summary on a field and Crystal maintains it per group and per report. Never compute a total in a formula field that the engine can compute for you.</a:t>
            </a:r>
            <a:endParaRPr lang="en-US" sz="1150" dirty="0"/>
          </a:p>
        </p:txBody>
      </p:sp>
      <p:sp>
        <p:nvSpPr>
          <p:cNvPr id="13" name="Shape 11"/>
          <p:cNvSpPr/>
          <p:nvPr/>
        </p:nvSpPr>
        <p:spPr>
          <a:xfrm>
            <a:off x="6629400" y="1627632"/>
            <a:ext cx="4965192" cy="1024128"/>
          </a:xfrm>
          <a:prstGeom prst="rect">
            <a:avLst/>
          </a:prstGeom>
          <a:solidFill>
            <a:srgbClr val="EDEDF7"/>
          </a:solidFill>
          <a:ln w="9525">
            <a:solidFill>
              <a:srgbClr val="C9C9EA"/>
            </a:solidFill>
            <a:prstDash val="solid"/>
          </a:ln>
        </p:spPr>
      </p:sp>
      <p:sp>
        <p:nvSpPr>
          <p:cNvPr id="14" name="Shape 12"/>
          <p:cNvSpPr/>
          <p:nvPr/>
        </p:nvSpPr>
        <p:spPr>
          <a:xfrm>
            <a:off x="6629400" y="1627632"/>
            <a:ext cx="50292" cy="1024128"/>
          </a:xfrm>
          <a:prstGeom prst="rect">
            <a:avLst/>
          </a:prstGeom>
          <a:solidFill>
            <a:srgbClr val="3333B3"/>
          </a:solidFill>
          <a:ln w="12700">
            <a:solidFill>
              <a:srgbClr val="3333B3"/>
            </a:solidFill>
            <a:prstDash val="solid"/>
          </a:ln>
        </p:spPr>
      </p:sp>
      <p:sp>
        <p:nvSpPr>
          <p:cNvPr id="15" name="Shape 13"/>
          <p:cNvSpPr/>
          <p:nvPr/>
        </p:nvSpPr>
        <p:spPr>
          <a:xfrm>
            <a:off x="6830568" y="1956816"/>
            <a:ext cx="365760" cy="365760"/>
          </a:xfrm>
          <a:prstGeom prst="ellipse">
            <a:avLst/>
          </a:prstGeom>
          <a:solidFill>
            <a:srgbClr val="3333B3"/>
          </a:solidFill>
          <a:ln w="12700">
            <a:solidFill>
              <a:srgbClr val="3333B3"/>
            </a:solidFill>
            <a:prstDash val="solid"/>
          </a:ln>
        </p:spPr>
      </p:sp>
      <p:sp>
        <p:nvSpPr>
          <p:cNvPr id="16" name="Text 14"/>
          <p:cNvSpPr txBox="1"/>
          <p:nvPr/>
        </p:nvSpPr>
        <p:spPr>
          <a:xfrm>
            <a:off x="6830568" y="195681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7" name="Text 15"/>
          <p:cNvSpPr txBox="1"/>
          <p:nvPr/>
        </p:nvSpPr>
        <p:spPr>
          <a:xfrm>
            <a:off x="7360920" y="1627632"/>
            <a:ext cx="4014216" cy="1024128"/>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Group on what the reader scans for</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Store, month, aircraft type. The grouping is the report's argument.</a:t>
            </a:r>
            <a:endParaRPr lang="en-US" sz="1350" dirty="0"/>
          </a:p>
        </p:txBody>
      </p:sp>
      <p:sp>
        <p:nvSpPr>
          <p:cNvPr id="18" name="Shape 16"/>
          <p:cNvSpPr/>
          <p:nvPr/>
        </p:nvSpPr>
        <p:spPr>
          <a:xfrm>
            <a:off x="6629400" y="2779776"/>
            <a:ext cx="4965192" cy="1024128"/>
          </a:xfrm>
          <a:prstGeom prst="rect">
            <a:avLst/>
          </a:prstGeom>
          <a:solidFill>
            <a:srgbClr val="EDEDF7"/>
          </a:solidFill>
          <a:ln w="9525">
            <a:solidFill>
              <a:srgbClr val="C9C9EA"/>
            </a:solidFill>
            <a:prstDash val="solid"/>
          </a:ln>
        </p:spPr>
      </p:sp>
      <p:sp>
        <p:nvSpPr>
          <p:cNvPr id="19" name="Shape 17"/>
          <p:cNvSpPr/>
          <p:nvPr/>
        </p:nvSpPr>
        <p:spPr>
          <a:xfrm>
            <a:off x="6629400" y="2779776"/>
            <a:ext cx="50292" cy="1024128"/>
          </a:xfrm>
          <a:prstGeom prst="rect">
            <a:avLst/>
          </a:prstGeom>
          <a:solidFill>
            <a:srgbClr val="3333B3"/>
          </a:solidFill>
          <a:ln w="12700">
            <a:solidFill>
              <a:srgbClr val="3333B3"/>
            </a:solidFill>
            <a:prstDash val="solid"/>
          </a:ln>
        </p:spPr>
      </p:sp>
      <p:sp>
        <p:nvSpPr>
          <p:cNvPr id="20" name="Shape 18"/>
          <p:cNvSpPr/>
          <p:nvPr/>
        </p:nvSpPr>
        <p:spPr>
          <a:xfrm>
            <a:off x="6830568" y="3108960"/>
            <a:ext cx="365760" cy="365760"/>
          </a:xfrm>
          <a:prstGeom prst="ellipse">
            <a:avLst/>
          </a:prstGeom>
          <a:solidFill>
            <a:srgbClr val="3333B3"/>
          </a:solidFill>
          <a:ln w="12700">
            <a:solidFill>
              <a:srgbClr val="3333B3"/>
            </a:solidFill>
            <a:prstDash val="solid"/>
          </a:ln>
        </p:spPr>
      </p:sp>
      <p:sp>
        <p:nvSpPr>
          <p:cNvPr id="21" name="Text 19"/>
          <p:cNvSpPr txBox="1"/>
          <p:nvPr/>
        </p:nvSpPr>
        <p:spPr>
          <a:xfrm>
            <a:off x="6830568" y="31089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22" name="Text 20"/>
          <p:cNvSpPr txBox="1"/>
          <p:nvPr/>
        </p:nvSpPr>
        <p:spPr>
          <a:xfrm>
            <a:off x="7360920" y="2779776"/>
            <a:ext cx="4014216" cy="1024128"/>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Sort inside the group deliberately</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Highest consumption first is usually more useful than alphabetical.</a:t>
            </a:r>
            <a:endParaRPr lang="en-US" sz="1350" dirty="0"/>
          </a:p>
        </p:txBody>
      </p:sp>
      <p:sp>
        <p:nvSpPr>
          <p:cNvPr id="23" name="Shape 21"/>
          <p:cNvSpPr/>
          <p:nvPr/>
        </p:nvSpPr>
        <p:spPr>
          <a:xfrm>
            <a:off x="6629400" y="3931920"/>
            <a:ext cx="4965192" cy="1024128"/>
          </a:xfrm>
          <a:prstGeom prst="rect">
            <a:avLst/>
          </a:prstGeom>
          <a:solidFill>
            <a:srgbClr val="EDEDF7"/>
          </a:solidFill>
          <a:ln w="9525">
            <a:solidFill>
              <a:srgbClr val="C9C9EA"/>
            </a:solidFill>
            <a:prstDash val="solid"/>
          </a:ln>
        </p:spPr>
      </p:sp>
      <p:sp>
        <p:nvSpPr>
          <p:cNvPr id="24" name="Shape 22"/>
          <p:cNvSpPr/>
          <p:nvPr/>
        </p:nvSpPr>
        <p:spPr>
          <a:xfrm>
            <a:off x="6629400" y="3931920"/>
            <a:ext cx="50292" cy="1024128"/>
          </a:xfrm>
          <a:prstGeom prst="rect">
            <a:avLst/>
          </a:prstGeom>
          <a:solidFill>
            <a:srgbClr val="3333B3"/>
          </a:solidFill>
          <a:ln w="12700">
            <a:solidFill>
              <a:srgbClr val="3333B3"/>
            </a:solidFill>
            <a:prstDash val="solid"/>
          </a:ln>
        </p:spPr>
      </p:sp>
      <p:sp>
        <p:nvSpPr>
          <p:cNvPr id="25" name="Shape 23"/>
          <p:cNvSpPr/>
          <p:nvPr/>
        </p:nvSpPr>
        <p:spPr>
          <a:xfrm>
            <a:off x="6830568" y="4261104"/>
            <a:ext cx="365760" cy="365760"/>
          </a:xfrm>
          <a:prstGeom prst="ellipse">
            <a:avLst/>
          </a:prstGeom>
          <a:solidFill>
            <a:srgbClr val="3333B3"/>
          </a:solidFill>
          <a:ln w="12700">
            <a:solidFill>
              <a:srgbClr val="3333B3"/>
            </a:solidFill>
            <a:prstDash val="solid"/>
          </a:ln>
        </p:spPr>
      </p:sp>
      <p:sp>
        <p:nvSpPr>
          <p:cNvPr id="26" name="Text 24"/>
          <p:cNvSpPr txBox="1"/>
          <p:nvPr/>
        </p:nvSpPr>
        <p:spPr>
          <a:xfrm>
            <a:off x="6830568" y="426110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7" name="Text 25"/>
          <p:cNvSpPr txBox="1"/>
          <p:nvPr/>
        </p:nvSpPr>
        <p:spPr>
          <a:xfrm>
            <a:off x="7360920" y="3931920"/>
            <a:ext cx="4014216" cy="1024128"/>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Show subtotals and a grand total</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A reader must be able to check the arithmetic. If they cannot, they will not trust the report.</a:t>
            </a:r>
            <a:endParaRPr lang="en-US" sz="1350" dirty="0"/>
          </a:p>
        </p:txBody>
      </p:sp>
      <p:sp>
        <p:nvSpPr>
          <p:cNvPr id="28" name="Shape 26"/>
          <p:cNvSpPr/>
          <p:nvPr/>
        </p:nvSpPr>
        <p:spPr>
          <a:xfrm>
            <a:off x="6629400" y="5084064"/>
            <a:ext cx="4965192" cy="1024128"/>
          </a:xfrm>
          <a:prstGeom prst="rect">
            <a:avLst/>
          </a:prstGeom>
          <a:solidFill>
            <a:srgbClr val="EDEDF7"/>
          </a:solidFill>
          <a:ln w="9525">
            <a:solidFill>
              <a:srgbClr val="C9C9EA"/>
            </a:solidFill>
            <a:prstDash val="solid"/>
          </a:ln>
        </p:spPr>
      </p:sp>
      <p:sp>
        <p:nvSpPr>
          <p:cNvPr id="29" name="Shape 27"/>
          <p:cNvSpPr/>
          <p:nvPr/>
        </p:nvSpPr>
        <p:spPr>
          <a:xfrm>
            <a:off x="6629400" y="5084064"/>
            <a:ext cx="50292" cy="1024128"/>
          </a:xfrm>
          <a:prstGeom prst="rect">
            <a:avLst/>
          </a:prstGeom>
          <a:solidFill>
            <a:srgbClr val="3333B3"/>
          </a:solidFill>
          <a:ln w="12700">
            <a:solidFill>
              <a:srgbClr val="3333B3"/>
            </a:solidFill>
            <a:prstDash val="solid"/>
          </a:ln>
        </p:spPr>
      </p:sp>
      <p:sp>
        <p:nvSpPr>
          <p:cNvPr id="30" name="Shape 28"/>
          <p:cNvSpPr/>
          <p:nvPr/>
        </p:nvSpPr>
        <p:spPr>
          <a:xfrm>
            <a:off x="6830568" y="5413248"/>
            <a:ext cx="365760" cy="365760"/>
          </a:xfrm>
          <a:prstGeom prst="ellipse">
            <a:avLst/>
          </a:prstGeom>
          <a:solidFill>
            <a:srgbClr val="3333B3"/>
          </a:solidFill>
          <a:ln w="12700">
            <a:solidFill>
              <a:srgbClr val="3333B3"/>
            </a:solidFill>
            <a:prstDash val="solid"/>
          </a:ln>
        </p:spPr>
      </p:sp>
      <p:sp>
        <p:nvSpPr>
          <p:cNvPr id="31" name="Text 29"/>
          <p:cNvSpPr txBox="1"/>
          <p:nvPr/>
        </p:nvSpPr>
        <p:spPr>
          <a:xfrm>
            <a:off x="6830568" y="54132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32" name="Text 30"/>
          <p:cNvSpPr txBox="1"/>
          <p:nvPr/>
        </p:nvSpPr>
        <p:spPr>
          <a:xfrm>
            <a:off x="7360920" y="5084064"/>
            <a:ext cx="4014216" cy="1024128"/>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Conditional formatting sparingly</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One highlight colour for the exception. Five colours means none of them mean anything.</a:t>
            </a:r>
            <a:endParaRPr lang="en-US" sz="1350" dirty="0"/>
          </a:p>
        </p:txBody>
      </p:sp>
      <p:sp>
        <p:nvSpPr>
          <p:cNvPr id="33" name="Shape 31"/>
          <p:cNvSpPr/>
          <p:nvPr/>
        </p:nvSpPr>
        <p:spPr>
          <a:xfrm>
            <a:off x="0" y="6400800"/>
            <a:ext cx="3840480" cy="457200"/>
          </a:xfrm>
          <a:prstGeom prst="rect">
            <a:avLst/>
          </a:prstGeom>
          <a:solidFill>
            <a:srgbClr val="22226B"/>
          </a:solidFill>
          <a:ln w="12700">
            <a:solidFill>
              <a:srgbClr val="22226B"/>
            </a:solidFill>
            <a:prstDash val="solid"/>
          </a:ln>
        </p:spPr>
      </p:sp>
      <p:sp>
        <p:nvSpPr>
          <p:cNvPr id="34" name="Text 32"/>
          <p:cNvSpPr txBox="1"/>
          <p:nvPr/>
        </p:nvSpPr>
        <p:spPr>
          <a:xfrm>
            <a:off x="164592" y="6400800"/>
            <a:ext cx="351129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HAL  ·  .NET, React &amp; SQL Programme</a:t>
            </a:r>
            <a:endParaRPr lang="en-US" sz="950" dirty="0"/>
          </a:p>
        </p:txBody>
      </p:sp>
      <p:sp>
        <p:nvSpPr>
          <p:cNvPr id="35" name="Shape 33"/>
          <p:cNvSpPr/>
          <p:nvPr/>
        </p:nvSpPr>
        <p:spPr>
          <a:xfrm>
            <a:off x="3840480" y="6400800"/>
            <a:ext cx="6675120" cy="457200"/>
          </a:xfrm>
          <a:prstGeom prst="rect">
            <a:avLst/>
          </a:prstGeom>
          <a:solidFill>
            <a:srgbClr val="3333B3"/>
          </a:solidFill>
          <a:ln w="12700">
            <a:solidFill>
              <a:srgbClr val="3333B3"/>
            </a:solidFill>
            <a:prstDash val="solid"/>
          </a:ln>
        </p:spPr>
      </p:sp>
      <p:sp>
        <p:nvSpPr>
          <p:cNvPr id="36" name="Text 34"/>
          <p:cNvSpPr txBox="1"/>
          <p:nvPr/>
        </p:nvSpPr>
        <p:spPr>
          <a:xfrm>
            <a:off x="4005072" y="6400800"/>
            <a:ext cx="634593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Day 3 · Session 1 — Crystal Reports Basics</a:t>
            </a:r>
            <a:endParaRPr lang="en-US" sz="950" dirty="0"/>
          </a:p>
        </p:txBody>
      </p:sp>
      <p:sp>
        <p:nvSpPr>
          <p:cNvPr id="37" name="Shape 35"/>
          <p:cNvSpPr/>
          <p:nvPr/>
        </p:nvSpPr>
        <p:spPr>
          <a:xfrm>
            <a:off x="10515600" y="6400800"/>
            <a:ext cx="1676095" cy="457200"/>
          </a:xfrm>
          <a:prstGeom prst="rect">
            <a:avLst/>
          </a:prstGeom>
          <a:solidFill>
            <a:srgbClr val="22226B"/>
          </a:solidFill>
          <a:ln w="12700">
            <a:solidFill>
              <a:srgbClr val="22226B"/>
            </a:solidFill>
            <a:prstDash val="solid"/>
          </a:ln>
        </p:spPr>
      </p:sp>
      <p:sp>
        <p:nvSpPr>
          <p:cNvPr id="38" name="Text 36"/>
          <p:cNvSpPr txBox="1"/>
          <p:nvPr/>
        </p:nvSpPr>
        <p:spPr>
          <a:xfrm>
            <a:off x="10680192" y="6400800"/>
            <a:ext cx="1346911" cy="457200"/>
          </a:xfrm>
          <a:prstGeom prst="rect">
            <a:avLst/>
          </a:prstGeom>
          <a:noFill/>
          <a:ln/>
        </p:spPr>
        <p:txBody>
          <a:bodyPr wrap="square" lIns="0" tIns="0" rIns="0" bIns="0" rtlCol="0" anchor="ctr"/>
          <a:lstStyle/>
          <a:p>
            <a:pPr algn="ctr" indent="0" marL="0">
              <a:buNone/>
            </a:pPr>
            <a:r>
              <a:rPr lang="en-US" sz="950" dirty="0">
                <a:solidFill>
                  <a:srgbClr val="FFFFFF"/>
                </a:solidFill>
                <a:latin typeface="Cambria" pitchFamily="34" charset="0"/>
                <a:ea typeface="Cambria" pitchFamily="34" charset="-122"/>
                <a:cs typeface="Cambria"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365760"/>
          </a:xfrm>
          <a:prstGeom prst="rect">
            <a:avLst/>
          </a:prstGeom>
          <a:solidFill>
            <a:srgbClr val="22226B"/>
          </a:solidFill>
          <a:ln w="12700">
            <a:solidFill>
              <a:srgbClr val="22226B"/>
            </a:solidFill>
            <a:prstDash val="solid"/>
          </a:ln>
        </p:spPr>
      </p:sp>
      <p:sp>
        <p:nvSpPr>
          <p:cNvPr id="3" name="Text 1"/>
          <p:cNvSpPr txBox="1"/>
          <p:nvPr/>
        </p:nvSpPr>
        <p:spPr>
          <a:xfrm>
            <a:off x="594360" y="0"/>
            <a:ext cx="11002975" cy="365760"/>
          </a:xfrm>
          <a:prstGeom prst="rect">
            <a:avLst/>
          </a:prstGeom>
          <a:noFill/>
          <a:ln/>
        </p:spPr>
        <p:txBody>
          <a:bodyPr wrap="square" lIns="0" tIns="0" rIns="0" bIns="0" rtlCol="0" anchor="ctr"/>
          <a:lstStyle/>
          <a:p>
            <a:pPr indent="0" marL="0">
              <a:buNone/>
            </a:pPr>
            <a:r>
              <a:rPr lang="en-US" sz="1000" b="1" spc="180" kern="0" dirty="0">
                <a:solidFill>
                  <a:srgbClr val="C9C9EA"/>
                </a:solidFill>
                <a:latin typeface="Cambria" pitchFamily="34" charset="0"/>
                <a:ea typeface="Cambria" pitchFamily="34" charset="-122"/>
                <a:cs typeface="Cambria" pitchFamily="34" charset="-120"/>
              </a:rPr>
              <a:t>FORMULAS AND SELECTION</a:t>
            </a:r>
            <a:endParaRPr lang="en-US" sz="1000" dirty="0"/>
          </a:p>
        </p:txBody>
      </p:sp>
      <p:sp>
        <p:nvSpPr>
          <p:cNvPr id="4" name="Shape 2"/>
          <p:cNvSpPr/>
          <p:nvPr/>
        </p:nvSpPr>
        <p:spPr>
          <a:xfrm>
            <a:off x="0" y="365760"/>
            <a:ext cx="12191695" cy="841248"/>
          </a:xfrm>
          <a:prstGeom prst="rect">
            <a:avLst/>
          </a:prstGeom>
          <a:solidFill>
            <a:srgbClr val="3333B3"/>
          </a:solidFill>
          <a:ln w="12700">
            <a:solidFill>
              <a:srgbClr val="3333B3"/>
            </a:solidFill>
            <a:prstDash val="solid"/>
          </a:ln>
        </p:spPr>
      </p:sp>
      <p:sp>
        <p:nvSpPr>
          <p:cNvPr id="5" name="Text 3"/>
          <p:cNvSpPr txBox="1"/>
          <p:nvPr/>
        </p:nvSpPr>
        <p:spPr>
          <a:xfrm>
            <a:off x="594360" y="365760"/>
            <a:ext cx="11002975" cy="84124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 little logic, in the right place</a:t>
            </a:r>
            <a:endParaRPr lang="en-US" sz="2600" dirty="0"/>
          </a:p>
        </p:txBody>
      </p:sp>
      <p:sp>
        <p:nvSpPr>
          <p:cNvPr id="6" name="Shape 4"/>
          <p:cNvSpPr/>
          <p:nvPr/>
        </p:nvSpPr>
        <p:spPr>
          <a:xfrm>
            <a:off x="594360" y="1627632"/>
            <a:ext cx="5806440" cy="1408176"/>
          </a:xfrm>
          <a:prstGeom prst="rect">
            <a:avLst/>
          </a:prstGeom>
          <a:solidFill>
            <a:srgbClr val="F4F4FA"/>
          </a:solidFill>
          <a:ln w="9525">
            <a:solidFill>
              <a:srgbClr val="C9C9EA"/>
            </a:solidFill>
            <a:prstDash val="solid"/>
          </a:ln>
        </p:spPr>
      </p:sp>
      <p:sp>
        <p:nvSpPr>
          <p:cNvPr id="7" name="Text 5"/>
          <p:cNvSpPr txBox="1"/>
          <p:nvPr/>
        </p:nvSpPr>
        <p:spPr>
          <a:xfrm>
            <a:off x="813816" y="1783080"/>
            <a:ext cx="5367528" cy="219456"/>
          </a:xfrm>
          <a:prstGeom prst="rect">
            <a:avLst/>
          </a:prstGeom>
          <a:noFill/>
          <a:ln/>
        </p:spPr>
        <p:txBody>
          <a:bodyPr wrap="square" lIns="0" tIns="0" rIns="0" bIns="0" rtlCol="0" anchor="ctr"/>
          <a:lstStyle/>
          <a:p>
            <a:pPr indent="0" marL="0">
              <a:buNone/>
            </a:pPr>
            <a:r>
              <a:rPr lang="en-US" sz="950" b="1" spc="140" kern="0" dirty="0">
                <a:solidFill>
                  <a:srgbClr val="3333B3"/>
                </a:solidFill>
                <a:latin typeface="Cambria" pitchFamily="34" charset="0"/>
                <a:ea typeface="Cambria" pitchFamily="34" charset="-122"/>
                <a:cs typeface="Cambria" pitchFamily="34" charset="-120"/>
              </a:rPr>
              <a:t>FORMULA FIELD — A COMPUTED COLUMN</a:t>
            </a:r>
            <a:endParaRPr lang="en-US" sz="950" dirty="0"/>
          </a:p>
        </p:txBody>
      </p:sp>
      <p:sp>
        <p:nvSpPr>
          <p:cNvPr id="8" name="Text 6"/>
          <p:cNvSpPr txBox="1"/>
          <p:nvPr/>
        </p:nvSpPr>
        <p:spPr>
          <a:xfrm>
            <a:off x="813816" y="2075688"/>
            <a:ext cx="5367528" cy="832104"/>
          </a:xfrm>
          <a:prstGeom prst="rect">
            <a:avLst/>
          </a:prstGeom>
          <a:noFill/>
          <a:ln/>
        </p:spPr>
        <p:txBody>
          <a:bodyPr wrap="square" lIns="0" tIns="0" rIns="0" bIns="0" rtlCol="0" anchor="t"/>
          <a:lstStyle/>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Crystal syntax</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if {Parts.Quantity} &lt; {Parts.ReorderLevel}</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then "REORDER"</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else "OK"</a:t>
            </a:r>
            <a:endParaRPr lang="en-US" sz="1050" dirty="0"/>
          </a:p>
        </p:txBody>
      </p:sp>
      <p:sp>
        <p:nvSpPr>
          <p:cNvPr id="9" name="Shape 7"/>
          <p:cNvSpPr/>
          <p:nvPr/>
        </p:nvSpPr>
        <p:spPr>
          <a:xfrm>
            <a:off x="594360" y="3200400"/>
            <a:ext cx="5806440" cy="1408176"/>
          </a:xfrm>
          <a:prstGeom prst="rect">
            <a:avLst/>
          </a:prstGeom>
          <a:solidFill>
            <a:srgbClr val="F4F4FA"/>
          </a:solidFill>
          <a:ln w="9525">
            <a:solidFill>
              <a:srgbClr val="C9C9EA"/>
            </a:solidFill>
            <a:prstDash val="solid"/>
          </a:ln>
        </p:spPr>
      </p:sp>
      <p:sp>
        <p:nvSpPr>
          <p:cNvPr id="10" name="Text 8"/>
          <p:cNvSpPr txBox="1"/>
          <p:nvPr/>
        </p:nvSpPr>
        <p:spPr>
          <a:xfrm>
            <a:off x="813816" y="3355848"/>
            <a:ext cx="5367528" cy="219456"/>
          </a:xfrm>
          <a:prstGeom prst="rect">
            <a:avLst/>
          </a:prstGeom>
          <a:noFill/>
          <a:ln/>
        </p:spPr>
        <p:txBody>
          <a:bodyPr wrap="square" lIns="0" tIns="0" rIns="0" bIns="0" rtlCol="0" anchor="ctr"/>
          <a:lstStyle/>
          <a:p>
            <a:pPr indent="0" marL="0">
              <a:buNone/>
            </a:pPr>
            <a:r>
              <a:rPr lang="en-US" sz="950" b="1" spc="140" kern="0" dirty="0">
                <a:solidFill>
                  <a:srgbClr val="3333B3"/>
                </a:solidFill>
                <a:latin typeface="Cambria" pitchFamily="34" charset="0"/>
                <a:ea typeface="Cambria" pitchFamily="34" charset="-122"/>
                <a:cs typeface="Cambria" pitchFamily="34" charset="-120"/>
              </a:rPr>
              <a:t>SELECTION FORMULA — A FILTER</a:t>
            </a:r>
            <a:endParaRPr lang="en-US" sz="950" dirty="0"/>
          </a:p>
        </p:txBody>
      </p:sp>
      <p:sp>
        <p:nvSpPr>
          <p:cNvPr id="11" name="Text 9"/>
          <p:cNvSpPr txBox="1"/>
          <p:nvPr/>
        </p:nvSpPr>
        <p:spPr>
          <a:xfrm>
            <a:off x="813816" y="3648456"/>
            <a:ext cx="5367528" cy="832104"/>
          </a:xfrm>
          <a:prstGeom prst="rect">
            <a:avLst/>
          </a:prstGeom>
          <a:noFill/>
          <a:ln/>
        </p:spPr>
        <p:txBody>
          <a:bodyPr wrap="square" lIns="0" tIns="0" rIns="0" bIns="0" rtlCol="0" anchor="t"/>
          <a:lstStyle/>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{Issues.IssuedOn} in {?FromDate} to {?ToDate}</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and {Parts.StoreCode} = {?StoreCode}</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{?Name} is a parameter</a:t>
            </a:r>
            <a:endParaRPr lang="en-US" sz="1050" dirty="0"/>
          </a:p>
        </p:txBody>
      </p:sp>
      <p:sp>
        <p:nvSpPr>
          <p:cNvPr id="12" name="Shape 10"/>
          <p:cNvSpPr/>
          <p:nvPr/>
        </p:nvSpPr>
        <p:spPr>
          <a:xfrm>
            <a:off x="6629400" y="1627632"/>
            <a:ext cx="4965192" cy="1024128"/>
          </a:xfrm>
          <a:prstGeom prst="rect">
            <a:avLst/>
          </a:prstGeom>
          <a:solidFill>
            <a:srgbClr val="EDEDF7"/>
          </a:solidFill>
          <a:ln w="9525">
            <a:solidFill>
              <a:srgbClr val="C9C9EA"/>
            </a:solidFill>
            <a:prstDash val="solid"/>
          </a:ln>
        </p:spPr>
      </p:sp>
      <p:sp>
        <p:nvSpPr>
          <p:cNvPr id="13" name="Shape 11"/>
          <p:cNvSpPr/>
          <p:nvPr/>
        </p:nvSpPr>
        <p:spPr>
          <a:xfrm>
            <a:off x="6629400" y="1627632"/>
            <a:ext cx="50292" cy="1024128"/>
          </a:xfrm>
          <a:prstGeom prst="rect">
            <a:avLst/>
          </a:prstGeom>
          <a:solidFill>
            <a:srgbClr val="3333B3"/>
          </a:solidFill>
          <a:ln w="12700">
            <a:solidFill>
              <a:srgbClr val="3333B3"/>
            </a:solidFill>
            <a:prstDash val="solid"/>
          </a:ln>
        </p:spPr>
      </p:sp>
      <p:sp>
        <p:nvSpPr>
          <p:cNvPr id="14" name="Shape 12"/>
          <p:cNvSpPr/>
          <p:nvPr/>
        </p:nvSpPr>
        <p:spPr>
          <a:xfrm>
            <a:off x="6830568" y="1956816"/>
            <a:ext cx="365760" cy="365760"/>
          </a:xfrm>
          <a:prstGeom prst="ellipse">
            <a:avLst/>
          </a:prstGeom>
          <a:solidFill>
            <a:srgbClr val="3333B3"/>
          </a:solidFill>
          <a:ln w="12700">
            <a:solidFill>
              <a:srgbClr val="3333B3"/>
            </a:solidFill>
            <a:prstDash val="solid"/>
          </a:ln>
        </p:spPr>
      </p:sp>
      <p:sp>
        <p:nvSpPr>
          <p:cNvPr id="15" name="Text 13"/>
          <p:cNvSpPr txBox="1"/>
          <p:nvPr/>
        </p:nvSpPr>
        <p:spPr>
          <a:xfrm>
            <a:off x="6830568" y="195681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6" name="Text 14"/>
          <p:cNvSpPr txBox="1"/>
          <p:nvPr/>
        </p:nvSpPr>
        <p:spPr>
          <a:xfrm>
            <a:off x="7360920" y="1627632"/>
            <a:ext cx="4014216" cy="1024128"/>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Filter in SQL where you can</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A selection formula often pulls every row across the network and then discards most of them.</a:t>
            </a:r>
            <a:endParaRPr lang="en-US" sz="1350" dirty="0"/>
          </a:p>
        </p:txBody>
      </p:sp>
      <p:sp>
        <p:nvSpPr>
          <p:cNvPr id="17" name="Shape 15"/>
          <p:cNvSpPr/>
          <p:nvPr/>
        </p:nvSpPr>
        <p:spPr>
          <a:xfrm>
            <a:off x="6629400" y="2779776"/>
            <a:ext cx="4965192" cy="1024128"/>
          </a:xfrm>
          <a:prstGeom prst="rect">
            <a:avLst/>
          </a:prstGeom>
          <a:solidFill>
            <a:srgbClr val="EDEDF7"/>
          </a:solidFill>
          <a:ln w="9525">
            <a:solidFill>
              <a:srgbClr val="C9C9EA"/>
            </a:solidFill>
            <a:prstDash val="solid"/>
          </a:ln>
        </p:spPr>
      </p:sp>
      <p:sp>
        <p:nvSpPr>
          <p:cNvPr id="18" name="Shape 16"/>
          <p:cNvSpPr/>
          <p:nvPr/>
        </p:nvSpPr>
        <p:spPr>
          <a:xfrm>
            <a:off x="6629400" y="2779776"/>
            <a:ext cx="50292" cy="1024128"/>
          </a:xfrm>
          <a:prstGeom prst="rect">
            <a:avLst/>
          </a:prstGeom>
          <a:solidFill>
            <a:srgbClr val="3333B3"/>
          </a:solidFill>
          <a:ln w="12700">
            <a:solidFill>
              <a:srgbClr val="3333B3"/>
            </a:solidFill>
            <a:prstDash val="solid"/>
          </a:ln>
        </p:spPr>
      </p:sp>
      <p:sp>
        <p:nvSpPr>
          <p:cNvPr id="19" name="Shape 17"/>
          <p:cNvSpPr/>
          <p:nvPr/>
        </p:nvSpPr>
        <p:spPr>
          <a:xfrm>
            <a:off x="6830568" y="3108960"/>
            <a:ext cx="365760" cy="365760"/>
          </a:xfrm>
          <a:prstGeom prst="ellipse">
            <a:avLst/>
          </a:prstGeom>
          <a:solidFill>
            <a:srgbClr val="3333B3"/>
          </a:solidFill>
          <a:ln w="12700">
            <a:solidFill>
              <a:srgbClr val="3333B3"/>
            </a:solidFill>
            <a:prstDash val="solid"/>
          </a:ln>
        </p:spPr>
      </p:sp>
      <p:sp>
        <p:nvSpPr>
          <p:cNvPr id="20" name="Text 18"/>
          <p:cNvSpPr txBox="1"/>
          <p:nvPr/>
        </p:nvSpPr>
        <p:spPr>
          <a:xfrm>
            <a:off x="6830568" y="31089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21" name="Text 19"/>
          <p:cNvSpPr txBox="1"/>
          <p:nvPr/>
        </p:nvSpPr>
        <p:spPr>
          <a:xfrm>
            <a:off x="7360920" y="2779776"/>
            <a:ext cx="4014216" cy="1024128"/>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Keep formulas short</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Business logic buried in a report is invisible to code review and to version control.</a:t>
            </a:r>
            <a:endParaRPr lang="en-US" sz="1350" dirty="0"/>
          </a:p>
        </p:txBody>
      </p:sp>
      <p:sp>
        <p:nvSpPr>
          <p:cNvPr id="22" name="Shape 20"/>
          <p:cNvSpPr/>
          <p:nvPr/>
        </p:nvSpPr>
        <p:spPr>
          <a:xfrm>
            <a:off x="6629400" y="3931920"/>
            <a:ext cx="4965192" cy="1024128"/>
          </a:xfrm>
          <a:prstGeom prst="rect">
            <a:avLst/>
          </a:prstGeom>
          <a:solidFill>
            <a:srgbClr val="EDEDF7"/>
          </a:solidFill>
          <a:ln w="9525">
            <a:solidFill>
              <a:srgbClr val="C9C9EA"/>
            </a:solidFill>
            <a:prstDash val="solid"/>
          </a:ln>
        </p:spPr>
      </p:sp>
      <p:sp>
        <p:nvSpPr>
          <p:cNvPr id="23" name="Shape 21"/>
          <p:cNvSpPr/>
          <p:nvPr/>
        </p:nvSpPr>
        <p:spPr>
          <a:xfrm>
            <a:off x="6629400" y="3931920"/>
            <a:ext cx="50292" cy="1024128"/>
          </a:xfrm>
          <a:prstGeom prst="rect">
            <a:avLst/>
          </a:prstGeom>
          <a:solidFill>
            <a:srgbClr val="3333B3"/>
          </a:solidFill>
          <a:ln w="12700">
            <a:solidFill>
              <a:srgbClr val="3333B3"/>
            </a:solidFill>
            <a:prstDash val="solid"/>
          </a:ln>
        </p:spPr>
      </p:sp>
      <p:sp>
        <p:nvSpPr>
          <p:cNvPr id="24" name="Shape 22"/>
          <p:cNvSpPr/>
          <p:nvPr/>
        </p:nvSpPr>
        <p:spPr>
          <a:xfrm>
            <a:off x="6830568" y="4261104"/>
            <a:ext cx="365760" cy="365760"/>
          </a:xfrm>
          <a:prstGeom prst="ellipse">
            <a:avLst/>
          </a:prstGeom>
          <a:solidFill>
            <a:srgbClr val="3333B3"/>
          </a:solidFill>
          <a:ln w="12700">
            <a:solidFill>
              <a:srgbClr val="3333B3"/>
            </a:solidFill>
            <a:prstDash val="solid"/>
          </a:ln>
        </p:spPr>
      </p:sp>
      <p:sp>
        <p:nvSpPr>
          <p:cNvPr id="25" name="Text 23"/>
          <p:cNvSpPr txBox="1"/>
          <p:nvPr/>
        </p:nvSpPr>
        <p:spPr>
          <a:xfrm>
            <a:off x="6830568" y="426110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6" name="Text 24"/>
          <p:cNvSpPr txBox="1"/>
          <p:nvPr/>
        </p:nvSpPr>
        <p:spPr>
          <a:xfrm>
            <a:off x="7360920" y="3931920"/>
            <a:ext cx="4014216" cy="1024128"/>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Conditional suppression is powerful</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One report can serve two audiences by hiding a band based on a parameter.</a:t>
            </a:r>
            <a:endParaRPr lang="en-US" sz="1350" dirty="0"/>
          </a:p>
        </p:txBody>
      </p:sp>
      <p:sp>
        <p:nvSpPr>
          <p:cNvPr id="27" name="Shape 25"/>
          <p:cNvSpPr/>
          <p:nvPr/>
        </p:nvSpPr>
        <p:spPr>
          <a:xfrm>
            <a:off x="6629400" y="5084064"/>
            <a:ext cx="4965192" cy="1024128"/>
          </a:xfrm>
          <a:prstGeom prst="rect">
            <a:avLst/>
          </a:prstGeom>
          <a:solidFill>
            <a:srgbClr val="EDEDF7"/>
          </a:solidFill>
          <a:ln w="9525">
            <a:solidFill>
              <a:srgbClr val="C9C9EA"/>
            </a:solidFill>
            <a:prstDash val="solid"/>
          </a:ln>
        </p:spPr>
      </p:sp>
      <p:sp>
        <p:nvSpPr>
          <p:cNvPr id="28" name="Shape 26"/>
          <p:cNvSpPr/>
          <p:nvPr/>
        </p:nvSpPr>
        <p:spPr>
          <a:xfrm>
            <a:off x="6629400" y="5084064"/>
            <a:ext cx="50292" cy="1024128"/>
          </a:xfrm>
          <a:prstGeom prst="rect">
            <a:avLst/>
          </a:prstGeom>
          <a:solidFill>
            <a:srgbClr val="3333B3"/>
          </a:solidFill>
          <a:ln w="12700">
            <a:solidFill>
              <a:srgbClr val="3333B3"/>
            </a:solidFill>
            <a:prstDash val="solid"/>
          </a:ln>
        </p:spPr>
      </p:sp>
      <p:sp>
        <p:nvSpPr>
          <p:cNvPr id="29" name="Shape 27"/>
          <p:cNvSpPr/>
          <p:nvPr/>
        </p:nvSpPr>
        <p:spPr>
          <a:xfrm>
            <a:off x="6830568" y="5413248"/>
            <a:ext cx="365760" cy="365760"/>
          </a:xfrm>
          <a:prstGeom prst="ellipse">
            <a:avLst/>
          </a:prstGeom>
          <a:solidFill>
            <a:srgbClr val="3333B3"/>
          </a:solidFill>
          <a:ln w="12700">
            <a:solidFill>
              <a:srgbClr val="3333B3"/>
            </a:solidFill>
            <a:prstDash val="solid"/>
          </a:ln>
        </p:spPr>
      </p:sp>
      <p:sp>
        <p:nvSpPr>
          <p:cNvPr id="30" name="Text 28"/>
          <p:cNvSpPr txBox="1"/>
          <p:nvPr/>
        </p:nvSpPr>
        <p:spPr>
          <a:xfrm>
            <a:off x="6830568" y="54132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31" name="Text 29"/>
          <p:cNvSpPr txBox="1"/>
          <p:nvPr/>
        </p:nvSpPr>
        <p:spPr>
          <a:xfrm>
            <a:off x="7360920" y="5084064"/>
            <a:ext cx="4014216" cy="1024128"/>
          </a:xfrm>
          <a:prstGeom prst="rect">
            <a:avLst/>
          </a:prstGeom>
          <a:noFill/>
          <a:ln/>
        </p:spPr>
        <p:txBody>
          <a:bodyPr wrap="square" lIns="0" tIns="0" rIns="0" bIns="0" rtlCol="0" anchor="ctr"/>
          <a:lstStyle/>
          <a:p>
            <a:pPr indent="0" marL="0">
              <a:buNone/>
            </a:pPr>
            <a:r>
              <a:rPr lang="en-US" sz="1350" b="1" dirty="0">
                <a:solidFill>
                  <a:srgbClr val="22226B"/>
                </a:solidFill>
                <a:latin typeface="Cambria" pitchFamily="34" charset="0"/>
                <a:ea typeface="Cambria" pitchFamily="34" charset="-122"/>
                <a:cs typeface="Cambria" pitchFamily="34" charset="-120"/>
              </a:rPr>
              <a:t>Watch for nulls</a:t>
            </a:r>
            <a:endParaRPr lang="en-US" sz="1350" dirty="0"/>
          </a:p>
          <a:p>
            <a:pPr indent="0" marL="0">
              <a:buNone/>
            </a:pPr>
            <a:r>
              <a:rPr lang="en-US" sz="1100" dirty="0">
                <a:solidFill>
                  <a:srgbClr val="3E3E5A"/>
                </a:solidFill>
                <a:latin typeface="Cambria" pitchFamily="34" charset="0"/>
                <a:ea typeface="Cambria" pitchFamily="34" charset="-122"/>
                <a:cs typeface="Cambria" pitchFamily="34" charset="-120"/>
              </a:rPr>
              <a:t>A null in an arithmetic formula silently produces nothing. Test with incomplete data deliberately.</a:t>
            </a:r>
            <a:endParaRPr lang="en-US" sz="1350" dirty="0"/>
          </a:p>
        </p:txBody>
      </p:sp>
      <p:sp>
        <p:nvSpPr>
          <p:cNvPr id="32" name="Shape 30"/>
          <p:cNvSpPr/>
          <p:nvPr/>
        </p:nvSpPr>
        <p:spPr>
          <a:xfrm>
            <a:off x="0" y="6400800"/>
            <a:ext cx="3840480" cy="457200"/>
          </a:xfrm>
          <a:prstGeom prst="rect">
            <a:avLst/>
          </a:prstGeom>
          <a:solidFill>
            <a:srgbClr val="22226B"/>
          </a:solidFill>
          <a:ln w="12700">
            <a:solidFill>
              <a:srgbClr val="22226B"/>
            </a:solidFill>
            <a:prstDash val="solid"/>
          </a:ln>
        </p:spPr>
      </p:sp>
      <p:sp>
        <p:nvSpPr>
          <p:cNvPr id="33" name="Text 31"/>
          <p:cNvSpPr txBox="1"/>
          <p:nvPr/>
        </p:nvSpPr>
        <p:spPr>
          <a:xfrm>
            <a:off x="164592" y="6400800"/>
            <a:ext cx="351129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HAL  ·  .NET, React &amp; SQL Programme</a:t>
            </a:r>
            <a:endParaRPr lang="en-US" sz="950" dirty="0"/>
          </a:p>
        </p:txBody>
      </p:sp>
      <p:sp>
        <p:nvSpPr>
          <p:cNvPr id="34" name="Shape 32"/>
          <p:cNvSpPr/>
          <p:nvPr/>
        </p:nvSpPr>
        <p:spPr>
          <a:xfrm>
            <a:off x="3840480" y="6400800"/>
            <a:ext cx="6675120" cy="457200"/>
          </a:xfrm>
          <a:prstGeom prst="rect">
            <a:avLst/>
          </a:prstGeom>
          <a:solidFill>
            <a:srgbClr val="3333B3"/>
          </a:solidFill>
          <a:ln w="12700">
            <a:solidFill>
              <a:srgbClr val="3333B3"/>
            </a:solidFill>
            <a:prstDash val="solid"/>
          </a:ln>
        </p:spPr>
      </p:sp>
      <p:sp>
        <p:nvSpPr>
          <p:cNvPr id="35" name="Text 33"/>
          <p:cNvSpPr txBox="1"/>
          <p:nvPr/>
        </p:nvSpPr>
        <p:spPr>
          <a:xfrm>
            <a:off x="4005072" y="6400800"/>
            <a:ext cx="634593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Day 3 · Session 1 — Crystal Reports Basics</a:t>
            </a:r>
            <a:endParaRPr lang="en-US" sz="950" dirty="0"/>
          </a:p>
        </p:txBody>
      </p:sp>
      <p:sp>
        <p:nvSpPr>
          <p:cNvPr id="36" name="Shape 34"/>
          <p:cNvSpPr/>
          <p:nvPr/>
        </p:nvSpPr>
        <p:spPr>
          <a:xfrm>
            <a:off x="10515600" y="6400800"/>
            <a:ext cx="1676095" cy="457200"/>
          </a:xfrm>
          <a:prstGeom prst="rect">
            <a:avLst/>
          </a:prstGeom>
          <a:solidFill>
            <a:srgbClr val="22226B"/>
          </a:solidFill>
          <a:ln w="12700">
            <a:solidFill>
              <a:srgbClr val="22226B"/>
            </a:solidFill>
            <a:prstDash val="solid"/>
          </a:ln>
        </p:spPr>
      </p:sp>
      <p:sp>
        <p:nvSpPr>
          <p:cNvPr id="37" name="Text 35"/>
          <p:cNvSpPr txBox="1"/>
          <p:nvPr/>
        </p:nvSpPr>
        <p:spPr>
          <a:xfrm>
            <a:off x="10680192" y="6400800"/>
            <a:ext cx="1346911" cy="457200"/>
          </a:xfrm>
          <a:prstGeom prst="rect">
            <a:avLst/>
          </a:prstGeom>
          <a:noFill/>
          <a:ln/>
        </p:spPr>
        <p:txBody>
          <a:bodyPr wrap="square" lIns="0" tIns="0" rIns="0" bIns="0" rtlCol="0" anchor="ctr"/>
          <a:lstStyle/>
          <a:p>
            <a:pPr algn="ctr" indent="0" marL="0">
              <a:buNone/>
            </a:pPr>
            <a:r>
              <a:rPr lang="en-US" sz="950" dirty="0">
                <a:solidFill>
                  <a:srgbClr val="FFFFFF"/>
                </a:solidFill>
                <a:latin typeface="Cambria" pitchFamily="34" charset="0"/>
                <a:ea typeface="Cambria" pitchFamily="34" charset="-122"/>
                <a:cs typeface="Cambria"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365760"/>
          </a:xfrm>
          <a:prstGeom prst="rect">
            <a:avLst/>
          </a:prstGeom>
          <a:solidFill>
            <a:srgbClr val="22226B"/>
          </a:solidFill>
          <a:ln w="12700">
            <a:solidFill>
              <a:srgbClr val="22226B"/>
            </a:solidFill>
            <a:prstDash val="solid"/>
          </a:ln>
        </p:spPr>
      </p:sp>
      <p:sp>
        <p:nvSpPr>
          <p:cNvPr id="3" name="Text 1"/>
          <p:cNvSpPr txBox="1"/>
          <p:nvPr/>
        </p:nvSpPr>
        <p:spPr>
          <a:xfrm>
            <a:off x="594360" y="0"/>
            <a:ext cx="11002975" cy="365760"/>
          </a:xfrm>
          <a:prstGeom prst="rect">
            <a:avLst/>
          </a:prstGeom>
          <a:noFill/>
          <a:ln/>
        </p:spPr>
        <p:txBody>
          <a:bodyPr wrap="square" lIns="0" tIns="0" rIns="0" bIns="0" rtlCol="0" anchor="ctr"/>
          <a:lstStyle/>
          <a:p>
            <a:pPr indent="0" marL="0">
              <a:buNone/>
            </a:pPr>
            <a:r>
              <a:rPr lang="en-US" sz="1000" b="1" spc="180" kern="0" dirty="0">
                <a:solidFill>
                  <a:srgbClr val="C9C9EA"/>
                </a:solidFill>
                <a:latin typeface="Cambria" pitchFamily="34" charset="0"/>
                <a:ea typeface="Cambria" pitchFamily="34" charset="-122"/>
                <a:cs typeface="Cambria" pitchFamily="34" charset="-120"/>
              </a:rPr>
              <a:t>CONNECTING A REPORT TO DATA</a:t>
            </a:r>
            <a:endParaRPr lang="en-US" sz="1000" dirty="0"/>
          </a:p>
        </p:txBody>
      </p:sp>
      <p:sp>
        <p:nvSpPr>
          <p:cNvPr id="4" name="Shape 2"/>
          <p:cNvSpPr/>
          <p:nvPr/>
        </p:nvSpPr>
        <p:spPr>
          <a:xfrm>
            <a:off x="0" y="365760"/>
            <a:ext cx="12191695" cy="841248"/>
          </a:xfrm>
          <a:prstGeom prst="rect">
            <a:avLst/>
          </a:prstGeom>
          <a:solidFill>
            <a:srgbClr val="3333B3"/>
          </a:solidFill>
          <a:ln w="12700">
            <a:solidFill>
              <a:srgbClr val="3333B3"/>
            </a:solidFill>
            <a:prstDash val="solid"/>
          </a:ln>
        </p:spPr>
      </p:sp>
      <p:sp>
        <p:nvSpPr>
          <p:cNvPr id="5" name="Text 3"/>
          <p:cNvSpPr txBox="1"/>
          <p:nvPr/>
        </p:nvSpPr>
        <p:spPr>
          <a:xfrm>
            <a:off x="594360" y="365760"/>
            <a:ext cx="11002975" cy="84124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Two models — decide before you start</a:t>
            </a:r>
            <a:endParaRPr lang="en-US" sz="2600" dirty="0"/>
          </a:p>
        </p:txBody>
      </p:sp>
      <p:sp>
        <p:nvSpPr>
          <p:cNvPr id="6" name="Shape 4"/>
          <p:cNvSpPr/>
          <p:nvPr/>
        </p:nvSpPr>
        <p:spPr>
          <a:xfrm>
            <a:off x="594360" y="1627632"/>
            <a:ext cx="5394960" cy="384048"/>
          </a:xfrm>
          <a:prstGeom prst="rect">
            <a:avLst/>
          </a:prstGeom>
          <a:solidFill>
            <a:srgbClr val="22226B"/>
          </a:solidFill>
          <a:ln w="12700">
            <a:solidFill>
              <a:srgbClr val="22226B"/>
            </a:solidFill>
            <a:prstDash val="solid"/>
          </a:ln>
        </p:spPr>
      </p:sp>
      <p:sp>
        <p:nvSpPr>
          <p:cNvPr id="7" name="Text 5"/>
          <p:cNvSpPr txBox="1"/>
          <p:nvPr/>
        </p:nvSpPr>
        <p:spPr>
          <a:xfrm>
            <a:off x="777240" y="1627632"/>
            <a:ext cx="5029200" cy="384048"/>
          </a:xfrm>
          <a:prstGeom prst="rect">
            <a:avLst/>
          </a:prstGeom>
          <a:noFill/>
          <a:ln/>
        </p:spPr>
        <p:txBody>
          <a:bodyPr wrap="square" lIns="0" tIns="0" rIns="0" bIns="0" rtlCol="0" anchor="ctr"/>
          <a:lstStyle/>
          <a:p>
            <a:pPr indent="0" marL="0">
              <a:buNone/>
            </a:pPr>
            <a:r>
              <a:rPr lang="en-US" sz="1250" b="1" spc="40" kern="0" dirty="0">
                <a:solidFill>
                  <a:srgbClr val="FFFFFF"/>
                </a:solidFill>
                <a:latin typeface="Cambria" pitchFamily="34" charset="0"/>
                <a:ea typeface="Cambria" pitchFamily="34" charset="-122"/>
                <a:cs typeface="Cambria" pitchFamily="34" charset="-120"/>
              </a:rPr>
              <a:t>PULL MODEL — THE REPORT FETCHES</a:t>
            </a:r>
            <a:endParaRPr lang="en-US" sz="1250" dirty="0"/>
          </a:p>
        </p:txBody>
      </p:sp>
      <p:sp>
        <p:nvSpPr>
          <p:cNvPr id="8" name="Shape 6"/>
          <p:cNvSpPr/>
          <p:nvPr/>
        </p:nvSpPr>
        <p:spPr>
          <a:xfrm>
            <a:off x="594360" y="2139696"/>
            <a:ext cx="5394960" cy="1737360"/>
          </a:xfrm>
          <a:prstGeom prst="rect">
            <a:avLst/>
          </a:prstGeom>
          <a:solidFill>
            <a:srgbClr val="FFFFFF"/>
          </a:solidFill>
          <a:ln w="9525">
            <a:solidFill>
              <a:srgbClr val="C9C9EA"/>
            </a:solidFill>
            <a:prstDash val="solid"/>
          </a:ln>
        </p:spPr>
      </p:sp>
      <p:sp>
        <p:nvSpPr>
          <p:cNvPr id="9" name="Text 7"/>
          <p:cNvSpPr txBox="1"/>
          <p:nvPr/>
        </p:nvSpPr>
        <p:spPr>
          <a:xfrm>
            <a:off x="813816" y="2286000"/>
            <a:ext cx="4956048" cy="146304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3E3E5A"/>
                </a:solidFill>
                <a:latin typeface="Cambria" pitchFamily="34" charset="0"/>
                <a:ea typeface="Cambria" pitchFamily="34" charset="-122"/>
                <a:cs typeface="Cambria" pitchFamily="34" charset="-120"/>
              </a:rPr>
              <a:t>The report holds the connection and runs the query itself</a:t>
            </a:r>
            <a:endParaRPr lang="en-US" sz="1200" dirty="0"/>
          </a:p>
          <a:p>
            <a:pPr marL="177800" indent="-177800">
              <a:spcAft>
                <a:spcPts val="700"/>
              </a:spcAft>
              <a:buSzPct val="100000"/>
              <a:buChar char="▸"/>
            </a:pPr>
            <a:r>
              <a:rPr lang="en-US" sz="1200" dirty="0">
                <a:solidFill>
                  <a:srgbClr val="3E3E5A"/>
                </a:solidFill>
                <a:latin typeface="Cambria" pitchFamily="34" charset="0"/>
                <a:ea typeface="Cambria" pitchFamily="34" charset="-122"/>
                <a:cs typeface="Cambria" pitchFamily="34" charset="-120"/>
              </a:rPr>
              <a:t>Quick to build; the designer previews live data</a:t>
            </a:r>
            <a:endParaRPr lang="en-US" sz="1200" dirty="0"/>
          </a:p>
          <a:p>
            <a:pPr marL="177800" indent="-177800">
              <a:spcAft>
                <a:spcPts val="700"/>
              </a:spcAft>
              <a:buSzPct val="100000"/>
              <a:buChar char="▸"/>
            </a:pPr>
            <a:r>
              <a:rPr lang="en-US" sz="1200" dirty="0">
                <a:solidFill>
                  <a:srgbClr val="3E3E5A"/>
                </a:solidFill>
                <a:latin typeface="Cambria" pitchFamily="34" charset="0"/>
                <a:ea typeface="Cambria" pitchFamily="34" charset="-122"/>
                <a:cs typeface="Cambria" pitchFamily="34" charset="-120"/>
              </a:rPr>
              <a:t>Credentials must reach the report at runtime</a:t>
            </a:r>
            <a:endParaRPr lang="en-US" sz="1200" dirty="0"/>
          </a:p>
          <a:p>
            <a:pPr marL="177800" indent="-177800">
              <a:spcAft>
                <a:spcPts val="700"/>
              </a:spcAft>
              <a:buSzPct val="100000"/>
              <a:buChar char="▸"/>
            </a:pPr>
            <a:r>
              <a:rPr lang="en-US" sz="1200" dirty="0">
                <a:solidFill>
                  <a:srgbClr val="3E3E5A"/>
                </a:solidFill>
                <a:latin typeface="Cambria" pitchFamily="34" charset="0"/>
                <a:ea typeface="Cambria" pitchFamily="34" charset="-122"/>
                <a:cs typeface="Cambria" pitchFamily="34" charset="-120"/>
              </a:rPr>
              <a:t>Business logic ends up split between code and report</a:t>
            </a:r>
            <a:endParaRPr lang="en-US" sz="1200" dirty="0"/>
          </a:p>
        </p:txBody>
      </p:sp>
      <p:sp>
        <p:nvSpPr>
          <p:cNvPr id="10" name="Shape 8"/>
          <p:cNvSpPr/>
          <p:nvPr/>
        </p:nvSpPr>
        <p:spPr>
          <a:xfrm>
            <a:off x="6199632" y="1627632"/>
            <a:ext cx="5394960" cy="384048"/>
          </a:xfrm>
          <a:prstGeom prst="rect">
            <a:avLst/>
          </a:prstGeom>
          <a:solidFill>
            <a:srgbClr val="3333B3"/>
          </a:solidFill>
          <a:ln w="12700">
            <a:solidFill>
              <a:srgbClr val="3333B3"/>
            </a:solidFill>
            <a:prstDash val="solid"/>
          </a:ln>
        </p:spPr>
      </p:sp>
      <p:sp>
        <p:nvSpPr>
          <p:cNvPr id="11" name="Text 9"/>
          <p:cNvSpPr txBox="1"/>
          <p:nvPr/>
        </p:nvSpPr>
        <p:spPr>
          <a:xfrm>
            <a:off x="6382512" y="1627632"/>
            <a:ext cx="5029200" cy="384048"/>
          </a:xfrm>
          <a:prstGeom prst="rect">
            <a:avLst/>
          </a:prstGeom>
          <a:noFill/>
          <a:ln/>
        </p:spPr>
        <p:txBody>
          <a:bodyPr wrap="square" lIns="0" tIns="0" rIns="0" bIns="0" rtlCol="0" anchor="ctr"/>
          <a:lstStyle/>
          <a:p>
            <a:pPr indent="0" marL="0">
              <a:buNone/>
            </a:pPr>
            <a:r>
              <a:rPr lang="en-US" sz="1250" b="1" spc="40" kern="0" dirty="0">
                <a:solidFill>
                  <a:srgbClr val="FFFFFF"/>
                </a:solidFill>
                <a:latin typeface="Cambria" pitchFamily="34" charset="0"/>
                <a:ea typeface="Cambria" pitchFamily="34" charset="-122"/>
                <a:cs typeface="Cambria" pitchFamily="34" charset="-120"/>
              </a:rPr>
              <a:t>PUSH MODEL — YOUR CODE SUPPLIES</a:t>
            </a:r>
            <a:endParaRPr lang="en-US" sz="1250" dirty="0"/>
          </a:p>
        </p:txBody>
      </p:sp>
      <p:sp>
        <p:nvSpPr>
          <p:cNvPr id="12" name="Shape 10"/>
          <p:cNvSpPr/>
          <p:nvPr/>
        </p:nvSpPr>
        <p:spPr>
          <a:xfrm>
            <a:off x="6199632" y="2139696"/>
            <a:ext cx="5394960" cy="1737360"/>
          </a:xfrm>
          <a:prstGeom prst="rect">
            <a:avLst/>
          </a:prstGeom>
          <a:solidFill>
            <a:srgbClr val="FFFFFF"/>
          </a:solidFill>
          <a:ln w="9525">
            <a:solidFill>
              <a:srgbClr val="C9C9EA"/>
            </a:solidFill>
            <a:prstDash val="solid"/>
          </a:ln>
        </p:spPr>
      </p:sp>
      <p:sp>
        <p:nvSpPr>
          <p:cNvPr id="13" name="Text 11"/>
          <p:cNvSpPr txBox="1"/>
          <p:nvPr/>
        </p:nvSpPr>
        <p:spPr>
          <a:xfrm>
            <a:off x="6419088" y="2286000"/>
            <a:ext cx="4956048" cy="146304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3E3E5A"/>
                </a:solidFill>
                <a:latin typeface="Cambria" pitchFamily="34" charset="0"/>
                <a:ea typeface="Cambria" pitchFamily="34" charset="-122"/>
                <a:cs typeface="Cambria" pitchFamily="34" charset="-120"/>
              </a:rPr>
              <a:t>Your application runs the query and hands over a DataSet</a:t>
            </a:r>
            <a:endParaRPr lang="en-US" sz="1200" dirty="0"/>
          </a:p>
          <a:p>
            <a:pPr marL="177800" indent="-177800">
              <a:spcAft>
                <a:spcPts val="700"/>
              </a:spcAft>
              <a:buSzPct val="100000"/>
              <a:buChar char="▸"/>
            </a:pPr>
            <a:r>
              <a:rPr lang="en-US" sz="1200" dirty="0">
                <a:solidFill>
                  <a:srgbClr val="3E3E5A"/>
                </a:solidFill>
                <a:latin typeface="Cambria" pitchFamily="34" charset="0"/>
                <a:ea typeface="Cambria" pitchFamily="34" charset="-122"/>
                <a:cs typeface="Cambria" pitchFamily="34" charset="-120"/>
              </a:rPr>
              <a:t>One place owns the data access — as on Day 2</a:t>
            </a:r>
            <a:endParaRPr lang="en-US" sz="1200" dirty="0"/>
          </a:p>
          <a:p>
            <a:pPr marL="177800" indent="-177800">
              <a:spcAft>
                <a:spcPts val="700"/>
              </a:spcAft>
              <a:buSzPct val="100000"/>
              <a:buChar char="▸"/>
            </a:pPr>
            <a:r>
              <a:rPr lang="en-US" sz="1200" dirty="0">
                <a:solidFill>
                  <a:srgbClr val="3E3E5A"/>
                </a:solidFill>
                <a:latin typeface="Cambria" pitchFamily="34" charset="0"/>
                <a:ea typeface="Cambria" pitchFamily="34" charset="-122"/>
                <a:cs typeface="Cambria" pitchFamily="34" charset="-120"/>
              </a:rPr>
              <a:t>Easier to secure, test and reuse</a:t>
            </a:r>
            <a:endParaRPr lang="en-US" sz="1200" dirty="0"/>
          </a:p>
          <a:p>
            <a:pPr marL="177800" indent="-177800">
              <a:spcAft>
                <a:spcPts val="700"/>
              </a:spcAft>
              <a:buSzPct val="100000"/>
              <a:buChar char="▸"/>
            </a:pPr>
            <a:r>
              <a:rPr lang="en-US" sz="1200" dirty="0">
                <a:solidFill>
                  <a:srgbClr val="3E3E5A"/>
                </a:solidFill>
                <a:latin typeface="Cambria" pitchFamily="34" charset="0"/>
                <a:ea typeface="Cambria" pitchFamily="34" charset="-122"/>
                <a:cs typeface="Cambria" pitchFamily="34" charset="-120"/>
              </a:rPr>
              <a:t>The report is then purely a layout</a:t>
            </a:r>
            <a:endParaRPr lang="en-US" sz="1200" dirty="0"/>
          </a:p>
        </p:txBody>
      </p:sp>
      <p:sp>
        <p:nvSpPr>
          <p:cNvPr id="14" name="Shape 12"/>
          <p:cNvSpPr/>
          <p:nvPr/>
        </p:nvSpPr>
        <p:spPr>
          <a:xfrm>
            <a:off x="594360" y="4069080"/>
            <a:ext cx="5806440" cy="1595628"/>
          </a:xfrm>
          <a:prstGeom prst="rect">
            <a:avLst/>
          </a:prstGeom>
          <a:solidFill>
            <a:srgbClr val="F4F4FA"/>
          </a:solidFill>
          <a:ln w="9525">
            <a:solidFill>
              <a:srgbClr val="C9C9EA"/>
            </a:solidFill>
            <a:prstDash val="solid"/>
          </a:ln>
        </p:spPr>
      </p:sp>
      <p:sp>
        <p:nvSpPr>
          <p:cNvPr id="15" name="Text 13"/>
          <p:cNvSpPr txBox="1"/>
          <p:nvPr/>
        </p:nvSpPr>
        <p:spPr>
          <a:xfrm>
            <a:off x="813816" y="4224528"/>
            <a:ext cx="5367528" cy="219456"/>
          </a:xfrm>
          <a:prstGeom prst="rect">
            <a:avLst/>
          </a:prstGeom>
          <a:noFill/>
          <a:ln/>
        </p:spPr>
        <p:txBody>
          <a:bodyPr wrap="square" lIns="0" tIns="0" rIns="0" bIns="0" rtlCol="0" anchor="ctr"/>
          <a:lstStyle/>
          <a:p>
            <a:pPr indent="0" marL="0">
              <a:buNone/>
            </a:pPr>
            <a:r>
              <a:rPr lang="en-US" sz="950" b="1" spc="140" kern="0" dirty="0">
                <a:solidFill>
                  <a:srgbClr val="3333B3"/>
                </a:solidFill>
                <a:latin typeface="Cambria" pitchFamily="34" charset="0"/>
                <a:ea typeface="Cambria" pitchFamily="34" charset="-122"/>
                <a:cs typeface="Cambria" pitchFamily="34" charset="-120"/>
              </a:rPr>
              <a:t>PUSH MODEL, IN CODE</a:t>
            </a:r>
            <a:endParaRPr lang="en-US" sz="950" dirty="0"/>
          </a:p>
        </p:txBody>
      </p:sp>
      <p:sp>
        <p:nvSpPr>
          <p:cNvPr id="16" name="Text 14"/>
          <p:cNvSpPr txBox="1"/>
          <p:nvPr/>
        </p:nvSpPr>
        <p:spPr>
          <a:xfrm>
            <a:off x="813816" y="4517136"/>
            <a:ext cx="5367528" cy="1019556"/>
          </a:xfrm>
          <a:prstGeom prst="rect">
            <a:avLst/>
          </a:prstGeom>
          <a:noFill/>
          <a:ln/>
        </p:spPr>
        <p:txBody>
          <a:bodyPr wrap="square" lIns="0" tIns="0" rIns="0" bIns="0" rtlCol="0" anchor="t"/>
          <a:lstStyle/>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var report = new ReportDocument();</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report.Load(Path.Combine(_env.ContentRootPath,</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"Reports", "SparesConsumption.rpt"));</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 </a:t>
            </a:r>
            <a:endParaRPr lang="en-US" sz="1050" dirty="0"/>
          </a:p>
          <a:p>
            <a:pPr indent="0" marL="0">
              <a:lnSpc>
                <a:spcPts val="1418"/>
              </a:lnSpc>
              <a:buNone/>
            </a:pPr>
            <a:r>
              <a:rPr lang="en-US" sz="1050" dirty="0">
                <a:solidFill>
                  <a:srgbClr val="1A1A33"/>
                </a:solidFill>
                <a:latin typeface="Courier New" pitchFamily="34" charset="0"/>
                <a:ea typeface="Courier New" pitchFamily="34" charset="-122"/>
                <a:cs typeface="Courier New" pitchFamily="34" charset="-120"/>
              </a:rPr>
              <a:t>report.SetDataSource(BuildConsumptionTable());</a:t>
            </a:r>
            <a:endParaRPr lang="en-US" sz="1050" dirty="0"/>
          </a:p>
        </p:txBody>
      </p:sp>
      <p:sp>
        <p:nvSpPr>
          <p:cNvPr id="17" name="Shape 15"/>
          <p:cNvSpPr/>
          <p:nvPr/>
        </p:nvSpPr>
        <p:spPr>
          <a:xfrm>
            <a:off x="6629400" y="4069080"/>
            <a:ext cx="4965192" cy="402336"/>
          </a:xfrm>
          <a:prstGeom prst="rect">
            <a:avLst/>
          </a:prstGeom>
          <a:solidFill>
            <a:srgbClr val="3333B3"/>
          </a:solidFill>
          <a:ln w="12700">
            <a:solidFill>
              <a:srgbClr val="3333B3"/>
            </a:solidFill>
            <a:prstDash val="solid"/>
          </a:ln>
        </p:spPr>
      </p:sp>
      <p:sp>
        <p:nvSpPr>
          <p:cNvPr id="18" name="Text 16"/>
          <p:cNvSpPr txBox="1"/>
          <p:nvPr/>
        </p:nvSpPr>
        <p:spPr>
          <a:xfrm>
            <a:off x="6812280" y="4069080"/>
            <a:ext cx="4599432" cy="40233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Whichever you choose</a:t>
            </a:r>
            <a:endParaRPr lang="en-US" sz="1500" dirty="0"/>
          </a:p>
        </p:txBody>
      </p:sp>
      <p:sp>
        <p:nvSpPr>
          <p:cNvPr id="19" name="Shape 17"/>
          <p:cNvSpPr/>
          <p:nvPr/>
        </p:nvSpPr>
        <p:spPr>
          <a:xfrm>
            <a:off x="6629400" y="4471416"/>
            <a:ext cx="4965192" cy="1472184"/>
          </a:xfrm>
          <a:prstGeom prst="rect">
            <a:avLst/>
          </a:prstGeom>
          <a:solidFill>
            <a:srgbClr val="F4F4FA"/>
          </a:solidFill>
          <a:ln w="9525">
            <a:solidFill>
              <a:srgbClr val="C9C9EA"/>
            </a:solidFill>
            <a:prstDash val="solid"/>
          </a:ln>
        </p:spPr>
      </p:sp>
      <p:sp>
        <p:nvSpPr>
          <p:cNvPr id="20" name="Text 18"/>
          <p:cNvSpPr txBox="1"/>
          <p:nvPr/>
        </p:nvSpPr>
        <p:spPr>
          <a:xfrm>
            <a:off x="6848856" y="4617720"/>
            <a:ext cx="4526280" cy="1197864"/>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3E3E5A"/>
                </a:solidFill>
                <a:latin typeface="Cambria" pitchFamily="34" charset="0"/>
                <a:ea typeface="Cambria" pitchFamily="34" charset="-122"/>
                <a:cs typeface="Cambria" pitchFamily="34" charset="-120"/>
              </a:rPr>
              <a:t>Base the report on a stored procedure or a view, not on a table</a:t>
            </a:r>
            <a:endParaRPr lang="en-US" sz="1200" dirty="0"/>
          </a:p>
          <a:p>
            <a:pPr marL="177800" indent="-177800">
              <a:spcAft>
                <a:spcPts val="700"/>
              </a:spcAft>
              <a:buSzPct val="100000"/>
              <a:buChar char="▸"/>
            </a:pPr>
            <a:r>
              <a:rPr lang="en-US" sz="1200" dirty="0">
                <a:solidFill>
                  <a:srgbClr val="3E3E5A"/>
                </a:solidFill>
                <a:latin typeface="Cambria" pitchFamily="34" charset="0"/>
                <a:ea typeface="Cambria" pitchFamily="34" charset="-122"/>
                <a:cs typeface="Cambria" pitchFamily="34" charset="-120"/>
              </a:rPr>
              <a:t>Return only the columns the report prints</a:t>
            </a:r>
            <a:endParaRPr lang="en-US" sz="1200" dirty="0"/>
          </a:p>
          <a:p>
            <a:pPr marL="177800" indent="-177800">
              <a:spcAft>
                <a:spcPts val="700"/>
              </a:spcAft>
              <a:buSzPct val="100000"/>
              <a:buChar char="▸"/>
            </a:pPr>
            <a:r>
              <a:rPr lang="en-US" sz="1200" dirty="0">
                <a:solidFill>
                  <a:srgbClr val="3E3E5A"/>
                </a:solidFill>
                <a:latin typeface="Cambria" pitchFamily="34" charset="0"/>
                <a:ea typeface="Cambria" pitchFamily="34" charset="-122"/>
                <a:cs typeface="Cambria" pitchFamily="34" charset="-120"/>
              </a:rPr>
              <a:t>Filter in SQL, not in the report — the database is better at it</a:t>
            </a:r>
            <a:endParaRPr lang="en-US" sz="1200" dirty="0"/>
          </a:p>
          <a:p>
            <a:pPr marL="177800" indent="-177800">
              <a:spcAft>
                <a:spcPts val="700"/>
              </a:spcAft>
              <a:buSzPct val="100000"/>
              <a:buChar char="▸"/>
            </a:pPr>
            <a:r>
              <a:rPr lang="en-US" sz="1200" dirty="0">
                <a:solidFill>
                  <a:srgbClr val="3E3E5A"/>
                </a:solidFill>
                <a:latin typeface="Cambria" pitchFamily="34" charset="0"/>
                <a:ea typeface="Cambria" pitchFamily="34" charset="-122"/>
                <a:cs typeface="Cambria" pitchFamily="34" charset="-120"/>
              </a:rPr>
              <a:t>Never embed a password in the .rpt file</a:t>
            </a:r>
            <a:endParaRPr lang="en-US" sz="1200" dirty="0"/>
          </a:p>
        </p:txBody>
      </p:sp>
      <p:sp>
        <p:nvSpPr>
          <p:cNvPr id="21" name="Shape 19"/>
          <p:cNvSpPr/>
          <p:nvPr/>
        </p:nvSpPr>
        <p:spPr>
          <a:xfrm>
            <a:off x="0" y="6400800"/>
            <a:ext cx="3840480" cy="457200"/>
          </a:xfrm>
          <a:prstGeom prst="rect">
            <a:avLst/>
          </a:prstGeom>
          <a:solidFill>
            <a:srgbClr val="22226B"/>
          </a:solidFill>
          <a:ln w="12700">
            <a:solidFill>
              <a:srgbClr val="22226B"/>
            </a:solidFill>
            <a:prstDash val="solid"/>
          </a:ln>
        </p:spPr>
      </p:sp>
      <p:sp>
        <p:nvSpPr>
          <p:cNvPr id="22" name="Text 20"/>
          <p:cNvSpPr txBox="1"/>
          <p:nvPr/>
        </p:nvSpPr>
        <p:spPr>
          <a:xfrm>
            <a:off x="164592" y="6400800"/>
            <a:ext cx="351129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HAL  ·  .NET, React &amp; SQL Programme</a:t>
            </a:r>
            <a:endParaRPr lang="en-US" sz="950" dirty="0"/>
          </a:p>
        </p:txBody>
      </p:sp>
      <p:sp>
        <p:nvSpPr>
          <p:cNvPr id="23" name="Shape 21"/>
          <p:cNvSpPr/>
          <p:nvPr/>
        </p:nvSpPr>
        <p:spPr>
          <a:xfrm>
            <a:off x="3840480" y="6400800"/>
            <a:ext cx="6675120" cy="457200"/>
          </a:xfrm>
          <a:prstGeom prst="rect">
            <a:avLst/>
          </a:prstGeom>
          <a:solidFill>
            <a:srgbClr val="3333B3"/>
          </a:solidFill>
          <a:ln w="12700">
            <a:solidFill>
              <a:srgbClr val="3333B3"/>
            </a:solidFill>
            <a:prstDash val="solid"/>
          </a:ln>
        </p:spPr>
      </p:sp>
      <p:sp>
        <p:nvSpPr>
          <p:cNvPr id="24" name="Text 22"/>
          <p:cNvSpPr txBox="1"/>
          <p:nvPr/>
        </p:nvSpPr>
        <p:spPr>
          <a:xfrm>
            <a:off x="4005072" y="6400800"/>
            <a:ext cx="634593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Day 3 · Session 1 — Crystal Reports Basics</a:t>
            </a:r>
            <a:endParaRPr lang="en-US" sz="950" dirty="0"/>
          </a:p>
        </p:txBody>
      </p:sp>
      <p:sp>
        <p:nvSpPr>
          <p:cNvPr id="25" name="Shape 23"/>
          <p:cNvSpPr/>
          <p:nvPr/>
        </p:nvSpPr>
        <p:spPr>
          <a:xfrm>
            <a:off x="10515600" y="6400800"/>
            <a:ext cx="1676095" cy="457200"/>
          </a:xfrm>
          <a:prstGeom prst="rect">
            <a:avLst/>
          </a:prstGeom>
          <a:solidFill>
            <a:srgbClr val="22226B"/>
          </a:solidFill>
          <a:ln w="12700">
            <a:solidFill>
              <a:srgbClr val="22226B"/>
            </a:solidFill>
            <a:prstDash val="solid"/>
          </a:ln>
        </p:spPr>
      </p:sp>
      <p:sp>
        <p:nvSpPr>
          <p:cNvPr id="26" name="Text 24"/>
          <p:cNvSpPr txBox="1"/>
          <p:nvPr/>
        </p:nvSpPr>
        <p:spPr>
          <a:xfrm>
            <a:off x="10680192" y="6400800"/>
            <a:ext cx="1346911" cy="457200"/>
          </a:xfrm>
          <a:prstGeom prst="rect">
            <a:avLst/>
          </a:prstGeom>
          <a:noFill/>
          <a:ln/>
        </p:spPr>
        <p:txBody>
          <a:bodyPr wrap="square" lIns="0" tIns="0" rIns="0" bIns="0" rtlCol="0" anchor="ctr"/>
          <a:lstStyle/>
          <a:p>
            <a:pPr algn="ctr" indent="0" marL="0">
              <a:buNone/>
            </a:pPr>
            <a:r>
              <a:rPr lang="en-US" sz="950" dirty="0">
                <a:solidFill>
                  <a:srgbClr val="FFFFFF"/>
                </a:solidFill>
                <a:latin typeface="Cambria" pitchFamily="34" charset="0"/>
                <a:ea typeface="Cambria" pitchFamily="34" charset="-122"/>
                <a:cs typeface="Cambria"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365760"/>
          </a:xfrm>
          <a:prstGeom prst="rect">
            <a:avLst/>
          </a:prstGeom>
          <a:solidFill>
            <a:srgbClr val="22226B"/>
          </a:solidFill>
          <a:ln w="12700">
            <a:solidFill>
              <a:srgbClr val="22226B"/>
            </a:solidFill>
            <a:prstDash val="solid"/>
          </a:ln>
        </p:spPr>
      </p:sp>
      <p:sp>
        <p:nvSpPr>
          <p:cNvPr id="3" name="Text 1"/>
          <p:cNvSpPr txBox="1"/>
          <p:nvPr/>
        </p:nvSpPr>
        <p:spPr>
          <a:xfrm>
            <a:off x="594360" y="0"/>
            <a:ext cx="11002975" cy="365760"/>
          </a:xfrm>
          <a:prstGeom prst="rect">
            <a:avLst/>
          </a:prstGeom>
          <a:noFill/>
          <a:ln/>
        </p:spPr>
        <p:txBody>
          <a:bodyPr wrap="square" lIns="0" tIns="0" rIns="0" bIns="0" rtlCol="0" anchor="ctr"/>
          <a:lstStyle/>
          <a:p>
            <a:pPr indent="0" marL="0">
              <a:buNone/>
            </a:pPr>
            <a:r>
              <a:rPr lang="en-US" sz="1000" b="1" spc="180" kern="0" dirty="0">
                <a:solidFill>
                  <a:srgbClr val="C9C9EA"/>
                </a:solidFill>
                <a:latin typeface="Cambria" pitchFamily="34" charset="0"/>
                <a:ea typeface="Cambria" pitchFamily="34" charset="-122"/>
                <a:cs typeface="Cambria" pitchFamily="34" charset="-120"/>
              </a:rPr>
              <a:t>DESIGNING A REPORT PEOPLE TRUST</a:t>
            </a:r>
            <a:endParaRPr lang="en-US" sz="1000" dirty="0"/>
          </a:p>
        </p:txBody>
      </p:sp>
      <p:sp>
        <p:nvSpPr>
          <p:cNvPr id="4" name="Shape 2"/>
          <p:cNvSpPr/>
          <p:nvPr/>
        </p:nvSpPr>
        <p:spPr>
          <a:xfrm>
            <a:off x="0" y="365760"/>
            <a:ext cx="12191695" cy="841248"/>
          </a:xfrm>
          <a:prstGeom prst="rect">
            <a:avLst/>
          </a:prstGeom>
          <a:solidFill>
            <a:srgbClr val="3333B3"/>
          </a:solidFill>
          <a:ln w="12700">
            <a:solidFill>
              <a:srgbClr val="3333B3"/>
            </a:solidFill>
            <a:prstDash val="solid"/>
          </a:ln>
        </p:spPr>
      </p:sp>
      <p:sp>
        <p:nvSpPr>
          <p:cNvPr id="5" name="Text 3"/>
          <p:cNvSpPr txBox="1"/>
          <p:nvPr/>
        </p:nvSpPr>
        <p:spPr>
          <a:xfrm>
            <a:off x="594360" y="365760"/>
            <a:ext cx="11002975" cy="84124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Beyond getting the numbers out</a:t>
            </a:r>
            <a:endParaRPr lang="en-US" sz="2600" dirty="0"/>
          </a:p>
        </p:txBody>
      </p:sp>
      <p:sp>
        <p:nvSpPr>
          <p:cNvPr id="6" name="Shape 4"/>
          <p:cNvSpPr/>
          <p:nvPr/>
        </p:nvSpPr>
        <p:spPr>
          <a:xfrm>
            <a:off x="594360" y="1627632"/>
            <a:ext cx="5394960" cy="384048"/>
          </a:xfrm>
          <a:prstGeom prst="rect">
            <a:avLst/>
          </a:prstGeom>
          <a:solidFill>
            <a:srgbClr val="22226B"/>
          </a:solidFill>
          <a:ln w="12700">
            <a:solidFill>
              <a:srgbClr val="22226B"/>
            </a:solidFill>
            <a:prstDash val="solid"/>
          </a:ln>
        </p:spPr>
      </p:sp>
      <p:sp>
        <p:nvSpPr>
          <p:cNvPr id="7" name="Text 5"/>
          <p:cNvSpPr txBox="1"/>
          <p:nvPr/>
        </p:nvSpPr>
        <p:spPr>
          <a:xfrm>
            <a:off x="777240" y="1627632"/>
            <a:ext cx="5029200" cy="384048"/>
          </a:xfrm>
          <a:prstGeom prst="rect">
            <a:avLst/>
          </a:prstGeom>
          <a:noFill/>
          <a:ln/>
        </p:spPr>
        <p:txBody>
          <a:bodyPr wrap="square" lIns="0" tIns="0" rIns="0" bIns="0" rtlCol="0" anchor="ctr"/>
          <a:lstStyle/>
          <a:p>
            <a:pPr indent="0" marL="0">
              <a:buNone/>
            </a:pPr>
            <a:r>
              <a:rPr lang="en-US" sz="1250" b="1" spc="40" kern="0" dirty="0">
                <a:solidFill>
                  <a:srgbClr val="FFFFFF"/>
                </a:solidFill>
                <a:latin typeface="Cambria" pitchFamily="34" charset="0"/>
                <a:ea typeface="Cambria" pitchFamily="34" charset="-122"/>
                <a:cs typeface="Cambria" pitchFamily="34" charset="-120"/>
              </a:rPr>
              <a:t>EVERY REPORT MUST CARRY</a:t>
            </a:r>
            <a:endParaRPr lang="en-US" sz="1250" dirty="0"/>
          </a:p>
        </p:txBody>
      </p:sp>
      <p:sp>
        <p:nvSpPr>
          <p:cNvPr id="8" name="Shape 6"/>
          <p:cNvSpPr/>
          <p:nvPr/>
        </p:nvSpPr>
        <p:spPr>
          <a:xfrm>
            <a:off x="594360" y="2139696"/>
            <a:ext cx="5394960" cy="2834640"/>
          </a:xfrm>
          <a:prstGeom prst="rect">
            <a:avLst/>
          </a:prstGeom>
          <a:solidFill>
            <a:srgbClr val="FFFFFF"/>
          </a:solidFill>
          <a:ln w="9525">
            <a:solidFill>
              <a:srgbClr val="C9C9EA"/>
            </a:solidFill>
            <a:prstDash val="solid"/>
          </a:ln>
        </p:spPr>
      </p:sp>
      <p:sp>
        <p:nvSpPr>
          <p:cNvPr id="9" name="Text 7"/>
          <p:cNvSpPr txBox="1"/>
          <p:nvPr/>
        </p:nvSpPr>
        <p:spPr>
          <a:xfrm>
            <a:off x="813816" y="2286000"/>
            <a:ext cx="4956048" cy="256032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3E3E5A"/>
                </a:solidFill>
                <a:latin typeface="Cambria" pitchFamily="34" charset="0"/>
                <a:ea typeface="Cambria" pitchFamily="34" charset="-122"/>
                <a:cs typeface="Cambria" pitchFamily="34" charset="-120"/>
              </a:rPr>
              <a:t>A title that says exactly what it shows</a:t>
            </a:r>
            <a:endParaRPr lang="en-US" sz="1250" dirty="0"/>
          </a:p>
          <a:p>
            <a:pPr marL="177800" indent="-177800">
              <a:spcAft>
                <a:spcPts val="700"/>
              </a:spcAft>
              <a:buSzPct val="100000"/>
              <a:buChar char="▸"/>
            </a:pPr>
            <a:r>
              <a:rPr lang="en-US" sz="1250" dirty="0">
                <a:solidFill>
                  <a:srgbClr val="3E3E5A"/>
                </a:solidFill>
                <a:latin typeface="Cambria" pitchFamily="34" charset="0"/>
                <a:ea typeface="Cambria" pitchFamily="34" charset="-122"/>
                <a:cs typeface="Cambria" pitchFamily="34" charset="-120"/>
              </a:rPr>
              <a:t>The selection criteria that produced it</a:t>
            </a:r>
            <a:endParaRPr lang="en-US" sz="1250" dirty="0"/>
          </a:p>
          <a:p>
            <a:pPr marL="177800" indent="-177800">
              <a:spcAft>
                <a:spcPts val="700"/>
              </a:spcAft>
              <a:buSzPct val="100000"/>
              <a:buChar char="▸"/>
            </a:pPr>
            <a:r>
              <a:rPr lang="en-US" sz="1250" dirty="0">
                <a:solidFill>
                  <a:srgbClr val="3E3E5A"/>
                </a:solidFill>
                <a:latin typeface="Cambria" pitchFamily="34" charset="0"/>
                <a:ea typeface="Cambria" pitchFamily="34" charset="-122"/>
                <a:cs typeface="Cambria" pitchFamily="34" charset="-120"/>
              </a:rPr>
              <a:t>The date and time it was run</a:t>
            </a:r>
            <a:endParaRPr lang="en-US" sz="1250" dirty="0"/>
          </a:p>
          <a:p>
            <a:pPr marL="177800" indent="-177800">
              <a:spcAft>
                <a:spcPts val="700"/>
              </a:spcAft>
              <a:buSzPct val="100000"/>
              <a:buChar char="▸"/>
            </a:pPr>
            <a:r>
              <a:rPr lang="en-US" sz="1250" dirty="0">
                <a:solidFill>
                  <a:srgbClr val="3E3E5A"/>
                </a:solidFill>
                <a:latin typeface="Cambria" pitchFamily="34" charset="0"/>
                <a:ea typeface="Cambria" pitchFamily="34" charset="-122"/>
                <a:cs typeface="Cambria" pitchFamily="34" charset="-120"/>
              </a:rPr>
              <a:t>Page numbers, as "page 2 of 7"</a:t>
            </a:r>
            <a:endParaRPr lang="en-US" sz="1250" dirty="0"/>
          </a:p>
          <a:p>
            <a:pPr marL="177800" indent="-177800">
              <a:spcAft>
                <a:spcPts val="700"/>
              </a:spcAft>
              <a:buSzPct val="100000"/>
              <a:buChar char="▸"/>
            </a:pPr>
            <a:r>
              <a:rPr lang="en-US" sz="1250" dirty="0">
                <a:solidFill>
                  <a:srgbClr val="3E3E5A"/>
                </a:solidFill>
                <a:latin typeface="Cambria" pitchFamily="34" charset="0"/>
                <a:ea typeface="Cambria" pitchFamily="34" charset="-122"/>
                <a:cs typeface="Cambria" pitchFamily="34" charset="-120"/>
              </a:rPr>
              <a:t>Any classification or handling marking</a:t>
            </a:r>
            <a:endParaRPr lang="en-US" sz="1250" dirty="0"/>
          </a:p>
          <a:p>
            <a:pPr marL="177800" indent="-177800">
              <a:spcAft>
                <a:spcPts val="700"/>
              </a:spcAft>
              <a:buSzPct val="100000"/>
              <a:buChar char="▸"/>
            </a:pPr>
            <a:r>
              <a:rPr lang="en-US" sz="1250" dirty="0">
                <a:solidFill>
                  <a:srgbClr val="3E3E5A"/>
                </a:solidFill>
                <a:latin typeface="Cambria" pitchFamily="34" charset="0"/>
                <a:ea typeface="Cambria" pitchFamily="34" charset="-122"/>
                <a:cs typeface="Cambria" pitchFamily="34" charset="-120"/>
              </a:rPr>
              <a:t>A clear end — "end of report" beats a page that just stops</a:t>
            </a:r>
            <a:endParaRPr lang="en-US" sz="1250" dirty="0"/>
          </a:p>
        </p:txBody>
      </p:sp>
      <p:sp>
        <p:nvSpPr>
          <p:cNvPr id="10" name="Shape 8"/>
          <p:cNvSpPr/>
          <p:nvPr/>
        </p:nvSpPr>
        <p:spPr>
          <a:xfrm>
            <a:off x="6199632" y="1627632"/>
            <a:ext cx="5394960" cy="384048"/>
          </a:xfrm>
          <a:prstGeom prst="rect">
            <a:avLst/>
          </a:prstGeom>
          <a:solidFill>
            <a:srgbClr val="3333B3"/>
          </a:solidFill>
          <a:ln w="12700">
            <a:solidFill>
              <a:srgbClr val="3333B3"/>
            </a:solidFill>
            <a:prstDash val="solid"/>
          </a:ln>
        </p:spPr>
      </p:sp>
      <p:sp>
        <p:nvSpPr>
          <p:cNvPr id="11" name="Text 9"/>
          <p:cNvSpPr txBox="1"/>
          <p:nvPr/>
        </p:nvSpPr>
        <p:spPr>
          <a:xfrm>
            <a:off x="6382512" y="1627632"/>
            <a:ext cx="5029200" cy="384048"/>
          </a:xfrm>
          <a:prstGeom prst="rect">
            <a:avLst/>
          </a:prstGeom>
          <a:noFill/>
          <a:ln/>
        </p:spPr>
        <p:txBody>
          <a:bodyPr wrap="square" lIns="0" tIns="0" rIns="0" bIns="0" rtlCol="0" anchor="ctr"/>
          <a:lstStyle/>
          <a:p>
            <a:pPr indent="0" marL="0">
              <a:buNone/>
            </a:pPr>
            <a:r>
              <a:rPr lang="en-US" sz="1250" b="1" spc="40" kern="0" dirty="0">
                <a:solidFill>
                  <a:srgbClr val="FFFFFF"/>
                </a:solidFill>
                <a:latin typeface="Cambria" pitchFamily="34" charset="0"/>
                <a:ea typeface="Cambria" pitchFamily="34" charset="-122"/>
                <a:cs typeface="Cambria" pitchFamily="34" charset="-120"/>
              </a:rPr>
              <a:t>WHAT MAKES IT READABLE</a:t>
            </a:r>
            <a:endParaRPr lang="en-US" sz="1250" dirty="0"/>
          </a:p>
        </p:txBody>
      </p:sp>
      <p:sp>
        <p:nvSpPr>
          <p:cNvPr id="12" name="Shape 10"/>
          <p:cNvSpPr/>
          <p:nvPr/>
        </p:nvSpPr>
        <p:spPr>
          <a:xfrm>
            <a:off x="6199632" y="2139696"/>
            <a:ext cx="5394960" cy="2834640"/>
          </a:xfrm>
          <a:prstGeom prst="rect">
            <a:avLst/>
          </a:prstGeom>
          <a:solidFill>
            <a:srgbClr val="FFFFFF"/>
          </a:solidFill>
          <a:ln w="9525">
            <a:solidFill>
              <a:srgbClr val="C9C9EA"/>
            </a:solidFill>
            <a:prstDash val="solid"/>
          </a:ln>
        </p:spPr>
      </p:sp>
      <p:sp>
        <p:nvSpPr>
          <p:cNvPr id="13" name="Text 11"/>
          <p:cNvSpPr txBox="1"/>
          <p:nvPr/>
        </p:nvSpPr>
        <p:spPr>
          <a:xfrm>
            <a:off x="6419088" y="2286000"/>
            <a:ext cx="4956048" cy="256032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3E3E5A"/>
                </a:solidFill>
                <a:latin typeface="Cambria" pitchFamily="34" charset="0"/>
                <a:ea typeface="Cambria" pitchFamily="34" charset="-122"/>
                <a:cs typeface="Cambria" pitchFamily="34" charset="-120"/>
              </a:rPr>
              <a:t>Numbers right-aligned, with consistent decimals</a:t>
            </a:r>
            <a:endParaRPr lang="en-US" sz="1250" dirty="0"/>
          </a:p>
          <a:p>
            <a:pPr marL="177800" indent="-177800">
              <a:spcAft>
                <a:spcPts val="700"/>
              </a:spcAft>
              <a:buSzPct val="100000"/>
              <a:buChar char="▸"/>
            </a:pPr>
            <a:r>
              <a:rPr lang="en-US" sz="1250" dirty="0">
                <a:solidFill>
                  <a:srgbClr val="3E3E5A"/>
                </a:solidFill>
                <a:latin typeface="Cambria" pitchFamily="34" charset="0"/>
                <a:ea typeface="Cambria" pitchFamily="34" charset="-122"/>
                <a:cs typeface="Cambria" pitchFamily="34" charset="-120"/>
              </a:rPr>
              <a:t>Dates in one unambiguous format throughout</a:t>
            </a:r>
            <a:endParaRPr lang="en-US" sz="1250" dirty="0"/>
          </a:p>
          <a:p>
            <a:pPr marL="177800" indent="-177800">
              <a:spcAft>
                <a:spcPts val="700"/>
              </a:spcAft>
              <a:buSzPct val="100000"/>
              <a:buChar char="▸"/>
            </a:pPr>
            <a:r>
              <a:rPr lang="en-US" sz="1250" dirty="0">
                <a:solidFill>
                  <a:srgbClr val="3E3E5A"/>
                </a:solidFill>
                <a:latin typeface="Cambria" pitchFamily="34" charset="0"/>
                <a:ea typeface="Cambria" pitchFamily="34" charset="-122"/>
                <a:cs typeface="Cambria" pitchFamily="34" charset="-120"/>
              </a:rPr>
              <a:t>Column headings that repeat on every page</a:t>
            </a:r>
            <a:endParaRPr lang="en-US" sz="1250" dirty="0"/>
          </a:p>
          <a:p>
            <a:pPr marL="177800" indent="-177800">
              <a:spcAft>
                <a:spcPts val="700"/>
              </a:spcAft>
              <a:buSzPct val="100000"/>
              <a:buChar char="▸"/>
            </a:pPr>
            <a:r>
              <a:rPr lang="en-US" sz="1250" dirty="0">
                <a:solidFill>
                  <a:srgbClr val="3E3E5A"/>
                </a:solidFill>
                <a:latin typeface="Cambria" pitchFamily="34" charset="0"/>
                <a:ea typeface="Cambria" pitchFamily="34" charset="-122"/>
                <a:cs typeface="Cambria" pitchFamily="34" charset="-120"/>
              </a:rPr>
              <a:t>Enough white space to follow a row across</a:t>
            </a:r>
            <a:endParaRPr lang="en-US" sz="1250" dirty="0"/>
          </a:p>
          <a:p>
            <a:pPr marL="177800" indent="-177800">
              <a:spcAft>
                <a:spcPts val="700"/>
              </a:spcAft>
              <a:buSzPct val="100000"/>
              <a:buChar char="▸"/>
            </a:pPr>
            <a:r>
              <a:rPr lang="en-US" sz="1250" dirty="0">
                <a:solidFill>
                  <a:srgbClr val="3E3E5A"/>
                </a:solidFill>
                <a:latin typeface="Cambria" pitchFamily="34" charset="0"/>
                <a:ea typeface="Cambria" pitchFamily="34" charset="-122"/>
                <a:cs typeface="Cambria" pitchFamily="34" charset="-120"/>
              </a:rPr>
              <a:t>One font, two sizes — a report is not a poster</a:t>
            </a:r>
            <a:endParaRPr lang="en-US" sz="1250" dirty="0"/>
          </a:p>
        </p:txBody>
      </p:sp>
      <p:sp>
        <p:nvSpPr>
          <p:cNvPr id="14" name="Shape 12"/>
          <p:cNvSpPr/>
          <p:nvPr/>
        </p:nvSpPr>
        <p:spPr>
          <a:xfrm>
            <a:off x="594360" y="5193792"/>
            <a:ext cx="11002975" cy="640080"/>
          </a:xfrm>
          <a:prstGeom prst="rect">
            <a:avLst/>
          </a:prstGeom>
          <a:solidFill>
            <a:srgbClr val="FBECEC"/>
          </a:solidFill>
          <a:ln w="12700">
            <a:solidFill>
              <a:srgbClr val="A00000"/>
            </a:solidFill>
            <a:prstDash val="solid"/>
          </a:ln>
        </p:spPr>
      </p:sp>
      <p:sp>
        <p:nvSpPr>
          <p:cNvPr id="15" name="Text 13"/>
          <p:cNvSpPr txBox="1"/>
          <p:nvPr/>
        </p:nvSpPr>
        <p:spPr>
          <a:xfrm>
            <a:off x="832104" y="5193792"/>
            <a:ext cx="10527487" cy="640080"/>
          </a:xfrm>
          <a:prstGeom prst="rect">
            <a:avLst/>
          </a:prstGeom>
          <a:noFill/>
          <a:ln/>
        </p:spPr>
        <p:txBody>
          <a:bodyPr wrap="square" lIns="0" tIns="0" rIns="0" bIns="0" rtlCol="0" anchor="ctr"/>
          <a:lstStyle/>
          <a:p>
            <a:pPr indent="0" marL="0">
              <a:lnSpc>
                <a:spcPts val="1690"/>
              </a:lnSpc>
              <a:buNone/>
            </a:pPr>
            <a:r>
              <a:rPr lang="en-US" sz="1300" b="1" dirty="0">
                <a:solidFill>
                  <a:srgbClr val="7A0000"/>
                </a:solidFill>
                <a:latin typeface="Cambria" pitchFamily="34" charset="0"/>
                <a:ea typeface="Cambria" pitchFamily="34" charset="-122"/>
                <a:cs typeface="Cambria" pitchFamily="34" charset="-120"/>
              </a:rPr>
              <a:t>A printed report with no date and no selection criteria cannot be reproduced or defended. Treat both as mandatory.</a:t>
            </a:r>
            <a:endParaRPr lang="en-US" sz="1300" dirty="0"/>
          </a:p>
        </p:txBody>
      </p:sp>
      <p:sp>
        <p:nvSpPr>
          <p:cNvPr id="16" name="Shape 14"/>
          <p:cNvSpPr/>
          <p:nvPr/>
        </p:nvSpPr>
        <p:spPr>
          <a:xfrm>
            <a:off x="0" y="6400800"/>
            <a:ext cx="3840480" cy="457200"/>
          </a:xfrm>
          <a:prstGeom prst="rect">
            <a:avLst/>
          </a:prstGeom>
          <a:solidFill>
            <a:srgbClr val="22226B"/>
          </a:solidFill>
          <a:ln w="12700">
            <a:solidFill>
              <a:srgbClr val="22226B"/>
            </a:solidFill>
            <a:prstDash val="solid"/>
          </a:ln>
        </p:spPr>
      </p:sp>
      <p:sp>
        <p:nvSpPr>
          <p:cNvPr id="17" name="Text 15"/>
          <p:cNvSpPr txBox="1"/>
          <p:nvPr/>
        </p:nvSpPr>
        <p:spPr>
          <a:xfrm>
            <a:off x="164592" y="6400800"/>
            <a:ext cx="351129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HAL  ·  .NET, React &amp; SQL Programme</a:t>
            </a:r>
            <a:endParaRPr lang="en-US" sz="950" dirty="0"/>
          </a:p>
        </p:txBody>
      </p:sp>
      <p:sp>
        <p:nvSpPr>
          <p:cNvPr id="18" name="Shape 16"/>
          <p:cNvSpPr/>
          <p:nvPr/>
        </p:nvSpPr>
        <p:spPr>
          <a:xfrm>
            <a:off x="3840480" y="6400800"/>
            <a:ext cx="6675120" cy="457200"/>
          </a:xfrm>
          <a:prstGeom prst="rect">
            <a:avLst/>
          </a:prstGeom>
          <a:solidFill>
            <a:srgbClr val="3333B3"/>
          </a:solidFill>
          <a:ln w="12700">
            <a:solidFill>
              <a:srgbClr val="3333B3"/>
            </a:solidFill>
            <a:prstDash val="solid"/>
          </a:ln>
        </p:spPr>
      </p:sp>
      <p:sp>
        <p:nvSpPr>
          <p:cNvPr id="19" name="Text 17"/>
          <p:cNvSpPr txBox="1"/>
          <p:nvPr/>
        </p:nvSpPr>
        <p:spPr>
          <a:xfrm>
            <a:off x="4005072" y="6400800"/>
            <a:ext cx="634593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Day 3 · Session 1 — Crystal Reports Basics</a:t>
            </a:r>
            <a:endParaRPr lang="en-US" sz="950" dirty="0"/>
          </a:p>
        </p:txBody>
      </p:sp>
      <p:sp>
        <p:nvSpPr>
          <p:cNvPr id="20" name="Shape 18"/>
          <p:cNvSpPr/>
          <p:nvPr/>
        </p:nvSpPr>
        <p:spPr>
          <a:xfrm>
            <a:off x="10515600" y="6400800"/>
            <a:ext cx="1676095" cy="457200"/>
          </a:xfrm>
          <a:prstGeom prst="rect">
            <a:avLst/>
          </a:prstGeom>
          <a:solidFill>
            <a:srgbClr val="22226B"/>
          </a:solidFill>
          <a:ln w="12700">
            <a:solidFill>
              <a:srgbClr val="22226B"/>
            </a:solidFill>
            <a:prstDash val="solid"/>
          </a:ln>
        </p:spPr>
      </p:sp>
      <p:sp>
        <p:nvSpPr>
          <p:cNvPr id="21" name="Text 19"/>
          <p:cNvSpPr txBox="1"/>
          <p:nvPr/>
        </p:nvSpPr>
        <p:spPr>
          <a:xfrm>
            <a:off x="10680192" y="6400800"/>
            <a:ext cx="1346911" cy="457200"/>
          </a:xfrm>
          <a:prstGeom prst="rect">
            <a:avLst/>
          </a:prstGeom>
          <a:noFill/>
          <a:ln/>
        </p:spPr>
        <p:txBody>
          <a:bodyPr wrap="square" lIns="0" tIns="0" rIns="0" bIns="0" rtlCol="0" anchor="ctr"/>
          <a:lstStyle/>
          <a:p>
            <a:pPr algn="ctr" indent="0" marL="0">
              <a:buNone/>
            </a:pPr>
            <a:r>
              <a:rPr lang="en-US" sz="950" dirty="0">
                <a:solidFill>
                  <a:srgbClr val="FFFFFF"/>
                </a:solidFill>
                <a:latin typeface="Cambria" pitchFamily="34" charset="0"/>
                <a:ea typeface="Cambria" pitchFamily="34" charset="-122"/>
                <a:cs typeface="Cambria"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365760"/>
          </a:xfrm>
          <a:prstGeom prst="rect">
            <a:avLst/>
          </a:prstGeom>
          <a:solidFill>
            <a:srgbClr val="22226B"/>
          </a:solidFill>
          <a:ln w="12700">
            <a:solidFill>
              <a:srgbClr val="22226B"/>
            </a:solidFill>
            <a:prstDash val="solid"/>
          </a:ln>
        </p:spPr>
      </p:sp>
      <p:sp>
        <p:nvSpPr>
          <p:cNvPr id="3" name="Text 1"/>
          <p:cNvSpPr txBox="1"/>
          <p:nvPr/>
        </p:nvSpPr>
        <p:spPr>
          <a:xfrm>
            <a:off x="594360" y="0"/>
            <a:ext cx="11002975" cy="365760"/>
          </a:xfrm>
          <a:prstGeom prst="rect">
            <a:avLst/>
          </a:prstGeom>
          <a:noFill/>
          <a:ln/>
        </p:spPr>
        <p:txBody>
          <a:bodyPr wrap="square" lIns="0" tIns="0" rIns="0" bIns="0" rtlCol="0" anchor="ctr"/>
          <a:lstStyle/>
          <a:p>
            <a:pPr indent="0" marL="0">
              <a:buNone/>
            </a:pPr>
            <a:r>
              <a:rPr lang="en-US" sz="1000" b="1" spc="180" kern="0" dirty="0">
                <a:solidFill>
                  <a:srgbClr val="C9C9EA"/>
                </a:solidFill>
                <a:latin typeface="Cambria" pitchFamily="34" charset="0"/>
                <a:ea typeface="Cambria" pitchFamily="34" charset="-122"/>
                <a:cs typeface="Cambria" pitchFamily="34" charset="-120"/>
              </a:rPr>
              <a:t>DEMONSTRATION</a:t>
            </a:r>
            <a:endParaRPr lang="en-US" sz="1000" dirty="0"/>
          </a:p>
        </p:txBody>
      </p:sp>
      <p:sp>
        <p:nvSpPr>
          <p:cNvPr id="4" name="Shape 2"/>
          <p:cNvSpPr/>
          <p:nvPr/>
        </p:nvSpPr>
        <p:spPr>
          <a:xfrm>
            <a:off x="0" y="365760"/>
            <a:ext cx="12191695" cy="841248"/>
          </a:xfrm>
          <a:prstGeom prst="rect">
            <a:avLst/>
          </a:prstGeom>
          <a:solidFill>
            <a:srgbClr val="3333B3"/>
          </a:solidFill>
          <a:ln w="12700">
            <a:solidFill>
              <a:srgbClr val="3333B3"/>
            </a:solidFill>
            <a:prstDash val="solid"/>
          </a:ln>
        </p:spPr>
      </p:sp>
      <p:sp>
        <p:nvSpPr>
          <p:cNvPr id="5" name="Text 3"/>
          <p:cNvSpPr txBox="1"/>
          <p:nvPr/>
        </p:nvSpPr>
        <p:spPr>
          <a:xfrm>
            <a:off x="594360" y="365760"/>
            <a:ext cx="11002975" cy="84124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 spares consumption report</a:t>
            </a:r>
            <a:endParaRPr lang="en-US" sz="2600" dirty="0"/>
          </a:p>
        </p:txBody>
      </p:sp>
      <p:sp>
        <p:nvSpPr>
          <p:cNvPr id="6" name="Shape 4"/>
          <p:cNvSpPr/>
          <p:nvPr/>
        </p:nvSpPr>
        <p:spPr>
          <a:xfrm>
            <a:off x="594360" y="1627632"/>
            <a:ext cx="6035040" cy="4315968"/>
          </a:xfrm>
          <a:prstGeom prst="roundRect">
            <a:avLst>
              <a:gd name="adj" fmla="val 1059"/>
            </a:avLst>
          </a:prstGeom>
          <a:solidFill>
            <a:srgbClr val="FFFFFF"/>
          </a:solidFill>
          <a:ln w="12700">
            <a:solidFill>
              <a:srgbClr val="DDE3E9"/>
            </a:solidFill>
            <a:prstDash val="solid"/>
          </a:ln>
          <a:effectLst>
            <a:outerShdw sx="100000" sy="100000" kx="0" ky="0" algn="bl" rotWithShape="0" blurRad="50800" dist="12700" dir="5400000">
              <a:srgbClr val="B6B6D2">
                <a:alpha val="30000"/>
              </a:srgbClr>
            </a:outerShdw>
          </a:effectLst>
        </p:spPr>
      </p:sp>
      <p:sp>
        <p:nvSpPr>
          <p:cNvPr id="7" name="Text 5"/>
          <p:cNvSpPr txBox="1"/>
          <p:nvPr/>
        </p:nvSpPr>
        <p:spPr>
          <a:xfrm>
            <a:off x="868680" y="1828800"/>
            <a:ext cx="5486400" cy="274320"/>
          </a:xfrm>
          <a:prstGeom prst="rect">
            <a:avLst/>
          </a:prstGeom>
          <a:noFill/>
          <a:ln/>
        </p:spPr>
        <p:txBody>
          <a:bodyPr wrap="square" lIns="0" tIns="0" rIns="0" bIns="0" rtlCol="0" anchor="ctr"/>
          <a:lstStyle/>
          <a:p>
            <a:pPr indent="0" marL="0">
              <a:buNone/>
            </a:pPr>
            <a:r>
              <a:rPr lang="en-US" sz="1100" b="1" spc="160" kern="0" dirty="0">
                <a:solidFill>
                  <a:srgbClr val="3333B3"/>
                </a:solidFill>
                <a:latin typeface="Cambria" pitchFamily="34" charset="0"/>
                <a:ea typeface="Cambria" pitchFamily="34" charset="-122"/>
                <a:cs typeface="Cambria" pitchFamily="34" charset="-120"/>
              </a:rPr>
              <a:t>SPARES CONSUMPTION — QUARTER TO DATE</a:t>
            </a:r>
            <a:endParaRPr lang="en-US" sz="1100" dirty="0"/>
          </a:p>
        </p:txBody>
      </p:sp>
      <p:sp>
        <p:nvSpPr>
          <p:cNvPr id="8" name="Text 6"/>
          <p:cNvSpPr txBox="1"/>
          <p:nvPr/>
        </p:nvSpPr>
        <p:spPr>
          <a:xfrm>
            <a:off x="868680" y="2103120"/>
            <a:ext cx="5486400" cy="256032"/>
          </a:xfrm>
          <a:prstGeom prst="rect">
            <a:avLst/>
          </a:prstGeom>
          <a:noFill/>
          <a:ln/>
        </p:spPr>
        <p:txBody>
          <a:bodyPr wrap="square" lIns="0" tIns="0" rIns="0" bIns="0" rtlCol="0" anchor="ctr"/>
          <a:lstStyle/>
          <a:p>
            <a:pPr indent="0" marL="0">
              <a:buNone/>
            </a:pPr>
            <a:r>
              <a:rPr lang="en-US" sz="1100" i="1" dirty="0">
                <a:solidFill>
                  <a:srgbClr val="3E3E5A"/>
                </a:solidFill>
                <a:latin typeface="Cambria" pitchFamily="34" charset="0"/>
                <a:ea typeface="Cambria" pitchFamily="34" charset="-122"/>
                <a:cs typeface="Cambria" pitchFamily="34" charset="-120"/>
              </a:rPr>
              <a:t>Grouped by month · issued against work orders</a:t>
            </a:r>
            <a:endParaRPr lang="en-US" sz="1100" dirty="0"/>
          </a:p>
        </p:txBody>
      </p:sp>
      <p:sp>
        <p:nvSpPr>
          <p:cNvPr id="9" name="Shape 7"/>
          <p:cNvSpPr/>
          <p:nvPr/>
        </p:nvSpPr>
        <p:spPr>
          <a:xfrm>
            <a:off x="1298448" y="5413248"/>
            <a:ext cx="5056632" cy="0"/>
          </a:xfrm>
          <a:prstGeom prst="line">
            <a:avLst/>
          </a:prstGeom>
          <a:noFill/>
          <a:ln w="12700">
            <a:solidFill>
              <a:srgbClr val="C6D2DB"/>
            </a:solidFill>
            <a:prstDash val="solid"/>
          </a:ln>
        </p:spPr>
      </p:sp>
      <p:sp>
        <p:nvSpPr>
          <p:cNvPr id="10" name="Text 8"/>
          <p:cNvSpPr txBox="1"/>
          <p:nvPr/>
        </p:nvSpPr>
        <p:spPr>
          <a:xfrm>
            <a:off x="731520" y="5303520"/>
            <a:ext cx="475488" cy="219456"/>
          </a:xfrm>
          <a:prstGeom prst="rect">
            <a:avLst/>
          </a:prstGeom>
          <a:noFill/>
          <a:ln/>
        </p:spPr>
        <p:txBody>
          <a:bodyPr wrap="square" lIns="0" tIns="0" rIns="0" bIns="0" rtlCol="0" anchor="ctr"/>
          <a:lstStyle/>
          <a:p>
            <a:pPr algn="r" indent="0" marL="0">
              <a:buNone/>
            </a:pPr>
            <a:r>
              <a:rPr lang="en-US" sz="1000" dirty="0">
                <a:solidFill>
                  <a:srgbClr val="3E3E5A"/>
                </a:solidFill>
                <a:latin typeface="Cambria" pitchFamily="34" charset="0"/>
                <a:ea typeface="Cambria" pitchFamily="34" charset="-122"/>
                <a:cs typeface="Cambria" pitchFamily="34" charset="-120"/>
              </a:rPr>
              <a:t>0</a:t>
            </a:r>
            <a:endParaRPr lang="en-US" sz="1000" dirty="0"/>
          </a:p>
        </p:txBody>
      </p:sp>
      <p:sp>
        <p:nvSpPr>
          <p:cNvPr id="11" name="Shape 9"/>
          <p:cNvSpPr/>
          <p:nvPr/>
        </p:nvSpPr>
        <p:spPr>
          <a:xfrm>
            <a:off x="1298448" y="4965192"/>
            <a:ext cx="5056632" cy="0"/>
          </a:xfrm>
          <a:prstGeom prst="line">
            <a:avLst/>
          </a:prstGeom>
          <a:noFill/>
          <a:ln w="12700">
            <a:solidFill>
              <a:srgbClr val="E4E9ED"/>
            </a:solidFill>
            <a:prstDash val="solid"/>
          </a:ln>
        </p:spPr>
      </p:sp>
      <p:sp>
        <p:nvSpPr>
          <p:cNvPr id="12" name="Text 10"/>
          <p:cNvSpPr txBox="1"/>
          <p:nvPr/>
        </p:nvSpPr>
        <p:spPr>
          <a:xfrm>
            <a:off x="731520" y="4855464"/>
            <a:ext cx="475488" cy="219456"/>
          </a:xfrm>
          <a:prstGeom prst="rect">
            <a:avLst/>
          </a:prstGeom>
          <a:noFill/>
          <a:ln/>
        </p:spPr>
        <p:txBody>
          <a:bodyPr wrap="square" lIns="0" tIns="0" rIns="0" bIns="0" rtlCol="0" anchor="ctr"/>
          <a:lstStyle/>
          <a:p>
            <a:pPr algn="r" indent="0" marL="0">
              <a:buNone/>
            </a:pPr>
            <a:r>
              <a:rPr lang="en-US" sz="1000" dirty="0">
                <a:solidFill>
                  <a:srgbClr val="3E3E5A"/>
                </a:solidFill>
                <a:latin typeface="Cambria" pitchFamily="34" charset="0"/>
                <a:ea typeface="Cambria" pitchFamily="34" charset="-122"/>
                <a:cs typeface="Cambria" pitchFamily="34" charset="-120"/>
              </a:rPr>
              <a:t>100</a:t>
            </a:r>
            <a:endParaRPr lang="en-US" sz="1000" dirty="0"/>
          </a:p>
        </p:txBody>
      </p:sp>
      <p:sp>
        <p:nvSpPr>
          <p:cNvPr id="13" name="Shape 11"/>
          <p:cNvSpPr/>
          <p:nvPr/>
        </p:nvSpPr>
        <p:spPr>
          <a:xfrm>
            <a:off x="1298448" y="4517136"/>
            <a:ext cx="5056632" cy="0"/>
          </a:xfrm>
          <a:prstGeom prst="line">
            <a:avLst/>
          </a:prstGeom>
          <a:noFill/>
          <a:ln w="12700">
            <a:solidFill>
              <a:srgbClr val="E4E9ED"/>
            </a:solidFill>
            <a:prstDash val="solid"/>
          </a:ln>
        </p:spPr>
      </p:sp>
      <p:sp>
        <p:nvSpPr>
          <p:cNvPr id="14" name="Text 12"/>
          <p:cNvSpPr txBox="1"/>
          <p:nvPr/>
        </p:nvSpPr>
        <p:spPr>
          <a:xfrm>
            <a:off x="731520" y="4407408"/>
            <a:ext cx="475488" cy="219456"/>
          </a:xfrm>
          <a:prstGeom prst="rect">
            <a:avLst/>
          </a:prstGeom>
          <a:noFill/>
          <a:ln/>
        </p:spPr>
        <p:txBody>
          <a:bodyPr wrap="square" lIns="0" tIns="0" rIns="0" bIns="0" rtlCol="0" anchor="ctr"/>
          <a:lstStyle/>
          <a:p>
            <a:pPr algn="r" indent="0" marL="0">
              <a:buNone/>
            </a:pPr>
            <a:r>
              <a:rPr lang="en-US" sz="1000" dirty="0">
                <a:solidFill>
                  <a:srgbClr val="3E3E5A"/>
                </a:solidFill>
                <a:latin typeface="Cambria" pitchFamily="34" charset="0"/>
                <a:ea typeface="Cambria" pitchFamily="34" charset="-122"/>
                <a:cs typeface="Cambria" pitchFamily="34" charset="-120"/>
              </a:rPr>
              <a:t>200</a:t>
            </a:r>
            <a:endParaRPr lang="en-US" sz="1000" dirty="0"/>
          </a:p>
        </p:txBody>
      </p:sp>
      <p:sp>
        <p:nvSpPr>
          <p:cNvPr id="15" name="Shape 13"/>
          <p:cNvSpPr/>
          <p:nvPr/>
        </p:nvSpPr>
        <p:spPr>
          <a:xfrm>
            <a:off x="1298448" y="4069080"/>
            <a:ext cx="5056632" cy="0"/>
          </a:xfrm>
          <a:prstGeom prst="line">
            <a:avLst/>
          </a:prstGeom>
          <a:noFill/>
          <a:ln w="12700">
            <a:solidFill>
              <a:srgbClr val="E4E9ED"/>
            </a:solidFill>
            <a:prstDash val="solid"/>
          </a:ln>
        </p:spPr>
      </p:sp>
      <p:sp>
        <p:nvSpPr>
          <p:cNvPr id="16" name="Text 14"/>
          <p:cNvSpPr txBox="1"/>
          <p:nvPr/>
        </p:nvSpPr>
        <p:spPr>
          <a:xfrm>
            <a:off x="731520" y="3959352"/>
            <a:ext cx="475488" cy="219456"/>
          </a:xfrm>
          <a:prstGeom prst="rect">
            <a:avLst/>
          </a:prstGeom>
          <a:noFill/>
          <a:ln/>
        </p:spPr>
        <p:txBody>
          <a:bodyPr wrap="square" lIns="0" tIns="0" rIns="0" bIns="0" rtlCol="0" anchor="ctr"/>
          <a:lstStyle/>
          <a:p>
            <a:pPr algn="r" indent="0" marL="0">
              <a:buNone/>
            </a:pPr>
            <a:r>
              <a:rPr lang="en-US" sz="1000" dirty="0">
                <a:solidFill>
                  <a:srgbClr val="3E3E5A"/>
                </a:solidFill>
                <a:latin typeface="Cambria" pitchFamily="34" charset="0"/>
                <a:ea typeface="Cambria" pitchFamily="34" charset="-122"/>
                <a:cs typeface="Cambria" pitchFamily="34" charset="-120"/>
              </a:rPr>
              <a:t>300</a:t>
            </a:r>
            <a:endParaRPr lang="en-US" sz="1000" dirty="0"/>
          </a:p>
        </p:txBody>
      </p:sp>
      <p:sp>
        <p:nvSpPr>
          <p:cNvPr id="17" name="Shape 15"/>
          <p:cNvSpPr/>
          <p:nvPr/>
        </p:nvSpPr>
        <p:spPr>
          <a:xfrm>
            <a:off x="1298448" y="3621024"/>
            <a:ext cx="5056632" cy="0"/>
          </a:xfrm>
          <a:prstGeom prst="line">
            <a:avLst/>
          </a:prstGeom>
          <a:noFill/>
          <a:ln w="12700">
            <a:solidFill>
              <a:srgbClr val="E4E9ED"/>
            </a:solidFill>
            <a:prstDash val="solid"/>
          </a:ln>
        </p:spPr>
      </p:sp>
      <p:sp>
        <p:nvSpPr>
          <p:cNvPr id="18" name="Text 16"/>
          <p:cNvSpPr txBox="1"/>
          <p:nvPr/>
        </p:nvSpPr>
        <p:spPr>
          <a:xfrm>
            <a:off x="731520" y="3511296"/>
            <a:ext cx="475488" cy="219456"/>
          </a:xfrm>
          <a:prstGeom prst="rect">
            <a:avLst/>
          </a:prstGeom>
          <a:noFill/>
          <a:ln/>
        </p:spPr>
        <p:txBody>
          <a:bodyPr wrap="square" lIns="0" tIns="0" rIns="0" bIns="0" rtlCol="0" anchor="ctr"/>
          <a:lstStyle/>
          <a:p>
            <a:pPr algn="r" indent="0" marL="0">
              <a:buNone/>
            </a:pPr>
            <a:r>
              <a:rPr lang="en-US" sz="1000" dirty="0">
                <a:solidFill>
                  <a:srgbClr val="3E3E5A"/>
                </a:solidFill>
                <a:latin typeface="Cambria" pitchFamily="34" charset="0"/>
                <a:ea typeface="Cambria" pitchFamily="34" charset="-122"/>
                <a:cs typeface="Cambria" pitchFamily="34" charset="-120"/>
              </a:rPr>
              <a:t>400</a:t>
            </a:r>
            <a:endParaRPr lang="en-US" sz="1000" dirty="0"/>
          </a:p>
        </p:txBody>
      </p:sp>
      <p:sp>
        <p:nvSpPr>
          <p:cNvPr id="19" name="Shape 17"/>
          <p:cNvSpPr/>
          <p:nvPr/>
        </p:nvSpPr>
        <p:spPr>
          <a:xfrm>
            <a:off x="1298448" y="3172968"/>
            <a:ext cx="5056632" cy="0"/>
          </a:xfrm>
          <a:prstGeom prst="line">
            <a:avLst/>
          </a:prstGeom>
          <a:noFill/>
          <a:ln w="12700">
            <a:solidFill>
              <a:srgbClr val="E4E9ED"/>
            </a:solidFill>
            <a:prstDash val="solid"/>
          </a:ln>
        </p:spPr>
      </p:sp>
      <p:sp>
        <p:nvSpPr>
          <p:cNvPr id="20" name="Text 18"/>
          <p:cNvSpPr txBox="1"/>
          <p:nvPr/>
        </p:nvSpPr>
        <p:spPr>
          <a:xfrm>
            <a:off x="731520" y="3063240"/>
            <a:ext cx="475488" cy="219456"/>
          </a:xfrm>
          <a:prstGeom prst="rect">
            <a:avLst/>
          </a:prstGeom>
          <a:noFill/>
          <a:ln/>
        </p:spPr>
        <p:txBody>
          <a:bodyPr wrap="square" lIns="0" tIns="0" rIns="0" bIns="0" rtlCol="0" anchor="ctr"/>
          <a:lstStyle/>
          <a:p>
            <a:pPr algn="r" indent="0" marL="0">
              <a:buNone/>
            </a:pPr>
            <a:r>
              <a:rPr lang="en-US" sz="1000" dirty="0">
                <a:solidFill>
                  <a:srgbClr val="3E3E5A"/>
                </a:solidFill>
                <a:latin typeface="Cambria" pitchFamily="34" charset="0"/>
                <a:ea typeface="Cambria" pitchFamily="34" charset="-122"/>
                <a:cs typeface="Cambria" pitchFamily="34" charset="-120"/>
              </a:rPr>
              <a:t>500</a:t>
            </a:r>
            <a:endParaRPr lang="en-US" sz="1000" dirty="0"/>
          </a:p>
        </p:txBody>
      </p:sp>
      <p:sp>
        <p:nvSpPr>
          <p:cNvPr id="21" name="Shape 19"/>
          <p:cNvSpPr/>
          <p:nvPr/>
        </p:nvSpPr>
        <p:spPr>
          <a:xfrm>
            <a:off x="1298448" y="2724912"/>
            <a:ext cx="5056632" cy="0"/>
          </a:xfrm>
          <a:prstGeom prst="line">
            <a:avLst/>
          </a:prstGeom>
          <a:noFill/>
          <a:ln w="12700">
            <a:solidFill>
              <a:srgbClr val="E4E9ED"/>
            </a:solidFill>
            <a:prstDash val="solid"/>
          </a:ln>
        </p:spPr>
      </p:sp>
      <p:sp>
        <p:nvSpPr>
          <p:cNvPr id="22" name="Text 20"/>
          <p:cNvSpPr txBox="1"/>
          <p:nvPr/>
        </p:nvSpPr>
        <p:spPr>
          <a:xfrm>
            <a:off x="731520" y="2615184"/>
            <a:ext cx="475488" cy="219456"/>
          </a:xfrm>
          <a:prstGeom prst="rect">
            <a:avLst/>
          </a:prstGeom>
          <a:noFill/>
          <a:ln/>
        </p:spPr>
        <p:txBody>
          <a:bodyPr wrap="square" lIns="0" tIns="0" rIns="0" bIns="0" rtlCol="0" anchor="ctr"/>
          <a:lstStyle/>
          <a:p>
            <a:pPr algn="r" indent="0" marL="0">
              <a:buNone/>
            </a:pPr>
            <a:r>
              <a:rPr lang="en-US" sz="1000" dirty="0">
                <a:solidFill>
                  <a:srgbClr val="3E3E5A"/>
                </a:solidFill>
                <a:latin typeface="Cambria" pitchFamily="34" charset="0"/>
                <a:ea typeface="Cambria" pitchFamily="34" charset="-122"/>
                <a:cs typeface="Cambria" pitchFamily="34" charset="-120"/>
              </a:rPr>
              <a:t>600</a:t>
            </a:r>
            <a:endParaRPr lang="en-US" sz="1000" dirty="0"/>
          </a:p>
        </p:txBody>
      </p:sp>
      <p:sp>
        <p:nvSpPr>
          <p:cNvPr id="23" name="Shape 21"/>
          <p:cNvSpPr/>
          <p:nvPr/>
        </p:nvSpPr>
        <p:spPr>
          <a:xfrm>
            <a:off x="1463802" y="3567257"/>
            <a:ext cx="512064" cy="1845991"/>
          </a:xfrm>
          <a:prstGeom prst="rect">
            <a:avLst/>
          </a:prstGeom>
          <a:solidFill>
            <a:srgbClr val="3333B3"/>
          </a:solidFill>
          <a:ln w="12700">
            <a:solidFill>
              <a:srgbClr val="3333B3"/>
            </a:solidFill>
            <a:prstDash val="solid"/>
          </a:ln>
        </p:spPr>
      </p:sp>
      <p:sp>
        <p:nvSpPr>
          <p:cNvPr id="24" name="Text 22"/>
          <p:cNvSpPr txBox="1"/>
          <p:nvPr/>
        </p:nvSpPr>
        <p:spPr>
          <a:xfrm>
            <a:off x="1317498" y="3292937"/>
            <a:ext cx="804672" cy="237744"/>
          </a:xfrm>
          <a:prstGeom prst="rect">
            <a:avLst/>
          </a:prstGeom>
          <a:noFill/>
          <a:ln/>
        </p:spPr>
        <p:txBody>
          <a:bodyPr wrap="square" lIns="0" tIns="0" rIns="0" bIns="0" rtlCol="0" anchor="ctr"/>
          <a:lstStyle/>
          <a:p>
            <a:pPr algn="ctr" indent="0" marL="0">
              <a:buNone/>
            </a:pPr>
            <a:r>
              <a:rPr lang="en-US" sz="950" dirty="0">
                <a:solidFill>
                  <a:srgbClr val="3E3E5A"/>
                </a:solidFill>
                <a:latin typeface="Cambria" pitchFamily="34" charset="0"/>
                <a:ea typeface="Cambria" pitchFamily="34" charset="-122"/>
                <a:cs typeface="Cambria" pitchFamily="34" charset="-120"/>
              </a:rPr>
              <a:t>412</a:t>
            </a:r>
            <a:endParaRPr lang="en-US" sz="950" dirty="0"/>
          </a:p>
        </p:txBody>
      </p:sp>
      <p:sp>
        <p:nvSpPr>
          <p:cNvPr id="25" name="Text 23"/>
          <p:cNvSpPr txBox="1"/>
          <p:nvPr/>
        </p:nvSpPr>
        <p:spPr>
          <a:xfrm>
            <a:off x="1317498" y="5486400"/>
            <a:ext cx="804672" cy="237744"/>
          </a:xfrm>
          <a:prstGeom prst="rect">
            <a:avLst/>
          </a:prstGeom>
          <a:noFill/>
          <a:ln/>
        </p:spPr>
        <p:txBody>
          <a:bodyPr wrap="square" lIns="0" tIns="0" rIns="0" bIns="0" rtlCol="0" anchor="ctr"/>
          <a:lstStyle/>
          <a:p>
            <a:pPr algn="ctr" indent="0" marL="0">
              <a:buNone/>
            </a:pPr>
            <a:r>
              <a:rPr lang="en-US" sz="1000" dirty="0">
                <a:solidFill>
                  <a:srgbClr val="3E3E5A"/>
                </a:solidFill>
                <a:latin typeface="Cambria" pitchFamily="34" charset="0"/>
                <a:ea typeface="Cambria" pitchFamily="34" charset="-122"/>
                <a:cs typeface="Cambria" pitchFamily="34" charset="-120"/>
              </a:rPr>
              <a:t>Apr</a:t>
            </a:r>
            <a:endParaRPr lang="en-US" sz="1000" dirty="0"/>
          </a:p>
        </p:txBody>
      </p:sp>
      <p:sp>
        <p:nvSpPr>
          <p:cNvPr id="26" name="Shape 24"/>
          <p:cNvSpPr/>
          <p:nvPr/>
        </p:nvSpPr>
        <p:spPr>
          <a:xfrm>
            <a:off x="2306574" y="3674791"/>
            <a:ext cx="512064" cy="1738457"/>
          </a:xfrm>
          <a:prstGeom prst="rect">
            <a:avLst/>
          </a:prstGeom>
          <a:solidFill>
            <a:srgbClr val="3333B3"/>
          </a:solidFill>
          <a:ln w="12700">
            <a:solidFill>
              <a:srgbClr val="3333B3"/>
            </a:solidFill>
            <a:prstDash val="solid"/>
          </a:ln>
        </p:spPr>
      </p:sp>
      <p:sp>
        <p:nvSpPr>
          <p:cNvPr id="27" name="Text 25"/>
          <p:cNvSpPr txBox="1"/>
          <p:nvPr/>
        </p:nvSpPr>
        <p:spPr>
          <a:xfrm>
            <a:off x="2160270" y="3400471"/>
            <a:ext cx="804672" cy="237744"/>
          </a:xfrm>
          <a:prstGeom prst="rect">
            <a:avLst/>
          </a:prstGeom>
          <a:noFill/>
          <a:ln/>
        </p:spPr>
        <p:txBody>
          <a:bodyPr wrap="square" lIns="0" tIns="0" rIns="0" bIns="0" rtlCol="0" anchor="ctr"/>
          <a:lstStyle/>
          <a:p>
            <a:pPr algn="ctr" indent="0" marL="0">
              <a:buNone/>
            </a:pPr>
            <a:r>
              <a:rPr lang="en-US" sz="950" dirty="0">
                <a:solidFill>
                  <a:srgbClr val="3E3E5A"/>
                </a:solidFill>
                <a:latin typeface="Cambria" pitchFamily="34" charset="0"/>
                <a:ea typeface="Cambria" pitchFamily="34" charset="-122"/>
                <a:cs typeface="Cambria" pitchFamily="34" charset="-120"/>
              </a:rPr>
              <a:t>388</a:t>
            </a:r>
            <a:endParaRPr lang="en-US" sz="950" dirty="0"/>
          </a:p>
        </p:txBody>
      </p:sp>
      <p:sp>
        <p:nvSpPr>
          <p:cNvPr id="28" name="Text 26"/>
          <p:cNvSpPr txBox="1"/>
          <p:nvPr/>
        </p:nvSpPr>
        <p:spPr>
          <a:xfrm>
            <a:off x="2160270" y="5486400"/>
            <a:ext cx="804672" cy="237744"/>
          </a:xfrm>
          <a:prstGeom prst="rect">
            <a:avLst/>
          </a:prstGeom>
          <a:noFill/>
          <a:ln/>
        </p:spPr>
        <p:txBody>
          <a:bodyPr wrap="square" lIns="0" tIns="0" rIns="0" bIns="0" rtlCol="0" anchor="ctr"/>
          <a:lstStyle/>
          <a:p>
            <a:pPr algn="ctr" indent="0" marL="0">
              <a:buNone/>
            </a:pPr>
            <a:r>
              <a:rPr lang="en-US" sz="1000" dirty="0">
                <a:solidFill>
                  <a:srgbClr val="3E3E5A"/>
                </a:solidFill>
                <a:latin typeface="Cambria" pitchFamily="34" charset="0"/>
                <a:ea typeface="Cambria" pitchFamily="34" charset="-122"/>
                <a:cs typeface="Cambria" pitchFamily="34" charset="-120"/>
              </a:rPr>
              <a:t>May</a:t>
            </a:r>
            <a:endParaRPr lang="en-US" sz="1000" dirty="0"/>
          </a:p>
        </p:txBody>
      </p:sp>
      <p:sp>
        <p:nvSpPr>
          <p:cNvPr id="29" name="Shape 27"/>
          <p:cNvSpPr/>
          <p:nvPr/>
        </p:nvSpPr>
        <p:spPr>
          <a:xfrm>
            <a:off x="3149346" y="3168487"/>
            <a:ext cx="512064" cy="2244761"/>
          </a:xfrm>
          <a:prstGeom prst="rect">
            <a:avLst/>
          </a:prstGeom>
          <a:solidFill>
            <a:srgbClr val="3333B3"/>
          </a:solidFill>
          <a:ln w="12700">
            <a:solidFill>
              <a:srgbClr val="3333B3"/>
            </a:solidFill>
            <a:prstDash val="solid"/>
          </a:ln>
        </p:spPr>
      </p:sp>
      <p:sp>
        <p:nvSpPr>
          <p:cNvPr id="30" name="Text 28"/>
          <p:cNvSpPr txBox="1"/>
          <p:nvPr/>
        </p:nvSpPr>
        <p:spPr>
          <a:xfrm>
            <a:off x="3003042" y="2894167"/>
            <a:ext cx="804672" cy="237744"/>
          </a:xfrm>
          <a:prstGeom prst="rect">
            <a:avLst/>
          </a:prstGeom>
          <a:noFill/>
          <a:ln/>
        </p:spPr>
        <p:txBody>
          <a:bodyPr wrap="square" lIns="0" tIns="0" rIns="0" bIns="0" rtlCol="0" anchor="ctr"/>
          <a:lstStyle/>
          <a:p>
            <a:pPr algn="ctr" indent="0" marL="0">
              <a:buNone/>
            </a:pPr>
            <a:r>
              <a:rPr lang="en-US" sz="950" dirty="0">
                <a:solidFill>
                  <a:srgbClr val="3E3E5A"/>
                </a:solidFill>
                <a:latin typeface="Cambria" pitchFamily="34" charset="0"/>
                <a:ea typeface="Cambria" pitchFamily="34" charset="-122"/>
                <a:cs typeface="Cambria" pitchFamily="34" charset="-120"/>
              </a:rPr>
              <a:t>501</a:t>
            </a:r>
            <a:endParaRPr lang="en-US" sz="950" dirty="0"/>
          </a:p>
        </p:txBody>
      </p:sp>
      <p:sp>
        <p:nvSpPr>
          <p:cNvPr id="31" name="Text 29"/>
          <p:cNvSpPr txBox="1"/>
          <p:nvPr/>
        </p:nvSpPr>
        <p:spPr>
          <a:xfrm>
            <a:off x="3003042" y="5486400"/>
            <a:ext cx="804672" cy="237744"/>
          </a:xfrm>
          <a:prstGeom prst="rect">
            <a:avLst/>
          </a:prstGeom>
          <a:noFill/>
          <a:ln/>
        </p:spPr>
        <p:txBody>
          <a:bodyPr wrap="square" lIns="0" tIns="0" rIns="0" bIns="0" rtlCol="0" anchor="ctr"/>
          <a:lstStyle/>
          <a:p>
            <a:pPr algn="ctr" indent="0" marL="0">
              <a:buNone/>
            </a:pPr>
            <a:r>
              <a:rPr lang="en-US" sz="1000" dirty="0">
                <a:solidFill>
                  <a:srgbClr val="3E3E5A"/>
                </a:solidFill>
                <a:latin typeface="Cambria" pitchFamily="34" charset="0"/>
                <a:ea typeface="Cambria" pitchFamily="34" charset="-122"/>
                <a:cs typeface="Cambria" pitchFamily="34" charset="-120"/>
              </a:rPr>
              <a:t>Jun</a:t>
            </a:r>
            <a:endParaRPr lang="en-US" sz="1000" dirty="0"/>
          </a:p>
        </p:txBody>
      </p:sp>
      <p:sp>
        <p:nvSpPr>
          <p:cNvPr id="32" name="Shape 30"/>
          <p:cNvSpPr/>
          <p:nvPr/>
        </p:nvSpPr>
        <p:spPr>
          <a:xfrm>
            <a:off x="3992118" y="3280501"/>
            <a:ext cx="512064" cy="2132747"/>
          </a:xfrm>
          <a:prstGeom prst="rect">
            <a:avLst/>
          </a:prstGeom>
          <a:solidFill>
            <a:srgbClr val="3333B3"/>
          </a:solidFill>
          <a:ln w="12700">
            <a:solidFill>
              <a:srgbClr val="3333B3"/>
            </a:solidFill>
            <a:prstDash val="solid"/>
          </a:ln>
        </p:spPr>
      </p:sp>
      <p:sp>
        <p:nvSpPr>
          <p:cNvPr id="33" name="Text 31"/>
          <p:cNvSpPr txBox="1"/>
          <p:nvPr/>
        </p:nvSpPr>
        <p:spPr>
          <a:xfrm>
            <a:off x="3845814" y="3006181"/>
            <a:ext cx="804672" cy="237744"/>
          </a:xfrm>
          <a:prstGeom prst="rect">
            <a:avLst/>
          </a:prstGeom>
          <a:noFill/>
          <a:ln/>
        </p:spPr>
        <p:txBody>
          <a:bodyPr wrap="square" lIns="0" tIns="0" rIns="0" bIns="0" rtlCol="0" anchor="ctr"/>
          <a:lstStyle/>
          <a:p>
            <a:pPr algn="ctr" indent="0" marL="0">
              <a:buNone/>
            </a:pPr>
            <a:r>
              <a:rPr lang="en-US" sz="950" dirty="0">
                <a:solidFill>
                  <a:srgbClr val="3E3E5A"/>
                </a:solidFill>
                <a:latin typeface="Cambria" pitchFamily="34" charset="0"/>
                <a:ea typeface="Cambria" pitchFamily="34" charset="-122"/>
                <a:cs typeface="Cambria" pitchFamily="34" charset="-120"/>
              </a:rPr>
              <a:t>476</a:t>
            </a:r>
            <a:endParaRPr lang="en-US" sz="950" dirty="0"/>
          </a:p>
        </p:txBody>
      </p:sp>
      <p:sp>
        <p:nvSpPr>
          <p:cNvPr id="34" name="Text 32"/>
          <p:cNvSpPr txBox="1"/>
          <p:nvPr/>
        </p:nvSpPr>
        <p:spPr>
          <a:xfrm>
            <a:off x="3845814" y="5486400"/>
            <a:ext cx="804672" cy="237744"/>
          </a:xfrm>
          <a:prstGeom prst="rect">
            <a:avLst/>
          </a:prstGeom>
          <a:noFill/>
          <a:ln/>
        </p:spPr>
        <p:txBody>
          <a:bodyPr wrap="square" lIns="0" tIns="0" rIns="0" bIns="0" rtlCol="0" anchor="ctr"/>
          <a:lstStyle/>
          <a:p>
            <a:pPr algn="ctr" indent="0" marL="0">
              <a:buNone/>
            </a:pPr>
            <a:r>
              <a:rPr lang="en-US" sz="1000" dirty="0">
                <a:solidFill>
                  <a:srgbClr val="3E3E5A"/>
                </a:solidFill>
                <a:latin typeface="Cambria" pitchFamily="34" charset="0"/>
                <a:ea typeface="Cambria" pitchFamily="34" charset="-122"/>
                <a:cs typeface="Cambria" pitchFamily="34" charset="-120"/>
              </a:rPr>
              <a:t>Jul</a:t>
            </a:r>
            <a:endParaRPr lang="en-US" sz="1000" dirty="0"/>
          </a:p>
        </p:txBody>
      </p:sp>
      <p:sp>
        <p:nvSpPr>
          <p:cNvPr id="35" name="Shape 33"/>
          <p:cNvSpPr/>
          <p:nvPr/>
        </p:nvSpPr>
        <p:spPr>
          <a:xfrm>
            <a:off x="4834890" y="2980304"/>
            <a:ext cx="512064" cy="2432944"/>
          </a:xfrm>
          <a:prstGeom prst="rect">
            <a:avLst/>
          </a:prstGeom>
          <a:solidFill>
            <a:srgbClr val="3333B3"/>
          </a:solidFill>
          <a:ln w="12700">
            <a:solidFill>
              <a:srgbClr val="3333B3"/>
            </a:solidFill>
            <a:prstDash val="solid"/>
          </a:ln>
        </p:spPr>
      </p:sp>
      <p:sp>
        <p:nvSpPr>
          <p:cNvPr id="36" name="Text 34"/>
          <p:cNvSpPr txBox="1"/>
          <p:nvPr/>
        </p:nvSpPr>
        <p:spPr>
          <a:xfrm>
            <a:off x="4688586" y="2705984"/>
            <a:ext cx="804672" cy="237744"/>
          </a:xfrm>
          <a:prstGeom prst="rect">
            <a:avLst/>
          </a:prstGeom>
          <a:noFill/>
          <a:ln/>
        </p:spPr>
        <p:txBody>
          <a:bodyPr wrap="square" lIns="0" tIns="0" rIns="0" bIns="0" rtlCol="0" anchor="ctr"/>
          <a:lstStyle/>
          <a:p>
            <a:pPr algn="ctr" indent="0" marL="0">
              <a:buNone/>
            </a:pPr>
            <a:r>
              <a:rPr lang="en-US" sz="950" dirty="0">
                <a:solidFill>
                  <a:srgbClr val="3E3E5A"/>
                </a:solidFill>
                <a:latin typeface="Cambria" pitchFamily="34" charset="0"/>
                <a:ea typeface="Cambria" pitchFamily="34" charset="-122"/>
                <a:cs typeface="Cambria" pitchFamily="34" charset="-120"/>
              </a:rPr>
              <a:t>543</a:t>
            </a:r>
            <a:endParaRPr lang="en-US" sz="950" dirty="0"/>
          </a:p>
        </p:txBody>
      </p:sp>
      <p:sp>
        <p:nvSpPr>
          <p:cNvPr id="37" name="Text 35"/>
          <p:cNvSpPr txBox="1"/>
          <p:nvPr/>
        </p:nvSpPr>
        <p:spPr>
          <a:xfrm>
            <a:off x="4688586" y="5486400"/>
            <a:ext cx="804672" cy="237744"/>
          </a:xfrm>
          <a:prstGeom prst="rect">
            <a:avLst/>
          </a:prstGeom>
          <a:noFill/>
          <a:ln/>
        </p:spPr>
        <p:txBody>
          <a:bodyPr wrap="square" lIns="0" tIns="0" rIns="0" bIns="0" rtlCol="0" anchor="ctr"/>
          <a:lstStyle/>
          <a:p>
            <a:pPr algn="ctr" indent="0" marL="0">
              <a:buNone/>
            </a:pPr>
            <a:r>
              <a:rPr lang="en-US" sz="1000" dirty="0">
                <a:solidFill>
                  <a:srgbClr val="3E3E5A"/>
                </a:solidFill>
                <a:latin typeface="Cambria" pitchFamily="34" charset="0"/>
                <a:ea typeface="Cambria" pitchFamily="34" charset="-122"/>
                <a:cs typeface="Cambria" pitchFamily="34" charset="-120"/>
              </a:rPr>
              <a:t>Aug</a:t>
            </a:r>
            <a:endParaRPr lang="en-US" sz="1000" dirty="0"/>
          </a:p>
        </p:txBody>
      </p:sp>
      <p:sp>
        <p:nvSpPr>
          <p:cNvPr id="38" name="Shape 36"/>
          <p:cNvSpPr/>
          <p:nvPr/>
        </p:nvSpPr>
        <p:spPr>
          <a:xfrm>
            <a:off x="5677662" y="3181929"/>
            <a:ext cx="512064" cy="2231319"/>
          </a:xfrm>
          <a:prstGeom prst="rect">
            <a:avLst/>
          </a:prstGeom>
          <a:solidFill>
            <a:srgbClr val="3333B3"/>
          </a:solidFill>
          <a:ln w="12700">
            <a:solidFill>
              <a:srgbClr val="3333B3"/>
            </a:solidFill>
            <a:prstDash val="solid"/>
          </a:ln>
        </p:spPr>
      </p:sp>
      <p:sp>
        <p:nvSpPr>
          <p:cNvPr id="39" name="Text 37"/>
          <p:cNvSpPr txBox="1"/>
          <p:nvPr/>
        </p:nvSpPr>
        <p:spPr>
          <a:xfrm>
            <a:off x="5531358" y="2907609"/>
            <a:ext cx="804672" cy="237744"/>
          </a:xfrm>
          <a:prstGeom prst="rect">
            <a:avLst/>
          </a:prstGeom>
          <a:noFill/>
          <a:ln/>
        </p:spPr>
        <p:txBody>
          <a:bodyPr wrap="square" lIns="0" tIns="0" rIns="0" bIns="0" rtlCol="0" anchor="ctr"/>
          <a:lstStyle/>
          <a:p>
            <a:pPr algn="ctr" indent="0" marL="0">
              <a:buNone/>
            </a:pPr>
            <a:r>
              <a:rPr lang="en-US" sz="950" dirty="0">
                <a:solidFill>
                  <a:srgbClr val="3E3E5A"/>
                </a:solidFill>
                <a:latin typeface="Cambria" pitchFamily="34" charset="0"/>
                <a:ea typeface="Cambria" pitchFamily="34" charset="-122"/>
                <a:cs typeface="Cambria" pitchFamily="34" charset="-120"/>
              </a:rPr>
              <a:t>498</a:t>
            </a:r>
            <a:endParaRPr lang="en-US" sz="950" dirty="0"/>
          </a:p>
        </p:txBody>
      </p:sp>
      <p:sp>
        <p:nvSpPr>
          <p:cNvPr id="40" name="Text 38"/>
          <p:cNvSpPr txBox="1"/>
          <p:nvPr/>
        </p:nvSpPr>
        <p:spPr>
          <a:xfrm>
            <a:off x="5531358" y="5486400"/>
            <a:ext cx="804672" cy="237744"/>
          </a:xfrm>
          <a:prstGeom prst="rect">
            <a:avLst/>
          </a:prstGeom>
          <a:noFill/>
          <a:ln/>
        </p:spPr>
        <p:txBody>
          <a:bodyPr wrap="square" lIns="0" tIns="0" rIns="0" bIns="0" rtlCol="0" anchor="ctr"/>
          <a:lstStyle/>
          <a:p>
            <a:pPr algn="ctr" indent="0" marL="0">
              <a:buNone/>
            </a:pPr>
            <a:r>
              <a:rPr lang="en-US" sz="1000" dirty="0">
                <a:solidFill>
                  <a:srgbClr val="3E3E5A"/>
                </a:solidFill>
                <a:latin typeface="Cambria" pitchFamily="34" charset="0"/>
                <a:ea typeface="Cambria" pitchFamily="34" charset="-122"/>
                <a:cs typeface="Cambria" pitchFamily="34" charset="-120"/>
              </a:rPr>
              <a:t>Sep</a:t>
            </a:r>
            <a:endParaRPr lang="en-US" sz="1000" dirty="0"/>
          </a:p>
        </p:txBody>
      </p:sp>
      <p:sp>
        <p:nvSpPr>
          <p:cNvPr id="41" name="Text 39"/>
          <p:cNvSpPr txBox="1"/>
          <p:nvPr/>
        </p:nvSpPr>
        <p:spPr>
          <a:xfrm>
            <a:off x="6903720" y="1572768"/>
            <a:ext cx="4572000" cy="237744"/>
          </a:xfrm>
          <a:prstGeom prst="rect">
            <a:avLst/>
          </a:prstGeom>
          <a:noFill/>
          <a:ln/>
        </p:spPr>
        <p:txBody>
          <a:bodyPr wrap="square" lIns="0" tIns="0" rIns="0" bIns="0" rtlCol="0" anchor="ctr"/>
          <a:lstStyle/>
          <a:p>
            <a:pPr indent="0" marL="0">
              <a:buNone/>
            </a:pPr>
            <a:r>
              <a:rPr lang="en-US" sz="1050" b="1" spc="140" kern="0" dirty="0">
                <a:solidFill>
                  <a:srgbClr val="3333B3"/>
                </a:solidFill>
                <a:latin typeface="Cambria" pitchFamily="34" charset="0"/>
                <a:ea typeface="Cambria" pitchFamily="34" charset="-122"/>
                <a:cs typeface="Cambria" pitchFamily="34" charset="-120"/>
              </a:rPr>
              <a:t>HOW IT IS BUILT</a:t>
            </a:r>
            <a:endParaRPr lang="en-US" sz="1050" dirty="0"/>
          </a:p>
        </p:txBody>
      </p:sp>
      <p:sp>
        <p:nvSpPr>
          <p:cNvPr id="42" name="Shape 40"/>
          <p:cNvSpPr/>
          <p:nvPr/>
        </p:nvSpPr>
        <p:spPr>
          <a:xfrm>
            <a:off x="6903720" y="1883664"/>
            <a:ext cx="4690872" cy="640080"/>
          </a:xfrm>
          <a:prstGeom prst="rect">
            <a:avLst/>
          </a:prstGeom>
          <a:solidFill>
            <a:srgbClr val="EDEDF7"/>
          </a:solidFill>
          <a:ln w="9525">
            <a:solidFill>
              <a:srgbClr val="C9C9EA"/>
            </a:solidFill>
            <a:prstDash val="solid"/>
          </a:ln>
        </p:spPr>
      </p:sp>
      <p:sp>
        <p:nvSpPr>
          <p:cNvPr id="43" name="Shape 41"/>
          <p:cNvSpPr/>
          <p:nvPr/>
        </p:nvSpPr>
        <p:spPr>
          <a:xfrm>
            <a:off x="6903720" y="1883664"/>
            <a:ext cx="50292" cy="640080"/>
          </a:xfrm>
          <a:prstGeom prst="rect">
            <a:avLst/>
          </a:prstGeom>
          <a:solidFill>
            <a:srgbClr val="3333B3"/>
          </a:solidFill>
          <a:ln w="12700">
            <a:solidFill>
              <a:srgbClr val="3333B3"/>
            </a:solidFill>
            <a:prstDash val="solid"/>
          </a:ln>
        </p:spPr>
      </p:sp>
      <p:sp>
        <p:nvSpPr>
          <p:cNvPr id="44" name="Shape 42"/>
          <p:cNvSpPr/>
          <p:nvPr/>
        </p:nvSpPr>
        <p:spPr>
          <a:xfrm>
            <a:off x="7104888" y="2020824"/>
            <a:ext cx="365760" cy="365760"/>
          </a:xfrm>
          <a:prstGeom prst="ellipse">
            <a:avLst/>
          </a:prstGeom>
          <a:solidFill>
            <a:srgbClr val="3333B3"/>
          </a:solidFill>
          <a:ln w="12700">
            <a:solidFill>
              <a:srgbClr val="3333B3"/>
            </a:solidFill>
            <a:prstDash val="solid"/>
          </a:ln>
        </p:spPr>
      </p:sp>
      <p:sp>
        <p:nvSpPr>
          <p:cNvPr id="45" name="Text 43"/>
          <p:cNvSpPr txBox="1"/>
          <p:nvPr/>
        </p:nvSpPr>
        <p:spPr>
          <a:xfrm>
            <a:off x="7104888" y="202082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46" name="Text 44"/>
          <p:cNvSpPr txBox="1"/>
          <p:nvPr/>
        </p:nvSpPr>
        <p:spPr>
          <a:xfrm>
            <a:off x="7635240" y="1883664"/>
            <a:ext cx="3739896" cy="640080"/>
          </a:xfrm>
          <a:prstGeom prst="rect">
            <a:avLst/>
          </a:prstGeom>
          <a:noFill/>
          <a:ln/>
        </p:spPr>
        <p:txBody>
          <a:bodyPr wrap="square" lIns="0" tIns="0" rIns="0" bIns="0" rtlCol="0" anchor="ctr"/>
          <a:lstStyle/>
          <a:p>
            <a:pPr indent="0" marL="0">
              <a:buNone/>
            </a:pPr>
            <a:r>
              <a:rPr lang="en-US" sz="1300" b="1" dirty="0">
                <a:solidFill>
                  <a:srgbClr val="22226B"/>
                </a:solidFill>
                <a:latin typeface="Cambria" pitchFamily="34" charset="0"/>
                <a:ea typeface="Cambria" pitchFamily="34" charset="-122"/>
                <a:cs typeface="Cambria" pitchFamily="34" charset="-120"/>
              </a:rPr>
              <a:t>Start from the query</a:t>
            </a:r>
            <a:endParaRPr lang="en-US" sz="1300" dirty="0"/>
          </a:p>
          <a:p>
            <a:pPr indent="0" marL="0">
              <a:buNone/>
            </a:pPr>
            <a:r>
              <a:rPr lang="en-US" sz="1050" dirty="0">
                <a:solidFill>
                  <a:srgbClr val="3E3E5A"/>
                </a:solidFill>
                <a:latin typeface="Cambria" pitchFamily="34" charset="0"/>
                <a:ea typeface="Cambria" pitchFamily="34" charset="-122"/>
                <a:cs typeface="Cambria" pitchFamily="34" charset="-120"/>
              </a:rPr>
              <a:t>A view returning part number, month, quantity issued</a:t>
            </a:r>
            <a:endParaRPr lang="en-US" sz="1300" dirty="0"/>
          </a:p>
        </p:txBody>
      </p:sp>
      <p:sp>
        <p:nvSpPr>
          <p:cNvPr id="47" name="Shape 45"/>
          <p:cNvSpPr/>
          <p:nvPr/>
        </p:nvSpPr>
        <p:spPr>
          <a:xfrm>
            <a:off x="6903720" y="2624328"/>
            <a:ext cx="4690872" cy="640080"/>
          </a:xfrm>
          <a:prstGeom prst="rect">
            <a:avLst/>
          </a:prstGeom>
          <a:solidFill>
            <a:srgbClr val="EDEDF7"/>
          </a:solidFill>
          <a:ln w="9525">
            <a:solidFill>
              <a:srgbClr val="C9C9EA"/>
            </a:solidFill>
            <a:prstDash val="solid"/>
          </a:ln>
        </p:spPr>
      </p:sp>
      <p:sp>
        <p:nvSpPr>
          <p:cNvPr id="48" name="Shape 46"/>
          <p:cNvSpPr/>
          <p:nvPr/>
        </p:nvSpPr>
        <p:spPr>
          <a:xfrm>
            <a:off x="6903720" y="2624328"/>
            <a:ext cx="50292" cy="640080"/>
          </a:xfrm>
          <a:prstGeom prst="rect">
            <a:avLst/>
          </a:prstGeom>
          <a:solidFill>
            <a:srgbClr val="3333B3"/>
          </a:solidFill>
          <a:ln w="12700">
            <a:solidFill>
              <a:srgbClr val="3333B3"/>
            </a:solidFill>
            <a:prstDash val="solid"/>
          </a:ln>
        </p:spPr>
      </p:sp>
      <p:sp>
        <p:nvSpPr>
          <p:cNvPr id="49" name="Shape 47"/>
          <p:cNvSpPr/>
          <p:nvPr/>
        </p:nvSpPr>
        <p:spPr>
          <a:xfrm>
            <a:off x="7104888" y="2761488"/>
            <a:ext cx="365760" cy="365760"/>
          </a:xfrm>
          <a:prstGeom prst="ellipse">
            <a:avLst/>
          </a:prstGeom>
          <a:solidFill>
            <a:srgbClr val="3333B3"/>
          </a:solidFill>
          <a:ln w="12700">
            <a:solidFill>
              <a:srgbClr val="3333B3"/>
            </a:solidFill>
            <a:prstDash val="solid"/>
          </a:ln>
        </p:spPr>
      </p:sp>
      <p:sp>
        <p:nvSpPr>
          <p:cNvPr id="50" name="Text 48"/>
          <p:cNvSpPr txBox="1"/>
          <p:nvPr/>
        </p:nvSpPr>
        <p:spPr>
          <a:xfrm>
            <a:off x="7104888" y="276148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51" name="Text 49"/>
          <p:cNvSpPr txBox="1"/>
          <p:nvPr/>
        </p:nvSpPr>
        <p:spPr>
          <a:xfrm>
            <a:off x="7635240" y="2624328"/>
            <a:ext cx="3739896" cy="640080"/>
          </a:xfrm>
          <a:prstGeom prst="rect">
            <a:avLst/>
          </a:prstGeom>
          <a:noFill/>
          <a:ln/>
        </p:spPr>
        <p:txBody>
          <a:bodyPr wrap="square" lIns="0" tIns="0" rIns="0" bIns="0" rtlCol="0" anchor="ctr"/>
          <a:lstStyle/>
          <a:p>
            <a:pPr indent="0" marL="0">
              <a:buNone/>
            </a:pPr>
            <a:r>
              <a:rPr lang="en-US" sz="1300" b="1" dirty="0">
                <a:solidFill>
                  <a:srgbClr val="22226B"/>
                </a:solidFill>
                <a:latin typeface="Cambria" pitchFamily="34" charset="0"/>
                <a:ea typeface="Cambria" pitchFamily="34" charset="-122"/>
                <a:cs typeface="Cambria" pitchFamily="34" charset="-120"/>
              </a:rPr>
              <a:t>Place fields in Details</a:t>
            </a:r>
            <a:endParaRPr lang="en-US" sz="1300" dirty="0"/>
          </a:p>
          <a:p>
            <a:pPr indent="0" marL="0">
              <a:buNone/>
            </a:pPr>
            <a:r>
              <a:rPr lang="en-US" sz="1050" dirty="0">
                <a:solidFill>
                  <a:srgbClr val="3E3E5A"/>
                </a:solidFill>
                <a:latin typeface="Cambria" pitchFamily="34" charset="0"/>
                <a:ea typeface="Cambria" pitchFamily="34" charset="-122"/>
                <a:cs typeface="Cambria" pitchFamily="34" charset="-120"/>
              </a:rPr>
              <a:t>Drag from the field explorer onto the band</a:t>
            </a:r>
            <a:endParaRPr lang="en-US" sz="1300" dirty="0"/>
          </a:p>
        </p:txBody>
      </p:sp>
      <p:sp>
        <p:nvSpPr>
          <p:cNvPr id="52" name="Shape 50"/>
          <p:cNvSpPr/>
          <p:nvPr/>
        </p:nvSpPr>
        <p:spPr>
          <a:xfrm>
            <a:off x="6903720" y="3364992"/>
            <a:ext cx="4690872" cy="640080"/>
          </a:xfrm>
          <a:prstGeom prst="rect">
            <a:avLst/>
          </a:prstGeom>
          <a:solidFill>
            <a:srgbClr val="EDEDF7"/>
          </a:solidFill>
          <a:ln w="9525">
            <a:solidFill>
              <a:srgbClr val="C9C9EA"/>
            </a:solidFill>
            <a:prstDash val="solid"/>
          </a:ln>
        </p:spPr>
      </p:sp>
      <p:sp>
        <p:nvSpPr>
          <p:cNvPr id="53" name="Shape 51"/>
          <p:cNvSpPr/>
          <p:nvPr/>
        </p:nvSpPr>
        <p:spPr>
          <a:xfrm>
            <a:off x="6903720" y="3364992"/>
            <a:ext cx="50292" cy="640080"/>
          </a:xfrm>
          <a:prstGeom prst="rect">
            <a:avLst/>
          </a:prstGeom>
          <a:solidFill>
            <a:srgbClr val="3333B3"/>
          </a:solidFill>
          <a:ln w="12700">
            <a:solidFill>
              <a:srgbClr val="3333B3"/>
            </a:solidFill>
            <a:prstDash val="solid"/>
          </a:ln>
        </p:spPr>
      </p:sp>
      <p:sp>
        <p:nvSpPr>
          <p:cNvPr id="54" name="Shape 52"/>
          <p:cNvSpPr/>
          <p:nvPr/>
        </p:nvSpPr>
        <p:spPr>
          <a:xfrm>
            <a:off x="7104888" y="3502152"/>
            <a:ext cx="365760" cy="365760"/>
          </a:xfrm>
          <a:prstGeom prst="ellipse">
            <a:avLst/>
          </a:prstGeom>
          <a:solidFill>
            <a:srgbClr val="3333B3"/>
          </a:solidFill>
          <a:ln w="12700">
            <a:solidFill>
              <a:srgbClr val="3333B3"/>
            </a:solidFill>
            <a:prstDash val="solid"/>
          </a:ln>
        </p:spPr>
      </p:sp>
      <p:sp>
        <p:nvSpPr>
          <p:cNvPr id="55" name="Text 53"/>
          <p:cNvSpPr txBox="1"/>
          <p:nvPr/>
        </p:nvSpPr>
        <p:spPr>
          <a:xfrm>
            <a:off x="7104888" y="35021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56" name="Text 54"/>
          <p:cNvSpPr txBox="1"/>
          <p:nvPr/>
        </p:nvSpPr>
        <p:spPr>
          <a:xfrm>
            <a:off x="7635240" y="3364992"/>
            <a:ext cx="3739896" cy="640080"/>
          </a:xfrm>
          <a:prstGeom prst="rect">
            <a:avLst/>
          </a:prstGeom>
          <a:noFill/>
          <a:ln/>
        </p:spPr>
        <p:txBody>
          <a:bodyPr wrap="square" lIns="0" tIns="0" rIns="0" bIns="0" rtlCol="0" anchor="ctr"/>
          <a:lstStyle/>
          <a:p>
            <a:pPr indent="0" marL="0">
              <a:buNone/>
            </a:pPr>
            <a:r>
              <a:rPr lang="en-US" sz="1300" b="1" dirty="0">
                <a:solidFill>
                  <a:srgbClr val="22226B"/>
                </a:solidFill>
                <a:latin typeface="Cambria" pitchFamily="34" charset="0"/>
                <a:ea typeface="Cambria" pitchFamily="34" charset="-122"/>
                <a:cs typeface="Cambria" pitchFamily="34" charset="-120"/>
              </a:rPr>
              <a:t>Insert a group on month</a:t>
            </a:r>
            <a:endParaRPr lang="en-US" sz="1300" dirty="0"/>
          </a:p>
          <a:p>
            <a:pPr indent="0" marL="0">
              <a:buNone/>
            </a:pPr>
            <a:r>
              <a:rPr lang="en-US" sz="1050" dirty="0">
                <a:solidFill>
                  <a:srgbClr val="3E3E5A"/>
                </a:solidFill>
                <a:latin typeface="Cambria" pitchFamily="34" charset="0"/>
                <a:ea typeface="Cambria" pitchFamily="34" charset="-122"/>
                <a:cs typeface="Cambria" pitchFamily="34" charset="-120"/>
              </a:rPr>
              <a:t>Crystal adds the header and footer bands for you</a:t>
            </a:r>
            <a:endParaRPr lang="en-US" sz="1300" dirty="0"/>
          </a:p>
        </p:txBody>
      </p:sp>
      <p:sp>
        <p:nvSpPr>
          <p:cNvPr id="57" name="Shape 55"/>
          <p:cNvSpPr/>
          <p:nvPr/>
        </p:nvSpPr>
        <p:spPr>
          <a:xfrm>
            <a:off x="6903720" y="4105656"/>
            <a:ext cx="4690872" cy="640080"/>
          </a:xfrm>
          <a:prstGeom prst="rect">
            <a:avLst/>
          </a:prstGeom>
          <a:solidFill>
            <a:srgbClr val="EDEDF7"/>
          </a:solidFill>
          <a:ln w="9525">
            <a:solidFill>
              <a:srgbClr val="C9C9EA"/>
            </a:solidFill>
            <a:prstDash val="solid"/>
          </a:ln>
        </p:spPr>
      </p:sp>
      <p:sp>
        <p:nvSpPr>
          <p:cNvPr id="58" name="Shape 56"/>
          <p:cNvSpPr/>
          <p:nvPr/>
        </p:nvSpPr>
        <p:spPr>
          <a:xfrm>
            <a:off x="6903720" y="4105656"/>
            <a:ext cx="50292" cy="640080"/>
          </a:xfrm>
          <a:prstGeom prst="rect">
            <a:avLst/>
          </a:prstGeom>
          <a:solidFill>
            <a:srgbClr val="3333B3"/>
          </a:solidFill>
          <a:ln w="12700">
            <a:solidFill>
              <a:srgbClr val="3333B3"/>
            </a:solidFill>
            <a:prstDash val="solid"/>
          </a:ln>
        </p:spPr>
      </p:sp>
      <p:sp>
        <p:nvSpPr>
          <p:cNvPr id="59" name="Shape 57"/>
          <p:cNvSpPr/>
          <p:nvPr/>
        </p:nvSpPr>
        <p:spPr>
          <a:xfrm>
            <a:off x="7104888" y="4242816"/>
            <a:ext cx="365760" cy="365760"/>
          </a:xfrm>
          <a:prstGeom prst="ellipse">
            <a:avLst/>
          </a:prstGeom>
          <a:solidFill>
            <a:srgbClr val="3333B3"/>
          </a:solidFill>
          <a:ln w="12700">
            <a:solidFill>
              <a:srgbClr val="3333B3"/>
            </a:solidFill>
            <a:prstDash val="solid"/>
          </a:ln>
        </p:spPr>
      </p:sp>
      <p:sp>
        <p:nvSpPr>
          <p:cNvPr id="60" name="Text 58"/>
          <p:cNvSpPr txBox="1"/>
          <p:nvPr/>
        </p:nvSpPr>
        <p:spPr>
          <a:xfrm>
            <a:off x="7104888" y="424281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61" name="Text 59"/>
          <p:cNvSpPr txBox="1"/>
          <p:nvPr/>
        </p:nvSpPr>
        <p:spPr>
          <a:xfrm>
            <a:off x="7635240" y="4105656"/>
            <a:ext cx="3739896" cy="640080"/>
          </a:xfrm>
          <a:prstGeom prst="rect">
            <a:avLst/>
          </a:prstGeom>
          <a:noFill/>
          <a:ln/>
        </p:spPr>
        <p:txBody>
          <a:bodyPr wrap="square" lIns="0" tIns="0" rIns="0" bIns="0" rtlCol="0" anchor="ctr"/>
          <a:lstStyle/>
          <a:p>
            <a:pPr indent="0" marL="0">
              <a:buNone/>
            </a:pPr>
            <a:r>
              <a:rPr lang="en-US" sz="1300" b="1" dirty="0">
                <a:solidFill>
                  <a:srgbClr val="22226B"/>
                </a:solidFill>
                <a:latin typeface="Cambria" pitchFamily="34" charset="0"/>
                <a:ea typeface="Cambria" pitchFamily="34" charset="-122"/>
                <a:cs typeface="Cambria" pitchFamily="34" charset="-120"/>
              </a:rPr>
              <a:t>Add a summary</a:t>
            </a:r>
            <a:endParaRPr lang="en-US" sz="1300" dirty="0"/>
          </a:p>
          <a:p>
            <a:pPr indent="0" marL="0">
              <a:buNone/>
            </a:pPr>
            <a:r>
              <a:rPr lang="en-US" sz="1050" dirty="0">
                <a:solidFill>
                  <a:srgbClr val="3E3E5A"/>
                </a:solidFill>
                <a:latin typeface="Cambria" pitchFamily="34" charset="0"/>
                <a:ea typeface="Cambria" pitchFamily="34" charset="-122"/>
                <a:cs typeface="Cambria" pitchFamily="34" charset="-120"/>
              </a:rPr>
              <a:t>Sum of quantity in the group footer, then in the report footer</a:t>
            </a:r>
            <a:endParaRPr lang="en-US" sz="1300" dirty="0"/>
          </a:p>
        </p:txBody>
      </p:sp>
      <p:sp>
        <p:nvSpPr>
          <p:cNvPr id="62" name="Shape 60"/>
          <p:cNvSpPr/>
          <p:nvPr/>
        </p:nvSpPr>
        <p:spPr>
          <a:xfrm>
            <a:off x="6903720" y="4846320"/>
            <a:ext cx="4690872" cy="640080"/>
          </a:xfrm>
          <a:prstGeom prst="rect">
            <a:avLst/>
          </a:prstGeom>
          <a:solidFill>
            <a:srgbClr val="EDEDF7"/>
          </a:solidFill>
          <a:ln w="9525">
            <a:solidFill>
              <a:srgbClr val="C9C9EA"/>
            </a:solidFill>
            <a:prstDash val="solid"/>
          </a:ln>
        </p:spPr>
      </p:sp>
      <p:sp>
        <p:nvSpPr>
          <p:cNvPr id="63" name="Shape 61"/>
          <p:cNvSpPr/>
          <p:nvPr/>
        </p:nvSpPr>
        <p:spPr>
          <a:xfrm>
            <a:off x="6903720" y="4846320"/>
            <a:ext cx="50292" cy="640080"/>
          </a:xfrm>
          <a:prstGeom prst="rect">
            <a:avLst/>
          </a:prstGeom>
          <a:solidFill>
            <a:srgbClr val="3333B3"/>
          </a:solidFill>
          <a:ln w="12700">
            <a:solidFill>
              <a:srgbClr val="3333B3"/>
            </a:solidFill>
            <a:prstDash val="solid"/>
          </a:ln>
        </p:spPr>
      </p:sp>
      <p:sp>
        <p:nvSpPr>
          <p:cNvPr id="64" name="Shape 62"/>
          <p:cNvSpPr/>
          <p:nvPr/>
        </p:nvSpPr>
        <p:spPr>
          <a:xfrm>
            <a:off x="7104888" y="4983480"/>
            <a:ext cx="365760" cy="365760"/>
          </a:xfrm>
          <a:prstGeom prst="ellipse">
            <a:avLst/>
          </a:prstGeom>
          <a:solidFill>
            <a:srgbClr val="3333B3"/>
          </a:solidFill>
          <a:ln w="12700">
            <a:solidFill>
              <a:srgbClr val="3333B3"/>
            </a:solidFill>
            <a:prstDash val="solid"/>
          </a:ln>
        </p:spPr>
      </p:sp>
      <p:sp>
        <p:nvSpPr>
          <p:cNvPr id="65" name="Text 63"/>
          <p:cNvSpPr txBox="1"/>
          <p:nvPr/>
        </p:nvSpPr>
        <p:spPr>
          <a:xfrm>
            <a:off x="7104888" y="49834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66" name="Text 64"/>
          <p:cNvSpPr txBox="1"/>
          <p:nvPr/>
        </p:nvSpPr>
        <p:spPr>
          <a:xfrm>
            <a:off x="7635240" y="4846320"/>
            <a:ext cx="3739896" cy="640080"/>
          </a:xfrm>
          <a:prstGeom prst="rect">
            <a:avLst/>
          </a:prstGeom>
          <a:noFill/>
          <a:ln/>
        </p:spPr>
        <p:txBody>
          <a:bodyPr wrap="square" lIns="0" tIns="0" rIns="0" bIns="0" rtlCol="0" anchor="ctr"/>
          <a:lstStyle/>
          <a:p>
            <a:pPr indent="0" marL="0">
              <a:buNone/>
            </a:pPr>
            <a:r>
              <a:rPr lang="en-US" sz="1300" b="1" dirty="0">
                <a:solidFill>
                  <a:srgbClr val="22226B"/>
                </a:solidFill>
                <a:latin typeface="Cambria" pitchFamily="34" charset="0"/>
                <a:ea typeface="Cambria" pitchFamily="34" charset="-122"/>
                <a:cs typeface="Cambria" pitchFamily="34" charset="-120"/>
              </a:rPr>
              <a:t>Insert the chart</a:t>
            </a:r>
            <a:endParaRPr lang="en-US" sz="1300" dirty="0"/>
          </a:p>
          <a:p>
            <a:pPr indent="0" marL="0">
              <a:buNone/>
            </a:pPr>
            <a:r>
              <a:rPr lang="en-US" sz="1050" dirty="0">
                <a:solidFill>
                  <a:srgbClr val="3E3E5A"/>
                </a:solidFill>
                <a:latin typeface="Cambria" pitchFamily="34" charset="0"/>
                <a:ea typeface="Cambria" pitchFamily="34" charset="-122"/>
                <a:cs typeface="Cambria" pitchFamily="34" charset="-120"/>
              </a:rPr>
              <a:t>Placed in the report header, driven by the same group</a:t>
            </a:r>
            <a:endParaRPr lang="en-US" sz="1300" dirty="0"/>
          </a:p>
        </p:txBody>
      </p:sp>
      <p:sp>
        <p:nvSpPr>
          <p:cNvPr id="67" name="Shape 65"/>
          <p:cNvSpPr/>
          <p:nvPr/>
        </p:nvSpPr>
        <p:spPr>
          <a:xfrm>
            <a:off x="6903720" y="5586984"/>
            <a:ext cx="4690872" cy="640080"/>
          </a:xfrm>
          <a:prstGeom prst="rect">
            <a:avLst/>
          </a:prstGeom>
          <a:solidFill>
            <a:srgbClr val="EDEDF7"/>
          </a:solidFill>
          <a:ln w="9525">
            <a:solidFill>
              <a:srgbClr val="C9C9EA"/>
            </a:solidFill>
            <a:prstDash val="solid"/>
          </a:ln>
        </p:spPr>
      </p:sp>
      <p:sp>
        <p:nvSpPr>
          <p:cNvPr id="68" name="Shape 66"/>
          <p:cNvSpPr/>
          <p:nvPr/>
        </p:nvSpPr>
        <p:spPr>
          <a:xfrm>
            <a:off x="6903720" y="5586984"/>
            <a:ext cx="50292" cy="640080"/>
          </a:xfrm>
          <a:prstGeom prst="rect">
            <a:avLst/>
          </a:prstGeom>
          <a:solidFill>
            <a:srgbClr val="3333B3"/>
          </a:solidFill>
          <a:ln w="12700">
            <a:solidFill>
              <a:srgbClr val="3333B3"/>
            </a:solidFill>
            <a:prstDash val="solid"/>
          </a:ln>
        </p:spPr>
      </p:sp>
      <p:sp>
        <p:nvSpPr>
          <p:cNvPr id="69" name="Shape 67"/>
          <p:cNvSpPr/>
          <p:nvPr/>
        </p:nvSpPr>
        <p:spPr>
          <a:xfrm>
            <a:off x="7104888" y="5724144"/>
            <a:ext cx="365760" cy="365760"/>
          </a:xfrm>
          <a:prstGeom prst="ellipse">
            <a:avLst/>
          </a:prstGeom>
          <a:solidFill>
            <a:srgbClr val="3333B3"/>
          </a:solidFill>
          <a:ln w="12700">
            <a:solidFill>
              <a:srgbClr val="3333B3"/>
            </a:solidFill>
            <a:prstDash val="solid"/>
          </a:ln>
        </p:spPr>
      </p:sp>
      <p:sp>
        <p:nvSpPr>
          <p:cNvPr id="70" name="Text 68"/>
          <p:cNvSpPr txBox="1"/>
          <p:nvPr/>
        </p:nvSpPr>
        <p:spPr>
          <a:xfrm>
            <a:off x="7104888" y="572414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71" name="Text 69"/>
          <p:cNvSpPr txBox="1"/>
          <p:nvPr/>
        </p:nvSpPr>
        <p:spPr>
          <a:xfrm>
            <a:off x="7635240" y="5586984"/>
            <a:ext cx="3739896" cy="640080"/>
          </a:xfrm>
          <a:prstGeom prst="rect">
            <a:avLst/>
          </a:prstGeom>
          <a:noFill/>
          <a:ln/>
        </p:spPr>
        <p:txBody>
          <a:bodyPr wrap="square" lIns="0" tIns="0" rIns="0" bIns="0" rtlCol="0" anchor="ctr"/>
          <a:lstStyle/>
          <a:p>
            <a:pPr indent="0" marL="0">
              <a:buNone/>
            </a:pPr>
            <a:r>
              <a:rPr lang="en-US" sz="1300" b="1" dirty="0">
                <a:solidFill>
                  <a:srgbClr val="22226B"/>
                </a:solidFill>
                <a:latin typeface="Cambria" pitchFamily="34" charset="0"/>
                <a:ea typeface="Cambria" pitchFamily="34" charset="-122"/>
                <a:cs typeface="Cambria" pitchFamily="34" charset="-120"/>
              </a:rPr>
              <a:t>Preview against real data</a:t>
            </a:r>
            <a:endParaRPr lang="en-US" sz="1300" dirty="0"/>
          </a:p>
          <a:p>
            <a:pPr indent="0" marL="0">
              <a:buNone/>
            </a:pPr>
            <a:r>
              <a:rPr lang="en-US" sz="1050" dirty="0">
                <a:solidFill>
                  <a:srgbClr val="3E3E5A"/>
                </a:solidFill>
                <a:latin typeface="Cambria" pitchFamily="34" charset="0"/>
                <a:ea typeface="Cambria" pitchFamily="34" charset="-122"/>
                <a:cs typeface="Cambria" pitchFamily="34" charset="-120"/>
              </a:rPr>
              <a:t>Check totals against the source query before anyone signs it</a:t>
            </a:r>
            <a:endParaRPr lang="en-US" sz="1300" dirty="0"/>
          </a:p>
        </p:txBody>
      </p:sp>
      <p:sp>
        <p:nvSpPr>
          <p:cNvPr id="72" name="Shape 70"/>
          <p:cNvSpPr/>
          <p:nvPr/>
        </p:nvSpPr>
        <p:spPr>
          <a:xfrm>
            <a:off x="0" y="6400800"/>
            <a:ext cx="3840480" cy="457200"/>
          </a:xfrm>
          <a:prstGeom prst="rect">
            <a:avLst/>
          </a:prstGeom>
          <a:solidFill>
            <a:srgbClr val="22226B"/>
          </a:solidFill>
          <a:ln w="12700">
            <a:solidFill>
              <a:srgbClr val="22226B"/>
            </a:solidFill>
            <a:prstDash val="solid"/>
          </a:ln>
        </p:spPr>
      </p:sp>
      <p:sp>
        <p:nvSpPr>
          <p:cNvPr id="73" name="Text 71"/>
          <p:cNvSpPr txBox="1"/>
          <p:nvPr/>
        </p:nvSpPr>
        <p:spPr>
          <a:xfrm>
            <a:off x="164592" y="6400800"/>
            <a:ext cx="351129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HAL  ·  .NET, React &amp; SQL Programme</a:t>
            </a:r>
            <a:endParaRPr lang="en-US" sz="950" dirty="0"/>
          </a:p>
        </p:txBody>
      </p:sp>
      <p:sp>
        <p:nvSpPr>
          <p:cNvPr id="74" name="Shape 72"/>
          <p:cNvSpPr/>
          <p:nvPr/>
        </p:nvSpPr>
        <p:spPr>
          <a:xfrm>
            <a:off x="3840480" y="6400800"/>
            <a:ext cx="6675120" cy="457200"/>
          </a:xfrm>
          <a:prstGeom prst="rect">
            <a:avLst/>
          </a:prstGeom>
          <a:solidFill>
            <a:srgbClr val="3333B3"/>
          </a:solidFill>
          <a:ln w="12700">
            <a:solidFill>
              <a:srgbClr val="3333B3"/>
            </a:solidFill>
            <a:prstDash val="solid"/>
          </a:ln>
        </p:spPr>
      </p:sp>
      <p:sp>
        <p:nvSpPr>
          <p:cNvPr id="75" name="Text 73"/>
          <p:cNvSpPr txBox="1"/>
          <p:nvPr/>
        </p:nvSpPr>
        <p:spPr>
          <a:xfrm>
            <a:off x="4005072" y="6400800"/>
            <a:ext cx="634593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Day 3 · Session 1 — Crystal Reports Basics</a:t>
            </a:r>
            <a:endParaRPr lang="en-US" sz="950" dirty="0"/>
          </a:p>
        </p:txBody>
      </p:sp>
      <p:sp>
        <p:nvSpPr>
          <p:cNvPr id="76" name="Shape 74"/>
          <p:cNvSpPr/>
          <p:nvPr/>
        </p:nvSpPr>
        <p:spPr>
          <a:xfrm>
            <a:off x="10515600" y="6400800"/>
            <a:ext cx="1676095" cy="457200"/>
          </a:xfrm>
          <a:prstGeom prst="rect">
            <a:avLst/>
          </a:prstGeom>
          <a:solidFill>
            <a:srgbClr val="22226B"/>
          </a:solidFill>
          <a:ln w="12700">
            <a:solidFill>
              <a:srgbClr val="22226B"/>
            </a:solidFill>
            <a:prstDash val="solid"/>
          </a:ln>
        </p:spPr>
      </p:sp>
      <p:sp>
        <p:nvSpPr>
          <p:cNvPr id="77" name="Text 75"/>
          <p:cNvSpPr txBox="1"/>
          <p:nvPr/>
        </p:nvSpPr>
        <p:spPr>
          <a:xfrm>
            <a:off x="10680192" y="6400800"/>
            <a:ext cx="1346911" cy="457200"/>
          </a:xfrm>
          <a:prstGeom prst="rect">
            <a:avLst/>
          </a:prstGeom>
          <a:noFill/>
          <a:ln/>
        </p:spPr>
        <p:txBody>
          <a:bodyPr wrap="square" lIns="0" tIns="0" rIns="0" bIns="0" rtlCol="0" anchor="ctr"/>
          <a:lstStyle/>
          <a:p>
            <a:pPr algn="ctr" indent="0" marL="0">
              <a:buNone/>
            </a:pPr>
            <a:r>
              <a:rPr lang="en-US" sz="950" dirty="0">
                <a:solidFill>
                  <a:srgbClr val="FFFFFF"/>
                </a:solidFill>
                <a:latin typeface="Cambria" pitchFamily="34" charset="0"/>
                <a:ea typeface="Cambria" pitchFamily="34" charset="-122"/>
                <a:cs typeface="Cambria"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B2B7F"/>
        </a:solidFill>
      </p:bgPr>
    </p:bg>
    <p:spTree>
      <p:nvGrpSpPr>
        <p:cNvPr id="1" name=""/>
        <p:cNvGrpSpPr/>
        <p:nvPr/>
      </p:nvGrpSpPr>
      <p:grpSpPr>
        <a:xfrm>
          <a:off x="0" y="0"/>
          <a:ext cx="0" cy="0"/>
          <a:chOff x="0" y="0"/>
          <a:chExt cx="0" cy="0"/>
        </a:xfrm>
      </p:grpSpPr>
      <p:sp>
        <p:nvSpPr>
          <p:cNvPr id="2" name="Shape 0"/>
          <p:cNvSpPr/>
          <p:nvPr/>
        </p:nvSpPr>
        <p:spPr>
          <a:xfrm>
            <a:off x="0" y="0"/>
            <a:ext cx="12191695" cy="365760"/>
          </a:xfrm>
          <a:prstGeom prst="rect">
            <a:avLst/>
          </a:prstGeom>
          <a:solidFill>
            <a:srgbClr val="5050A8"/>
          </a:solidFill>
          <a:ln w="12700">
            <a:solidFill>
              <a:srgbClr val="5050A8"/>
            </a:solidFill>
            <a:prstDash val="solid"/>
          </a:ln>
        </p:spPr>
      </p:sp>
      <p:sp>
        <p:nvSpPr>
          <p:cNvPr id="3" name="Text 1"/>
          <p:cNvSpPr txBox="1"/>
          <p:nvPr/>
        </p:nvSpPr>
        <p:spPr>
          <a:xfrm>
            <a:off x="594360" y="0"/>
            <a:ext cx="11002975" cy="365760"/>
          </a:xfrm>
          <a:prstGeom prst="rect">
            <a:avLst/>
          </a:prstGeom>
          <a:noFill/>
          <a:ln/>
        </p:spPr>
        <p:txBody>
          <a:bodyPr wrap="square" lIns="0" tIns="0" rIns="0" bIns="0" rtlCol="0" anchor="ctr"/>
          <a:lstStyle/>
          <a:p>
            <a:pPr indent="0" marL="0">
              <a:buNone/>
            </a:pPr>
            <a:r>
              <a:rPr lang="en-US" sz="1000" b="1" spc="180" kern="0" dirty="0">
                <a:solidFill>
                  <a:srgbClr val="C9C9EA"/>
                </a:solidFill>
                <a:latin typeface="Cambria" pitchFamily="34" charset="0"/>
                <a:ea typeface="Cambria" pitchFamily="34" charset="-122"/>
                <a:cs typeface="Cambria" pitchFamily="34" charset="-120"/>
              </a:rPr>
              <a:t>CHECKPOINT · 10 MINUTES</a:t>
            </a:r>
            <a:endParaRPr lang="en-US" sz="1000" dirty="0"/>
          </a:p>
        </p:txBody>
      </p:sp>
      <p:sp>
        <p:nvSpPr>
          <p:cNvPr id="4" name="Shape 2"/>
          <p:cNvSpPr/>
          <p:nvPr/>
        </p:nvSpPr>
        <p:spPr>
          <a:xfrm>
            <a:off x="0" y="365760"/>
            <a:ext cx="12191695" cy="841248"/>
          </a:xfrm>
          <a:prstGeom prst="rect">
            <a:avLst/>
          </a:prstGeom>
          <a:solidFill>
            <a:srgbClr val="3B3B96"/>
          </a:solidFill>
          <a:ln w="12700">
            <a:solidFill>
              <a:srgbClr val="3B3B96"/>
            </a:solidFill>
            <a:prstDash val="solid"/>
          </a:ln>
        </p:spPr>
      </p:sp>
      <p:sp>
        <p:nvSpPr>
          <p:cNvPr id="5" name="Text 3"/>
          <p:cNvSpPr txBox="1"/>
          <p:nvPr/>
        </p:nvSpPr>
        <p:spPr>
          <a:xfrm>
            <a:off x="594360" y="365760"/>
            <a:ext cx="11002975" cy="84124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The reports you already produce</a:t>
            </a:r>
            <a:endParaRPr lang="en-US" sz="2600" dirty="0"/>
          </a:p>
        </p:txBody>
      </p:sp>
      <p:sp>
        <p:nvSpPr>
          <p:cNvPr id="6" name="Shape 4"/>
          <p:cNvSpPr/>
          <p:nvPr/>
        </p:nvSpPr>
        <p:spPr>
          <a:xfrm>
            <a:off x="594360" y="1664208"/>
            <a:ext cx="6949440" cy="960120"/>
          </a:xfrm>
          <a:prstGeom prst="rect">
            <a:avLst/>
          </a:prstGeom>
          <a:solidFill>
            <a:srgbClr val="3B3B96"/>
          </a:solidFill>
          <a:ln w="9525">
            <a:solidFill>
              <a:srgbClr val="5050A8"/>
            </a:solidFill>
            <a:prstDash val="solid"/>
          </a:ln>
        </p:spPr>
      </p:sp>
      <p:sp>
        <p:nvSpPr>
          <p:cNvPr id="7" name="Shape 5"/>
          <p:cNvSpPr/>
          <p:nvPr/>
        </p:nvSpPr>
        <p:spPr>
          <a:xfrm>
            <a:off x="594360" y="1664208"/>
            <a:ext cx="50292" cy="960120"/>
          </a:xfrm>
          <a:prstGeom prst="rect">
            <a:avLst/>
          </a:prstGeom>
          <a:solidFill>
            <a:srgbClr val="8A8AC4"/>
          </a:solidFill>
          <a:ln w="12700">
            <a:solidFill>
              <a:srgbClr val="8A8AC4"/>
            </a:solidFill>
            <a:prstDash val="solid"/>
          </a:ln>
        </p:spPr>
      </p:sp>
      <p:sp>
        <p:nvSpPr>
          <p:cNvPr id="8" name="Shape 6"/>
          <p:cNvSpPr/>
          <p:nvPr/>
        </p:nvSpPr>
        <p:spPr>
          <a:xfrm>
            <a:off x="795528" y="1961388"/>
            <a:ext cx="365760" cy="365760"/>
          </a:xfrm>
          <a:prstGeom prst="ellipse">
            <a:avLst/>
          </a:prstGeom>
          <a:solidFill>
            <a:srgbClr val="3333B3"/>
          </a:solidFill>
          <a:ln w="12700">
            <a:solidFill>
              <a:srgbClr val="3333B3"/>
            </a:solidFill>
            <a:prstDash val="solid"/>
          </a:ln>
        </p:spPr>
      </p:sp>
      <p:sp>
        <p:nvSpPr>
          <p:cNvPr id="9" name="Text 7"/>
          <p:cNvSpPr txBox="1"/>
          <p:nvPr/>
        </p:nvSpPr>
        <p:spPr>
          <a:xfrm>
            <a:off x="795528" y="196138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0" name="Text 8"/>
          <p:cNvSpPr txBox="1"/>
          <p:nvPr/>
        </p:nvSpPr>
        <p:spPr>
          <a:xfrm>
            <a:off x="1325880" y="1664208"/>
            <a:ext cx="5998464" cy="96012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What reports does your area run?</a:t>
            </a:r>
            <a:endParaRPr lang="en-US" sz="1350" dirty="0"/>
          </a:p>
          <a:p>
            <a:pPr indent="0" marL="0">
              <a:buNone/>
            </a:pPr>
            <a:r>
              <a:rPr lang="en-US" sz="1100" dirty="0">
                <a:solidFill>
                  <a:srgbClr val="D9D9EF"/>
                </a:solidFill>
                <a:latin typeface="Cambria" pitchFamily="34" charset="0"/>
                <a:ea typeface="Cambria" pitchFamily="34" charset="-122"/>
                <a:cs typeface="Cambria" pitchFamily="34" charset="-120"/>
              </a:rPr>
              <a:t>Daily, monthly, on demand — and who actually reads them?</a:t>
            </a:r>
            <a:endParaRPr lang="en-US" sz="1350" dirty="0"/>
          </a:p>
        </p:txBody>
      </p:sp>
      <p:sp>
        <p:nvSpPr>
          <p:cNvPr id="11" name="Shape 9"/>
          <p:cNvSpPr/>
          <p:nvPr/>
        </p:nvSpPr>
        <p:spPr>
          <a:xfrm>
            <a:off x="594360" y="2752344"/>
            <a:ext cx="6949440" cy="960120"/>
          </a:xfrm>
          <a:prstGeom prst="rect">
            <a:avLst/>
          </a:prstGeom>
          <a:solidFill>
            <a:srgbClr val="3B3B96"/>
          </a:solidFill>
          <a:ln w="9525">
            <a:solidFill>
              <a:srgbClr val="5050A8"/>
            </a:solidFill>
            <a:prstDash val="solid"/>
          </a:ln>
        </p:spPr>
      </p:sp>
      <p:sp>
        <p:nvSpPr>
          <p:cNvPr id="12" name="Shape 10"/>
          <p:cNvSpPr/>
          <p:nvPr/>
        </p:nvSpPr>
        <p:spPr>
          <a:xfrm>
            <a:off x="594360" y="2752344"/>
            <a:ext cx="50292" cy="960120"/>
          </a:xfrm>
          <a:prstGeom prst="rect">
            <a:avLst/>
          </a:prstGeom>
          <a:solidFill>
            <a:srgbClr val="8A8AC4"/>
          </a:solidFill>
          <a:ln w="12700">
            <a:solidFill>
              <a:srgbClr val="8A8AC4"/>
            </a:solidFill>
            <a:prstDash val="solid"/>
          </a:ln>
        </p:spPr>
      </p:sp>
      <p:sp>
        <p:nvSpPr>
          <p:cNvPr id="13" name="Shape 11"/>
          <p:cNvSpPr/>
          <p:nvPr/>
        </p:nvSpPr>
        <p:spPr>
          <a:xfrm>
            <a:off x="795528" y="3049524"/>
            <a:ext cx="365760" cy="365760"/>
          </a:xfrm>
          <a:prstGeom prst="ellipse">
            <a:avLst/>
          </a:prstGeom>
          <a:solidFill>
            <a:srgbClr val="3333B3"/>
          </a:solidFill>
          <a:ln w="12700">
            <a:solidFill>
              <a:srgbClr val="3333B3"/>
            </a:solidFill>
            <a:prstDash val="solid"/>
          </a:ln>
        </p:spPr>
      </p:sp>
      <p:sp>
        <p:nvSpPr>
          <p:cNvPr id="14" name="Text 12"/>
          <p:cNvSpPr txBox="1"/>
          <p:nvPr/>
        </p:nvSpPr>
        <p:spPr>
          <a:xfrm>
            <a:off x="795528" y="304952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5" name="Text 13"/>
          <p:cNvSpPr txBox="1"/>
          <p:nvPr/>
        </p:nvSpPr>
        <p:spPr>
          <a:xfrm>
            <a:off x="1325880" y="2752344"/>
            <a:ext cx="5998464" cy="96012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How are they produced today?</a:t>
            </a:r>
            <a:endParaRPr lang="en-US" sz="1350" dirty="0"/>
          </a:p>
          <a:p>
            <a:pPr indent="0" marL="0">
              <a:buNone/>
            </a:pPr>
            <a:r>
              <a:rPr lang="en-US" sz="1100" dirty="0">
                <a:solidFill>
                  <a:srgbClr val="D9D9EF"/>
                </a:solidFill>
                <a:latin typeface="Cambria" pitchFamily="34" charset="0"/>
                <a:ea typeface="Cambria" pitchFamily="34" charset="-122"/>
                <a:cs typeface="Cambria" pitchFamily="34" charset="-120"/>
              </a:rPr>
              <a:t>A tool, a spreadsheet, or someone doing it by hand every month?</a:t>
            </a:r>
            <a:endParaRPr lang="en-US" sz="1350" dirty="0"/>
          </a:p>
        </p:txBody>
      </p:sp>
      <p:sp>
        <p:nvSpPr>
          <p:cNvPr id="16" name="Shape 14"/>
          <p:cNvSpPr/>
          <p:nvPr/>
        </p:nvSpPr>
        <p:spPr>
          <a:xfrm>
            <a:off x="594360" y="3840480"/>
            <a:ext cx="6949440" cy="960120"/>
          </a:xfrm>
          <a:prstGeom prst="rect">
            <a:avLst/>
          </a:prstGeom>
          <a:solidFill>
            <a:srgbClr val="3B3B96"/>
          </a:solidFill>
          <a:ln w="9525">
            <a:solidFill>
              <a:srgbClr val="5050A8"/>
            </a:solidFill>
            <a:prstDash val="solid"/>
          </a:ln>
        </p:spPr>
      </p:sp>
      <p:sp>
        <p:nvSpPr>
          <p:cNvPr id="17" name="Shape 15"/>
          <p:cNvSpPr/>
          <p:nvPr/>
        </p:nvSpPr>
        <p:spPr>
          <a:xfrm>
            <a:off x="594360" y="3840480"/>
            <a:ext cx="50292" cy="960120"/>
          </a:xfrm>
          <a:prstGeom prst="rect">
            <a:avLst/>
          </a:prstGeom>
          <a:solidFill>
            <a:srgbClr val="8A8AC4"/>
          </a:solidFill>
          <a:ln w="12700">
            <a:solidFill>
              <a:srgbClr val="8A8AC4"/>
            </a:solidFill>
            <a:prstDash val="solid"/>
          </a:ln>
        </p:spPr>
      </p:sp>
      <p:sp>
        <p:nvSpPr>
          <p:cNvPr id="18" name="Shape 16"/>
          <p:cNvSpPr/>
          <p:nvPr/>
        </p:nvSpPr>
        <p:spPr>
          <a:xfrm>
            <a:off x="795528" y="4137660"/>
            <a:ext cx="365760" cy="365760"/>
          </a:xfrm>
          <a:prstGeom prst="ellipse">
            <a:avLst/>
          </a:prstGeom>
          <a:solidFill>
            <a:srgbClr val="3333B3"/>
          </a:solidFill>
          <a:ln w="12700">
            <a:solidFill>
              <a:srgbClr val="3333B3"/>
            </a:solidFill>
            <a:prstDash val="solid"/>
          </a:ln>
        </p:spPr>
      </p:sp>
      <p:sp>
        <p:nvSpPr>
          <p:cNvPr id="19" name="Text 17"/>
          <p:cNvSpPr txBox="1"/>
          <p:nvPr/>
        </p:nvSpPr>
        <p:spPr>
          <a:xfrm>
            <a:off x="795528" y="41376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0" name="Text 18"/>
          <p:cNvSpPr txBox="1"/>
          <p:nvPr/>
        </p:nvSpPr>
        <p:spPr>
          <a:xfrm>
            <a:off x="1325880" y="3840480"/>
            <a:ext cx="5998464" cy="96012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Which are printed and filed?</a:t>
            </a:r>
            <a:endParaRPr lang="en-US" sz="1350" dirty="0"/>
          </a:p>
          <a:p>
            <a:pPr indent="0" marL="0">
              <a:buNone/>
            </a:pPr>
            <a:r>
              <a:rPr lang="en-US" sz="1100" dirty="0">
                <a:solidFill>
                  <a:srgbClr val="D9D9EF"/>
                </a:solidFill>
                <a:latin typeface="Cambria" pitchFamily="34" charset="0"/>
                <a:ea typeface="Cambria" pitchFamily="34" charset="-122"/>
                <a:cs typeface="Cambria" pitchFamily="34" charset="-120"/>
              </a:rPr>
              <a:t>Those are the ones that need a report writer rather than a screen.</a:t>
            </a:r>
            <a:endParaRPr lang="en-US" sz="1350" dirty="0"/>
          </a:p>
        </p:txBody>
      </p:sp>
      <p:sp>
        <p:nvSpPr>
          <p:cNvPr id="21" name="Shape 19"/>
          <p:cNvSpPr/>
          <p:nvPr/>
        </p:nvSpPr>
        <p:spPr>
          <a:xfrm>
            <a:off x="594360" y="4928616"/>
            <a:ext cx="6949440" cy="960120"/>
          </a:xfrm>
          <a:prstGeom prst="rect">
            <a:avLst/>
          </a:prstGeom>
          <a:solidFill>
            <a:srgbClr val="3B3B96"/>
          </a:solidFill>
          <a:ln w="9525">
            <a:solidFill>
              <a:srgbClr val="5050A8"/>
            </a:solidFill>
            <a:prstDash val="solid"/>
          </a:ln>
        </p:spPr>
      </p:sp>
      <p:sp>
        <p:nvSpPr>
          <p:cNvPr id="22" name="Shape 20"/>
          <p:cNvSpPr/>
          <p:nvPr/>
        </p:nvSpPr>
        <p:spPr>
          <a:xfrm>
            <a:off x="594360" y="4928616"/>
            <a:ext cx="50292" cy="960120"/>
          </a:xfrm>
          <a:prstGeom prst="rect">
            <a:avLst/>
          </a:prstGeom>
          <a:solidFill>
            <a:srgbClr val="8A8AC4"/>
          </a:solidFill>
          <a:ln w="12700">
            <a:solidFill>
              <a:srgbClr val="8A8AC4"/>
            </a:solidFill>
            <a:prstDash val="solid"/>
          </a:ln>
        </p:spPr>
      </p:sp>
      <p:sp>
        <p:nvSpPr>
          <p:cNvPr id="23" name="Shape 21"/>
          <p:cNvSpPr/>
          <p:nvPr/>
        </p:nvSpPr>
        <p:spPr>
          <a:xfrm>
            <a:off x="795528" y="5225796"/>
            <a:ext cx="365760" cy="365760"/>
          </a:xfrm>
          <a:prstGeom prst="ellipse">
            <a:avLst/>
          </a:prstGeom>
          <a:solidFill>
            <a:srgbClr val="3333B3"/>
          </a:solidFill>
          <a:ln w="12700">
            <a:solidFill>
              <a:srgbClr val="3333B3"/>
            </a:solidFill>
            <a:prstDash val="solid"/>
          </a:ln>
        </p:spPr>
      </p:sp>
      <p:sp>
        <p:nvSpPr>
          <p:cNvPr id="24" name="Text 22"/>
          <p:cNvSpPr txBox="1"/>
          <p:nvPr/>
        </p:nvSpPr>
        <p:spPr>
          <a:xfrm>
            <a:off x="795528" y="522579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5" name="Text 23"/>
          <p:cNvSpPr txBox="1"/>
          <p:nvPr/>
        </p:nvSpPr>
        <p:spPr>
          <a:xfrm>
            <a:off x="1325880" y="4928616"/>
            <a:ext cx="5998464" cy="96012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Has a report ever been wrong?</a:t>
            </a:r>
            <a:endParaRPr lang="en-US" sz="1350" dirty="0"/>
          </a:p>
          <a:p>
            <a:pPr indent="0" marL="0">
              <a:buNone/>
            </a:pPr>
            <a:r>
              <a:rPr lang="en-US" sz="1100" dirty="0">
                <a:solidFill>
                  <a:srgbClr val="D9D9EF"/>
                </a:solidFill>
                <a:latin typeface="Cambria" pitchFamily="34" charset="0"/>
                <a:ea typeface="Cambria" pitchFamily="34" charset="-122"/>
                <a:cs typeface="Cambria" pitchFamily="34" charset="-120"/>
              </a:rPr>
              <a:t>What happened, and how was it found?</a:t>
            </a:r>
            <a:endParaRPr lang="en-US" sz="1350" dirty="0"/>
          </a:p>
        </p:txBody>
      </p:sp>
      <p:sp>
        <p:nvSpPr>
          <p:cNvPr id="26" name="Shape 24"/>
          <p:cNvSpPr/>
          <p:nvPr/>
        </p:nvSpPr>
        <p:spPr>
          <a:xfrm>
            <a:off x="7635240" y="1664208"/>
            <a:ext cx="3959352" cy="402336"/>
          </a:xfrm>
          <a:prstGeom prst="rect">
            <a:avLst/>
          </a:prstGeom>
          <a:solidFill>
            <a:srgbClr val="5050A8"/>
          </a:solidFill>
          <a:ln w="12700">
            <a:solidFill>
              <a:srgbClr val="5050A8"/>
            </a:solidFill>
            <a:prstDash val="solid"/>
          </a:ln>
        </p:spPr>
      </p:sp>
      <p:sp>
        <p:nvSpPr>
          <p:cNvPr id="27" name="Text 25"/>
          <p:cNvSpPr txBox="1"/>
          <p:nvPr/>
        </p:nvSpPr>
        <p:spPr>
          <a:xfrm>
            <a:off x="7818120" y="1664208"/>
            <a:ext cx="3593592" cy="40233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Running it</a:t>
            </a:r>
            <a:endParaRPr lang="en-US" sz="1500" dirty="0"/>
          </a:p>
        </p:txBody>
      </p:sp>
      <p:sp>
        <p:nvSpPr>
          <p:cNvPr id="28" name="Shape 26"/>
          <p:cNvSpPr/>
          <p:nvPr/>
        </p:nvSpPr>
        <p:spPr>
          <a:xfrm>
            <a:off x="7635240" y="2066544"/>
            <a:ext cx="3959352" cy="3803904"/>
          </a:xfrm>
          <a:prstGeom prst="rect">
            <a:avLst/>
          </a:prstGeom>
          <a:solidFill>
            <a:srgbClr val="3B3B96"/>
          </a:solidFill>
          <a:ln w="9525">
            <a:solidFill>
              <a:srgbClr val="5050A8"/>
            </a:solidFill>
            <a:prstDash val="solid"/>
          </a:ln>
        </p:spPr>
      </p:sp>
      <p:sp>
        <p:nvSpPr>
          <p:cNvPr id="29" name="Text 27"/>
          <p:cNvSpPr txBox="1"/>
          <p:nvPr/>
        </p:nvSpPr>
        <p:spPr>
          <a:xfrm>
            <a:off x="7854696" y="2212848"/>
            <a:ext cx="3520440" cy="3529584"/>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D9D9EF"/>
                </a:solidFill>
                <a:latin typeface="Cambria" pitchFamily="34" charset="0"/>
                <a:ea typeface="Cambria" pitchFamily="34" charset="-122"/>
                <a:cs typeface="Cambria" pitchFamily="34" charset="-120"/>
              </a:rPr>
              <a:t>Two minutes in pairs, then three answers</a:t>
            </a:r>
            <a:endParaRPr lang="en-US" sz="1200" dirty="0"/>
          </a:p>
          <a:p>
            <a:pPr marL="177800" indent="-177800">
              <a:spcAft>
                <a:spcPts val="700"/>
              </a:spcAft>
              <a:buSzPct val="100000"/>
              <a:buChar char="▸"/>
            </a:pPr>
            <a:r>
              <a:rPr lang="en-US" sz="1200" dirty="0">
                <a:solidFill>
                  <a:srgbClr val="D9D9EF"/>
                </a:solidFill>
                <a:latin typeface="Cambria" pitchFamily="34" charset="0"/>
                <a:ea typeface="Cambria" pitchFamily="34" charset="-122"/>
                <a:cs typeface="Cambria" pitchFamily="34" charset="-120"/>
              </a:rPr>
              <a:t>Watch for reports produced by hand each month — those are the easy wins</a:t>
            </a:r>
            <a:endParaRPr lang="en-US" sz="1200" dirty="0"/>
          </a:p>
          <a:p>
            <a:pPr marL="177800" indent="-177800">
              <a:spcAft>
                <a:spcPts val="700"/>
              </a:spcAft>
              <a:buSzPct val="100000"/>
              <a:buChar char="▸"/>
            </a:pPr>
            <a:r>
              <a:rPr lang="en-US" sz="1200" dirty="0">
                <a:solidFill>
                  <a:srgbClr val="D9D9EF"/>
                </a:solidFill>
                <a:latin typeface="Cambria" pitchFamily="34" charset="0"/>
                <a:ea typeface="Cambria" pitchFamily="34" charset="-122"/>
                <a:cs typeface="Cambria" pitchFamily="34" charset="-120"/>
              </a:rPr>
              <a:t>A report that was wrong and trusted is the strongest argument for verification</a:t>
            </a:r>
            <a:endParaRPr lang="en-US" sz="1200" dirty="0"/>
          </a:p>
        </p:txBody>
      </p:sp>
      <p:sp>
        <p:nvSpPr>
          <p:cNvPr id="30" name="Shape 28"/>
          <p:cNvSpPr/>
          <p:nvPr/>
        </p:nvSpPr>
        <p:spPr>
          <a:xfrm>
            <a:off x="0" y="6400800"/>
            <a:ext cx="3840480" cy="457200"/>
          </a:xfrm>
          <a:prstGeom prst="rect">
            <a:avLst/>
          </a:prstGeom>
          <a:solidFill>
            <a:srgbClr val="5050A8"/>
          </a:solidFill>
          <a:ln w="12700">
            <a:solidFill>
              <a:srgbClr val="5050A8"/>
            </a:solidFill>
            <a:prstDash val="solid"/>
          </a:ln>
        </p:spPr>
      </p:sp>
      <p:sp>
        <p:nvSpPr>
          <p:cNvPr id="31" name="Text 29"/>
          <p:cNvSpPr txBox="1"/>
          <p:nvPr/>
        </p:nvSpPr>
        <p:spPr>
          <a:xfrm>
            <a:off x="164592" y="6400800"/>
            <a:ext cx="351129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HAL  ·  .NET, React &amp; SQL Programme</a:t>
            </a:r>
            <a:endParaRPr lang="en-US" sz="950" dirty="0"/>
          </a:p>
        </p:txBody>
      </p:sp>
      <p:sp>
        <p:nvSpPr>
          <p:cNvPr id="32" name="Shape 30"/>
          <p:cNvSpPr/>
          <p:nvPr/>
        </p:nvSpPr>
        <p:spPr>
          <a:xfrm>
            <a:off x="3840480" y="6400800"/>
            <a:ext cx="6675120" cy="457200"/>
          </a:xfrm>
          <a:prstGeom prst="rect">
            <a:avLst/>
          </a:prstGeom>
          <a:solidFill>
            <a:srgbClr val="3B3B96"/>
          </a:solidFill>
          <a:ln w="12700">
            <a:solidFill>
              <a:srgbClr val="3B3B96"/>
            </a:solidFill>
            <a:prstDash val="solid"/>
          </a:ln>
        </p:spPr>
      </p:sp>
      <p:sp>
        <p:nvSpPr>
          <p:cNvPr id="33" name="Text 31"/>
          <p:cNvSpPr txBox="1"/>
          <p:nvPr/>
        </p:nvSpPr>
        <p:spPr>
          <a:xfrm>
            <a:off x="4005072" y="6400800"/>
            <a:ext cx="634593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Day 3 · Session 1 — Crystal Reports Basics</a:t>
            </a:r>
            <a:endParaRPr lang="en-US" sz="950" dirty="0"/>
          </a:p>
        </p:txBody>
      </p:sp>
      <p:sp>
        <p:nvSpPr>
          <p:cNvPr id="34" name="Shape 32"/>
          <p:cNvSpPr/>
          <p:nvPr/>
        </p:nvSpPr>
        <p:spPr>
          <a:xfrm>
            <a:off x="10515600" y="6400800"/>
            <a:ext cx="1676095" cy="457200"/>
          </a:xfrm>
          <a:prstGeom prst="rect">
            <a:avLst/>
          </a:prstGeom>
          <a:solidFill>
            <a:srgbClr val="5050A8"/>
          </a:solidFill>
          <a:ln w="12700">
            <a:solidFill>
              <a:srgbClr val="5050A8"/>
            </a:solidFill>
            <a:prstDash val="solid"/>
          </a:ln>
        </p:spPr>
      </p:sp>
      <p:sp>
        <p:nvSpPr>
          <p:cNvPr id="35" name="Text 33"/>
          <p:cNvSpPr txBox="1"/>
          <p:nvPr/>
        </p:nvSpPr>
        <p:spPr>
          <a:xfrm>
            <a:off x="10680192" y="6400800"/>
            <a:ext cx="1346911" cy="457200"/>
          </a:xfrm>
          <a:prstGeom prst="rect">
            <a:avLst/>
          </a:prstGeom>
          <a:noFill/>
          <a:ln/>
        </p:spPr>
        <p:txBody>
          <a:bodyPr wrap="square" lIns="0" tIns="0" rIns="0" bIns="0" rtlCol="0" anchor="ctr"/>
          <a:lstStyle/>
          <a:p>
            <a:pPr algn="ctr" indent="0" marL="0">
              <a:buNone/>
            </a:pPr>
            <a:r>
              <a:rPr lang="en-US" sz="950" dirty="0">
                <a:solidFill>
                  <a:srgbClr val="FFFFFF"/>
                </a:solidFill>
                <a:latin typeface="Cambria" pitchFamily="34" charset="0"/>
                <a:ea typeface="Cambria" pitchFamily="34" charset="-122"/>
                <a:cs typeface="Cambria"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B2B7F"/>
        </a:solidFill>
      </p:bgPr>
    </p:bg>
    <p:spTree>
      <p:nvGrpSpPr>
        <p:cNvPr id="1" name=""/>
        <p:cNvGrpSpPr/>
        <p:nvPr/>
      </p:nvGrpSpPr>
      <p:grpSpPr>
        <a:xfrm>
          <a:off x="0" y="0"/>
          <a:ext cx="0" cy="0"/>
          <a:chOff x="0" y="0"/>
          <a:chExt cx="0" cy="0"/>
        </a:xfrm>
      </p:grpSpPr>
      <p:sp>
        <p:nvSpPr>
          <p:cNvPr id="2" name="Shape 0"/>
          <p:cNvSpPr/>
          <p:nvPr/>
        </p:nvSpPr>
        <p:spPr>
          <a:xfrm>
            <a:off x="0" y="0"/>
            <a:ext cx="12191695" cy="365760"/>
          </a:xfrm>
          <a:prstGeom prst="rect">
            <a:avLst/>
          </a:prstGeom>
          <a:solidFill>
            <a:srgbClr val="5050A8"/>
          </a:solidFill>
          <a:ln w="12700">
            <a:solidFill>
              <a:srgbClr val="5050A8"/>
            </a:solidFill>
            <a:prstDash val="solid"/>
          </a:ln>
        </p:spPr>
      </p:sp>
      <p:sp>
        <p:nvSpPr>
          <p:cNvPr id="3" name="Text 1"/>
          <p:cNvSpPr txBox="1"/>
          <p:nvPr/>
        </p:nvSpPr>
        <p:spPr>
          <a:xfrm>
            <a:off x="594360" y="0"/>
            <a:ext cx="11002975" cy="365760"/>
          </a:xfrm>
          <a:prstGeom prst="rect">
            <a:avLst/>
          </a:prstGeom>
          <a:noFill/>
          <a:ln/>
        </p:spPr>
        <p:txBody>
          <a:bodyPr wrap="square" lIns="0" tIns="0" rIns="0" bIns="0" rtlCol="0" anchor="ctr"/>
          <a:lstStyle/>
          <a:p>
            <a:pPr indent="0" marL="0">
              <a:buNone/>
            </a:pPr>
            <a:r>
              <a:rPr lang="en-US" sz="1000" b="1" spc="180" kern="0" dirty="0">
                <a:solidFill>
                  <a:srgbClr val="C9C9EA"/>
                </a:solidFill>
                <a:latin typeface="Cambria" pitchFamily="34" charset="0"/>
                <a:ea typeface="Cambria" pitchFamily="34" charset="-122"/>
                <a:cs typeface="Cambria" pitchFamily="34" charset="-120"/>
              </a:rPr>
              <a:t>SESSION 1 RECAP</a:t>
            </a:r>
            <a:endParaRPr lang="en-US" sz="1000" dirty="0"/>
          </a:p>
        </p:txBody>
      </p:sp>
      <p:sp>
        <p:nvSpPr>
          <p:cNvPr id="4" name="Shape 2"/>
          <p:cNvSpPr/>
          <p:nvPr/>
        </p:nvSpPr>
        <p:spPr>
          <a:xfrm>
            <a:off x="0" y="365760"/>
            <a:ext cx="12191695" cy="841248"/>
          </a:xfrm>
          <a:prstGeom prst="rect">
            <a:avLst/>
          </a:prstGeom>
          <a:solidFill>
            <a:srgbClr val="3B3B96"/>
          </a:solidFill>
          <a:ln w="12700">
            <a:solidFill>
              <a:srgbClr val="3B3B96"/>
            </a:solidFill>
            <a:prstDash val="solid"/>
          </a:ln>
        </p:spPr>
      </p:sp>
      <p:sp>
        <p:nvSpPr>
          <p:cNvPr id="5" name="Text 3"/>
          <p:cNvSpPr txBox="1"/>
          <p:nvPr/>
        </p:nvSpPr>
        <p:spPr>
          <a:xfrm>
            <a:off x="594360" y="365760"/>
            <a:ext cx="11002975" cy="84124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Reports, in six lines</a:t>
            </a:r>
            <a:endParaRPr lang="en-US" sz="2600" dirty="0"/>
          </a:p>
        </p:txBody>
      </p:sp>
      <p:sp>
        <p:nvSpPr>
          <p:cNvPr id="6" name="Shape 4"/>
          <p:cNvSpPr/>
          <p:nvPr/>
        </p:nvSpPr>
        <p:spPr>
          <a:xfrm>
            <a:off x="594360" y="1664208"/>
            <a:ext cx="6400800" cy="621792"/>
          </a:xfrm>
          <a:prstGeom prst="rect">
            <a:avLst/>
          </a:prstGeom>
          <a:solidFill>
            <a:srgbClr val="3B3B96"/>
          </a:solidFill>
          <a:ln w="9525">
            <a:solidFill>
              <a:srgbClr val="5050A8"/>
            </a:solidFill>
            <a:prstDash val="solid"/>
          </a:ln>
        </p:spPr>
      </p:sp>
      <p:sp>
        <p:nvSpPr>
          <p:cNvPr id="7" name="Shape 5"/>
          <p:cNvSpPr/>
          <p:nvPr/>
        </p:nvSpPr>
        <p:spPr>
          <a:xfrm>
            <a:off x="594360" y="1664208"/>
            <a:ext cx="50292" cy="621792"/>
          </a:xfrm>
          <a:prstGeom prst="rect">
            <a:avLst/>
          </a:prstGeom>
          <a:solidFill>
            <a:srgbClr val="8A8AC4"/>
          </a:solidFill>
          <a:ln w="12700">
            <a:solidFill>
              <a:srgbClr val="8A8AC4"/>
            </a:solidFill>
            <a:prstDash val="solid"/>
          </a:ln>
        </p:spPr>
      </p:sp>
      <p:sp>
        <p:nvSpPr>
          <p:cNvPr id="8" name="Shape 6"/>
          <p:cNvSpPr/>
          <p:nvPr/>
        </p:nvSpPr>
        <p:spPr>
          <a:xfrm>
            <a:off x="795528" y="1792224"/>
            <a:ext cx="365760" cy="365760"/>
          </a:xfrm>
          <a:prstGeom prst="ellipse">
            <a:avLst/>
          </a:prstGeom>
          <a:solidFill>
            <a:srgbClr val="3333B3"/>
          </a:solidFill>
          <a:ln w="12700">
            <a:solidFill>
              <a:srgbClr val="3333B3"/>
            </a:solidFill>
            <a:prstDash val="solid"/>
          </a:ln>
        </p:spPr>
      </p:sp>
      <p:sp>
        <p:nvSpPr>
          <p:cNvPr id="9" name="Text 7"/>
          <p:cNvSpPr txBox="1"/>
          <p:nvPr/>
        </p:nvSpPr>
        <p:spPr>
          <a:xfrm>
            <a:off x="795528" y="179222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0" name="Text 8"/>
          <p:cNvSpPr txBox="1"/>
          <p:nvPr/>
        </p:nvSpPr>
        <p:spPr>
          <a:xfrm>
            <a:off x="1325880" y="1664208"/>
            <a:ext cx="5449824" cy="621792"/>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A report is a banded layout over a query</a:t>
            </a:r>
            <a:endParaRPr lang="en-US" sz="1350" dirty="0"/>
          </a:p>
        </p:txBody>
      </p:sp>
      <p:sp>
        <p:nvSpPr>
          <p:cNvPr id="11" name="Shape 9"/>
          <p:cNvSpPr/>
          <p:nvPr/>
        </p:nvSpPr>
        <p:spPr>
          <a:xfrm>
            <a:off x="594360" y="2377440"/>
            <a:ext cx="6400800" cy="621792"/>
          </a:xfrm>
          <a:prstGeom prst="rect">
            <a:avLst/>
          </a:prstGeom>
          <a:solidFill>
            <a:srgbClr val="3B3B96"/>
          </a:solidFill>
          <a:ln w="9525">
            <a:solidFill>
              <a:srgbClr val="5050A8"/>
            </a:solidFill>
            <a:prstDash val="solid"/>
          </a:ln>
        </p:spPr>
      </p:sp>
      <p:sp>
        <p:nvSpPr>
          <p:cNvPr id="12" name="Shape 10"/>
          <p:cNvSpPr/>
          <p:nvPr/>
        </p:nvSpPr>
        <p:spPr>
          <a:xfrm>
            <a:off x="594360" y="2377440"/>
            <a:ext cx="50292" cy="621792"/>
          </a:xfrm>
          <a:prstGeom prst="rect">
            <a:avLst/>
          </a:prstGeom>
          <a:solidFill>
            <a:srgbClr val="8A8AC4"/>
          </a:solidFill>
          <a:ln w="12700">
            <a:solidFill>
              <a:srgbClr val="8A8AC4"/>
            </a:solidFill>
            <a:prstDash val="solid"/>
          </a:ln>
        </p:spPr>
      </p:sp>
      <p:sp>
        <p:nvSpPr>
          <p:cNvPr id="13" name="Shape 11"/>
          <p:cNvSpPr/>
          <p:nvPr/>
        </p:nvSpPr>
        <p:spPr>
          <a:xfrm>
            <a:off x="795528" y="2505456"/>
            <a:ext cx="365760" cy="365760"/>
          </a:xfrm>
          <a:prstGeom prst="ellipse">
            <a:avLst/>
          </a:prstGeom>
          <a:solidFill>
            <a:srgbClr val="3333B3"/>
          </a:solidFill>
          <a:ln w="12700">
            <a:solidFill>
              <a:srgbClr val="3333B3"/>
            </a:solidFill>
            <a:prstDash val="solid"/>
          </a:ln>
        </p:spPr>
      </p:sp>
      <p:sp>
        <p:nvSpPr>
          <p:cNvPr id="14" name="Text 12"/>
          <p:cNvSpPr txBox="1"/>
          <p:nvPr/>
        </p:nvSpPr>
        <p:spPr>
          <a:xfrm>
            <a:off x="795528" y="250545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5" name="Text 13"/>
          <p:cNvSpPr txBox="1"/>
          <p:nvPr/>
        </p:nvSpPr>
        <p:spPr>
          <a:xfrm>
            <a:off x="1325880" y="2377440"/>
            <a:ext cx="5449824" cy="621792"/>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Details repeats per row; everything else repeats per page, group or report</a:t>
            </a:r>
            <a:endParaRPr lang="en-US" sz="1350" dirty="0"/>
          </a:p>
        </p:txBody>
      </p:sp>
      <p:sp>
        <p:nvSpPr>
          <p:cNvPr id="16" name="Shape 14"/>
          <p:cNvSpPr/>
          <p:nvPr/>
        </p:nvSpPr>
        <p:spPr>
          <a:xfrm>
            <a:off x="594360" y="3090672"/>
            <a:ext cx="6400800" cy="621792"/>
          </a:xfrm>
          <a:prstGeom prst="rect">
            <a:avLst/>
          </a:prstGeom>
          <a:solidFill>
            <a:srgbClr val="3B3B96"/>
          </a:solidFill>
          <a:ln w="9525">
            <a:solidFill>
              <a:srgbClr val="5050A8"/>
            </a:solidFill>
            <a:prstDash val="solid"/>
          </a:ln>
        </p:spPr>
      </p:sp>
      <p:sp>
        <p:nvSpPr>
          <p:cNvPr id="17" name="Shape 15"/>
          <p:cNvSpPr/>
          <p:nvPr/>
        </p:nvSpPr>
        <p:spPr>
          <a:xfrm>
            <a:off x="594360" y="3090672"/>
            <a:ext cx="50292" cy="621792"/>
          </a:xfrm>
          <a:prstGeom prst="rect">
            <a:avLst/>
          </a:prstGeom>
          <a:solidFill>
            <a:srgbClr val="8A8AC4"/>
          </a:solidFill>
          <a:ln w="12700">
            <a:solidFill>
              <a:srgbClr val="8A8AC4"/>
            </a:solidFill>
            <a:prstDash val="solid"/>
          </a:ln>
        </p:spPr>
      </p:sp>
      <p:sp>
        <p:nvSpPr>
          <p:cNvPr id="18" name="Shape 16"/>
          <p:cNvSpPr/>
          <p:nvPr/>
        </p:nvSpPr>
        <p:spPr>
          <a:xfrm>
            <a:off x="795528" y="3218688"/>
            <a:ext cx="365760" cy="365760"/>
          </a:xfrm>
          <a:prstGeom prst="ellipse">
            <a:avLst/>
          </a:prstGeom>
          <a:solidFill>
            <a:srgbClr val="3333B3"/>
          </a:solidFill>
          <a:ln w="12700">
            <a:solidFill>
              <a:srgbClr val="3333B3"/>
            </a:solidFill>
            <a:prstDash val="solid"/>
          </a:ln>
        </p:spPr>
      </p:sp>
      <p:sp>
        <p:nvSpPr>
          <p:cNvPr id="19" name="Text 17"/>
          <p:cNvSpPr txBox="1"/>
          <p:nvPr/>
        </p:nvSpPr>
        <p:spPr>
          <a:xfrm>
            <a:off x="795528" y="321868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0" name="Text 18"/>
          <p:cNvSpPr txBox="1"/>
          <p:nvPr/>
        </p:nvSpPr>
        <p:spPr>
          <a:xfrm>
            <a:off x="1325880" y="3090672"/>
            <a:ext cx="5449824" cy="621792"/>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Group on the question the reader is asking</a:t>
            </a:r>
            <a:endParaRPr lang="en-US" sz="1350" dirty="0"/>
          </a:p>
        </p:txBody>
      </p:sp>
      <p:sp>
        <p:nvSpPr>
          <p:cNvPr id="21" name="Shape 19"/>
          <p:cNvSpPr/>
          <p:nvPr/>
        </p:nvSpPr>
        <p:spPr>
          <a:xfrm>
            <a:off x="594360" y="3803904"/>
            <a:ext cx="6400800" cy="621792"/>
          </a:xfrm>
          <a:prstGeom prst="rect">
            <a:avLst/>
          </a:prstGeom>
          <a:solidFill>
            <a:srgbClr val="3B3B96"/>
          </a:solidFill>
          <a:ln w="9525">
            <a:solidFill>
              <a:srgbClr val="5050A8"/>
            </a:solidFill>
            <a:prstDash val="solid"/>
          </a:ln>
        </p:spPr>
      </p:sp>
      <p:sp>
        <p:nvSpPr>
          <p:cNvPr id="22" name="Shape 20"/>
          <p:cNvSpPr/>
          <p:nvPr/>
        </p:nvSpPr>
        <p:spPr>
          <a:xfrm>
            <a:off x="594360" y="3803904"/>
            <a:ext cx="50292" cy="621792"/>
          </a:xfrm>
          <a:prstGeom prst="rect">
            <a:avLst/>
          </a:prstGeom>
          <a:solidFill>
            <a:srgbClr val="8A8AC4"/>
          </a:solidFill>
          <a:ln w="12700">
            <a:solidFill>
              <a:srgbClr val="8A8AC4"/>
            </a:solidFill>
            <a:prstDash val="solid"/>
          </a:ln>
        </p:spPr>
      </p:sp>
      <p:sp>
        <p:nvSpPr>
          <p:cNvPr id="23" name="Shape 21"/>
          <p:cNvSpPr/>
          <p:nvPr/>
        </p:nvSpPr>
        <p:spPr>
          <a:xfrm>
            <a:off x="795528" y="3931920"/>
            <a:ext cx="365760" cy="365760"/>
          </a:xfrm>
          <a:prstGeom prst="ellipse">
            <a:avLst/>
          </a:prstGeom>
          <a:solidFill>
            <a:srgbClr val="3333B3"/>
          </a:solidFill>
          <a:ln w="12700">
            <a:solidFill>
              <a:srgbClr val="3333B3"/>
            </a:solidFill>
            <a:prstDash val="solid"/>
          </a:ln>
        </p:spPr>
      </p:sp>
      <p:sp>
        <p:nvSpPr>
          <p:cNvPr id="24" name="Text 22"/>
          <p:cNvSpPr txBox="1"/>
          <p:nvPr/>
        </p:nvSpPr>
        <p:spPr>
          <a:xfrm>
            <a:off x="795528" y="39319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5" name="Text 23"/>
          <p:cNvSpPr txBox="1"/>
          <p:nvPr/>
        </p:nvSpPr>
        <p:spPr>
          <a:xfrm>
            <a:off x="1325880" y="3803904"/>
            <a:ext cx="5449824" cy="621792"/>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Let the engine compute summaries</a:t>
            </a:r>
            <a:endParaRPr lang="en-US" sz="1350" dirty="0"/>
          </a:p>
        </p:txBody>
      </p:sp>
      <p:sp>
        <p:nvSpPr>
          <p:cNvPr id="26" name="Shape 24"/>
          <p:cNvSpPr/>
          <p:nvPr/>
        </p:nvSpPr>
        <p:spPr>
          <a:xfrm>
            <a:off x="594360" y="4517136"/>
            <a:ext cx="6400800" cy="621792"/>
          </a:xfrm>
          <a:prstGeom prst="rect">
            <a:avLst/>
          </a:prstGeom>
          <a:solidFill>
            <a:srgbClr val="3B3B96"/>
          </a:solidFill>
          <a:ln w="9525">
            <a:solidFill>
              <a:srgbClr val="5050A8"/>
            </a:solidFill>
            <a:prstDash val="solid"/>
          </a:ln>
        </p:spPr>
      </p:sp>
      <p:sp>
        <p:nvSpPr>
          <p:cNvPr id="27" name="Shape 25"/>
          <p:cNvSpPr/>
          <p:nvPr/>
        </p:nvSpPr>
        <p:spPr>
          <a:xfrm>
            <a:off x="594360" y="4517136"/>
            <a:ext cx="50292" cy="621792"/>
          </a:xfrm>
          <a:prstGeom prst="rect">
            <a:avLst/>
          </a:prstGeom>
          <a:solidFill>
            <a:srgbClr val="8A8AC4"/>
          </a:solidFill>
          <a:ln w="12700">
            <a:solidFill>
              <a:srgbClr val="8A8AC4"/>
            </a:solidFill>
            <a:prstDash val="solid"/>
          </a:ln>
        </p:spPr>
      </p:sp>
      <p:sp>
        <p:nvSpPr>
          <p:cNvPr id="28" name="Shape 26"/>
          <p:cNvSpPr/>
          <p:nvPr/>
        </p:nvSpPr>
        <p:spPr>
          <a:xfrm>
            <a:off x="795528" y="4645152"/>
            <a:ext cx="365760" cy="365760"/>
          </a:xfrm>
          <a:prstGeom prst="ellipse">
            <a:avLst/>
          </a:prstGeom>
          <a:solidFill>
            <a:srgbClr val="3333B3"/>
          </a:solidFill>
          <a:ln w="12700">
            <a:solidFill>
              <a:srgbClr val="3333B3"/>
            </a:solidFill>
            <a:prstDash val="solid"/>
          </a:ln>
        </p:spPr>
      </p:sp>
      <p:sp>
        <p:nvSpPr>
          <p:cNvPr id="29" name="Text 27"/>
          <p:cNvSpPr txBox="1"/>
          <p:nvPr/>
        </p:nvSpPr>
        <p:spPr>
          <a:xfrm>
            <a:off x="795528" y="46451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30" name="Text 28"/>
          <p:cNvSpPr txBox="1"/>
          <p:nvPr/>
        </p:nvSpPr>
        <p:spPr>
          <a:xfrm>
            <a:off x="1325880" y="4517136"/>
            <a:ext cx="5449824" cy="621792"/>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Filter in SQL, not in the report</a:t>
            </a:r>
            <a:endParaRPr lang="en-US" sz="1350" dirty="0"/>
          </a:p>
        </p:txBody>
      </p:sp>
      <p:sp>
        <p:nvSpPr>
          <p:cNvPr id="31" name="Shape 29"/>
          <p:cNvSpPr/>
          <p:nvPr/>
        </p:nvSpPr>
        <p:spPr>
          <a:xfrm>
            <a:off x="594360" y="5230368"/>
            <a:ext cx="6400800" cy="621792"/>
          </a:xfrm>
          <a:prstGeom prst="rect">
            <a:avLst/>
          </a:prstGeom>
          <a:solidFill>
            <a:srgbClr val="3B3B96"/>
          </a:solidFill>
          <a:ln w="9525">
            <a:solidFill>
              <a:srgbClr val="5050A8"/>
            </a:solidFill>
            <a:prstDash val="solid"/>
          </a:ln>
        </p:spPr>
      </p:sp>
      <p:sp>
        <p:nvSpPr>
          <p:cNvPr id="32" name="Shape 30"/>
          <p:cNvSpPr/>
          <p:nvPr/>
        </p:nvSpPr>
        <p:spPr>
          <a:xfrm>
            <a:off x="594360" y="5230368"/>
            <a:ext cx="50292" cy="621792"/>
          </a:xfrm>
          <a:prstGeom prst="rect">
            <a:avLst/>
          </a:prstGeom>
          <a:solidFill>
            <a:srgbClr val="8A8AC4"/>
          </a:solidFill>
          <a:ln w="12700">
            <a:solidFill>
              <a:srgbClr val="8A8AC4"/>
            </a:solidFill>
            <a:prstDash val="solid"/>
          </a:ln>
        </p:spPr>
      </p:sp>
      <p:sp>
        <p:nvSpPr>
          <p:cNvPr id="33" name="Shape 31"/>
          <p:cNvSpPr/>
          <p:nvPr/>
        </p:nvSpPr>
        <p:spPr>
          <a:xfrm>
            <a:off x="795528" y="5358384"/>
            <a:ext cx="365760" cy="365760"/>
          </a:xfrm>
          <a:prstGeom prst="ellipse">
            <a:avLst/>
          </a:prstGeom>
          <a:solidFill>
            <a:srgbClr val="3333B3"/>
          </a:solidFill>
          <a:ln w="12700">
            <a:solidFill>
              <a:srgbClr val="3333B3"/>
            </a:solidFill>
            <a:prstDash val="solid"/>
          </a:ln>
        </p:spPr>
      </p:sp>
      <p:sp>
        <p:nvSpPr>
          <p:cNvPr id="34" name="Text 32"/>
          <p:cNvSpPr txBox="1"/>
          <p:nvPr/>
        </p:nvSpPr>
        <p:spPr>
          <a:xfrm>
            <a:off x="795528" y="535838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35" name="Text 33"/>
          <p:cNvSpPr txBox="1"/>
          <p:nvPr/>
        </p:nvSpPr>
        <p:spPr>
          <a:xfrm>
            <a:off x="1325880" y="5230368"/>
            <a:ext cx="5449824" cy="621792"/>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Always print the date and the selection criteria</a:t>
            </a:r>
            <a:endParaRPr lang="en-US" sz="1350" dirty="0"/>
          </a:p>
        </p:txBody>
      </p:sp>
      <p:sp>
        <p:nvSpPr>
          <p:cNvPr id="36" name="Shape 34"/>
          <p:cNvSpPr/>
          <p:nvPr/>
        </p:nvSpPr>
        <p:spPr>
          <a:xfrm>
            <a:off x="7086600" y="1664208"/>
            <a:ext cx="4507992" cy="402336"/>
          </a:xfrm>
          <a:prstGeom prst="rect">
            <a:avLst/>
          </a:prstGeom>
          <a:solidFill>
            <a:srgbClr val="5050A8"/>
          </a:solidFill>
          <a:ln w="12700">
            <a:solidFill>
              <a:srgbClr val="5050A8"/>
            </a:solidFill>
            <a:prstDash val="solid"/>
          </a:ln>
        </p:spPr>
      </p:sp>
      <p:sp>
        <p:nvSpPr>
          <p:cNvPr id="37" name="Text 35"/>
          <p:cNvSpPr txBox="1"/>
          <p:nvPr/>
        </p:nvSpPr>
        <p:spPr>
          <a:xfrm>
            <a:off x="7269480" y="1664208"/>
            <a:ext cx="4142232" cy="40233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Practise</a:t>
            </a:r>
            <a:endParaRPr lang="en-US" sz="1500" dirty="0"/>
          </a:p>
        </p:txBody>
      </p:sp>
      <p:sp>
        <p:nvSpPr>
          <p:cNvPr id="38" name="Shape 36"/>
          <p:cNvSpPr/>
          <p:nvPr/>
        </p:nvSpPr>
        <p:spPr>
          <a:xfrm>
            <a:off x="7086600" y="2066544"/>
            <a:ext cx="4507992" cy="3785616"/>
          </a:xfrm>
          <a:prstGeom prst="rect">
            <a:avLst/>
          </a:prstGeom>
          <a:solidFill>
            <a:srgbClr val="3B3B96"/>
          </a:solidFill>
          <a:ln w="9525">
            <a:solidFill>
              <a:srgbClr val="5050A8"/>
            </a:solidFill>
            <a:prstDash val="solid"/>
          </a:ln>
        </p:spPr>
      </p:sp>
      <p:sp>
        <p:nvSpPr>
          <p:cNvPr id="39" name="Text 37"/>
          <p:cNvSpPr txBox="1"/>
          <p:nvPr/>
        </p:nvSpPr>
        <p:spPr>
          <a:xfrm>
            <a:off x="7306056" y="2212848"/>
            <a:ext cx="4069080" cy="3511296"/>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D9D9EF"/>
                </a:solidFill>
                <a:latin typeface="Cambria" pitchFamily="34" charset="0"/>
                <a:ea typeface="Cambria" pitchFamily="34" charset="-122"/>
                <a:cs typeface="Cambria" pitchFamily="34" charset="-120"/>
              </a:rPr>
              <a:t>Add a second grouping level to your report</a:t>
            </a:r>
            <a:endParaRPr lang="en-US" sz="1200" dirty="0"/>
          </a:p>
          <a:p>
            <a:pPr marL="177800" indent="-177800">
              <a:spcAft>
                <a:spcPts val="700"/>
              </a:spcAft>
              <a:buSzPct val="100000"/>
              <a:buChar char="▸"/>
            </a:pPr>
            <a:r>
              <a:rPr lang="en-US" sz="1200" dirty="0">
                <a:solidFill>
                  <a:srgbClr val="D9D9EF"/>
                </a:solidFill>
                <a:latin typeface="Cambria" pitchFamily="34" charset="0"/>
                <a:ea typeface="Cambria" pitchFamily="34" charset="-122"/>
                <a:cs typeface="Cambria" pitchFamily="34" charset="-120"/>
              </a:rPr>
              <a:t>Add conditional formatting for one exception</a:t>
            </a:r>
            <a:endParaRPr lang="en-US" sz="1200" dirty="0"/>
          </a:p>
          <a:p>
            <a:pPr marL="177800" indent="-177800">
              <a:spcAft>
                <a:spcPts val="700"/>
              </a:spcAft>
              <a:buSzPct val="100000"/>
              <a:buChar char="▸"/>
            </a:pPr>
            <a:r>
              <a:rPr lang="en-US" sz="1200" dirty="0">
                <a:solidFill>
                  <a:srgbClr val="D9D9EF"/>
                </a:solidFill>
                <a:latin typeface="Cambria" pitchFamily="34" charset="0"/>
                <a:ea typeface="Cambria" pitchFamily="34" charset="-122"/>
                <a:cs typeface="Cambria" pitchFamily="34" charset="-120"/>
              </a:rPr>
              <a:t>Run it with no matching data and see what prints</a:t>
            </a:r>
            <a:endParaRPr lang="en-US" sz="1200" dirty="0"/>
          </a:p>
        </p:txBody>
      </p:sp>
      <p:sp>
        <p:nvSpPr>
          <p:cNvPr id="40" name="Text 38"/>
          <p:cNvSpPr txBox="1"/>
          <p:nvPr/>
        </p:nvSpPr>
        <p:spPr>
          <a:xfrm>
            <a:off x="594360" y="5989320"/>
            <a:ext cx="10607040" cy="310896"/>
          </a:xfrm>
          <a:prstGeom prst="rect">
            <a:avLst/>
          </a:prstGeom>
          <a:noFill/>
          <a:ln/>
        </p:spPr>
        <p:txBody>
          <a:bodyPr wrap="square" lIns="0" tIns="0" rIns="0" bIns="0" rtlCol="0" anchor="ctr"/>
          <a:lstStyle/>
          <a:p>
            <a:pPr indent="0" marL="0">
              <a:buNone/>
            </a:pPr>
            <a:r>
              <a:rPr lang="en-US" sz="1200" i="1" dirty="0">
                <a:solidFill>
                  <a:srgbClr val="D9D9EF"/>
                </a:solidFill>
                <a:latin typeface="Cambria" pitchFamily="34" charset="0"/>
                <a:ea typeface="Cambria" pitchFamily="34" charset="-122"/>
                <a:cs typeface="Cambria" pitchFamily="34" charset="-120"/>
              </a:rPr>
              <a:t>Next: putting the report inside the application.</a:t>
            </a:r>
            <a:endParaRPr lang="en-US" sz="1200" dirty="0"/>
          </a:p>
        </p:txBody>
      </p:sp>
      <p:sp>
        <p:nvSpPr>
          <p:cNvPr id="41" name="Shape 39"/>
          <p:cNvSpPr/>
          <p:nvPr/>
        </p:nvSpPr>
        <p:spPr>
          <a:xfrm>
            <a:off x="0" y="6400800"/>
            <a:ext cx="3840480" cy="457200"/>
          </a:xfrm>
          <a:prstGeom prst="rect">
            <a:avLst/>
          </a:prstGeom>
          <a:solidFill>
            <a:srgbClr val="5050A8"/>
          </a:solidFill>
          <a:ln w="12700">
            <a:solidFill>
              <a:srgbClr val="5050A8"/>
            </a:solidFill>
            <a:prstDash val="solid"/>
          </a:ln>
        </p:spPr>
      </p:sp>
      <p:sp>
        <p:nvSpPr>
          <p:cNvPr id="42" name="Text 40"/>
          <p:cNvSpPr txBox="1"/>
          <p:nvPr/>
        </p:nvSpPr>
        <p:spPr>
          <a:xfrm>
            <a:off x="164592" y="6400800"/>
            <a:ext cx="351129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HAL  ·  .NET, React &amp; SQL Programme</a:t>
            </a:r>
            <a:endParaRPr lang="en-US" sz="950" dirty="0"/>
          </a:p>
        </p:txBody>
      </p:sp>
      <p:sp>
        <p:nvSpPr>
          <p:cNvPr id="43" name="Shape 41"/>
          <p:cNvSpPr/>
          <p:nvPr/>
        </p:nvSpPr>
        <p:spPr>
          <a:xfrm>
            <a:off x="3840480" y="6400800"/>
            <a:ext cx="6675120" cy="457200"/>
          </a:xfrm>
          <a:prstGeom prst="rect">
            <a:avLst/>
          </a:prstGeom>
          <a:solidFill>
            <a:srgbClr val="3B3B96"/>
          </a:solidFill>
          <a:ln w="12700">
            <a:solidFill>
              <a:srgbClr val="3B3B96"/>
            </a:solidFill>
            <a:prstDash val="solid"/>
          </a:ln>
        </p:spPr>
      </p:sp>
      <p:sp>
        <p:nvSpPr>
          <p:cNvPr id="44" name="Text 42"/>
          <p:cNvSpPr txBox="1"/>
          <p:nvPr/>
        </p:nvSpPr>
        <p:spPr>
          <a:xfrm>
            <a:off x="4005072" y="6400800"/>
            <a:ext cx="6345936" cy="457200"/>
          </a:xfrm>
          <a:prstGeom prst="rect">
            <a:avLst/>
          </a:prstGeom>
          <a:noFill/>
          <a:ln/>
        </p:spPr>
        <p:txBody>
          <a:bodyPr wrap="square" lIns="0" tIns="0" rIns="0" bIns="0" rtlCol="0" anchor="ctr"/>
          <a:lstStyle/>
          <a:p>
            <a:pPr algn="l" indent="0" marL="0">
              <a:buNone/>
            </a:pPr>
            <a:r>
              <a:rPr lang="en-US" sz="950" dirty="0">
                <a:solidFill>
                  <a:srgbClr val="FFFFFF"/>
                </a:solidFill>
                <a:latin typeface="Cambria" pitchFamily="34" charset="0"/>
                <a:ea typeface="Cambria" pitchFamily="34" charset="-122"/>
                <a:cs typeface="Cambria" pitchFamily="34" charset="-120"/>
              </a:rPr>
              <a:t>Day 3 · Session 1 — Crystal Reports Basics</a:t>
            </a:r>
            <a:endParaRPr lang="en-US" sz="950" dirty="0"/>
          </a:p>
        </p:txBody>
      </p:sp>
      <p:sp>
        <p:nvSpPr>
          <p:cNvPr id="45" name="Shape 43"/>
          <p:cNvSpPr/>
          <p:nvPr/>
        </p:nvSpPr>
        <p:spPr>
          <a:xfrm>
            <a:off x="10515600" y="6400800"/>
            <a:ext cx="1676095" cy="457200"/>
          </a:xfrm>
          <a:prstGeom prst="rect">
            <a:avLst/>
          </a:prstGeom>
          <a:solidFill>
            <a:srgbClr val="5050A8"/>
          </a:solidFill>
          <a:ln w="12700">
            <a:solidFill>
              <a:srgbClr val="5050A8"/>
            </a:solidFill>
            <a:prstDash val="solid"/>
          </a:ln>
        </p:spPr>
      </p:sp>
      <p:sp>
        <p:nvSpPr>
          <p:cNvPr id="46" name="Text 44"/>
          <p:cNvSpPr txBox="1"/>
          <p:nvPr/>
        </p:nvSpPr>
        <p:spPr>
          <a:xfrm>
            <a:off x="10680192" y="6400800"/>
            <a:ext cx="1346911" cy="457200"/>
          </a:xfrm>
          <a:prstGeom prst="rect">
            <a:avLst/>
          </a:prstGeom>
          <a:noFill/>
          <a:ln/>
        </p:spPr>
        <p:txBody>
          <a:bodyPr wrap="square" lIns="0" tIns="0" rIns="0" bIns="0" rtlCol="0" anchor="ctr"/>
          <a:lstStyle/>
          <a:p>
            <a:pPr algn="ctr" indent="0" marL="0">
              <a:buNone/>
            </a:pPr>
            <a:r>
              <a:rPr lang="en-US" sz="950" dirty="0">
                <a:solidFill>
                  <a:srgbClr val="FFFFFF"/>
                </a:solidFill>
                <a:latin typeface="Cambria" pitchFamily="34" charset="0"/>
                <a:ea typeface="Cambria" pitchFamily="34" charset="-122"/>
                <a:cs typeface="Cambria" pitchFamily="34" charset="-120"/>
              </a:rPr>
              <a:t>12</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3, Session 1 - Crystal Reports Basics</dc:title>
  <dc:subject>PptxGenJS Presentation</dc:subject>
  <dc:creator>HAL .NET, React &amp; SQL Transition Program</dc:creator>
  <cp:lastModifiedBy>HAL .NET, React &amp; SQL Transition Program</cp:lastModifiedBy>
  <cp:revision>1</cp:revision>
  <dcterms:created xsi:type="dcterms:W3CDTF">2026-09-16T16:44:52Z</dcterms:created>
  <dcterms:modified xsi:type="dcterms:W3CDTF">2026-09-16T16:44:52Z</dcterms:modified>
</cp:coreProperties>
</file>